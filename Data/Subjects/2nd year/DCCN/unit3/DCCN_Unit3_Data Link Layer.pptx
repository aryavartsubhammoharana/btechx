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1"/>
  </p:notesMasterIdLst>
  <p:sldIdLst>
    <p:sldId id="256" r:id="rId2"/>
    <p:sldId id="849" r:id="rId3"/>
    <p:sldId id="848" r:id="rId4"/>
    <p:sldId id="257" r:id="rId5"/>
    <p:sldId id="258" r:id="rId6"/>
    <p:sldId id="259" r:id="rId7"/>
    <p:sldId id="261" r:id="rId8"/>
    <p:sldId id="262" r:id="rId9"/>
    <p:sldId id="263" r:id="rId10"/>
    <p:sldId id="264" r:id="rId11"/>
    <p:sldId id="266" r:id="rId12"/>
    <p:sldId id="783" r:id="rId13"/>
    <p:sldId id="813" r:id="rId14"/>
    <p:sldId id="812" r:id="rId15"/>
    <p:sldId id="747" r:id="rId16"/>
    <p:sldId id="272" r:id="rId17"/>
    <p:sldId id="889" r:id="rId18"/>
    <p:sldId id="891" r:id="rId19"/>
    <p:sldId id="890" r:id="rId20"/>
    <p:sldId id="892" r:id="rId21"/>
    <p:sldId id="280" r:id="rId22"/>
    <p:sldId id="763" r:id="rId23"/>
    <p:sldId id="764" r:id="rId24"/>
    <p:sldId id="765" r:id="rId25"/>
    <p:sldId id="770" r:id="rId26"/>
    <p:sldId id="771" r:id="rId27"/>
    <p:sldId id="867" r:id="rId28"/>
    <p:sldId id="868" r:id="rId29"/>
    <p:sldId id="281" r:id="rId30"/>
    <p:sldId id="535" r:id="rId31"/>
    <p:sldId id="754" r:id="rId32"/>
    <p:sldId id="756" r:id="rId33"/>
    <p:sldId id="282" r:id="rId34"/>
    <p:sldId id="838" r:id="rId35"/>
    <p:sldId id="839" r:id="rId36"/>
    <p:sldId id="840" r:id="rId37"/>
    <p:sldId id="841" r:id="rId38"/>
    <p:sldId id="750" r:id="rId39"/>
    <p:sldId id="843" r:id="rId40"/>
    <p:sldId id="844" r:id="rId41"/>
    <p:sldId id="865" r:id="rId42"/>
    <p:sldId id="767" r:id="rId43"/>
    <p:sldId id="835" r:id="rId44"/>
    <p:sldId id="769" r:id="rId45"/>
    <p:sldId id="863" r:id="rId46"/>
    <p:sldId id="775" r:id="rId47"/>
    <p:sldId id="866" r:id="rId48"/>
    <p:sldId id="751" r:id="rId49"/>
    <p:sldId id="296" r:id="rId50"/>
    <p:sldId id="297" r:id="rId51"/>
    <p:sldId id="298" r:id="rId52"/>
    <p:sldId id="299" r:id="rId53"/>
    <p:sldId id="300" r:id="rId54"/>
    <p:sldId id="752" r:id="rId55"/>
    <p:sldId id="302" r:id="rId56"/>
    <p:sldId id="886" r:id="rId57"/>
    <p:sldId id="341" r:id="rId58"/>
    <p:sldId id="869" r:id="rId59"/>
    <p:sldId id="342" r:id="rId60"/>
    <p:sldId id="344" r:id="rId61"/>
    <p:sldId id="345" r:id="rId62"/>
    <p:sldId id="346" r:id="rId63"/>
    <p:sldId id="347" r:id="rId64"/>
    <p:sldId id="348" r:id="rId65"/>
    <p:sldId id="349" r:id="rId66"/>
    <p:sldId id="887" r:id="rId67"/>
    <p:sldId id="351" r:id="rId68"/>
    <p:sldId id="870" r:id="rId69"/>
    <p:sldId id="872" r:id="rId70"/>
    <p:sldId id="873" r:id="rId71"/>
    <p:sldId id="850" r:id="rId72"/>
    <p:sldId id="851" r:id="rId73"/>
    <p:sldId id="854" r:id="rId74"/>
    <p:sldId id="874" r:id="rId75"/>
    <p:sldId id="855" r:id="rId76"/>
    <p:sldId id="856" r:id="rId77"/>
    <p:sldId id="857" r:id="rId78"/>
    <p:sldId id="875" r:id="rId79"/>
    <p:sldId id="864" r:id="rId80"/>
    <p:sldId id="858" r:id="rId81"/>
    <p:sldId id="876" r:id="rId82"/>
    <p:sldId id="878" r:id="rId83"/>
    <p:sldId id="888" r:id="rId84"/>
    <p:sldId id="877" r:id="rId85"/>
    <p:sldId id="879" r:id="rId86"/>
    <p:sldId id="880" r:id="rId87"/>
    <p:sldId id="882" r:id="rId88"/>
    <p:sldId id="745" r:id="rId89"/>
    <p:sldId id="885" r:id="rId9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30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EBC46B-49FB-48C5-9AE9-8A1B58E923F8}" type="datetimeFigureOut">
              <a:rPr lang="en-IN" smtClean="0"/>
              <a:t>09-09-2026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E6C007-0109-4960-A693-22F3CF1F5D7A}" type="slidenum">
              <a:rPr lang="en-IN" smtClean="0"/>
              <a:t>‹#›</a:t>
            </a:fld>
            <a:endParaRPr lang="en-IN"/>
          </a:p>
        </p:txBody>
      </p:sp>
    </p:spTree>
    <p:extLst>
      <p:ext uri="{BB962C8B-B14F-4D97-AF65-F5344CB8AC3E}">
        <p14:creationId xmlns:p14="http://schemas.microsoft.com/office/powerpoint/2010/main" val="2051163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7708F32-54F9-D4B4-B494-F84085F521B2}"/>
              </a:ext>
            </a:extLst>
          </p:cNvPr>
          <p:cNvSpPr>
            <a:spLocks noGrp="1" noChangeArrowheads="1"/>
          </p:cNvSpPr>
          <p:nvPr>
            <p:ph type="sldNum" sz="quarter" idx="5"/>
          </p:nvPr>
        </p:nvSpPr>
        <p:spPr>
          <a:ln/>
        </p:spPr>
        <p:txBody>
          <a:bodyPr/>
          <a:lstStyle/>
          <a:p>
            <a:fld id="{06892930-61D9-4374-A51C-D014F107FC27}" type="slidenum">
              <a:rPr lang="en-US" altLang="en-US"/>
              <a:pPr/>
              <a:t>12</a:t>
            </a:fld>
            <a:endParaRPr lang="en-US" altLang="en-US"/>
          </a:p>
        </p:txBody>
      </p:sp>
      <p:sp>
        <p:nvSpPr>
          <p:cNvPr id="979970" name="Rectangle 2">
            <a:extLst>
              <a:ext uri="{FF2B5EF4-FFF2-40B4-BE49-F238E27FC236}">
                <a16:creationId xmlns:a16="http://schemas.microsoft.com/office/drawing/2014/main" id="{81B1D660-7421-51CF-94A8-313A823FA8A1}"/>
              </a:ext>
            </a:extLst>
          </p:cNvPr>
          <p:cNvSpPr>
            <a:spLocks noGrp="1" noRot="1" noChangeAspect="1" noChangeArrowheads="1" noTextEdit="1"/>
          </p:cNvSpPr>
          <p:nvPr>
            <p:ph type="sldImg"/>
          </p:nvPr>
        </p:nvSpPr>
        <p:spPr>
          <a:ln/>
        </p:spPr>
      </p:sp>
      <p:sp>
        <p:nvSpPr>
          <p:cNvPr id="979971" name="Rectangle 3">
            <a:extLst>
              <a:ext uri="{FF2B5EF4-FFF2-40B4-BE49-F238E27FC236}">
                <a16:creationId xmlns:a16="http://schemas.microsoft.com/office/drawing/2014/main" id="{8DF0868D-1E9C-2EFE-FD4A-BB8BF37A65A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AFA8E-AB85-12A0-F77F-4EA1881BCAB6}"/>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793F4809-84F2-A7BE-DC04-D717E89D0B44}"/>
              </a:ext>
            </a:extLst>
          </p:cNvPr>
          <p:cNvSpPr>
            <a:spLocks noGrp="1" noChangeArrowheads="1"/>
          </p:cNvSpPr>
          <p:nvPr>
            <p:ph type="sldNum" sz="quarter" idx="5"/>
          </p:nvPr>
        </p:nvSpPr>
        <p:spPr>
          <a:ln/>
        </p:spPr>
        <p:txBody>
          <a:bodyPr/>
          <a:lstStyle/>
          <a:p>
            <a:fld id="{E91C9302-5B77-45A5-A9F2-5BD1157EBB6F}" type="slidenum">
              <a:rPr lang="en-US" altLang="en-US"/>
              <a:pPr/>
              <a:t>13</a:t>
            </a:fld>
            <a:endParaRPr lang="en-US" altLang="en-US"/>
          </a:p>
        </p:txBody>
      </p:sp>
      <p:sp>
        <p:nvSpPr>
          <p:cNvPr id="982018" name="Rectangle 2">
            <a:extLst>
              <a:ext uri="{FF2B5EF4-FFF2-40B4-BE49-F238E27FC236}">
                <a16:creationId xmlns:a16="http://schemas.microsoft.com/office/drawing/2014/main" id="{FC98B458-CE01-B745-4B32-B249B3A7B786}"/>
              </a:ext>
            </a:extLst>
          </p:cNvPr>
          <p:cNvSpPr>
            <a:spLocks noGrp="1" noRot="1" noChangeAspect="1" noChangeArrowheads="1" noTextEdit="1"/>
          </p:cNvSpPr>
          <p:nvPr>
            <p:ph type="sldImg"/>
          </p:nvPr>
        </p:nvSpPr>
        <p:spPr>
          <a:ln/>
        </p:spPr>
      </p:sp>
      <p:sp>
        <p:nvSpPr>
          <p:cNvPr id="982019" name="Rectangle 3">
            <a:extLst>
              <a:ext uri="{FF2B5EF4-FFF2-40B4-BE49-F238E27FC236}">
                <a16:creationId xmlns:a16="http://schemas.microsoft.com/office/drawing/2014/main" id="{901338BE-63A1-70F4-B555-E4E532407A8E}"/>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2609232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DB8A8F6-72C9-B265-9E47-D97721727FB4}"/>
              </a:ext>
            </a:extLst>
          </p:cNvPr>
          <p:cNvSpPr>
            <a:spLocks noGrp="1" noChangeArrowheads="1"/>
          </p:cNvSpPr>
          <p:nvPr>
            <p:ph type="sldNum" sz="quarter" idx="5"/>
          </p:nvPr>
        </p:nvSpPr>
        <p:spPr>
          <a:ln/>
        </p:spPr>
        <p:txBody>
          <a:bodyPr/>
          <a:lstStyle/>
          <a:p>
            <a:fld id="{E91C9302-5B77-45A5-A9F2-5BD1157EBB6F}" type="slidenum">
              <a:rPr lang="en-US" altLang="en-US"/>
              <a:pPr/>
              <a:t>14</a:t>
            </a:fld>
            <a:endParaRPr lang="en-US" altLang="en-US"/>
          </a:p>
        </p:txBody>
      </p:sp>
      <p:sp>
        <p:nvSpPr>
          <p:cNvPr id="982018" name="Rectangle 2">
            <a:extLst>
              <a:ext uri="{FF2B5EF4-FFF2-40B4-BE49-F238E27FC236}">
                <a16:creationId xmlns:a16="http://schemas.microsoft.com/office/drawing/2014/main" id="{13F00DB5-C5DF-814F-FDFE-57F6D0F198D1}"/>
              </a:ext>
            </a:extLst>
          </p:cNvPr>
          <p:cNvSpPr>
            <a:spLocks noGrp="1" noRot="1" noChangeAspect="1" noChangeArrowheads="1" noTextEdit="1"/>
          </p:cNvSpPr>
          <p:nvPr>
            <p:ph type="sldImg"/>
          </p:nvPr>
        </p:nvSpPr>
        <p:spPr>
          <a:ln/>
        </p:spPr>
      </p:sp>
      <p:sp>
        <p:nvSpPr>
          <p:cNvPr id="982019" name="Rectangle 3">
            <a:extLst>
              <a:ext uri="{FF2B5EF4-FFF2-40B4-BE49-F238E27FC236}">
                <a16:creationId xmlns:a16="http://schemas.microsoft.com/office/drawing/2014/main" id="{7D54F026-D5FA-3A6E-290E-D8BA4A99520B}"/>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E67EEBC-11BE-350E-20DA-D6C86C74F5FF}"/>
              </a:ext>
            </a:extLst>
          </p:cNvPr>
          <p:cNvSpPr>
            <a:spLocks noGrp="1" noChangeArrowheads="1"/>
          </p:cNvSpPr>
          <p:nvPr>
            <p:ph type="sldNum" sz="quarter" idx="5"/>
          </p:nvPr>
        </p:nvSpPr>
        <p:spPr>
          <a:ln/>
        </p:spPr>
        <p:txBody>
          <a:bodyPr/>
          <a:lstStyle/>
          <a:p>
            <a:fld id="{B72BCD5A-01A7-446C-A344-21D1D8DFE342}" type="slidenum">
              <a:rPr lang="en-US" altLang="en-US"/>
              <a:pPr/>
              <a:t>15</a:t>
            </a:fld>
            <a:endParaRPr lang="en-US" altLang="en-US"/>
          </a:p>
        </p:txBody>
      </p:sp>
      <p:sp>
        <p:nvSpPr>
          <p:cNvPr id="990210" name="Rectangle 2">
            <a:extLst>
              <a:ext uri="{FF2B5EF4-FFF2-40B4-BE49-F238E27FC236}">
                <a16:creationId xmlns:a16="http://schemas.microsoft.com/office/drawing/2014/main" id="{C3ADC609-6987-DD9A-96A2-D6760AD32E20}"/>
              </a:ext>
            </a:extLst>
          </p:cNvPr>
          <p:cNvSpPr>
            <a:spLocks noGrp="1" noRot="1" noChangeAspect="1" noChangeArrowheads="1" noTextEdit="1"/>
          </p:cNvSpPr>
          <p:nvPr>
            <p:ph type="sldImg"/>
          </p:nvPr>
        </p:nvSpPr>
        <p:spPr>
          <a:ln/>
        </p:spPr>
      </p:sp>
      <p:sp>
        <p:nvSpPr>
          <p:cNvPr id="990211" name="Rectangle 3">
            <a:extLst>
              <a:ext uri="{FF2B5EF4-FFF2-40B4-BE49-F238E27FC236}">
                <a16:creationId xmlns:a16="http://schemas.microsoft.com/office/drawing/2014/main" id="{1590102D-5A2A-913A-1786-B4EAA7D66B18}"/>
              </a:ext>
            </a:extLst>
          </p:cNvPr>
          <p:cNvSpPr>
            <a:spLocks noGrp="1" noChangeArrowheads="1"/>
          </p:cNvSpPr>
          <p:nvPr>
            <p:ph type="body" idx="1"/>
          </p:nvPr>
        </p:nvSpPr>
        <p:spPr/>
        <p:txBody>
          <a:bodyPr/>
          <a:lstStyle/>
          <a:p>
            <a:endParaRPr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11AD050-DC87-5AAD-C5F6-0459B0A6C86B}"/>
              </a:ext>
            </a:extLst>
          </p:cNvPr>
          <p:cNvSpPr>
            <a:spLocks noGrp="1" noChangeArrowheads="1"/>
          </p:cNvSpPr>
          <p:nvPr>
            <p:ph type="sldNum" sz="quarter" idx="5"/>
          </p:nvPr>
        </p:nvSpPr>
        <p:spPr>
          <a:ln/>
        </p:spPr>
        <p:txBody>
          <a:bodyPr/>
          <a:lstStyle/>
          <a:p>
            <a:fld id="{52B0D9DA-8181-4A90-B6AF-5DD3A0644DFD}" type="slidenum">
              <a:rPr lang="en-US" altLang="en-US"/>
              <a:pPr/>
              <a:t>22</a:t>
            </a:fld>
            <a:endParaRPr lang="en-US" altLang="en-US"/>
          </a:p>
        </p:txBody>
      </p:sp>
      <p:sp>
        <p:nvSpPr>
          <p:cNvPr id="1012738" name="Rectangle 2">
            <a:extLst>
              <a:ext uri="{FF2B5EF4-FFF2-40B4-BE49-F238E27FC236}">
                <a16:creationId xmlns:a16="http://schemas.microsoft.com/office/drawing/2014/main" id="{B2EE3782-82A0-CF9A-4A95-CCA40279E341}"/>
              </a:ext>
            </a:extLst>
          </p:cNvPr>
          <p:cNvSpPr>
            <a:spLocks noGrp="1" noRot="1" noChangeAspect="1" noChangeArrowheads="1" noTextEdit="1"/>
          </p:cNvSpPr>
          <p:nvPr>
            <p:ph type="sldImg"/>
          </p:nvPr>
        </p:nvSpPr>
        <p:spPr>
          <a:ln/>
        </p:spPr>
      </p:sp>
      <p:sp>
        <p:nvSpPr>
          <p:cNvPr id="1012739" name="Rectangle 3">
            <a:extLst>
              <a:ext uri="{FF2B5EF4-FFF2-40B4-BE49-F238E27FC236}">
                <a16:creationId xmlns:a16="http://schemas.microsoft.com/office/drawing/2014/main" id="{7E600FD0-A38F-DAD1-B2A4-D02C1D80BA3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4CCB97E-9EB5-7218-8FF4-AFF3F1B06F29}"/>
              </a:ext>
            </a:extLst>
          </p:cNvPr>
          <p:cNvSpPr>
            <a:spLocks noGrp="1" noChangeArrowheads="1"/>
          </p:cNvSpPr>
          <p:nvPr>
            <p:ph type="sldNum" sz="quarter" idx="5"/>
          </p:nvPr>
        </p:nvSpPr>
        <p:spPr>
          <a:ln/>
        </p:spPr>
        <p:txBody>
          <a:bodyPr/>
          <a:lstStyle/>
          <a:p>
            <a:fld id="{B722FECF-408D-4302-83CE-302932A31C83}" type="slidenum">
              <a:rPr lang="en-US" altLang="en-US"/>
              <a:pPr/>
              <a:t>23</a:t>
            </a:fld>
            <a:endParaRPr lang="en-US" altLang="en-US"/>
          </a:p>
        </p:txBody>
      </p:sp>
      <p:sp>
        <p:nvSpPr>
          <p:cNvPr id="1013762" name="Rectangle 2">
            <a:extLst>
              <a:ext uri="{FF2B5EF4-FFF2-40B4-BE49-F238E27FC236}">
                <a16:creationId xmlns:a16="http://schemas.microsoft.com/office/drawing/2014/main" id="{2D557219-1B7D-66C9-F5A3-619B38718988}"/>
              </a:ext>
            </a:extLst>
          </p:cNvPr>
          <p:cNvSpPr>
            <a:spLocks noGrp="1" noRot="1" noChangeAspect="1" noChangeArrowheads="1" noTextEdit="1"/>
          </p:cNvSpPr>
          <p:nvPr>
            <p:ph type="sldImg"/>
          </p:nvPr>
        </p:nvSpPr>
        <p:spPr>
          <a:ln/>
        </p:spPr>
      </p:sp>
      <p:sp>
        <p:nvSpPr>
          <p:cNvPr id="1013763" name="Rectangle 3">
            <a:extLst>
              <a:ext uri="{FF2B5EF4-FFF2-40B4-BE49-F238E27FC236}">
                <a16:creationId xmlns:a16="http://schemas.microsoft.com/office/drawing/2014/main" id="{8EBF59FE-FDA3-42E9-6B59-4B7A7E2059A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91CE4AF-B19B-A43D-2F0D-A206EA68C0BB}"/>
              </a:ext>
            </a:extLst>
          </p:cNvPr>
          <p:cNvSpPr>
            <a:spLocks noGrp="1" noChangeArrowheads="1"/>
          </p:cNvSpPr>
          <p:nvPr>
            <p:ph type="sldNum" sz="quarter" idx="5"/>
          </p:nvPr>
        </p:nvSpPr>
        <p:spPr>
          <a:ln/>
        </p:spPr>
        <p:txBody>
          <a:bodyPr/>
          <a:lstStyle/>
          <a:p>
            <a:fld id="{CF0E48B0-919E-498C-9D30-28D235967F55}" type="slidenum">
              <a:rPr lang="en-US" altLang="en-US"/>
              <a:pPr/>
              <a:t>24</a:t>
            </a:fld>
            <a:endParaRPr lang="en-US" altLang="en-US"/>
          </a:p>
        </p:txBody>
      </p:sp>
      <p:sp>
        <p:nvSpPr>
          <p:cNvPr id="1014786" name="Rectangle 2">
            <a:extLst>
              <a:ext uri="{FF2B5EF4-FFF2-40B4-BE49-F238E27FC236}">
                <a16:creationId xmlns:a16="http://schemas.microsoft.com/office/drawing/2014/main" id="{05752935-30DF-B207-7E57-21681C21551B}"/>
              </a:ext>
            </a:extLst>
          </p:cNvPr>
          <p:cNvSpPr>
            <a:spLocks noGrp="1" noRot="1" noChangeAspect="1" noChangeArrowheads="1" noTextEdit="1"/>
          </p:cNvSpPr>
          <p:nvPr>
            <p:ph type="sldImg"/>
          </p:nvPr>
        </p:nvSpPr>
        <p:spPr>
          <a:ln/>
        </p:spPr>
      </p:sp>
      <p:sp>
        <p:nvSpPr>
          <p:cNvPr id="1014787" name="Rectangle 3">
            <a:extLst>
              <a:ext uri="{FF2B5EF4-FFF2-40B4-BE49-F238E27FC236}">
                <a16:creationId xmlns:a16="http://schemas.microsoft.com/office/drawing/2014/main" id="{C87761AB-3084-E219-CF54-4EC8DE3BC25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217C826-DC65-1514-589D-6AEE4D12F6A4}"/>
              </a:ext>
            </a:extLst>
          </p:cNvPr>
          <p:cNvSpPr>
            <a:spLocks noGrp="1" noChangeArrowheads="1"/>
          </p:cNvSpPr>
          <p:nvPr>
            <p:ph type="sldNum" sz="quarter" idx="5"/>
          </p:nvPr>
        </p:nvSpPr>
        <p:spPr>
          <a:ln/>
        </p:spPr>
        <p:txBody>
          <a:bodyPr/>
          <a:lstStyle/>
          <a:p>
            <a:fld id="{F2CB349A-AAB0-4B87-88F1-4675855DA63A}" type="slidenum">
              <a:rPr lang="en-US" altLang="en-US"/>
              <a:pPr/>
              <a:t>25</a:t>
            </a:fld>
            <a:endParaRPr lang="en-US" altLang="en-US"/>
          </a:p>
        </p:txBody>
      </p:sp>
      <p:sp>
        <p:nvSpPr>
          <p:cNvPr id="1019906" name="Rectangle 2">
            <a:extLst>
              <a:ext uri="{FF2B5EF4-FFF2-40B4-BE49-F238E27FC236}">
                <a16:creationId xmlns:a16="http://schemas.microsoft.com/office/drawing/2014/main" id="{96D4AFAA-C56E-C302-4E0F-876B2BD0482B}"/>
              </a:ext>
            </a:extLst>
          </p:cNvPr>
          <p:cNvSpPr>
            <a:spLocks noGrp="1" noRot="1" noChangeAspect="1" noChangeArrowheads="1" noTextEdit="1"/>
          </p:cNvSpPr>
          <p:nvPr>
            <p:ph type="sldImg"/>
          </p:nvPr>
        </p:nvSpPr>
        <p:spPr>
          <a:ln/>
        </p:spPr>
      </p:sp>
      <p:sp>
        <p:nvSpPr>
          <p:cNvPr id="1019907" name="Rectangle 3">
            <a:extLst>
              <a:ext uri="{FF2B5EF4-FFF2-40B4-BE49-F238E27FC236}">
                <a16:creationId xmlns:a16="http://schemas.microsoft.com/office/drawing/2014/main" id="{233A074A-733C-973D-1F41-D3CADDCB6CD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CCE9AA6-FEDC-F28C-268C-693C2D2D8105}"/>
              </a:ext>
            </a:extLst>
          </p:cNvPr>
          <p:cNvSpPr>
            <a:spLocks noGrp="1" noChangeArrowheads="1"/>
          </p:cNvSpPr>
          <p:nvPr>
            <p:ph type="sldNum" sz="quarter" idx="5"/>
          </p:nvPr>
        </p:nvSpPr>
        <p:spPr>
          <a:ln/>
        </p:spPr>
        <p:txBody>
          <a:bodyPr/>
          <a:lstStyle/>
          <a:p>
            <a:fld id="{02C622DD-4045-49AB-82CF-377CFBE183F5}" type="slidenum">
              <a:rPr lang="en-US" altLang="en-US"/>
              <a:pPr/>
              <a:t>26</a:t>
            </a:fld>
            <a:endParaRPr lang="en-US" altLang="en-US"/>
          </a:p>
        </p:txBody>
      </p:sp>
      <p:sp>
        <p:nvSpPr>
          <p:cNvPr id="1020930" name="Rectangle 2">
            <a:extLst>
              <a:ext uri="{FF2B5EF4-FFF2-40B4-BE49-F238E27FC236}">
                <a16:creationId xmlns:a16="http://schemas.microsoft.com/office/drawing/2014/main" id="{41D40E3A-CBEB-653B-07CE-6E26402DE597}"/>
              </a:ext>
            </a:extLst>
          </p:cNvPr>
          <p:cNvSpPr>
            <a:spLocks noGrp="1" noRot="1" noChangeAspect="1" noChangeArrowheads="1" noTextEdit="1"/>
          </p:cNvSpPr>
          <p:nvPr>
            <p:ph type="sldImg"/>
          </p:nvPr>
        </p:nvSpPr>
        <p:spPr>
          <a:ln/>
        </p:spPr>
      </p:sp>
      <p:sp>
        <p:nvSpPr>
          <p:cNvPr id="1020931" name="Rectangle 3">
            <a:extLst>
              <a:ext uri="{FF2B5EF4-FFF2-40B4-BE49-F238E27FC236}">
                <a16:creationId xmlns:a16="http://schemas.microsoft.com/office/drawing/2014/main" id="{A7FE38C9-32B4-C98E-E421-5D517B9E6AC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426A015-52C3-4073-29D4-BE3FBCF7FBE2}"/>
              </a:ext>
            </a:extLst>
          </p:cNvPr>
          <p:cNvSpPr>
            <a:spLocks noGrp="1" noChangeArrowheads="1"/>
          </p:cNvSpPr>
          <p:nvPr>
            <p:ph type="sldNum" sz="quarter" idx="5"/>
          </p:nvPr>
        </p:nvSpPr>
        <p:spPr>
          <a:ln/>
        </p:spPr>
        <p:txBody>
          <a:bodyPr/>
          <a:lstStyle/>
          <a:p>
            <a:fld id="{DA176749-F740-4BEA-9A0E-34190923D4BD}" type="slidenum">
              <a:rPr lang="en-US" altLang="en-US"/>
              <a:pPr/>
              <a:t>30</a:t>
            </a:fld>
            <a:endParaRPr lang="en-US" altLang="en-US"/>
          </a:p>
        </p:txBody>
      </p:sp>
      <p:sp>
        <p:nvSpPr>
          <p:cNvPr id="964610" name="Rectangle 2">
            <a:extLst>
              <a:ext uri="{FF2B5EF4-FFF2-40B4-BE49-F238E27FC236}">
                <a16:creationId xmlns:a16="http://schemas.microsoft.com/office/drawing/2014/main" id="{E52E18F3-5324-955F-070D-6416CDC03EDB}"/>
              </a:ext>
            </a:extLst>
          </p:cNvPr>
          <p:cNvSpPr>
            <a:spLocks noGrp="1" noRot="1" noChangeAspect="1" noChangeArrowheads="1" noTextEdit="1"/>
          </p:cNvSpPr>
          <p:nvPr>
            <p:ph type="sldImg"/>
          </p:nvPr>
        </p:nvSpPr>
        <p:spPr>
          <a:ln/>
        </p:spPr>
      </p:sp>
      <p:sp>
        <p:nvSpPr>
          <p:cNvPr id="964611" name="Rectangle 3">
            <a:extLst>
              <a:ext uri="{FF2B5EF4-FFF2-40B4-BE49-F238E27FC236}">
                <a16:creationId xmlns:a16="http://schemas.microsoft.com/office/drawing/2014/main" id="{45544C89-F71D-4927-8FCE-718C0A7C3E95}"/>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BECAE8B-F77C-E25A-4FBC-AD925CCC0D18}"/>
              </a:ext>
            </a:extLst>
          </p:cNvPr>
          <p:cNvSpPr>
            <a:spLocks noGrp="1" noChangeArrowheads="1"/>
          </p:cNvSpPr>
          <p:nvPr>
            <p:ph type="sldNum" sz="quarter" idx="5"/>
          </p:nvPr>
        </p:nvSpPr>
        <p:spPr>
          <a:ln/>
        </p:spPr>
        <p:txBody>
          <a:bodyPr/>
          <a:lstStyle/>
          <a:p>
            <a:fld id="{6E36A096-4ACF-4FDC-9DB0-E1DAB375B59E}" type="slidenum">
              <a:rPr lang="en-US" altLang="en-US"/>
              <a:pPr/>
              <a:t>31</a:t>
            </a:fld>
            <a:endParaRPr lang="en-US" altLang="en-US"/>
          </a:p>
        </p:txBody>
      </p:sp>
      <p:sp>
        <p:nvSpPr>
          <p:cNvPr id="966658" name="Rectangle 2">
            <a:extLst>
              <a:ext uri="{FF2B5EF4-FFF2-40B4-BE49-F238E27FC236}">
                <a16:creationId xmlns:a16="http://schemas.microsoft.com/office/drawing/2014/main" id="{5701A168-9D94-8DD9-A75C-13C0B69C9FC4}"/>
              </a:ext>
            </a:extLst>
          </p:cNvPr>
          <p:cNvSpPr>
            <a:spLocks noGrp="1" noRot="1" noChangeAspect="1" noChangeArrowheads="1" noTextEdit="1"/>
          </p:cNvSpPr>
          <p:nvPr>
            <p:ph type="sldImg"/>
          </p:nvPr>
        </p:nvSpPr>
        <p:spPr>
          <a:ln/>
        </p:spPr>
      </p:sp>
      <p:sp>
        <p:nvSpPr>
          <p:cNvPr id="966659" name="Rectangle 3">
            <a:extLst>
              <a:ext uri="{FF2B5EF4-FFF2-40B4-BE49-F238E27FC236}">
                <a16:creationId xmlns:a16="http://schemas.microsoft.com/office/drawing/2014/main" id="{FE9161EB-D3A9-5435-DD81-1F60FAC6D40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D91450A-E387-644A-F36A-6AF3406982DB}"/>
              </a:ext>
            </a:extLst>
          </p:cNvPr>
          <p:cNvSpPr>
            <a:spLocks noGrp="1" noChangeArrowheads="1"/>
          </p:cNvSpPr>
          <p:nvPr>
            <p:ph type="sldNum" sz="quarter" idx="5"/>
          </p:nvPr>
        </p:nvSpPr>
        <p:spPr>
          <a:ln/>
        </p:spPr>
        <p:txBody>
          <a:bodyPr/>
          <a:lstStyle/>
          <a:p>
            <a:fld id="{FC24D47C-0138-435C-AA1E-C329BD394D35}" type="slidenum">
              <a:rPr lang="en-US" altLang="en-US"/>
              <a:pPr/>
              <a:t>32</a:t>
            </a:fld>
            <a:endParaRPr lang="en-US" altLang="en-US"/>
          </a:p>
        </p:txBody>
      </p:sp>
      <p:sp>
        <p:nvSpPr>
          <p:cNvPr id="970754" name="Rectangle 2">
            <a:extLst>
              <a:ext uri="{FF2B5EF4-FFF2-40B4-BE49-F238E27FC236}">
                <a16:creationId xmlns:a16="http://schemas.microsoft.com/office/drawing/2014/main" id="{CAF7277A-CB3A-6B68-03E8-D07206C65303}"/>
              </a:ext>
            </a:extLst>
          </p:cNvPr>
          <p:cNvSpPr>
            <a:spLocks noGrp="1" noRot="1" noChangeAspect="1" noChangeArrowheads="1" noTextEdit="1"/>
          </p:cNvSpPr>
          <p:nvPr>
            <p:ph type="sldImg"/>
          </p:nvPr>
        </p:nvSpPr>
        <p:spPr>
          <a:ln/>
        </p:spPr>
      </p:sp>
      <p:sp>
        <p:nvSpPr>
          <p:cNvPr id="970755" name="Rectangle 3">
            <a:extLst>
              <a:ext uri="{FF2B5EF4-FFF2-40B4-BE49-F238E27FC236}">
                <a16:creationId xmlns:a16="http://schemas.microsoft.com/office/drawing/2014/main" id="{C1C852BE-29CD-18A1-657E-BD6F2E902C9E}"/>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87B7104-CA3C-714B-9316-AEF625DFD2B1}"/>
              </a:ext>
            </a:extLst>
          </p:cNvPr>
          <p:cNvSpPr>
            <a:spLocks noGrp="1" noChangeArrowheads="1"/>
          </p:cNvSpPr>
          <p:nvPr>
            <p:ph type="sldNum" sz="quarter" idx="5"/>
          </p:nvPr>
        </p:nvSpPr>
        <p:spPr>
          <a:ln/>
        </p:spPr>
        <p:txBody>
          <a:bodyPr/>
          <a:lstStyle/>
          <a:p>
            <a:fld id="{BD864BD5-6B72-4555-94DC-B3C731DAE92B}" type="slidenum">
              <a:rPr lang="en-US" altLang="en-US"/>
              <a:pPr/>
              <a:t>38</a:t>
            </a:fld>
            <a:endParaRPr lang="en-US" altLang="en-US"/>
          </a:p>
        </p:txBody>
      </p:sp>
      <p:sp>
        <p:nvSpPr>
          <p:cNvPr id="988162" name="Rectangle 2">
            <a:extLst>
              <a:ext uri="{FF2B5EF4-FFF2-40B4-BE49-F238E27FC236}">
                <a16:creationId xmlns:a16="http://schemas.microsoft.com/office/drawing/2014/main" id="{98F7520A-83D0-559C-FB1D-5A070F9E473F}"/>
              </a:ext>
            </a:extLst>
          </p:cNvPr>
          <p:cNvSpPr>
            <a:spLocks noGrp="1" noRot="1" noChangeAspect="1" noChangeArrowheads="1" noTextEdit="1"/>
          </p:cNvSpPr>
          <p:nvPr>
            <p:ph type="sldImg"/>
          </p:nvPr>
        </p:nvSpPr>
        <p:spPr>
          <a:ln/>
        </p:spPr>
      </p:sp>
      <p:sp>
        <p:nvSpPr>
          <p:cNvPr id="988163" name="Rectangle 3">
            <a:extLst>
              <a:ext uri="{FF2B5EF4-FFF2-40B4-BE49-F238E27FC236}">
                <a16:creationId xmlns:a16="http://schemas.microsoft.com/office/drawing/2014/main" id="{C41855A7-1B76-D6BC-3B1D-51627CE3121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ACF99-5B98-292B-33E3-CFC03900459A}"/>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C47B9B05-6B39-A789-F260-582A4843BFE1}"/>
              </a:ext>
            </a:extLst>
          </p:cNvPr>
          <p:cNvSpPr>
            <a:spLocks noGrp="1" noChangeArrowheads="1"/>
          </p:cNvSpPr>
          <p:nvPr>
            <p:ph type="sldNum" sz="quarter" idx="5"/>
          </p:nvPr>
        </p:nvSpPr>
        <p:spPr>
          <a:ln/>
        </p:spPr>
        <p:txBody>
          <a:bodyPr/>
          <a:lstStyle/>
          <a:p>
            <a:fld id="{7C948393-9F11-41AA-AE3B-BA2F14C4D6B2}" type="slidenum">
              <a:rPr lang="en-US" altLang="en-US"/>
              <a:pPr/>
              <a:t>41</a:t>
            </a:fld>
            <a:endParaRPr lang="en-US" altLang="en-US"/>
          </a:p>
        </p:txBody>
      </p:sp>
      <p:sp>
        <p:nvSpPr>
          <p:cNvPr id="1001474" name="Rectangle 2">
            <a:extLst>
              <a:ext uri="{FF2B5EF4-FFF2-40B4-BE49-F238E27FC236}">
                <a16:creationId xmlns:a16="http://schemas.microsoft.com/office/drawing/2014/main" id="{B47C441D-F3A8-F87C-3593-51133A2132D8}"/>
              </a:ext>
            </a:extLst>
          </p:cNvPr>
          <p:cNvSpPr>
            <a:spLocks noGrp="1" noRot="1" noChangeAspect="1" noChangeArrowheads="1" noTextEdit="1"/>
          </p:cNvSpPr>
          <p:nvPr>
            <p:ph type="sldImg"/>
          </p:nvPr>
        </p:nvSpPr>
        <p:spPr>
          <a:ln/>
        </p:spPr>
      </p:sp>
      <p:sp>
        <p:nvSpPr>
          <p:cNvPr id="1001475" name="Rectangle 3">
            <a:extLst>
              <a:ext uri="{FF2B5EF4-FFF2-40B4-BE49-F238E27FC236}">
                <a16:creationId xmlns:a16="http://schemas.microsoft.com/office/drawing/2014/main" id="{997D8C9B-04A7-B5F3-9974-AA4EA6D16BF4}"/>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4367694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87B8766-FB91-46BE-467F-9434D529E1E7}"/>
              </a:ext>
            </a:extLst>
          </p:cNvPr>
          <p:cNvSpPr>
            <a:spLocks noGrp="1" noChangeArrowheads="1"/>
          </p:cNvSpPr>
          <p:nvPr>
            <p:ph type="sldNum" sz="quarter" idx="5"/>
          </p:nvPr>
        </p:nvSpPr>
        <p:spPr>
          <a:ln/>
        </p:spPr>
        <p:txBody>
          <a:bodyPr/>
          <a:lstStyle/>
          <a:p>
            <a:fld id="{162C64C7-AEBB-4C83-8323-27DE8A19582A}" type="slidenum">
              <a:rPr lang="en-US" altLang="en-US"/>
              <a:pPr/>
              <a:t>42</a:t>
            </a:fld>
            <a:endParaRPr lang="en-US" altLang="en-US"/>
          </a:p>
        </p:txBody>
      </p:sp>
      <p:sp>
        <p:nvSpPr>
          <p:cNvPr id="1007618" name="Rectangle 2">
            <a:extLst>
              <a:ext uri="{FF2B5EF4-FFF2-40B4-BE49-F238E27FC236}">
                <a16:creationId xmlns:a16="http://schemas.microsoft.com/office/drawing/2014/main" id="{3124F256-C272-4440-99FC-B1B046430B02}"/>
              </a:ext>
            </a:extLst>
          </p:cNvPr>
          <p:cNvSpPr>
            <a:spLocks noGrp="1" noRot="1" noChangeAspect="1" noChangeArrowheads="1" noTextEdit="1"/>
          </p:cNvSpPr>
          <p:nvPr>
            <p:ph type="sldImg"/>
          </p:nvPr>
        </p:nvSpPr>
        <p:spPr>
          <a:ln/>
        </p:spPr>
      </p:sp>
      <p:sp>
        <p:nvSpPr>
          <p:cNvPr id="1007619" name="Rectangle 3">
            <a:extLst>
              <a:ext uri="{FF2B5EF4-FFF2-40B4-BE49-F238E27FC236}">
                <a16:creationId xmlns:a16="http://schemas.microsoft.com/office/drawing/2014/main" id="{0C33AE7F-2BD9-89C8-F9FA-8383C24E8E3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A0F69D0-399D-5510-8824-B3E4158F0967}"/>
              </a:ext>
            </a:extLst>
          </p:cNvPr>
          <p:cNvSpPr>
            <a:spLocks noGrp="1" noChangeArrowheads="1"/>
          </p:cNvSpPr>
          <p:nvPr>
            <p:ph type="sldNum" sz="quarter" idx="5"/>
          </p:nvPr>
        </p:nvSpPr>
        <p:spPr>
          <a:ln/>
        </p:spPr>
        <p:txBody>
          <a:bodyPr/>
          <a:lstStyle/>
          <a:p>
            <a:fld id="{00256036-99A4-4C25-AFAB-089FDDD930CA}" type="slidenum">
              <a:rPr lang="en-US" altLang="en-US"/>
              <a:pPr/>
              <a:t>43</a:t>
            </a:fld>
            <a:endParaRPr lang="en-US" altLang="en-US"/>
          </a:p>
        </p:txBody>
      </p:sp>
      <p:sp>
        <p:nvSpPr>
          <p:cNvPr id="1013762" name="Rectangle 2">
            <a:extLst>
              <a:ext uri="{FF2B5EF4-FFF2-40B4-BE49-F238E27FC236}">
                <a16:creationId xmlns:a16="http://schemas.microsoft.com/office/drawing/2014/main" id="{7D24FD1A-B43A-DBF4-C36C-F0AC75D203D0}"/>
              </a:ext>
            </a:extLst>
          </p:cNvPr>
          <p:cNvSpPr>
            <a:spLocks noGrp="1" noRot="1" noChangeAspect="1" noChangeArrowheads="1" noTextEdit="1"/>
          </p:cNvSpPr>
          <p:nvPr>
            <p:ph type="sldImg"/>
          </p:nvPr>
        </p:nvSpPr>
        <p:spPr>
          <a:ln/>
        </p:spPr>
      </p:sp>
      <p:sp>
        <p:nvSpPr>
          <p:cNvPr id="1013763" name="Rectangle 3">
            <a:extLst>
              <a:ext uri="{FF2B5EF4-FFF2-40B4-BE49-F238E27FC236}">
                <a16:creationId xmlns:a16="http://schemas.microsoft.com/office/drawing/2014/main" id="{E67B7EA7-13FB-EF64-107A-242AE90A8B4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0B52FA3-055E-E322-05D1-1766145F789C}"/>
              </a:ext>
            </a:extLst>
          </p:cNvPr>
          <p:cNvSpPr>
            <a:spLocks noGrp="1" noChangeArrowheads="1"/>
          </p:cNvSpPr>
          <p:nvPr>
            <p:ph type="sldNum" sz="quarter" idx="5"/>
          </p:nvPr>
        </p:nvSpPr>
        <p:spPr>
          <a:ln/>
        </p:spPr>
        <p:txBody>
          <a:bodyPr/>
          <a:lstStyle/>
          <a:p>
            <a:fld id="{39F757BD-3762-46B8-A992-14BE84D30CF4}" type="slidenum">
              <a:rPr lang="en-US" altLang="en-US"/>
              <a:pPr/>
              <a:t>44</a:t>
            </a:fld>
            <a:endParaRPr lang="en-US" altLang="en-US"/>
          </a:p>
        </p:txBody>
      </p:sp>
      <p:sp>
        <p:nvSpPr>
          <p:cNvPr id="1015810" name="Rectangle 2">
            <a:extLst>
              <a:ext uri="{FF2B5EF4-FFF2-40B4-BE49-F238E27FC236}">
                <a16:creationId xmlns:a16="http://schemas.microsoft.com/office/drawing/2014/main" id="{AD7E456A-02CD-FEE2-CB93-7F3D007926E3}"/>
              </a:ext>
            </a:extLst>
          </p:cNvPr>
          <p:cNvSpPr>
            <a:spLocks noGrp="1" noRot="1" noChangeAspect="1" noChangeArrowheads="1" noTextEdit="1"/>
          </p:cNvSpPr>
          <p:nvPr>
            <p:ph type="sldImg"/>
          </p:nvPr>
        </p:nvSpPr>
        <p:spPr>
          <a:ln/>
        </p:spPr>
      </p:sp>
      <p:sp>
        <p:nvSpPr>
          <p:cNvPr id="1015811" name="Rectangle 3">
            <a:extLst>
              <a:ext uri="{FF2B5EF4-FFF2-40B4-BE49-F238E27FC236}">
                <a16:creationId xmlns:a16="http://schemas.microsoft.com/office/drawing/2014/main" id="{C782D7A9-D3B6-8817-0DAC-828FA827DBE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CFABE6C-08ED-61CF-B726-880DAFF33785}"/>
              </a:ext>
            </a:extLst>
          </p:cNvPr>
          <p:cNvSpPr>
            <a:spLocks noGrp="1" noChangeArrowheads="1"/>
          </p:cNvSpPr>
          <p:nvPr>
            <p:ph type="sldNum" sz="quarter" idx="5"/>
          </p:nvPr>
        </p:nvSpPr>
        <p:spPr>
          <a:ln/>
        </p:spPr>
        <p:txBody>
          <a:bodyPr/>
          <a:lstStyle/>
          <a:p>
            <a:fld id="{94E64EEC-185B-4361-B313-C59BB8F71C7B}" type="slidenum">
              <a:rPr lang="en-US" altLang="en-US"/>
              <a:pPr/>
              <a:t>45</a:t>
            </a:fld>
            <a:endParaRPr lang="en-US" altLang="en-US"/>
          </a:p>
        </p:txBody>
      </p:sp>
      <p:sp>
        <p:nvSpPr>
          <p:cNvPr id="1017858" name="Rectangle 2">
            <a:extLst>
              <a:ext uri="{FF2B5EF4-FFF2-40B4-BE49-F238E27FC236}">
                <a16:creationId xmlns:a16="http://schemas.microsoft.com/office/drawing/2014/main" id="{281C11D0-6BAE-F087-69B4-1A35806BBDFA}"/>
              </a:ext>
            </a:extLst>
          </p:cNvPr>
          <p:cNvSpPr>
            <a:spLocks noGrp="1" noRot="1" noChangeAspect="1" noChangeArrowheads="1" noTextEdit="1"/>
          </p:cNvSpPr>
          <p:nvPr>
            <p:ph type="sldImg"/>
          </p:nvPr>
        </p:nvSpPr>
        <p:spPr>
          <a:ln/>
        </p:spPr>
      </p:sp>
      <p:sp>
        <p:nvSpPr>
          <p:cNvPr id="1017859" name="Rectangle 3">
            <a:extLst>
              <a:ext uri="{FF2B5EF4-FFF2-40B4-BE49-F238E27FC236}">
                <a16:creationId xmlns:a16="http://schemas.microsoft.com/office/drawing/2014/main" id="{069019F3-5FA9-BF39-D7AB-8ADA4876B55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2D696D5-3902-7954-C3C8-541A0EA18E7E}"/>
              </a:ext>
            </a:extLst>
          </p:cNvPr>
          <p:cNvSpPr>
            <a:spLocks noGrp="1" noChangeArrowheads="1"/>
          </p:cNvSpPr>
          <p:nvPr>
            <p:ph type="sldNum" sz="quarter" idx="5"/>
          </p:nvPr>
        </p:nvSpPr>
        <p:spPr>
          <a:ln/>
        </p:spPr>
        <p:txBody>
          <a:bodyPr/>
          <a:lstStyle/>
          <a:p>
            <a:fld id="{B9DD6FE5-B1CD-411F-B3CC-1DA67E98DD66}" type="slidenum">
              <a:rPr lang="en-US" altLang="en-US"/>
              <a:pPr/>
              <a:t>46</a:t>
            </a:fld>
            <a:endParaRPr lang="en-US" altLang="en-US"/>
          </a:p>
        </p:txBody>
      </p:sp>
      <p:sp>
        <p:nvSpPr>
          <p:cNvPr id="1030146" name="Rectangle 2">
            <a:extLst>
              <a:ext uri="{FF2B5EF4-FFF2-40B4-BE49-F238E27FC236}">
                <a16:creationId xmlns:a16="http://schemas.microsoft.com/office/drawing/2014/main" id="{3BF69704-A484-694E-59BE-F7F8A09632D8}"/>
              </a:ext>
            </a:extLst>
          </p:cNvPr>
          <p:cNvSpPr>
            <a:spLocks noGrp="1" noRot="1" noChangeAspect="1" noChangeArrowheads="1" noTextEdit="1"/>
          </p:cNvSpPr>
          <p:nvPr>
            <p:ph type="sldImg"/>
          </p:nvPr>
        </p:nvSpPr>
        <p:spPr>
          <a:ln/>
        </p:spPr>
      </p:sp>
      <p:sp>
        <p:nvSpPr>
          <p:cNvPr id="1030147" name="Rectangle 3">
            <a:extLst>
              <a:ext uri="{FF2B5EF4-FFF2-40B4-BE49-F238E27FC236}">
                <a16:creationId xmlns:a16="http://schemas.microsoft.com/office/drawing/2014/main" id="{2B79DBD9-698C-2BE7-8F87-8A402B79277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8495D-A862-C017-BD9A-DE70BDA67F92}"/>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7A10BDD7-60F2-83C4-F9F8-DAA3698B9C0B}"/>
              </a:ext>
            </a:extLst>
          </p:cNvPr>
          <p:cNvSpPr>
            <a:spLocks noGrp="1" noChangeArrowheads="1"/>
          </p:cNvSpPr>
          <p:nvPr>
            <p:ph type="sldNum" sz="quarter" idx="5"/>
          </p:nvPr>
        </p:nvSpPr>
        <p:spPr>
          <a:ln/>
        </p:spPr>
        <p:txBody>
          <a:bodyPr/>
          <a:lstStyle/>
          <a:p>
            <a:fld id="{B9DD6FE5-B1CD-411F-B3CC-1DA67E98DD66}" type="slidenum">
              <a:rPr lang="en-US" altLang="en-US"/>
              <a:pPr/>
              <a:t>47</a:t>
            </a:fld>
            <a:endParaRPr lang="en-US" altLang="en-US"/>
          </a:p>
        </p:txBody>
      </p:sp>
      <p:sp>
        <p:nvSpPr>
          <p:cNvPr id="1030146" name="Rectangle 2">
            <a:extLst>
              <a:ext uri="{FF2B5EF4-FFF2-40B4-BE49-F238E27FC236}">
                <a16:creationId xmlns:a16="http://schemas.microsoft.com/office/drawing/2014/main" id="{0B3221F8-3823-9E77-46B3-BB6B0A970DC9}"/>
              </a:ext>
            </a:extLst>
          </p:cNvPr>
          <p:cNvSpPr>
            <a:spLocks noGrp="1" noRot="1" noChangeAspect="1" noChangeArrowheads="1" noTextEdit="1"/>
          </p:cNvSpPr>
          <p:nvPr>
            <p:ph type="sldImg"/>
          </p:nvPr>
        </p:nvSpPr>
        <p:spPr>
          <a:ln/>
        </p:spPr>
      </p:sp>
      <p:sp>
        <p:nvSpPr>
          <p:cNvPr id="1030147" name="Rectangle 3">
            <a:extLst>
              <a:ext uri="{FF2B5EF4-FFF2-40B4-BE49-F238E27FC236}">
                <a16:creationId xmlns:a16="http://schemas.microsoft.com/office/drawing/2014/main" id="{A5C2EE32-9B17-E80A-0675-947A78226042}"/>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7295165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5822F20-4D39-A737-32B7-0144F45BE01B}"/>
              </a:ext>
            </a:extLst>
          </p:cNvPr>
          <p:cNvSpPr>
            <a:spLocks noGrp="1" noChangeArrowheads="1"/>
          </p:cNvSpPr>
          <p:nvPr>
            <p:ph type="sldNum" sz="quarter" idx="5"/>
          </p:nvPr>
        </p:nvSpPr>
        <p:spPr>
          <a:ln/>
        </p:spPr>
        <p:txBody>
          <a:bodyPr/>
          <a:lstStyle/>
          <a:p>
            <a:fld id="{130513D4-B380-46A9-A2D3-449BA1F4220B}" type="slidenum">
              <a:rPr lang="en-US" altLang="en-US"/>
              <a:pPr/>
              <a:t>48</a:t>
            </a:fld>
            <a:endParaRPr lang="en-US" altLang="en-US"/>
          </a:p>
        </p:txBody>
      </p:sp>
      <p:sp>
        <p:nvSpPr>
          <p:cNvPr id="1032194" name="Rectangle 2">
            <a:extLst>
              <a:ext uri="{FF2B5EF4-FFF2-40B4-BE49-F238E27FC236}">
                <a16:creationId xmlns:a16="http://schemas.microsoft.com/office/drawing/2014/main" id="{7537701B-C72C-0DA2-7E06-D6CC3059A4B6}"/>
              </a:ext>
            </a:extLst>
          </p:cNvPr>
          <p:cNvSpPr>
            <a:spLocks noGrp="1" noRot="1" noChangeAspect="1" noChangeArrowheads="1" noTextEdit="1"/>
          </p:cNvSpPr>
          <p:nvPr>
            <p:ph type="sldImg"/>
          </p:nvPr>
        </p:nvSpPr>
        <p:spPr>
          <a:ln/>
        </p:spPr>
      </p:sp>
      <p:sp>
        <p:nvSpPr>
          <p:cNvPr id="1032195" name="Rectangle 3">
            <a:extLst>
              <a:ext uri="{FF2B5EF4-FFF2-40B4-BE49-F238E27FC236}">
                <a16:creationId xmlns:a16="http://schemas.microsoft.com/office/drawing/2014/main" id="{7DB2D93D-95AF-BBC7-93AD-E02E06CDDE6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AFD9FE9-9500-3AAA-93E0-6ADEC8409AB5}"/>
              </a:ext>
            </a:extLst>
          </p:cNvPr>
          <p:cNvSpPr>
            <a:spLocks noGrp="1" noChangeArrowheads="1"/>
          </p:cNvSpPr>
          <p:nvPr>
            <p:ph type="sldNum" sz="quarter" idx="5"/>
          </p:nvPr>
        </p:nvSpPr>
        <p:spPr>
          <a:ln/>
        </p:spPr>
        <p:txBody>
          <a:bodyPr/>
          <a:lstStyle/>
          <a:p>
            <a:fld id="{9039F3E2-081D-4CA8-A7FF-823D154E6350}" type="slidenum">
              <a:rPr lang="en-US" altLang="en-US"/>
              <a:pPr/>
              <a:t>54</a:t>
            </a:fld>
            <a:endParaRPr lang="en-US" altLang="en-US"/>
          </a:p>
        </p:txBody>
      </p:sp>
      <p:sp>
        <p:nvSpPr>
          <p:cNvPr id="1044482" name="Rectangle 2">
            <a:extLst>
              <a:ext uri="{FF2B5EF4-FFF2-40B4-BE49-F238E27FC236}">
                <a16:creationId xmlns:a16="http://schemas.microsoft.com/office/drawing/2014/main" id="{24CE159A-C867-CE50-D6D4-AC3CAFA60270}"/>
              </a:ext>
            </a:extLst>
          </p:cNvPr>
          <p:cNvSpPr>
            <a:spLocks noGrp="1" noRot="1" noChangeAspect="1" noChangeArrowheads="1" noTextEdit="1"/>
          </p:cNvSpPr>
          <p:nvPr>
            <p:ph type="sldImg"/>
          </p:nvPr>
        </p:nvSpPr>
        <p:spPr>
          <a:ln/>
        </p:spPr>
      </p:sp>
      <p:sp>
        <p:nvSpPr>
          <p:cNvPr id="1044483" name="Rectangle 3">
            <a:extLst>
              <a:ext uri="{FF2B5EF4-FFF2-40B4-BE49-F238E27FC236}">
                <a16:creationId xmlns:a16="http://schemas.microsoft.com/office/drawing/2014/main" id="{665DA122-190C-5ACD-EC27-1339648509DE}"/>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3BEAF00-36F6-CB13-02F3-6597157147A3}"/>
              </a:ext>
            </a:extLst>
          </p:cNvPr>
          <p:cNvSpPr>
            <a:spLocks noGrp="1" noChangeArrowheads="1"/>
          </p:cNvSpPr>
          <p:nvPr>
            <p:ph type="sldNum" sz="quarter" idx="5"/>
          </p:nvPr>
        </p:nvSpPr>
        <p:spPr>
          <a:ln/>
        </p:spPr>
        <p:txBody>
          <a:bodyPr/>
          <a:lstStyle/>
          <a:p>
            <a:fld id="{33424453-B2C0-4C92-A909-88E9190AF376}" type="slidenum">
              <a:rPr lang="en-US" altLang="en-US"/>
              <a:pPr/>
              <a:t>58</a:t>
            </a:fld>
            <a:endParaRPr lang="en-US" altLang="en-US"/>
          </a:p>
        </p:txBody>
      </p:sp>
      <p:sp>
        <p:nvSpPr>
          <p:cNvPr id="964610" name="Rectangle 2">
            <a:extLst>
              <a:ext uri="{FF2B5EF4-FFF2-40B4-BE49-F238E27FC236}">
                <a16:creationId xmlns:a16="http://schemas.microsoft.com/office/drawing/2014/main" id="{6DDBA72B-1BFA-5B58-3D7F-FF293FC95782}"/>
              </a:ext>
            </a:extLst>
          </p:cNvPr>
          <p:cNvSpPr>
            <a:spLocks noGrp="1" noRot="1" noChangeAspect="1" noChangeArrowheads="1" noTextEdit="1"/>
          </p:cNvSpPr>
          <p:nvPr>
            <p:ph type="sldImg"/>
          </p:nvPr>
        </p:nvSpPr>
        <p:spPr>
          <a:ln/>
        </p:spPr>
      </p:sp>
      <p:sp>
        <p:nvSpPr>
          <p:cNvPr id="964611" name="Rectangle 3">
            <a:extLst>
              <a:ext uri="{FF2B5EF4-FFF2-40B4-BE49-F238E27FC236}">
                <a16:creationId xmlns:a16="http://schemas.microsoft.com/office/drawing/2014/main" id="{E12F8153-0AA9-49C8-87A2-C238728460D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931ABC3-61A5-2718-8C6E-83893313066B}"/>
              </a:ext>
            </a:extLst>
          </p:cNvPr>
          <p:cNvSpPr>
            <a:spLocks noGrp="1" noChangeArrowheads="1"/>
          </p:cNvSpPr>
          <p:nvPr>
            <p:ph type="sldNum" sz="quarter" idx="5"/>
          </p:nvPr>
        </p:nvSpPr>
        <p:spPr>
          <a:ln/>
        </p:spPr>
        <p:txBody>
          <a:bodyPr/>
          <a:lstStyle/>
          <a:p>
            <a:fld id="{8E873113-EFD4-4857-8C02-52B1BE7D34C7}" type="slidenum">
              <a:rPr lang="en-US" altLang="en-US"/>
              <a:pPr/>
              <a:t>68</a:t>
            </a:fld>
            <a:endParaRPr lang="en-US" altLang="en-US"/>
          </a:p>
        </p:txBody>
      </p:sp>
      <p:sp>
        <p:nvSpPr>
          <p:cNvPr id="1107970" name="Rectangle 2">
            <a:extLst>
              <a:ext uri="{FF2B5EF4-FFF2-40B4-BE49-F238E27FC236}">
                <a16:creationId xmlns:a16="http://schemas.microsoft.com/office/drawing/2014/main" id="{DB492BBA-DAF4-8145-061D-065761CDA337}"/>
              </a:ext>
            </a:extLst>
          </p:cNvPr>
          <p:cNvSpPr>
            <a:spLocks noGrp="1" noRot="1" noChangeAspect="1" noChangeArrowheads="1" noTextEdit="1"/>
          </p:cNvSpPr>
          <p:nvPr>
            <p:ph type="sldImg"/>
          </p:nvPr>
        </p:nvSpPr>
        <p:spPr>
          <a:ln/>
        </p:spPr>
      </p:sp>
      <p:sp>
        <p:nvSpPr>
          <p:cNvPr id="1107971" name="Rectangle 3">
            <a:extLst>
              <a:ext uri="{FF2B5EF4-FFF2-40B4-BE49-F238E27FC236}">
                <a16:creationId xmlns:a16="http://schemas.microsoft.com/office/drawing/2014/main" id="{BA1FF152-F194-54D5-7E27-06EA09C695A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4B14BE2-1E2B-9F5B-170C-88B34C706EAF}"/>
              </a:ext>
            </a:extLst>
          </p:cNvPr>
          <p:cNvSpPr>
            <a:spLocks noGrp="1" noChangeArrowheads="1"/>
          </p:cNvSpPr>
          <p:nvPr>
            <p:ph type="sldNum" sz="quarter" idx="5"/>
          </p:nvPr>
        </p:nvSpPr>
        <p:spPr>
          <a:ln/>
        </p:spPr>
        <p:txBody>
          <a:bodyPr/>
          <a:lstStyle/>
          <a:p>
            <a:fld id="{2447D19E-37C9-4125-B446-A53A21FD8A52}" type="slidenum">
              <a:rPr lang="en-US" altLang="en-US"/>
              <a:pPr/>
              <a:t>70</a:t>
            </a:fld>
            <a:endParaRPr lang="en-US" altLang="en-US"/>
          </a:p>
        </p:txBody>
      </p:sp>
      <p:sp>
        <p:nvSpPr>
          <p:cNvPr id="1081346" name="Rectangle 2">
            <a:extLst>
              <a:ext uri="{FF2B5EF4-FFF2-40B4-BE49-F238E27FC236}">
                <a16:creationId xmlns:a16="http://schemas.microsoft.com/office/drawing/2014/main" id="{976C3887-BC98-AC56-6E44-B5C3BBDE9091}"/>
              </a:ext>
            </a:extLst>
          </p:cNvPr>
          <p:cNvSpPr>
            <a:spLocks noGrp="1" noRot="1" noChangeAspect="1" noChangeArrowheads="1" noTextEdit="1"/>
          </p:cNvSpPr>
          <p:nvPr>
            <p:ph type="sldImg"/>
          </p:nvPr>
        </p:nvSpPr>
        <p:spPr>
          <a:ln/>
        </p:spPr>
      </p:sp>
      <p:sp>
        <p:nvSpPr>
          <p:cNvPr id="1081347" name="Rectangle 3">
            <a:extLst>
              <a:ext uri="{FF2B5EF4-FFF2-40B4-BE49-F238E27FC236}">
                <a16:creationId xmlns:a16="http://schemas.microsoft.com/office/drawing/2014/main" id="{2DD6CC0B-CC74-496C-647E-E9812622F60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4B0CCD8-8568-4AEA-846B-5BF7F49871AF}"/>
              </a:ext>
            </a:extLst>
          </p:cNvPr>
          <p:cNvSpPr>
            <a:spLocks noGrp="1" noChangeArrowheads="1"/>
          </p:cNvSpPr>
          <p:nvPr>
            <p:ph type="sldNum" sz="quarter" idx="5"/>
          </p:nvPr>
        </p:nvSpPr>
        <p:spPr>
          <a:ln/>
        </p:spPr>
        <p:txBody>
          <a:bodyPr/>
          <a:lstStyle/>
          <a:p>
            <a:fld id="{FA2C6F85-453E-49E4-BCBA-1DD50030ECD0}" type="slidenum">
              <a:rPr lang="en-US" altLang="en-US"/>
              <a:pPr/>
              <a:t>74</a:t>
            </a:fld>
            <a:endParaRPr lang="en-US" altLang="en-US"/>
          </a:p>
        </p:txBody>
      </p:sp>
      <p:sp>
        <p:nvSpPr>
          <p:cNvPr id="1083394" name="Rectangle 2">
            <a:extLst>
              <a:ext uri="{FF2B5EF4-FFF2-40B4-BE49-F238E27FC236}">
                <a16:creationId xmlns:a16="http://schemas.microsoft.com/office/drawing/2014/main" id="{150E9AE9-8EB3-9D00-93DE-74276A2C8E86}"/>
              </a:ext>
            </a:extLst>
          </p:cNvPr>
          <p:cNvSpPr>
            <a:spLocks noGrp="1" noRot="1" noChangeAspect="1" noChangeArrowheads="1" noTextEdit="1"/>
          </p:cNvSpPr>
          <p:nvPr>
            <p:ph type="sldImg"/>
          </p:nvPr>
        </p:nvSpPr>
        <p:spPr>
          <a:ln/>
        </p:spPr>
      </p:sp>
      <p:sp>
        <p:nvSpPr>
          <p:cNvPr id="1083395" name="Rectangle 3">
            <a:extLst>
              <a:ext uri="{FF2B5EF4-FFF2-40B4-BE49-F238E27FC236}">
                <a16:creationId xmlns:a16="http://schemas.microsoft.com/office/drawing/2014/main" id="{1926B8EE-D62F-8D1E-0EC4-1C161EE974B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CAA8C3E-2B7B-97DD-62B8-FD046BCFEC18}"/>
              </a:ext>
            </a:extLst>
          </p:cNvPr>
          <p:cNvSpPr>
            <a:spLocks noGrp="1" noChangeArrowheads="1"/>
          </p:cNvSpPr>
          <p:nvPr>
            <p:ph type="sldNum" sz="quarter" idx="5"/>
          </p:nvPr>
        </p:nvSpPr>
        <p:spPr>
          <a:ln/>
        </p:spPr>
        <p:txBody>
          <a:bodyPr/>
          <a:lstStyle/>
          <a:p>
            <a:fld id="{BF00C9B1-4130-4DC8-A1E5-37172B66B703}" type="slidenum">
              <a:rPr lang="en-US" altLang="en-US"/>
              <a:pPr/>
              <a:t>79</a:t>
            </a:fld>
            <a:endParaRPr lang="en-US" altLang="en-US"/>
          </a:p>
        </p:txBody>
      </p:sp>
      <p:sp>
        <p:nvSpPr>
          <p:cNvPr id="1138690" name="Rectangle 2">
            <a:extLst>
              <a:ext uri="{FF2B5EF4-FFF2-40B4-BE49-F238E27FC236}">
                <a16:creationId xmlns:a16="http://schemas.microsoft.com/office/drawing/2014/main" id="{AECBE012-0AE1-3EC0-31A9-756BB099D11D}"/>
              </a:ext>
            </a:extLst>
          </p:cNvPr>
          <p:cNvSpPr>
            <a:spLocks noGrp="1" noRot="1" noChangeAspect="1" noChangeArrowheads="1" noTextEdit="1"/>
          </p:cNvSpPr>
          <p:nvPr>
            <p:ph type="sldImg"/>
          </p:nvPr>
        </p:nvSpPr>
        <p:spPr>
          <a:ln/>
        </p:spPr>
      </p:sp>
      <p:sp>
        <p:nvSpPr>
          <p:cNvPr id="1138691" name="Rectangle 3">
            <a:extLst>
              <a:ext uri="{FF2B5EF4-FFF2-40B4-BE49-F238E27FC236}">
                <a16:creationId xmlns:a16="http://schemas.microsoft.com/office/drawing/2014/main" id="{84FDDC8E-011B-FEC5-731E-C4D85DF868E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31BBB9D-608A-2268-CB4D-288CE9D06275}"/>
              </a:ext>
            </a:extLst>
          </p:cNvPr>
          <p:cNvSpPr>
            <a:spLocks noGrp="1" noChangeArrowheads="1"/>
          </p:cNvSpPr>
          <p:nvPr>
            <p:ph type="sldNum" sz="quarter" idx="5"/>
          </p:nvPr>
        </p:nvSpPr>
        <p:spPr>
          <a:ln/>
        </p:spPr>
        <p:txBody>
          <a:bodyPr/>
          <a:lstStyle/>
          <a:p>
            <a:fld id="{0C0EBEB1-7713-48C3-972A-D99CE1774274}" type="slidenum">
              <a:rPr lang="en-US" altLang="en-US"/>
              <a:pPr/>
              <a:t>81</a:t>
            </a:fld>
            <a:endParaRPr lang="en-US" altLang="en-US"/>
          </a:p>
        </p:txBody>
      </p:sp>
      <p:sp>
        <p:nvSpPr>
          <p:cNvPr id="901122" name="Rectangle 2">
            <a:extLst>
              <a:ext uri="{FF2B5EF4-FFF2-40B4-BE49-F238E27FC236}">
                <a16:creationId xmlns:a16="http://schemas.microsoft.com/office/drawing/2014/main" id="{413CAAD0-4F3F-A69E-B9E3-D38B93FE49EC}"/>
              </a:ext>
            </a:extLst>
          </p:cNvPr>
          <p:cNvSpPr>
            <a:spLocks noGrp="1" noRot="1" noChangeAspect="1" noChangeArrowheads="1" noTextEdit="1"/>
          </p:cNvSpPr>
          <p:nvPr>
            <p:ph type="sldImg"/>
          </p:nvPr>
        </p:nvSpPr>
        <p:spPr>
          <a:ln/>
        </p:spPr>
      </p:sp>
      <p:sp>
        <p:nvSpPr>
          <p:cNvPr id="901123" name="Rectangle 3">
            <a:extLst>
              <a:ext uri="{FF2B5EF4-FFF2-40B4-BE49-F238E27FC236}">
                <a16:creationId xmlns:a16="http://schemas.microsoft.com/office/drawing/2014/main" id="{E76BE3A8-2B68-5BB9-1D21-FE4CA7F0731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4E1E73F-28C7-E7A3-9057-89371D8B17A3}"/>
              </a:ext>
            </a:extLst>
          </p:cNvPr>
          <p:cNvSpPr>
            <a:spLocks noGrp="1" noChangeArrowheads="1"/>
          </p:cNvSpPr>
          <p:nvPr>
            <p:ph type="sldNum" sz="quarter" idx="5"/>
          </p:nvPr>
        </p:nvSpPr>
        <p:spPr>
          <a:ln/>
        </p:spPr>
        <p:txBody>
          <a:bodyPr/>
          <a:lstStyle/>
          <a:p>
            <a:fld id="{524E93B3-92AA-4972-AA28-CFC5C9D24441}" type="slidenum">
              <a:rPr lang="en-US" altLang="en-US"/>
              <a:pPr/>
              <a:t>82</a:t>
            </a:fld>
            <a:endParaRPr lang="en-US" altLang="en-US"/>
          </a:p>
        </p:txBody>
      </p:sp>
      <p:sp>
        <p:nvSpPr>
          <p:cNvPr id="906242" name="Rectangle 2">
            <a:extLst>
              <a:ext uri="{FF2B5EF4-FFF2-40B4-BE49-F238E27FC236}">
                <a16:creationId xmlns:a16="http://schemas.microsoft.com/office/drawing/2014/main" id="{5968F19A-9982-A750-427C-65ED8C715831}"/>
              </a:ext>
            </a:extLst>
          </p:cNvPr>
          <p:cNvSpPr>
            <a:spLocks noGrp="1" noRot="1" noChangeAspect="1" noChangeArrowheads="1" noTextEdit="1"/>
          </p:cNvSpPr>
          <p:nvPr>
            <p:ph type="sldImg"/>
          </p:nvPr>
        </p:nvSpPr>
        <p:spPr>
          <a:ln/>
        </p:spPr>
      </p:sp>
      <p:sp>
        <p:nvSpPr>
          <p:cNvPr id="906243" name="Rectangle 3">
            <a:extLst>
              <a:ext uri="{FF2B5EF4-FFF2-40B4-BE49-F238E27FC236}">
                <a16:creationId xmlns:a16="http://schemas.microsoft.com/office/drawing/2014/main" id="{7B9A9A35-3E0C-6E2F-4487-4C4C1C82F54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54E5E31-886A-00DA-906A-8761F90D972A}"/>
              </a:ext>
            </a:extLst>
          </p:cNvPr>
          <p:cNvSpPr>
            <a:spLocks noGrp="1" noChangeArrowheads="1"/>
          </p:cNvSpPr>
          <p:nvPr>
            <p:ph type="sldNum" sz="quarter" idx="5"/>
          </p:nvPr>
        </p:nvSpPr>
        <p:spPr>
          <a:ln/>
        </p:spPr>
        <p:txBody>
          <a:bodyPr/>
          <a:lstStyle/>
          <a:p>
            <a:fld id="{25DB1E7E-7F18-4A06-B751-4B468A294A93}" type="slidenum">
              <a:rPr lang="en-US" altLang="en-US"/>
              <a:pPr/>
              <a:t>86</a:t>
            </a:fld>
            <a:endParaRPr lang="en-US" altLang="en-US"/>
          </a:p>
        </p:txBody>
      </p:sp>
      <p:sp>
        <p:nvSpPr>
          <p:cNvPr id="891906" name="Rectangle 2">
            <a:extLst>
              <a:ext uri="{FF2B5EF4-FFF2-40B4-BE49-F238E27FC236}">
                <a16:creationId xmlns:a16="http://schemas.microsoft.com/office/drawing/2014/main" id="{E6FFCE1B-8B55-2700-76EB-517B1D3F88F4}"/>
              </a:ext>
            </a:extLst>
          </p:cNvPr>
          <p:cNvSpPr>
            <a:spLocks noGrp="1" noRot="1" noChangeAspect="1" noChangeArrowheads="1" noTextEdit="1"/>
          </p:cNvSpPr>
          <p:nvPr>
            <p:ph type="sldImg"/>
          </p:nvPr>
        </p:nvSpPr>
        <p:spPr>
          <a:ln/>
        </p:spPr>
      </p:sp>
      <p:sp>
        <p:nvSpPr>
          <p:cNvPr id="891907" name="Rectangle 3">
            <a:extLst>
              <a:ext uri="{FF2B5EF4-FFF2-40B4-BE49-F238E27FC236}">
                <a16:creationId xmlns:a16="http://schemas.microsoft.com/office/drawing/2014/main" id="{6F39DE02-3B2B-2454-5243-340A75CD613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CA199E7-3EB7-C6EE-8AC6-6308841241F2}"/>
              </a:ext>
            </a:extLst>
          </p:cNvPr>
          <p:cNvSpPr>
            <a:spLocks noGrp="1" noChangeArrowheads="1"/>
          </p:cNvSpPr>
          <p:nvPr>
            <p:ph type="sldNum" sz="quarter" idx="5"/>
          </p:nvPr>
        </p:nvSpPr>
        <p:spPr>
          <a:ln/>
        </p:spPr>
        <p:txBody>
          <a:bodyPr/>
          <a:lstStyle/>
          <a:p>
            <a:fld id="{158908C4-CE10-48CD-8482-8016C05DA1C1}" type="slidenum">
              <a:rPr lang="en-US" altLang="en-US"/>
              <a:pPr/>
              <a:t>87</a:t>
            </a:fld>
            <a:endParaRPr lang="en-US" altLang="en-US"/>
          </a:p>
        </p:txBody>
      </p:sp>
      <p:sp>
        <p:nvSpPr>
          <p:cNvPr id="894978" name="Rectangle 2">
            <a:extLst>
              <a:ext uri="{FF2B5EF4-FFF2-40B4-BE49-F238E27FC236}">
                <a16:creationId xmlns:a16="http://schemas.microsoft.com/office/drawing/2014/main" id="{D1F70832-0C0F-5D37-5C6B-760C749AA238}"/>
              </a:ext>
            </a:extLst>
          </p:cNvPr>
          <p:cNvSpPr>
            <a:spLocks noGrp="1" noRot="1" noChangeAspect="1" noChangeArrowheads="1" noTextEdit="1"/>
          </p:cNvSpPr>
          <p:nvPr>
            <p:ph type="sldImg"/>
          </p:nvPr>
        </p:nvSpPr>
        <p:spPr>
          <a:ln/>
        </p:spPr>
      </p:sp>
      <p:sp>
        <p:nvSpPr>
          <p:cNvPr id="894979" name="Rectangle 3">
            <a:extLst>
              <a:ext uri="{FF2B5EF4-FFF2-40B4-BE49-F238E27FC236}">
                <a16:creationId xmlns:a16="http://schemas.microsoft.com/office/drawing/2014/main" id="{5AA8DF47-2867-9824-F39B-CA8D7160EBB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9AA50BE-78FD-3EF9-3CC7-99DFDB2F1F27}"/>
              </a:ext>
            </a:extLst>
          </p:cNvPr>
          <p:cNvSpPr>
            <a:spLocks noGrp="1" noChangeArrowheads="1"/>
          </p:cNvSpPr>
          <p:nvPr>
            <p:ph type="sldNum" sz="quarter" idx="5"/>
          </p:nvPr>
        </p:nvSpPr>
        <p:spPr>
          <a:ln/>
        </p:spPr>
        <p:txBody>
          <a:bodyPr/>
          <a:lstStyle/>
          <a:p>
            <a:fld id="{3D8FD467-A6B0-4A1A-8B10-9D0EE8EC9AEE}" type="slidenum">
              <a:rPr lang="en-US" altLang="en-US"/>
              <a:pPr/>
              <a:t>88</a:t>
            </a:fld>
            <a:endParaRPr lang="en-US" altLang="en-US"/>
          </a:p>
        </p:txBody>
      </p:sp>
      <p:sp>
        <p:nvSpPr>
          <p:cNvPr id="917506" name="Rectangle 2">
            <a:extLst>
              <a:ext uri="{FF2B5EF4-FFF2-40B4-BE49-F238E27FC236}">
                <a16:creationId xmlns:a16="http://schemas.microsoft.com/office/drawing/2014/main" id="{71592E27-6DAA-FE77-1BA0-0C3ECBA516DA}"/>
              </a:ext>
            </a:extLst>
          </p:cNvPr>
          <p:cNvSpPr>
            <a:spLocks noGrp="1" noRot="1" noChangeAspect="1" noChangeArrowheads="1" noTextEdit="1"/>
          </p:cNvSpPr>
          <p:nvPr>
            <p:ph type="sldImg"/>
          </p:nvPr>
        </p:nvSpPr>
        <p:spPr>
          <a:ln/>
        </p:spPr>
      </p:sp>
      <p:sp>
        <p:nvSpPr>
          <p:cNvPr id="917507" name="Rectangle 3">
            <a:extLst>
              <a:ext uri="{FF2B5EF4-FFF2-40B4-BE49-F238E27FC236}">
                <a16:creationId xmlns:a16="http://schemas.microsoft.com/office/drawing/2014/main" id="{92F3395F-DE1F-2EF2-0676-2DC14F26926D}"/>
              </a:ext>
            </a:extLst>
          </p:cNvPr>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DF03D-1C07-4973-AACB-E25B01D65B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8EB89B-D17F-EF48-2FDA-9FF86F9AE3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E1AAC2C-B2AF-D7CD-0AE8-75BAE06489F5}"/>
              </a:ext>
            </a:extLst>
          </p:cNvPr>
          <p:cNvSpPr>
            <a:spLocks noGrp="1"/>
          </p:cNvSpPr>
          <p:nvPr>
            <p:ph type="dt" sz="half" idx="10"/>
          </p:nvPr>
        </p:nvSpPr>
        <p:spPr/>
        <p:txBody>
          <a:bodyPr/>
          <a:lstStyle/>
          <a:p>
            <a:fld id="{47B97711-AF5A-42B4-AB8A-1D4901466464}" type="datetimeFigureOut">
              <a:rPr lang="en-IN" smtClean="0"/>
              <a:t>09-09-2026</a:t>
            </a:fld>
            <a:endParaRPr lang="en-IN"/>
          </a:p>
        </p:txBody>
      </p:sp>
      <p:sp>
        <p:nvSpPr>
          <p:cNvPr id="5" name="Footer Placeholder 4">
            <a:extLst>
              <a:ext uri="{FF2B5EF4-FFF2-40B4-BE49-F238E27FC236}">
                <a16:creationId xmlns:a16="http://schemas.microsoft.com/office/drawing/2014/main" id="{D156BB1E-595F-E921-2004-77AC9F7411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0373EF-1272-5F32-569B-5B4496EEEC30}"/>
              </a:ext>
            </a:extLst>
          </p:cNvPr>
          <p:cNvSpPr>
            <a:spLocks noGrp="1"/>
          </p:cNvSpPr>
          <p:nvPr>
            <p:ph type="sldNum" sz="quarter" idx="12"/>
          </p:nvPr>
        </p:nvSpPr>
        <p:spPr/>
        <p:txBody>
          <a:bodyPr/>
          <a:lstStyle/>
          <a:p>
            <a:fld id="{D8D8ABD4-4D50-4B0E-B167-754E34168EEB}" type="slidenum">
              <a:rPr lang="en-IN" smtClean="0"/>
              <a:t>‹#›</a:t>
            </a:fld>
            <a:endParaRPr lang="en-IN"/>
          </a:p>
        </p:txBody>
      </p:sp>
    </p:spTree>
    <p:extLst>
      <p:ext uri="{BB962C8B-B14F-4D97-AF65-F5344CB8AC3E}">
        <p14:creationId xmlns:p14="http://schemas.microsoft.com/office/powerpoint/2010/main" val="1903000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71494-2663-B657-1745-350C77BDC2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2C478C-AFD2-710C-AAFA-DBF30AD3EC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F381F5-F0F4-3734-8CE5-6E23DDEA411F}"/>
              </a:ext>
            </a:extLst>
          </p:cNvPr>
          <p:cNvSpPr>
            <a:spLocks noGrp="1"/>
          </p:cNvSpPr>
          <p:nvPr>
            <p:ph type="dt" sz="half" idx="10"/>
          </p:nvPr>
        </p:nvSpPr>
        <p:spPr/>
        <p:txBody>
          <a:bodyPr/>
          <a:lstStyle/>
          <a:p>
            <a:fld id="{47B97711-AF5A-42B4-AB8A-1D4901466464}" type="datetimeFigureOut">
              <a:rPr lang="en-IN" smtClean="0"/>
              <a:t>09-09-2026</a:t>
            </a:fld>
            <a:endParaRPr lang="en-IN"/>
          </a:p>
        </p:txBody>
      </p:sp>
      <p:sp>
        <p:nvSpPr>
          <p:cNvPr id="5" name="Footer Placeholder 4">
            <a:extLst>
              <a:ext uri="{FF2B5EF4-FFF2-40B4-BE49-F238E27FC236}">
                <a16:creationId xmlns:a16="http://schemas.microsoft.com/office/drawing/2014/main" id="{F5A5E4F2-BF61-8CF4-F527-17EF7A8918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F61CFE-A8E5-7157-B98E-1A3DA3F1A869}"/>
              </a:ext>
            </a:extLst>
          </p:cNvPr>
          <p:cNvSpPr>
            <a:spLocks noGrp="1"/>
          </p:cNvSpPr>
          <p:nvPr>
            <p:ph type="sldNum" sz="quarter" idx="12"/>
          </p:nvPr>
        </p:nvSpPr>
        <p:spPr/>
        <p:txBody>
          <a:bodyPr/>
          <a:lstStyle/>
          <a:p>
            <a:fld id="{D8D8ABD4-4D50-4B0E-B167-754E34168EEB}" type="slidenum">
              <a:rPr lang="en-IN" smtClean="0"/>
              <a:t>‹#›</a:t>
            </a:fld>
            <a:endParaRPr lang="en-IN"/>
          </a:p>
        </p:txBody>
      </p:sp>
    </p:spTree>
    <p:extLst>
      <p:ext uri="{BB962C8B-B14F-4D97-AF65-F5344CB8AC3E}">
        <p14:creationId xmlns:p14="http://schemas.microsoft.com/office/powerpoint/2010/main" val="25860117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170C4-AD6B-DA55-DE54-9969877B1B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ED38F5C-64DF-B898-D1EF-91D57D4D627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FB1022-7FCE-BF42-1B73-0BD17D79D893}"/>
              </a:ext>
            </a:extLst>
          </p:cNvPr>
          <p:cNvSpPr>
            <a:spLocks noGrp="1"/>
          </p:cNvSpPr>
          <p:nvPr>
            <p:ph type="dt" sz="half" idx="10"/>
          </p:nvPr>
        </p:nvSpPr>
        <p:spPr/>
        <p:txBody>
          <a:bodyPr/>
          <a:lstStyle/>
          <a:p>
            <a:fld id="{47B97711-AF5A-42B4-AB8A-1D4901466464}" type="datetimeFigureOut">
              <a:rPr lang="en-IN" smtClean="0"/>
              <a:t>09-09-2026</a:t>
            </a:fld>
            <a:endParaRPr lang="en-IN"/>
          </a:p>
        </p:txBody>
      </p:sp>
      <p:sp>
        <p:nvSpPr>
          <p:cNvPr id="5" name="Footer Placeholder 4">
            <a:extLst>
              <a:ext uri="{FF2B5EF4-FFF2-40B4-BE49-F238E27FC236}">
                <a16:creationId xmlns:a16="http://schemas.microsoft.com/office/drawing/2014/main" id="{99297937-F3F8-C7F7-6A90-381027F0F8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3A4142-B84F-B777-C279-D05335FFBF1B}"/>
              </a:ext>
            </a:extLst>
          </p:cNvPr>
          <p:cNvSpPr>
            <a:spLocks noGrp="1"/>
          </p:cNvSpPr>
          <p:nvPr>
            <p:ph type="sldNum" sz="quarter" idx="12"/>
          </p:nvPr>
        </p:nvSpPr>
        <p:spPr/>
        <p:txBody>
          <a:bodyPr/>
          <a:lstStyle/>
          <a:p>
            <a:fld id="{D8D8ABD4-4D50-4B0E-B167-754E34168EEB}" type="slidenum">
              <a:rPr lang="en-IN" smtClean="0"/>
              <a:t>‹#›</a:t>
            </a:fld>
            <a:endParaRPr lang="en-IN"/>
          </a:p>
        </p:txBody>
      </p:sp>
    </p:spTree>
    <p:extLst>
      <p:ext uri="{BB962C8B-B14F-4D97-AF65-F5344CB8AC3E}">
        <p14:creationId xmlns:p14="http://schemas.microsoft.com/office/powerpoint/2010/main" val="3954022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DB774-83E4-F8FF-8FC9-DC054E9472C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336D02C-68DB-28B0-9B9D-74305948A9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244E264-9151-255D-FD4B-A6FB03F7E7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836BFF1-27B2-1F55-39F5-E03359A2B4F9}"/>
              </a:ext>
            </a:extLst>
          </p:cNvPr>
          <p:cNvSpPr>
            <a:spLocks noGrp="1"/>
          </p:cNvSpPr>
          <p:nvPr>
            <p:ph type="dt" sz="half" idx="10"/>
          </p:nvPr>
        </p:nvSpPr>
        <p:spPr/>
        <p:txBody>
          <a:bodyPr/>
          <a:lstStyle/>
          <a:p>
            <a:fld id="{47B97711-AF5A-42B4-AB8A-1D4901466464}" type="datetimeFigureOut">
              <a:rPr lang="en-IN" smtClean="0"/>
              <a:t>09-09-2026</a:t>
            </a:fld>
            <a:endParaRPr lang="en-IN"/>
          </a:p>
        </p:txBody>
      </p:sp>
      <p:sp>
        <p:nvSpPr>
          <p:cNvPr id="6" name="Footer Placeholder 5">
            <a:extLst>
              <a:ext uri="{FF2B5EF4-FFF2-40B4-BE49-F238E27FC236}">
                <a16:creationId xmlns:a16="http://schemas.microsoft.com/office/drawing/2014/main" id="{0B704D32-B360-13BD-45BB-F966B35A50D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BBA234-891F-5692-7932-DD1B2794A7BA}"/>
              </a:ext>
            </a:extLst>
          </p:cNvPr>
          <p:cNvSpPr>
            <a:spLocks noGrp="1"/>
          </p:cNvSpPr>
          <p:nvPr>
            <p:ph type="sldNum" sz="quarter" idx="12"/>
          </p:nvPr>
        </p:nvSpPr>
        <p:spPr/>
        <p:txBody>
          <a:bodyPr/>
          <a:lstStyle/>
          <a:p>
            <a:fld id="{D8D8ABD4-4D50-4B0E-B167-754E34168EEB}" type="slidenum">
              <a:rPr lang="en-IN" smtClean="0"/>
              <a:t>‹#›</a:t>
            </a:fld>
            <a:endParaRPr lang="en-IN"/>
          </a:p>
        </p:txBody>
      </p:sp>
    </p:spTree>
    <p:extLst>
      <p:ext uri="{BB962C8B-B14F-4D97-AF65-F5344CB8AC3E}">
        <p14:creationId xmlns:p14="http://schemas.microsoft.com/office/powerpoint/2010/main" val="690258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7D1F6-DE97-D767-C7A8-EFF444E55E3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E3EF781-75FB-3F40-391C-097462241C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D56C34E-E83B-E885-88D0-AF81B726D4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2E4BFDF-16D8-E0A8-0B1E-DFE524A227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E12D34-ABB9-3903-EE9B-95C95A5758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4D42FB9-CF79-0779-CC3B-F324DCB4D247}"/>
              </a:ext>
            </a:extLst>
          </p:cNvPr>
          <p:cNvSpPr>
            <a:spLocks noGrp="1"/>
          </p:cNvSpPr>
          <p:nvPr>
            <p:ph type="dt" sz="half" idx="10"/>
          </p:nvPr>
        </p:nvSpPr>
        <p:spPr/>
        <p:txBody>
          <a:bodyPr/>
          <a:lstStyle/>
          <a:p>
            <a:fld id="{47B97711-AF5A-42B4-AB8A-1D4901466464}" type="datetimeFigureOut">
              <a:rPr lang="en-IN" smtClean="0"/>
              <a:t>09-09-2026</a:t>
            </a:fld>
            <a:endParaRPr lang="en-IN"/>
          </a:p>
        </p:txBody>
      </p:sp>
      <p:sp>
        <p:nvSpPr>
          <p:cNvPr id="8" name="Footer Placeholder 7">
            <a:extLst>
              <a:ext uri="{FF2B5EF4-FFF2-40B4-BE49-F238E27FC236}">
                <a16:creationId xmlns:a16="http://schemas.microsoft.com/office/drawing/2014/main" id="{FF66B7E4-E1E9-65D6-B378-7AF2F5EACB2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A763667-8644-9992-F6E4-3ECFA1A57B67}"/>
              </a:ext>
            </a:extLst>
          </p:cNvPr>
          <p:cNvSpPr>
            <a:spLocks noGrp="1"/>
          </p:cNvSpPr>
          <p:nvPr>
            <p:ph type="sldNum" sz="quarter" idx="12"/>
          </p:nvPr>
        </p:nvSpPr>
        <p:spPr/>
        <p:txBody>
          <a:bodyPr/>
          <a:lstStyle/>
          <a:p>
            <a:fld id="{D8D8ABD4-4D50-4B0E-B167-754E34168EEB}" type="slidenum">
              <a:rPr lang="en-IN" smtClean="0"/>
              <a:t>‹#›</a:t>
            </a:fld>
            <a:endParaRPr lang="en-IN"/>
          </a:p>
        </p:txBody>
      </p:sp>
    </p:spTree>
    <p:extLst>
      <p:ext uri="{BB962C8B-B14F-4D97-AF65-F5344CB8AC3E}">
        <p14:creationId xmlns:p14="http://schemas.microsoft.com/office/powerpoint/2010/main" val="1579284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69219-F4B6-840F-A21B-79C7BECEFA3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845D2D7-B694-238A-BD71-3CA99BF3A94D}"/>
              </a:ext>
            </a:extLst>
          </p:cNvPr>
          <p:cNvSpPr>
            <a:spLocks noGrp="1"/>
          </p:cNvSpPr>
          <p:nvPr>
            <p:ph type="dt" sz="half" idx="10"/>
          </p:nvPr>
        </p:nvSpPr>
        <p:spPr/>
        <p:txBody>
          <a:bodyPr/>
          <a:lstStyle/>
          <a:p>
            <a:fld id="{47B97711-AF5A-42B4-AB8A-1D4901466464}" type="datetimeFigureOut">
              <a:rPr lang="en-IN" smtClean="0"/>
              <a:t>09-09-2026</a:t>
            </a:fld>
            <a:endParaRPr lang="en-IN"/>
          </a:p>
        </p:txBody>
      </p:sp>
      <p:sp>
        <p:nvSpPr>
          <p:cNvPr id="4" name="Footer Placeholder 3">
            <a:extLst>
              <a:ext uri="{FF2B5EF4-FFF2-40B4-BE49-F238E27FC236}">
                <a16:creationId xmlns:a16="http://schemas.microsoft.com/office/drawing/2014/main" id="{1B8313A5-8EDA-EC34-B0D1-43D21F3A862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BFF67D9-FDD9-2CDC-A8B5-672F8F880FF0}"/>
              </a:ext>
            </a:extLst>
          </p:cNvPr>
          <p:cNvSpPr>
            <a:spLocks noGrp="1"/>
          </p:cNvSpPr>
          <p:nvPr>
            <p:ph type="sldNum" sz="quarter" idx="12"/>
          </p:nvPr>
        </p:nvSpPr>
        <p:spPr/>
        <p:txBody>
          <a:bodyPr/>
          <a:lstStyle/>
          <a:p>
            <a:fld id="{D8D8ABD4-4D50-4B0E-B167-754E34168EEB}" type="slidenum">
              <a:rPr lang="en-IN" smtClean="0"/>
              <a:t>‹#›</a:t>
            </a:fld>
            <a:endParaRPr lang="en-IN"/>
          </a:p>
        </p:txBody>
      </p:sp>
    </p:spTree>
    <p:extLst>
      <p:ext uri="{BB962C8B-B14F-4D97-AF65-F5344CB8AC3E}">
        <p14:creationId xmlns:p14="http://schemas.microsoft.com/office/powerpoint/2010/main" val="25485043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A4F818-7B58-CBF9-E38B-5D0689627EF5}"/>
              </a:ext>
            </a:extLst>
          </p:cNvPr>
          <p:cNvSpPr>
            <a:spLocks noGrp="1"/>
          </p:cNvSpPr>
          <p:nvPr>
            <p:ph type="dt" sz="half" idx="10"/>
          </p:nvPr>
        </p:nvSpPr>
        <p:spPr/>
        <p:txBody>
          <a:bodyPr/>
          <a:lstStyle/>
          <a:p>
            <a:fld id="{47B97711-AF5A-42B4-AB8A-1D4901466464}" type="datetimeFigureOut">
              <a:rPr lang="en-IN" smtClean="0"/>
              <a:t>09-09-2026</a:t>
            </a:fld>
            <a:endParaRPr lang="en-IN"/>
          </a:p>
        </p:txBody>
      </p:sp>
      <p:sp>
        <p:nvSpPr>
          <p:cNvPr id="3" name="Footer Placeholder 2">
            <a:extLst>
              <a:ext uri="{FF2B5EF4-FFF2-40B4-BE49-F238E27FC236}">
                <a16:creationId xmlns:a16="http://schemas.microsoft.com/office/drawing/2014/main" id="{D57050C2-22C0-04AD-F157-346566DFCB4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4FCC795-D025-D429-FAC9-77C1F3501DF7}"/>
              </a:ext>
            </a:extLst>
          </p:cNvPr>
          <p:cNvSpPr>
            <a:spLocks noGrp="1"/>
          </p:cNvSpPr>
          <p:nvPr>
            <p:ph type="sldNum" sz="quarter" idx="12"/>
          </p:nvPr>
        </p:nvSpPr>
        <p:spPr/>
        <p:txBody>
          <a:bodyPr/>
          <a:lstStyle/>
          <a:p>
            <a:fld id="{D8D8ABD4-4D50-4B0E-B167-754E34168EEB}" type="slidenum">
              <a:rPr lang="en-IN" smtClean="0"/>
              <a:t>‹#›</a:t>
            </a:fld>
            <a:endParaRPr lang="en-IN"/>
          </a:p>
        </p:txBody>
      </p:sp>
    </p:spTree>
    <p:extLst>
      <p:ext uri="{BB962C8B-B14F-4D97-AF65-F5344CB8AC3E}">
        <p14:creationId xmlns:p14="http://schemas.microsoft.com/office/powerpoint/2010/main" val="2164939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D5606-FA95-E489-3381-27DD49BED1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575CF25-C54A-4B78-AFCC-8F09C8A085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D9525EA-665B-2238-5847-F46BCBCBD5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1E60EA-036B-3B29-B86D-DA805A8C60A7}"/>
              </a:ext>
            </a:extLst>
          </p:cNvPr>
          <p:cNvSpPr>
            <a:spLocks noGrp="1"/>
          </p:cNvSpPr>
          <p:nvPr>
            <p:ph type="dt" sz="half" idx="10"/>
          </p:nvPr>
        </p:nvSpPr>
        <p:spPr/>
        <p:txBody>
          <a:bodyPr/>
          <a:lstStyle/>
          <a:p>
            <a:fld id="{47B97711-AF5A-42B4-AB8A-1D4901466464}" type="datetimeFigureOut">
              <a:rPr lang="en-IN" smtClean="0"/>
              <a:t>09-09-2026</a:t>
            </a:fld>
            <a:endParaRPr lang="en-IN"/>
          </a:p>
        </p:txBody>
      </p:sp>
      <p:sp>
        <p:nvSpPr>
          <p:cNvPr id="6" name="Footer Placeholder 5">
            <a:extLst>
              <a:ext uri="{FF2B5EF4-FFF2-40B4-BE49-F238E27FC236}">
                <a16:creationId xmlns:a16="http://schemas.microsoft.com/office/drawing/2014/main" id="{5EB9E05C-7EBF-501F-219F-BD913940644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D25A562-391D-427F-558C-6E2B1FCF1B3B}"/>
              </a:ext>
            </a:extLst>
          </p:cNvPr>
          <p:cNvSpPr>
            <a:spLocks noGrp="1"/>
          </p:cNvSpPr>
          <p:nvPr>
            <p:ph type="sldNum" sz="quarter" idx="12"/>
          </p:nvPr>
        </p:nvSpPr>
        <p:spPr/>
        <p:txBody>
          <a:bodyPr/>
          <a:lstStyle/>
          <a:p>
            <a:fld id="{D8D8ABD4-4D50-4B0E-B167-754E34168EEB}" type="slidenum">
              <a:rPr lang="en-IN" smtClean="0"/>
              <a:t>‹#›</a:t>
            </a:fld>
            <a:endParaRPr lang="en-IN"/>
          </a:p>
        </p:txBody>
      </p:sp>
    </p:spTree>
    <p:extLst>
      <p:ext uri="{BB962C8B-B14F-4D97-AF65-F5344CB8AC3E}">
        <p14:creationId xmlns:p14="http://schemas.microsoft.com/office/powerpoint/2010/main" val="37288892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623A8-8EC2-ED57-9C55-141C07E0A7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FB5EE8C-6ADD-F526-0545-F287F14537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E36F244-53A6-E31C-938E-DC10BE2FC7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819726-716A-8B7F-5528-C88FE85CB9D5}"/>
              </a:ext>
            </a:extLst>
          </p:cNvPr>
          <p:cNvSpPr>
            <a:spLocks noGrp="1"/>
          </p:cNvSpPr>
          <p:nvPr>
            <p:ph type="dt" sz="half" idx="10"/>
          </p:nvPr>
        </p:nvSpPr>
        <p:spPr/>
        <p:txBody>
          <a:bodyPr/>
          <a:lstStyle/>
          <a:p>
            <a:fld id="{47B97711-AF5A-42B4-AB8A-1D4901466464}" type="datetimeFigureOut">
              <a:rPr lang="en-IN" smtClean="0"/>
              <a:t>09-09-2026</a:t>
            </a:fld>
            <a:endParaRPr lang="en-IN"/>
          </a:p>
        </p:txBody>
      </p:sp>
      <p:sp>
        <p:nvSpPr>
          <p:cNvPr id="6" name="Footer Placeholder 5">
            <a:extLst>
              <a:ext uri="{FF2B5EF4-FFF2-40B4-BE49-F238E27FC236}">
                <a16:creationId xmlns:a16="http://schemas.microsoft.com/office/drawing/2014/main" id="{01BFD8A5-2D1E-1EFB-53FD-F36D2798F5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18886AC-23E6-0305-E815-AFF05F282D80}"/>
              </a:ext>
            </a:extLst>
          </p:cNvPr>
          <p:cNvSpPr>
            <a:spLocks noGrp="1"/>
          </p:cNvSpPr>
          <p:nvPr>
            <p:ph type="sldNum" sz="quarter" idx="12"/>
          </p:nvPr>
        </p:nvSpPr>
        <p:spPr/>
        <p:txBody>
          <a:bodyPr/>
          <a:lstStyle/>
          <a:p>
            <a:fld id="{D8D8ABD4-4D50-4B0E-B167-754E34168EEB}" type="slidenum">
              <a:rPr lang="en-IN" smtClean="0"/>
              <a:t>‹#›</a:t>
            </a:fld>
            <a:endParaRPr lang="en-IN"/>
          </a:p>
        </p:txBody>
      </p:sp>
    </p:spTree>
    <p:extLst>
      <p:ext uri="{BB962C8B-B14F-4D97-AF65-F5344CB8AC3E}">
        <p14:creationId xmlns:p14="http://schemas.microsoft.com/office/powerpoint/2010/main" val="3254331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E6FE8-4CDE-8E19-D662-F9FE8E82F60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BB0ED49-BCC8-52E1-DEC4-D58BFF8564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5EB045-8F76-6BFD-76FC-FA1C1AAB5690}"/>
              </a:ext>
            </a:extLst>
          </p:cNvPr>
          <p:cNvSpPr>
            <a:spLocks noGrp="1"/>
          </p:cNvSpPr>
          <p:nvPr>
            <p:ph type="dt" sz="half" idx="10"/>
          </p:nvPr>
        </p:nvSpPr>
        <p:spPr/>
        <p:txBody>
          <a:bodyPr/>
          <a:lstStyle/>
          <a:p>
            <a:fld id="{47B97711-AF5A-42B4-AB8A-1D4901466464}" type="datetimeFigureOut">
              <a:rPr lang="en-IN" smtClean="0"/>
              <a:t>09-09-2026</a:t>
            </a:fld>
            <a:endParaRPr lang="en-IN"/>
          </a:p>
        </p:txBody>
      </p:sp>
      <p:sp>
        <p:nvSpPr>
          <p:cNvPr id="5" name="Footer Placeholder 4">
            <a:extLst>
              <a:ext uri="{FF2B5EF4-FFF2-40B4-BE49-F238E27FC236}">
                <a16:creationId xmlns:a16="http://schemas.microsoft.com/office/drawing/2014/main" id="{F13297FE-F1A9-806C-7597-2988F9D470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964496-CF32-5E04-CFC5-EED1EEF734EB}"/>
              </a:ext>
            </a:extLst>
          </p:cNvPr>
          <p:cNvSpPr>
            <a:spLocks noGrp="1"/>
          </p:cNvSpPr>
          <p:nvPr>
            <p:ph type="sldNum" sz="quarter" idx="12"/>
          </p:nvPr>
        </p:nvSpPr>
        <p:spPr/>
        <p:txBody>
          <a:bodyPr/>
          <a:lstStyle/>
          <a:p>
            <a:fld id="{D8D8ABD4-4D50-4B0E-B167-754E34168EEB}" type="slidenum">
              <a:rPr lang="en-IN" smtClean="0"/>
              <a:t>‹#›</a:t>
            </a:fld>
            <a:endParaRPr lang="en-IN"/>
          </a:p>
        </p:txBody>
      </p:sp>
    </p:spTree>
    <p:extLst>
      <p:ext uri="{BB962C8B-B14F-4D97-AF65-F5344CB8AC3E}">
        <p14:creationId xmlns:p14="http://schemas.microsoft.com/office/powerpoint/2010/main" val="2489172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7F7641-3366-592E-AD65-5FAED38A3FC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5DA979-9BB2-A6F9-0816-FC028B6812E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B6F404-CF73-43B9-5429-1658A5F76A9D}"/>
              </a:ext>
            </a:extLst>
          </p:cNvPr>
          <p:cNvSpPr>
            <a:spLocks noGrp="1"/>
          </p:cNvSpPr>
          <p:nvPr>
            <p:ph type="dt" sz="half" idx="10"/>
          </p:nvPr>
        </p:nvSpPr>
        <p:spPr/>
        <p:txBody>
          <a:bodyPr/>
          <a:lstStyle/>
          <a:p>
            <a:fld id="{47B97711-AF5A-42B4-AB8A-1D4901466464}" type="datetimeFigureOut">
              <a:rPr lang="en-IN" smtClean="0"/>
              <a:t>09-09-2026</a:t>
            </a:fld>
            <a:endParaRPr lang="en-IN"/>
          </a:p>
        </p:txBody>
      </p:sp>
      <p:sp>
        <p:nvSpPr>
          <p:cNvPr id="5" name="Footer Placeholder 4">
            <a:extLst>
              <a:ext uri="{FF2B5EF4-FFF2-40B4-BE49-F238E27FC236}">
                <a16:creationId xmlns:a16="http://schemas.microsoft.com/office/drawing/2014/main" id="{199C344B-41D8-214C-CFF6-4151A88200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E2BC2B-B9AD-48A7-1162-A7622AC9364A}"/>
              </a:ext>
            </a:extLst>
          </p:cNvPr>
          <p:cNvSpPr>
            <a:spLocks noGrp="1"/>
          </p:cNvSpPr>
          <p:nvPr>
            <p:ph type="sldNum" sz="quarter" idx="12"/>
          </p:nvPr>
        </p:nvSpPr>
        <p:spPr/>
        <p:txBody>
          <a:bodyPr/>
          <a:lstStyle/>
          <a:p>
            <a:fld id="{D8D8ABD4-4D50-4B0E-B167-754E34168EEB}" type="slidenum">
              <a:rPr lang="en-IN" smtClean="0"/>
              <a:t>‹#›</a:t>
            </a:fld>
            <a:endParaRPr lang="en-IN"/>
          </a:p>
        </p:txBody>
      </p:sp>
    </p:spTree>
    <p:extLst>
      <p:ext uri="{BB962C8B-B14F-4D97-AF65-F5344CB8AC3E}">
        <p14:creationId xmlns:p14="http://schemas.microsoft.com/office/powerpoint/2010/main" val="438659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FCAF36-09A2-E0B7-1BBF-6EFD08AC30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7DF79E5-92F6-7813-F575-4496623055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B97F50-FA19-F594-F711-611D505BAB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B97711-AF5A-42B4-AB8A-1D4901466464}" type="datetimeFigureOut">
              <a:rPr lang="en-IN" smtClean="0"/>
              <a:t>09-09-2026</a:t>
            </a:fld>
            <a:endParaRPr lang="en-IN"/>
          </a:p>
        </p:txBody>
      </p:sp>
      <p:sp>
        <p:nvSpPr>
          <p:cNvPr id="5" name="Footer Placeholder 4">
            <a:extLst>
              <a:ext uri="{FF2B5EF4-FFF2-40B4-BE49-F238E27FC236}">
                <a16:creationId xmlns:a16="http://schemas.microsoft.com/office/drawing/2014/main" id="{00DACF8F-A2AE-90F9-C043-479281DE9D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4CA235D-77AD-831E-36E9-697CD15D12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D8ABD4-4D50-4B0E-B167-754E34168EEB}" type="slidenum">
              <a:rPr lang="en-IN" smtClean="0"/>
              <a:t>‹#›</a:t>
            </a:fld>
            <a:endParaRPr lang="en-IN"/>
          </a:p>
        </p:txBody>
      </p:sp>
    </p:spTree>
    <p:extLst>
      <p:ext uri="{BB962C8B-B14F-4D97-AF65-F5344CB8AC3E}">
        <p14:creationId xmlns:p14="http://schemas.microsoft.com/office/powerpoint/2010/main" val="34106768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6.wmf"/></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w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4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image" Target="../media/image44.jpg"/><Relationship Id="rId1" Type="http://schemas.openxmlformats.org/officeDocument/2006/relationships/slideLayout" Target="../slideLayouts/slideLayout2.xml"/><Relationship Id="rId4" Type="http://schemas.openxmlformats.org/officeDocument/2006/relationships/image" Target="../media/image46.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1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5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8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7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30.png"/><Relationship Id="rId1" Type="http://schemas.openxmlformats.org/officeDocument/2006/relationships/slideLayout" Target="../slideLayouts/slideLayout2.xml"/><Relationship Id="rId4" Type="http://schemas.openxmlformats.org/officeDocument/2006/relationships/image" Target="../media/image740.png"/></Relationships>
</file>

<file path=ppt/slides/_rels/slide8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wmf"/><Relationship Id="rId1" Type="http://schemas.openxmlformats.org/officeDocument/2006/relationships/slideLayout" Target="../slideLayouts/slideLayout7.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8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image" Target="../media/image88.png"/><Relationship Id="rId4" Type="http://schemas.openxmlformats.org/officeDocument/2006/relationships/image" Target="../media/image87.png"/></Relationships>
</file>

<file path=ppt/slides/_rels/slide89.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5F0F6-F54D-C4F6-6191-06B4FCDF12E5}"/>
              </a:ext>
            </a:extLst>
          </p:cNvPr>
          <p:cNvSpPr>
            <a:spLocks noGrp="1"/>
          </p:cNvSpPr>
          <p:nvPr>
            <p:ph type="ctrTitle"/>
          </p:nvPr>
        </p:nvSpPr>
        <p:spPr>
          <a:xfrm>
            <a:off x="881406" y="3042603"/>
            <a:ext cx="10429188" cy="2387600"/>
          </a:xfrm>
        </p:spPr>
        <p:txBody>
          <a:bodyPr>
            <a:normAutofit fontScale="90000"/>
          </a:bodyPr>
          <a:lstStyle/>
          <a:p>
            <a:pPr>
              <a:lnSpc>
                <a:spcPct val="150000"/>
              </a:lnSpc>
            </a:pPr>
            <a:r>
              <a:rPr lang="en-IN" b="1" dirty="0">
                <a:solidFill>
                  <a:srgbClr val="0070C0"/>
                </a:solidFill>
                <a:latin typeface="Times New Roman" panose="02020603050405020304" pitchFamily="18" charset="0"/>
                <a:cs typeface="Times New Roman" panose="02020603050405020304" pitchFamily="18" charset="0"/>
              </a:rPr>
              <a:t>Unit 3 </a:t>
            </a:r>
            <a:br>
              <a:rPr lang="en-IN" b="1" dirty="0">
                <a:solidFill>
                  <a:srgbClr val="0070C0"/>
                </a:solidFill>
                <a:latin typeface="Times New Roman" panose="02020603050405020304" pitchFamily="18" charset="0"/>
                <a:cs typeface="Times New Roman" panose="02020603050405020304" pitchFamily="18" charset="0"/>
              </a:rPr>
            </a:br>
            <a:r>
              <a:rPr lang="en-US" altLang="en-US" b="1" dirty="0">
                <a:solidFill>
                  <a:srgbClr val="0070C0"/>
                </a:solidFill>
                <a:latin typeface="Times New Roman" panose="02020603050405020304" pitchFamily="18" charset="0"/>
                <a:cs typeface="Times New Roman" panose="02020603050405020304" pitchFamily="18" charset="0"/>
              </a:rPr>
              <a:t>Data Link Layer</a:t>
            </a:r>
            <a:br>
              <a:rPr lang="en-IN" b="1" dirty="0">
                <a:solidFill>
                  <a:schemeClr val="accent1"/>
                </a:solidFill>
                <a:latin typeface="Times New Roman" panose="02020603050405020304" pitchFamily="18" charset="0"/>
                <a:cs typeface="Times New Roman" panose="02020603050405020304" pitchFamily="18" charset="0"/>
              </a:rPr>
            </a:br>
            <a:endParaRPr lang="en-IN" b="1"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58840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492DF-62F3-FC67-7527-45A9CDBA794B}"/>
              </a:ext>
            </a:extLst>
          </p:cNvPr>
          <p:cNvSpPr>
            <a:spLocks noGrp="1"/>
          </p:cNvSpPr>
          <p:nvPr>
            <p:ph type="title"/>
          </p:nvPr>
        </p:nvSpPr>
        <p:spPr/>
        <p:txBody>
          <a:bodyPr/>
          <a:lstStyle/>
          <a:p>
            <a:r>
              <a:rPr lang="en-US" b="1" dirty="0">
                <a:solidFill>
                  <a:srgbClr val="FF0000"/>
                </a:solidFill>
              </a:rPr>
              <a:t>Syllabus</a:t>
            </a:r>
            <a:endParaRPr lang="en-IN" b="1" dirty="0">
              <a:solidFill>
                <a:srgbClr val="FF0000"/>
              </a:solidFill>
            </a:endParaRPr>
          </a:p>
        </p:txBody>
      </p:sp>
      <p:sp>
        <p:nvSpPr>
          <p:cNvPr id="3" name="Content Placeholder 2">
            <a:extLst>
              <a:ext uri="{FF2B5EF4-FFF2-40B4-BE49-F238E27FC236}">
                <a16:creationId xmlns:a16="http://schemas.microsoft.com/office/drawing/2014/main" id="{9165BDB1-B7A4-DF23-8C92-8F5E1676A577}"/>
              </a:ext>
            </a:extLst>
          </p:cNvPr>
          <p:cNvSpPr>
            <a:spLocks noGrp="1"/>
          </p:cNvSpPr>
          <p:nvPr>
            <p:ph idx="1"/>
          </p:nvPr>
        </p:nvSpPr>
        <p:spPr>
          <a:xfrm>
            <a:off x="838200" y="1644016"/>
            <a:ext cx="10693400" cy="4351338"/>
          </a:xfrm>
        </p:spPr>
        <p:txBody>
          <a:bodyPr/>
          <a:lstStyle/>
          <a:p>
            <a:pPr marL="0" indent="0">
              <a:spcBef>
                <a:spcPts val="200"/>
              </a:spcBef>
              <a:spcAft>
                <a:spcPts val="200"/>
              </a:spcAft>
              <a:buNone/>
            </a:pPr>
            <a:r>
              <a:rPr lang="en-US" altLang="en-US" b="1" dirty="0">
                <a:solidFill>
                  <a:srgbClr val="000000"/>
                </a:solidFill>
                <a:latin typeface="Times New Roman" panose="02020603050405020304" pitchFamily="18" charset="0"/>
                <a:cs typeface="Times New Roman" panose="02020603050405020304" pitchFamily="18" charset="0"/>
              </a:rPr>
              <a:t>Unit-3:  </a:t>
            </a:r>
            <a:r>
              <a:rPr lang="en-US" altLang="en-US" b="1" u="sng" dirty="0">
                <a:solidFill>
                  <a:srgbClr val="000000"/>
                </a:solidFill>
                <a:latin typeface="Times New Roman" panose="02020603050405020304" pitchFamily="18" charset="0"/>
                <a:cs typeface="Times New Roman" panose="02020603050405020304" pitchFamily="18" charset="0"/>
              </a:rPr>
              <a:t>Data Link Layer</a:t>
            </a:r>
            <a:r>
              <a:rPr lang="en-US" altLang="en-US" b="1" dirty="0">
                <a:solidFill>
                  <a:srgbClr val="000000"/>
                </a:solidFill>
                <a:latin typeface="Times New Roman" panose="02020603050405020304" pitchFamily="18" charset="0"/>
                <a:cs typeface="Times New Roman" panose="02020603050405020304" pitchFamily="18" charset="0"/>
              </a:rPr>
              <a:t>                                                                                                      </a:t>
            </a:r>
            <a:r>
              <a:rPr lang="en-US" altLang="en-US" dirty="0">
                <a:solidFill>
                  <a:srgbClr val="000000"/>
                </a:solidFill>
                <a:latin typeface="Times New Roman" panose="02020603050405020304" pitchFamily="18" charset="0"/>
                <a:cs typeface="Times New Roman" panose="02020603050405020304" pitchFamily="18" charset="0"/>
              </a:rPr>
              <a:t>Error Detection and Correction: Types of Errors, Detection, Error Correction. </a:t>
            </a:r>
            <a:r>
              <a:rPr lang="en-IN" altLang="en-US" dirty="0">
                <a:solidFill>
                  <a:srgbClr val="000000"/>
                </a:solidFill>
                <a:latin typeface="Times New Roman" panose="02020603050405020304" pitchFamily="18" charset="0"/>
                <a:cs typeface="Times New Roman" panose="02020603050405020304" pitchFamily="18" charset="0"/>
              </a:rPr>
              <a:t> </a:t>
            </a:r>
          </a:p>
          <a:p>
            <a:pPr marL="0" indent="0" algn="just">
              <a:spcBef>
                <a:spcPts val="200"/>
              </a:spcBef>
              <a:spcAft>
                <a:spcPts val="200"/>
              </a:spcAft>
              <a:buNone/>
            </a:pPr>
            <a:r>
              <a:rPr lang="en-US" altLang="en-US" dirty="0">
                <a:solidFill>
                  <a:srgbClr val="000000"/>
                </a:solidFill>
                <a:latin typeface="Times New Roman" panose="02020603050405020304" pitchFamily="18" charset="0"/>
                <a:cs typeface="Times New Roman" panose="02020603050405020304" pitchFamily="18" charset="0"/>
              </a:rPr>
              <a:t>Data Link Control and Protocols: Flow and Error Control, Stop-and-wait ARQ, Go-Back-N ARQ, Selective Repeat ARQ, HDLC, PPP. </a:t>
            </a:r>
          </a:p>
          <a:p>
            <a:pPr marL="0" indent="0" algn="just">
              <a:spcBef>
                <a:spcPts val="200"/>
              </a:spcBef>
              <a:spcAft>
                <a:spcPts val="200"/>
              </a:spcAft>
              <a:buNone/>
            </a:pPr>
            <a:r>
              <a:rPr lang="en-US" altLang="en-US" dirty="0">
                <a:solidFill>
                  <a:srgbClr val="000000"/>
                </a:solidFill>
                <a:latin typeface="Times New Roman" panose="02020603050405020304" pitchFamily="18" charset="0"/>
                <a:cs typeface="Times New Roman" panose="02020603050405020304" pitchFamily="18" charset="0"/>
              </a:rPr>
              <a:t>Multiple Accesses: Random Access, Controlled Access, Channelization. </a:t>
            </a:r>
            <a:r>
              <a:rPr lang="en-IN" altLang="en-US" dirty="0">
                <a:solidFill>
                  <a:srgbClr val="000000"/>
                </a:solidFill>
                <a:latin typeface="Times New Roman" panose="02020603050405020304" pitchFamily="18" charset="0"/>
                <a:cs typeface="Times New Roman" panose="02020603050405020304" pitchFamily="18" charset="0"/>
              </a:rPr>
              <a:t> </a:t>
            </a:r>
            <a:r>
              <a:rPr lang="en-US" altLang="en-US" dirty="0">
                <a:solidFill>
                  <a:srgbClr val="000000"/>
                </a:solidFill>
                <a:latin typeface="Times New Roman" panose="02020603050405020304" pitchFamily="18" charset="0"/>
                <a:cs typeface="Times New Roman" panose="02020603050405020304" pitchFamily="18" charset="0"/>
              </a:rPr>
              <a:t>Local area Network: Standard Ethernet, Wireless LANs: IEEE 802.11.</a:t>
            </a:r>
            <a:endParaRPr lang="en-IN" altLang="en-US" dirty="0">
              <a:solidFill>
                <a:srgbClr val="00000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069619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0C74C-9C28-617D-559C-8CD0F896E84F}"/>
              </a:ext>
            </a:extLst>
          </p:cNvPr>
          <p:cNvSpPr>
            <a:spLocks noGrp="1"/>
          </p:cNvSpPr>
          <p:nvPr>
            <p:ph type="title"/>
          </p:nvPr>
        </p:nvSpPr>
        <p:spPr>
          <a:xfrm>
            <a:off x="1996440" y="1543685"/>
            <a:ext cx="10053320" cy="2693035"/>
          </a:xfrm>
        </p:spPr>
        <p:txBody>
          <a:bodyPr>
            <a:normAutofit/>
          </a:bodyPr>
          <a:lstStyle/>
          <a:p>
            <a:r>
              <a:rPr lang="en-US" altLang="en-US" sz="5400" dirty="0">
                <a:solidFill>
                  <a:srgbClr val="002060"/>
                </a:solidFill>
                <a:latin typeface="Times New Roman" panose="02020603050405020304" pitchFamily="18" charset="0"/>
                <a:cs typeface="Times New Roman" panose="02020603050405020304" pitchFamily="18" charset="0"/>
              </a:rPr>
              <a:t>Error Detection and Correction</a:t>
            </a:r>
            <a:endParaRPr lang="en-IN" sz="5400" dirty="0">
              <a:solidFill>
                <a:srgbClr val="002060"/>
              </a:solidFill>
            </a:endParaRPr>
          </a:p>
        </p:txBody>
      </p:sp>
    </p:spTree>
    <p:extLst>
      <p:ext uri="{BB962C8B-B14F-4D97-AF65-F5344CB8AC3E}">
        <p14:creationId xmlns:p14="http://schemas.microsoft.com/office/powerpoint/2010/main" val="3165996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9C04414-914C-4450-3E8A-73D3F3B34242}"/>
              </a:ext>
            </a:extLst>
          </p:cNvPr>
          <p:cNvSpPr txBox="1"/>
          <p:nvPr/>
        </p:nvSpPr>
        <p:spPr>
          <a:xfrm>
            <a:off x="927650" y="138707"/>
            <a:ext cx="6094428" cy="769441"/>
          </a:xfrm>
          <a:prstGeom prst="rect">
            <a:avLst/>
          </a:prstGeom>
          <a:noFill/>
        </p:spPr>
        <p:txBody>
          <a:bodyPr wrap="square">
            <a:spAutoFit/>
          </a:bodyPr>
          <a:lstStyle/>
          <a:p>
            <a:pPr algn="l"/>
            <a:r>
              <a:rPr lang="en-IN" sz="4400" b="1" i="0" dirty="0">
                <a:solidFill>
                  <a:schemeClr val="accent1"/>
                </a:solidFill>
                <a:effectLst/>
                <a:latin typeface="Accord SF" panose="020BE200000000000000" pitchFamily="34" charset="0"/>
              </a:rPr>
              <a:t>Error Detection</a:t>
            </a:r>
          </a:p>
        </p:txBody>
      </p:sp>
      <p:sp>
        <p:nvSpPr>
          <p:cNvPr id="6" name="TextBox 5">
            <a:extLst>
              <a:ext uri="{FF2B5EF4-FFF2-40B4-BE49-F238E27FC236}">
                <a16:creationId xmlns:a16="http://schemas.microsoft.com/office/drawing/2014/main" id="{7BB865EF-0A9A-2A3F-1F84-E67D558DD620}"/>
              </a:ext>
            </a:extLst>
          </p:cNvPr>
          <p:cNvSpPr txBox="1"/>
          <p:nvPr/>
        </p:nvSpPr>
        <p:spPr>
          <a:xfrm>
            <a:off x="424416" y="1187040"/>
            <a:ext cx="11137664" cy="2241960"/>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IN" sz="2400" b="0" i="0" dirty="0">
                <a:solidFill>
                  <a:srgbClr val="2B2A29"/>
                </a:solidFill>
                <a:effectLst/>
                <a:latin typeface="Times New Roman" panose="02020603050405020304" pitchFamily="18" charset="0"/>
                <a:cs typeface="Times New Roman" panose="02020603050405020304" pitchFamily="18" charset="0"/>
              </a:rPr>
              <a:t>When data is transmitted from one device to another device, </a:t>
            </a:r>
            <a:r>
              <a:rPr lang="en-US" sz="2400" b="0" i="0" dirty="0">
                <a:solidFill>
                  <a:srgbClr val="2B2A29"/>
                </a:solidFill>
                <a:effectLst/>
                <a:latin typeface="Times New Roman" panose="02020603050405020304" pitchFamily="18" charset="0"/>
                <a:cs typeface="Times New Roman" panose="02020603050405020304" pitchFamily="18" charset="0"/>
              </a:rPr>
              <a:t>d</a:t>
            </a:r>
            <a:r>
              <a:rPr lang="en-US" altLang="en-US" sz="2400" dirty="0">
                <a:latin typeface="Times New Roman" panose="02020603050405020304" pitchFamily="18" charset="0"/>
                <a:cs typeface="Times New Roman" panose="02020603050405020304" pitchFamily="18" charset="0"/>
              </a:rPr>
              <a:t>ata can be corrupted during transmission</a:t>
            </a:r>
            <a:r>
              <a:rPr lang="en-IN" sz="2400" b="0" i="0" dirty="0">
                <a:solidFill>
                  <a:srgbClr val="2B2A29"/>
                </a:solidFill>
                <a:effectLst/>
                <a:latin typeface="Times New Roman" panose="02020603050405020304" pitchFamily="18" charset="0"/>
                <a:cs typeface="Times New Roman" panose="02020603050405020304" pitchFamily="18" charset="0"/>
              </a:rPr>
              <a:t>. </a:t>
            </a:r>
          </a:p>
          <a:p>
            <a:pPr marL="342900" indent="-342900" algn="just">
              <a:lnSpc>
                <a:spcPct val="150000"/>
              </a:lnSpc>
              <a:buFont typeface="Wingdings" panose="05000000000000000000" pitchFamily="2" charset="2"/>
              <a:buChar char="Ø"/>
            </a:pPr>
            <a:r>
              <a:rPr lang="en-IN" sz="2400" b="0" i="0" dirty="0">
                <a:solidFill>
                  <a:srgbClr val="2B2A29"/>
                </a:solidFill>
                <a:effectLst/>
                <a:latin typeface="Times New Roman" panose="02020603050405020304" pitchFamily="18" charset="0"/>
                <a:cs typeface="Times New Roman" panose="02020603050405020304" pitchFamily="18" charset="0"/>
              </a:rPr>
              <a:t>An error is a situation when the message received at the receiver end is not identical to the message transmitted.</a:t>
            </a:r>
            <a:endParaRPr lang="en-IN" sz="2400" dirty="0">
              <a:latin typeface="Times New Roman" panose="02020603050405020304" pitchFamily="18" charset="0"/>
              <a:cs typeface="Times New Roman" panose="02020603050405020304" pitchFamily="18" charset="0"/>
            </a:endParaRPr>
          </a:p>
        </p:txBody>
      </p:sp>
      <p:pic>
        <p:nvPicPr>
          <p:cNvPr id="1026" name="Picture 2" descr="Error Detection">
            <a:extLst>
              <a:ext uri="{FF2B5EF4-FFF2-40B4-BE49-F238E27FC236}">
                <a16:creationId xmlns:a16="http://schemas.microsoft.com/office/drawing/2014/main" id="{D3B9608A-5CB3-13DC-0175-991212E37D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8555" y="3814382"/>
            <a:ext cx="5115146" cy="2427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5249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E9D54-53E6-F547-61E9-D95AA220D95F}"/>
              </a:ext>
            </a:extLst>
          </p:cNvPr>
          <p:cNvSpPr>
            <a:spLocks noGrp="1"/>
          </p:cNvSpPr>
          <p:nvPr>
            <p:ph type="title"/>
          </p:nvPr>
        </p:nvSpPr>
        <p:spPr/>
        <p:txBody>
          <a:bodyPr/>
          <a:lstStyle/>
          <a:p>
            <a:r>
              <a:rPr lang="en-IN" b="1" dirty="0">
                <a:solidFill>
                  <a:schemeClr val="accent1"/>
                </a:solidFill>
                <a:latin typeface="Times New Roman" panose="02020603050405020304" pitchFamily="18" charset="0"/>
                <a:cs typeface="Times New Roman" panose="02020603050405020304" pitchFamily="18" charset="0"/>
              </a:rPr>
              <a:t>Single-Bit Error</a:t>
            </a:r>
          </a:p>
        </p:txBody>
      </p:sp>
      <p:sp>
        <p:nvSpPr>
          <p:cNvPr id="3" name="Content Placeholder 2">
            <a:extLst>
              <a:ext uri="{FF2B5EF4-FFF2-40B4-BE49-F238E27FC236}">
                <a16:creationId xmlns:a16="http://schemas.microsoft.com/office/drawing/2014/main" id="{5DFE1A7E-D8DE-A4DE-44BE-6E0F767AAC24}"/>
              </a:ext>
            </a:extLst>
          </p:cNvPr>
          <p:cNvSpPr>
            <a:spLocks noGrp="1"/>
          </p:cNvSpPr>
          <p:nvPr>
            <p:ph idx="1"/>
          </p:nvPr>
        </p:nvSpPr>
        <p:spPr>
          <a:xfrm>
            <a:off x="701040" y="1574767"/>
            <a:ext cx="10017760" cy="4351338"/>
          </a:xfrm>
        </p:spPr>
        <p:txBody>
          <a:bodyPr>
            <a:normAutofit/>
          </a:bodyPr>
          <a:lstStyle/>
          <a:p>
            <a:pPr marL="0" indent="0" algn="just">
              <a:lnSpc>
                <a:spcPct val="150000"/>
              </a:lnSpc>
              <a:buNone/>
            </a:pPr>
            <a:r>
              <a:rPr lang="en-IN" sz="2400" dirty="0">
                <a:latin typeface="Times New Roman" panose="02020603050405020304" pitchFamily="18" charset="0"/>
                <a:cs typeface="Times New Roman" panose="02020603050405020304" pitchFamily="18" charset="0"/>
              </a:rPr>
              <a:t>The term </a:t>
            </a:r>
            <a:r>
              <a:rPr lang="en-IN" sz="2400" i="1" dirty="0">
                <a:solidFill>
                  <a:schemeClr val="accent1"/>
                </a:solidFill>
                <a:latin typeface="Times New Roman" panose="02020603050405020304" pitchFamily="18" charset="0"/>
                <a:cs typeface="Times New Roman" panose="02020603050405020304" pitchFamily="18" charset="0"/>
              </a:rPr>
              <a:t>single-bit error </a:t>
            </a:r>
            <a:r>
              <a:rPr lang="en-IN" sz="2400" dirty="0">
                <a:latin typeface="Times New Roman" panose="02020603050405020304" pitchFamily="18" charset="0"/>
                <a:cs typeface="Times New Roman" panose="02020603050405020304" pitchFamily="18" charset="0"/>
              </a:rPr>
              <a:t>means that only 1 bit of a given data unit is changed from 1 to 0 or from 0 to 1. </a:t>
            </a:r>
          </a:p>
          <a:p>
            <a:pPr marL="0" indent="0" algn="just">
              <a:lnSpc>
                <a:spcPct val="150000"/>
              </a:lnSpc>
              <a:buNone/>
            </a:pPr>
            <a:endParaRPr lang="en-IN" sz="2400" dirty="0">
              <a:latin typeface="Times New Roman" panose="02020603050405020304" pitchFamily="18" charset="0"/>
              <a:cs typeface="Times New Roman" panose="02020603050405020304" pitchFamily="18" charset="0"/>
            </a:endParaRPr>
          </a:p>
        </p:txBody>
      </p:sp>
      <p:pic>
        <p:nvPicPr>
          <p:cNvPr id="4" name="Picture 6">
            <a:extLst>
              <a:ext uri="{FF2B5EF4-FFF2-40B4-BE49-F238E27FC236}">
                <a16:creationId xmlns:a16="http://schemas.microsoft.com/office/drawing/2014/main" id="{329117F5-3ACC-FA1B-CF18-F8623A7FE4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9300" y="3339465"/>
            <a:ext cx="8153400" cy="168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40495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05826-5B24-BAF9-359C-7F4E15F2DE52}"/>
              </a:ext>
            </a:extLst>
          </p:cNvPr>
          <p:cNvSpPr>
            <a:spLocks noGrp="1"/>
          </p:cNvSpPr>
          <p:nvPr>
            <p:ph type="title"/>
          </p:nvPr>
        </p:nvSpPr>
        <p:spPr/>
        <p:txBody>
          <a:bodyPr/>
          <a:lstStyle/>
          <a:p>
            <a:r>
              <a:rPr lang="en-IN" b="1" dirty="0">
                <a:solidFill>
                  <a:schemeClr val="accent1"/>
                </a:solidFill>
                <a:latin typeface="Times New Roman" panose="02020603050405020304" pitchFamily="18" charset="0"/>
                <a:cs typeface="Times New Roman" panose="02020603050405020304" pitchFamily="18" charset="0"/>
              </a:rPr>
              <a:t>Burst Error</a:t>
            </a:r>
          </a:p>
        </p:txBody>
      </p:sp>
      <p:sp>
        <p:nvSpPr>
          <p:cNvPr id="3" name="Content Placeholder 2">
            <a:extLst>
              <a:ext uri="{FF2B5EF4-FFF2-40B4-BE49-F238E27FC236}">
                <a16:creationId xmlns:a16="http://schemas.microsoft.com/office/drawing/2014/main" id="{FF7BF466-23AC-5165-EE72-3A490A739B4E}"/>
              </a:ext>
            </a:extLst>
          </p:cNvPr>
          <p:cNvSpPr>
            <a:spLocks noGrp="1"/>
          </p:cNvSpPr>
          <p:nvPr>
            <p:ph idx="1"/>
          </p:nvPr>
        </p:nvSpPr>
        <p:spPr>
          <a:xfrm>
            <a:off x="94268" y="1423447"/>
            <a:ext cx="12097732" cy="4753516"/>
          </a:xfrm>
        </p:spPr>
        <p:txBody>
          <a:bodyPr>
            <a:normAutofit/>
          </a:bodyPr>
          <a:lstStyle/>
          <a:p>
            <a:pPr algn="ctr"/>
            <a:r>
              <a:rPr lang="en-US" altLang="en-US" sz="2400" dirty="0"/>
              <a:t>A burst error means that 2 or more bits in the data unit have changed.</a:t>
            </a:r>
          </a:p>
          <a:p>
            <a:pPr marL="0" indent="0">
              <a:lnSpc>
                <a:spcPct val="150000"/>
              </a:lnSpc>
              <a:buNone/>
            </a:pPr>
            <a:endParaRPr lang="en-IN" sz="2400" dirty="0">
              <a:latin typeface="Times New Roman" panose="02020603050405020304" pitchFamily="18" charset="0"/>
              <a:cs typeface="Times New Roman" panose="02020603050405020304" pitchFamily="18" charset="0"/>
            </a:endParaRPr>
          </a:p>
        </p:txBody>
      </p:sp>
      <p:pic>
        <p:nvPicPr>
          <p:cNvPr id="4" name="Picture 6">
            <a:extLst>
              <a:ext uri="{FF2B5EF4-FFF2-40B4-BE49-F238E27FC236}">
                <a16:creationId xmlns:a16="http://schemas.microsoft.com/office/drawing/2014/main" id="{3CF0C09A-D50C-6431-089B-957A7802F8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2218" y="2070623"/>
            <a:ext cx="7167563" cy="3459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a:extLst>
              <a:ext uri="{FF2B5EF4-FFF2-40B4-BE49-F238E27FC236}">
                <a16:creationId xmlns:a16="http://schemas.microsoft.com/office/drawing/2014/main" id="{58628B49-D981-E987-571D-6A9C0323F0EE}"/>
              </a:ext>
            </a:extLst>
          </p:cNvPr>
          <p:cNvSpPr txBox="1"/>
          <p:nvPr/>
        </p:nvSpPr>
        <p:spPr>
          <a:xfrm>
            <a:off x="4104640" y="5529786"/>
            <a:ext cx="6096000" cy="523220"/>
          </a:xfrm>
          <a:prstGeom prst="rect">
            <a:avLst/>
          </a:prstGeom>
          <a:noFill/>
        </p:spPr>
        <p:txBody>
          <a:bodyPr wrap="square">
            <a:spAutoFit/>
          </a:bodyPr>
          <a:lstStyle/>
          <a:p>
            <a:r>
              <a:rPr lang="en-US" altLang="en-US" sz="2800" i="1" dirty="0">
                <a:solidFill>
                  <a:srgbClr val="FF0000"/>
                </a:solidFill>
                <a:latin typeface="Times New Roman" panose="02020603050405020304" pitchFamily="18" charset="0"/>
              </a:rPr>
              <a:t>Fig : Burst error of length 8</a:t>
            </a:r>
            <a:endParaRPr lang="en-IN" sz="2800" dirty="0">
              <a:solidFill>
                <a:srgbClr val="FF0000"/>
              </a:solidFill>
            </a:endParaRPr>
          </a:p>
        </p:txBody>
      </p:sp>
    </p:spTree>
    <p:extLst>
      <p:ext uri="{BB962C8B-B14F-4D97-AF65-F5344CB8AC3E}">
        <p14:creationId xmlns:p14="http://schemas.microsoft.com/office/powerpoint/2010/main" val="1838928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31F02-1F9B-9918-D2D6-795AE5668AEA}"/>
              </a:ext>
            </a:extLst>
          </p:cNvPr>
          <p:cNvSpPr>
            <a:spLocks noGrp="1"/>
          </p:cNvSpPr>
          <p:nvPr>
            <p:ph type="title"/>
          </p:nvPr>
        </p:nvSpPr>
        <p:spPr/>
        <p:txBody>
          <a:bodyPr/>
          <a:lstStyle/>
          <a:p>
            <a:r>
              <a:rPr lang="en-IN" b="1" dirty="0">
                <a:solidFill>
                  <a:schemeClr val="accent1"/>
                </a:solidFill>
                <a:latin typeface="Times New Roman" panose="02020603050405020304" pitchFamily="18" charset="0"/>
                <a:cs typeface="Times New Roman" panose="02020603050405020304" pitchFamily="18" charset="0"/>
              </a:rPr>
              <a:t>Block Coding</a:t>
            </a:r>
          </a:p>
        </p:txBody>
      </p:sp>
      <p:sp>
        <p:nvSpPr>
          <p:cNvPr id="6" name="TextBox 5">
            <a:extLst>
              <a:ext uri="{FF2B5EF4-FFF2-40B4-BE49-F238E27FC236}">
                <a16:creationId xmlns:a16="http://schemas.microsoft.com/office/drawing/2014/main" id="{F28F6140-83DD-9F0B-68FC-3D23A2BAED40}"/>
              </a:ext>
            </a:extLst>
          </p:cNvPr>
          <p:cNvSpPr txBox="1"/>
          <p:nvPr/>
        </p:nvSpPr>
        <p:spPr>
          <a:xfrm>
            <a:off x="995680" y="1324928"/>
            <a:ext cx="10038080" cy="1384995"/>
          </a:xfrm>
          <a:prstGeom prst="rect">
            <a:avLst/>
          </a:prstGeom>
          <a:noFill/>
        </p:spPr>
        <p:txBody>
          <a:bodyPr wrap="square">
            <a:spAutoFit/>
          </a:bodyPr>
          <a:lstStyle/>
          <a:p>
            <a:pPr algn="just" eaLnBrk="1" hangingPunct="1"/>
            <a:r>
              <a:rPr lang="en-US" altLang="en-US" sz="2800" i="1" dirty="0">
                <a:effectLst>
                  <a:outerShdw blurRad="38100" dist="38100" dir="2700000" algn="tl">
                    <a:srgbClr val="C0C0C0"/>
                  </a:outerShdw>
                </a:effectLst>
                <a:latin typeface="Times New Roman" panose="02020603050405020304" pitchFamily="18" charset="0"/>
              </a:rPr>
              <a:t>In block coding, we divide our message into blocks, </a:t>
            </a:r>
            <a:r>
              <a:rPr lang="en-US" altLang="en-US" sz="2800" i="1" dirty="0">
                <a:solidFill>
                  <a:srgbClr val="FF0000"/>
                </a:solidFill>
                <a:effectLst>
                  <a:outerShdw blurRad="38100" dist="38100" dir="2700000" algn="tl">
                    <a:srgbClr val="C0C0C0"/>
                  </a:outerShdw>
                </a:effectLst>
                <a:latin typeface="Times New Roman" panose="02020603050405020304" pitchFamily="18" charset="0"/>
              </a:rPr>
              <a:t>each of k bits</a:t>
            </a:r>
            <a:r>
              <a:rPr lang="en-US" altLang="en-US" sz="2800" i="1" dirty="0">
                <a:effectLst>
                  <a:outerShdw blurRad="38100" dist="38100" dir="2700000" algn="tl">
                    <a:srgbClr val="C0C0C0"/>
                  </a:outerShdw>
                </a:effectLst>
                <a:latin typeface="Times New Roman" panose="02020603050405020304" pitchFamily="18" charset="0"/>
              </a:rPr>
              <a:t>, called </a:t>
            </a:r>
            <a:r>
              <a:rPr lang="en-US" altLang="en-US" sz="2800" i="1" dirty="0" err="1">
                <a:solidFill>
                  <a:schemeClr val="hlink"/>
                </a:solidFill>
                <a:effectLst>
                  <a:outerShdw blurRad="38100" dist="38100" dir="2700000" algn="tl">
                    <a:srgbClr val="C0C0C0"/>
                  </a:outerShdw>
                </a:effectLst>
                <a:latin typeface="Times New Roman" panose="02020603050405020304" pitchFamily="18" charset="0"/>
              </a:rPr>
              <a:t>datawords</a:t>
            </a:r>
            <a:r>
              <a:rPr lang="en-US" altLang="en-US" sz="2800" i="1" dirty="0">
                <a:effectLst>
                  <a:outerShdw blurRad="38100" dist="38100" dir="2700000" algn="tl">
                    <a:srgbClr val="C0C0C0"/>
                  </a:outerShdw>
                </a:effectLst>
                <a:latin typeface="Times New Roman" panose="02020603050405020304" pitchFamily="18" charset="0"/>
              </a:rPr>
              <a:t>. We add </a:t>
            </a:r>
            <a:r>
              <a:rPr lang="en-US" altLang="en-US" sz="2800" i="1" dirty="0">
                <a:solidFill>
                  <a:srgbClr val="FF0000"/>
                </a:solidFill>
                <a:effectLst>
                  <a:outerShdw blurRad="38100" dist="38100" dir="2700000" algn="tl">
                    <a:srgbClr val="C0C0C0"/>
                  </a:outerShdw>
                </a:effectLst>
                <a:latin typeface="Times New Roman" panose="02020603050405020304" pitchFamily="18" charset="0"/>
              </a:rPr>
              <a:t>r redundant bits </a:t>
            </a:r>
            <a:r>
              <a:rPr lang="en-US" altLang="en-US" sz="2800" i="1" dirty="0">
                <a:effectLst>
                  <a:outerShdw blurRad="38100" dist="38100" dir="2700000" algn="tl">
                    <a:srgbClr val="C0C0C0"/>
                  </a:outerShdw>
                </a:effectLst>
                <a:latin typeface="Times New Roman" panose="02020603050405020304" pitchFamily="18" charset="0"/>
              </a:rPr>
              <a:t>to each block to make the length </a:t>
            </a:r>
            <a:r>
              <a:rPr lang="en-US" altLang="en-US" sz="2800" i="1" dirty="0">
                <a:solidFill>
                  <a:srgbClr val="0070C0"/>
                </a:solidFill>
                <a:effectLst>
                  <a:outerShdw blurRad="38100" dist="38100" dir="2700000" algn="tl">
                    <a:srgbClr val="C0C0C0"/>
                  </a:outerShdw>
                </a:effectLst>
                <a:latin typeface="Times New Roman" panose="02020603050405020304" pitchFamily="18" charset="0"/>
              </a:rPr>
              <a:t>n = k + r. </a:t>
            </a:r>
            <a:r>
              <a:rPr lang="en-US" altLang="en-US" sz="2800" i="1" dirty="0">
                <a:effectLst>
                  <a:outerShdw blurRad="38100" dist="38100" dir="2700000" algn="tl">
                    <a:srgbClr val="C0C0C0"/>
                  </a:outerShdw>
                </a:effectLst>
                <a:latin typeface="Times New Roman" panose="02020603050405020304" pitchFamily="18" charset="0"/>
              </a:rPr>
              <a:t>The resulting n-bit blocks are called </a:t>
            </a:r>
            <a:r>
              <a:rPr lang="en-US" altLang="en-US" sz="2800" i="1" dirty="0">
                <a:solidFill>
                  <a:schemeClr val="hlink"/>
                </a:solidFill>
                <a:effectLst>
                  <a:outerShdw blurRad="38100" dist="38100" dir="2700000" algn="tl">
                    <a:srgbClr val="C0C0C0"/>
                  </a:outerShdw>
                </a:effectLst>
                <a:latin typeface="Times New Roman" panose="02020603050405020304" pitchFamily="18" charset="0"/>
              </a:rPr>
              <a:t>codewords</a:t>
            </a:r>
            <a:r>
              <a:rPr lang="en-US" altLang="en-US" sz="2800" i="1" dirty="0">
                <a:effectLst>
                  <a:outerShdw blurRad="38100" dist="38100" dir="2700000" algn="tl">
                    <a:srgbClr val="C0C0C0"/>
                  </a:outerShdw>
                </a:effectLst>
                <a:latin typeface="Times New Roman" panose="02020603050405020304" pitchFamily="18" charset="0"/>
              </a:rPr>
              <a:t>.</a:t>
            </a:r>
          </a:p>
        </p:txBody>
      </p:sp>
      <p:pic>
        <p:nvPicPr>
          <p:cNvPr id="7" name="Picture 6">
            <a:extLst>
              <a:ext uri="{FF2B5EF4-FFF2-40B4-BE49-F238E27FC236}">
                <a16:creationId xmlns:a16="http://schemas.microsoft.com/office/drawing/2014/main" id="{D678B2A8-4537-7242-4E92-CCA5C5E67E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6148" y="2907347"/>
            <a:ext cx="7085012" cy="2625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a:extLst>
              <a:ext uri="{FF2B5EF4-FFF2-40B4-BE49-F238E27FC236}">
                <a16:creationId xmlns:a16="http://schemas.microsoft.com/office/drawing/2014/main" id="{1D41B005-F3D4-3493-EFC2-15B02933D9E9}"/>
              </a:ext>
            </a:extLst>
          </p:cNvPr>
          <p:cNvSpPr txBox="1"/>
          <p:nvPr/>
        </p:nvSpPr>
        <p:spPr>
          <a:xfrm>
            <a:off x="2690654" y="5814814"/>
            <a:ext cx="6096000" cy="461665"/>
          </a:xfrm>
          <a:prstGeom prst="rect">
            <a:avLst/>
          </a:prstGeom>
          <a:noFill/>
        </p:spPr>
        <p:txBody>
          <a:bodyPr wrap="square">
            <a:spAutoFit/>
          </a:bodyPr>
          <a:lstStyle/>
          <a:p>
            <a:r>
              <a:rPr lang="en-US" altLang="en-US" sz="2400" i="1" dirty="0">
                <a:solidFill>
                  <a:srgbClr val="FF0000"/>
                </a:solidFill>
                <a:latin typeface="Times New Roman" panose="02020603050405020304" pitchFamily="18" charset="0"/>
              </a:rPr>
              <a:t>Fig: </a:t>
            </a:r>
            <a:r>
              <a:rPr lang="en-US" altLang="en-US" sz="2400" i="1" dirty="0" err="1">
                <a:solidFill>
                  <a:srgbClr val="FF0000"/>
                </a:solidFill>
                <a:latin typeface="Times New Roman" panose="02020603050405020304" pitchFamily="18" charset="0"/>
              </a:rPr>
              <a:t>Datawords</a:t>
            </a:r>
            <a:r>
              <a:rPr lang="en-US" altLang="en-US" sz="2400" i="1" dirty="0">
                <a:solidFill>
                  <a:srgbClr val="FF0000"/>
                </a:solidFill>
                <a:latin typeface="Times New Roman" panose="02020603050405020304" pitchFamily="18" charset="0"/>
              </a:rPr>
              <a:t> and codewords in block coding</a:t>
            </a:r>
            <a:endParaRPr lang="en-IN" sz="2400" dirty="0">
              <a:solidFill>
                <a:srgbClr val="FF0000"/>
              </a:solidFill>
            </a:endParaRPr>
          </a:p>
        </p:txBody>
      </p:sp>
    </p:spTree>
    <p:extLst>
      <p:ext uri="{BB962C8B-B14F-4D97-AF65-F5344CB8AC3E}">
        <p14:creationId xmlns:p14="http://schemas.microsoft.com/office/powerpoint/2010/main" val="35350161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53EB2-3AF9-B68B-DD2E-D11A9997C6E3}"/>
              </a:ext>
            </a:extLst>
          </p:cNvPr>
          <p:cNvSpPr>
            <a:spLocks noGrp="1"/>
          </p:cNvSpPr>
          <p:nvPr>
            <p:ph type="title"/>
          </p:nvPr>
        </p:nvSpPr>
        <p:spPr>
          <a:xfrm>
            <a:off x="1722427" y="375285"/>
            <a:ext cx="10515600" cy="1325563"/>
          </a:xfrm>
        </p:spPr>
        <p:txBody>
          <a:bodyPr>
            <a:normAutofit/>
          </a:bodyPr>
          <a:lstStyle/>
          <a:p>
            <a:r>
              <a:rPr lang="en-IN" sz="3200" b="1" i="1" dirty="0">
                <a:solidFill>
                  <a:schemeClr val="accent1"/>
                </a:solidFill>
                <a:latin typeface="Times New Roman" panose="02020603050405020304" pitchFamily="18" charset="0"/>
                <a:cs typeface="Times New Roman" panose="02020603050405020304" pitchFamily="18" charset="0"/>
              </a:rPr>
              <a:t>Process of error detection in block coding</a:t>
            </a:r>
          </a:p>
        </p:txBody>
      </p:sp>
      <p:pic>
        <p:nvPicPr>
          <p:cNvPr id="5" name="Content Placeholder 4">
            <a:extLst>
              <a:ext uri="{FF2B5EF4-FFF2-40B4-BE49-F238E27FC236}">
                <a16:creationId xmlns:a16="http://schemas.microsoft.com/office/drawing/2014/main" id="{70068473-DFAE-41C6-C037-F9C562EB51F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8341"/>
          <a:stretch/>
        </p:blipFill>
        <p:spPr>
          <a:xfrm>
            <a:off x="1722427" y="1772240"/>
            <a:ext cx="8747145" cy="3824908"/>
          </a:xfrm>
        </p:spPr>
      </p:pic>
    </p:spTree>
    <p:extLst>
      <p:ext uri="{BB962C8B-B14F-4D97-AF65-F5344CB8AC3E}">
        <p14:creationId xmlns:p14="http://schemas.microsoft.com/office/powerpoint/2010/main" val="16722609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F41DF-72D6-DEC1-7B80-5722EFDFFB51}"/>
              </a:ext>
            </a:extLst>
          </p:cNvPr>
          <p:cNvSpPr>
            <a:spLocks noGrp="1"/>
          </p:cNvSpPr>
          <p:nvPr>
            <p:ph type="title"/>
          </p:nvPr>
        </p:nvSpPr>
        <p:spPr>
          <a:xfrm>
            <a:off x="719772" y="18255"/>
            <a:ext cx="10515600" cy="1325563"/>
          </a:xfrm>
        </p:spPr>
        <p:txBody>
          <a:bodyPr/>
          <a:lstStyle/>
          <a:p>
            <a:r>
              <a:rPr lang="en-IN" b="1" dirty="0">
                <a:solidFill>
                  <a:schemeClr val="accent1"/>
                </a:solidFill>
                <a:latin typeface="Times New Roman" panose="02020603050405020304" pitchFamily="18" charset="0"/>
                <a:cs typeface="Times New Roman" panose="02020603050405020304" pitchFamily="18" charset="0"/>
              </a:rPr>
              <a:t>Block Coding</a:t>
            </a:r>
          </a:p>
        </p:txBody>
      </p:sp>
      <p:sp>
        <p:nvSpPr>
          <p:cNvPr id="3" name="Content Placeholder 2">
            <a:extLst>
              <a:ext uri="{FF2B5EF4-FFF2-40B4-BE49-F238E27FC236}">
                <a16:creationId xmlns:a16="http://schemas.microsoft.com/office/drawing/2014/main" id="{3BE3AD6A-DF29-5C32-E4B3-A4A84B4CE5E5}"/>
              </a:ext>
            </a:extLst>
          </p:cNvPr>
          <p:cNvSpPr>
            <a:spLocks noGrp="1"/>
          </p:cNvSpPr>
          <p:nvPr>
            <p:ph idx="1"/>
          </p:nvPr>
        </p:nvSpPr>
        <p:spPr>
          <a:xfrm>
            <a:off x="0" y="1310326"/>
            <a:ext cx="11353800" cy="4866637"/>
          </a:xfrm>
        </p:spPr>
        <p:txBody>
          <a:bodyPr>
            <a:normAutofit/>
          </a:bodyPr>
          <a:lstStyle/>
          <a:p>
            <a:pPr marL="0" indent="0">
              <a:buNone/>
            </a:pPr>
            <a:r>
              <a:rPr lang="en-IN" sz="2400" dirty="0">
                <a:latin typeface="Times New Roman" panose="02020603050405020304" pitchFamily="18" charset="0"/>
                <a:cs typeface="Times New Roman" panose="02020603050405020304" pitchFamily="18" charset="0"/>
              </a:rPr>
              <a:t>Let us assume that k=2 and n=3. Table 1 shows the list of data words and codewords. </a:t>
            </a:r>
          </a:p>
        </p:txBody>
      </p:sp>
      <p:sp>
        <p:nvSpPr>
          <p:cNvPr id="5" name="TextBox 4">
            <a:extLst>
              <a:ext uri="{FF2B5EF4-FFF2-40B4-BE49-F238E27FC236}">
                <a16:creationId xmlns:a16="http://schemas.microsoft.com/office/drawing/2014/main" id="{BE7484DE-A69C-93E1-B116-640FC9C78A1C}"/>
              </a:ext>
            </a:extLst>
          </p:cNvPr>
          <p:cNvSpPr txBox="1"/>
          <p:nvPr/>
        </p:nvSpPr>
        <p:spPr>
          <a:xfrm>
            <a:off x="3355942" y="1828800"/>
            <a:ext cx="5033914" cy="461665"/>
          </a:xfrm>
          <a:prstGeom prst="rect">
            <a:avLst/>
          </a:prstGeom>
          <a:noFill/>
        </p:spPr>
        <p:txBody>
          <a:bodyPr wrap="square" rtlCol="0">
            <a:spAutoFit/>
          </a:bodyPr>
          <a:lstStyle/>
          <a:p>
            <a:r>
              <a:rPr lang="en-IN" sz="2400" b="1" i="1" dirty="0">
                <a:solidFill>
                  <a:schemeClr val="accent1"/>
                </a:solidFill>
                <a:latin typeface="Times New Roman" panose="02020603050405020304" pitchFamily="18" charset="0"/>
                <a:cs typeface="Times New Roman" panose="02020603050405020304" pitchFamily="18" charset="0"/>
              </a:rPr>
              <a:t>Table 1</a:t>
            </a:r>
            <a:r>
              <a:rPr lang="en-IN" sz="2400" i="1" dirty="0">
                <a:solidFill>
                  <a:schemeClr val="accent1"/>
                </a:solidFill>
                <a:latin typeface="Times New Roman" panose="02020603050405020304" pitchFamily="18" charset="0"/>
                <a:cs typeface="Times New Roman" panose="02020603050405020304" pitchFamily="18" charset="0"/>
              </a:rPr>
              <a:t>: </a:t>
            </a:r>
            <a:r>
              <a:rPr lang="en-IN" sz="2400" i="1" dirty="0">
                <a:latin typeface="Times New Roman" panose="02020603050405020304" pitchFamily="18" charset="0"/>
                <a:cs typeface="Times New Roman" panose="02020603050405020304" pitchFamily="18" charset="0"/>
              </a:rPr>
              <a:t>A code for error detection</a:t>
            </a:r>
          </a:p>
        </p:txBody>
      </p:sp>
      <p:pic>
        <p:nvPicPr>
          <p:cNvPr id="6" name="Picture 4">
            <a:extLst>
              <a:ext uri="{FF2B5EF4-FFF2-40B4-BE49-F238E27FC236}">
                <a16:creationId xmlns:a16="http://schemas.microsoft.com/office/drawing/2014/main" id="{AEF5DDF6-F758-E5FD-84CB-54DE4BBA73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8785" y="2465239"/>
            <a:ext cx="8537575" cy="353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21543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43FC45-E68D-DA72-B0FE-F0EE9C4547A0}"/>
              </a:ext>
            </a:extLst>
          </p:cNvPr>
          <p:cNvSpPr txBox="1"/>
          <p:nvPr/>
        </p:nvSpPr>
        <p:spPr>
          <a:xfrm>
            <a:off x="853125" y="1195766"/>
            <a:ext cx="11123629" cy="830997"/>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Assume the sender encodes the </a:t>
            </a:r>
            <a:r>
              <a:rPr lang="en-IN" sz="2400" dirty="0" err="1">
                <a:latin typeface="Times New Roman" panose="02020603050405020304" pitchFamily="18" charset="0"/>
                <a:cs typeface="Times New Roman" panose="02020603050405020304" pitchFamily="18" charset="0"/>
              </a:rPr>
              <a:t>dataword</a:t>
            </a:r>
            <a:r>
              <a:rPr lang="en-IN" sz="2400" dirty="0">
                <a:latin typeface="Times New Roman" panose="02020603050405020304" pitchFamily="18" charset="0"/>
                <a:cs typeface="Times New Roman" panose="02020603050405020304" pitchFamily="18" charset="0"/>
              </a:rPr>
              <a:t> 01 as 011 and sends it to the receiver. Consider the following cases. Consider the following cases. </a:t>
            </a:r>
          </a:p>
        </p:txBody>
      </p:sp>
      <p:sp>
        <p:nvSpPr>
          <p:cNvPr id="3" name="TextBox 2">
            <a:extLst>
              <a:ext uri="{FF2B5EF4-FFF2-40B4-BE49-F238E27FC236}">
                <a16:creationId xmlns:a16="http://schemas.microsoft.com/office/drawing/2014/main" id="{9BF22415-2D14-0807-6F30-0CFDE9EE1A06}"/>
              </a:ext>
            </a:extLst>
          </p:cNvPr>
          <p:cNvSpPr txBox="1"/>
          <p:nvPr/>
        </p:nvSpPr>
        <p:spPr>
          <a:xfrm>
            <a:off x="727435" y="2229963"/>
            <a:ext cx="10737130" cy="3903954"/>
          </a:xfrm>
          <a:prstGeom prst="rect">
            <a:avLst/>
          </a:prstGeom>
          <a:noFill/>
        </p:spPr>
        <p:txBody>
          <a:bodyPr wrap="square" rtlCol="0">
            <a:spAutoFit/>
          </a:bodyPr>
          <a:lstStyle/>
          <a:p>
            <a:pPr marL="457200" indent="-457200" algn="just">
              <a:lnSpc>
                <a:spcPct val="150000"/>
              </a:lnSpc>
              <a:buAutoNum type="arabicPeriod"/>
            </a:pPr>
            <a:r>
              <a:rPr lang="en-IN" sz="2400" dirty="0">
                <a:latin typeface="Times New Roman" panose="02020603050405020304" pitchFamily="18" charset="0"/>
                <a:cs typeface="Times New Roman" panose="02020603050405020304" pitchFamily="18" charset="0"/>
              </a:rPr>
              <a:t>The receiver receives 011. It is a valid codeword. The receiver extracts the data word 01 from it. </a:t>
            </a:r>
          </a:p>
          <a:p>
            <a:pPr marL="457200" indent="-457200" algn="just">
              <a:lnSpc>
                <a:spcPct val="150000"/>
              </a:lnSpc>
              <a:buAutoNum type="arabicPeriod"/>
            </a:pPr>
            <a:r>
              <a:rPr lang="en-IN" sz="2400" dirty="0">
                <a:latin typeface="Times New Roman" panose="02020603050405020304" pitchFamily="18" charset="0"/>
                <a:cs typeface="Times New Roman" panose="02020603050405020304" pitchFamily="18" charset="0"/>
              </a:rPr>
              <a:t> The codeword is corrupted during transmission and 111 is received. This is not a valid codeword and is discarded. </a:t>
            </a:r>
          </a:p>
          <a:p>
            <a:pPr marL="457200" indent="-457200" algn="just">
              <a:lnSpc>
                <a:spcPct val="150000"/>
              </a:lnSpc>
              <a:buAutoNum type="arabicPeriod"/>
            </a:pPr>
            <a:r>
              <a:rPr lang="en-IN" sz="2400" dirty="0">
                <a:latin typeface="Times New Roman" panose="02020603050405020304" pitchFamily="18" charset="0"/>
                <a:cs typeface="Times New Roman" panose="02020603050405020304" pitchFamily="18" charset="0"/>
              </a:rPr>
              <a:t> The codeword is corrupted during transmission and 000 is received (the right two bits are corrupted).  This is a valid codeword. The receiver incorrectly extracts the </a:t>
            </a:r>
            <a:r>
              <a:rPr lang="en-IN" sz="2400" dirty="0" err="1">
                <a:latin typeface="Times New Roman" panose="02020603050405020304" pitchFamily="18" charset="0"/>
                <a:cs typeface="Times New Roman" panose="02020603050405020304" pitchFamily="18" charset="0"/>
              </a:rPr>
              <a:t>datawords</a:t>
            </a:r>
            <a:r>
              <a:rPr lang="en-IN" sz="2400" dirty="0">
                <a:latin typeface="Times New Roman" panose="02020603050405020304" pitchFamily="18" charset="0"/>
                <a:cs typeface="Times New Roman" panose="02020603050405020304" pitchFamily="18" charset="0"/>
              </a:rPr>
              <a:t> 00. Two corrupted bits have made the error undetectable. </a:t>
            </a:r>
          </a:p>
        </p:txBody>
      </p:sp>
      <p:sp>
        <p:nvSpPr>
          <p:cNvPr id="4" name="Title 1">
            <a:extLst>
              <a:ext uri="{FF2B5EF4-FFF2-40B4-BE49-F238E27FC236}">
                <a16:creationId xmlns:a16="http://schemas.microsoft.com/office/drawing/2014/main" id="{F2F19078-2BCB-3570-3990-0F4DBAA7E75C}"/>
              </a:ext>
            </a:extLst>
          </p:cNvPr>
          <p:cNvSpPr txBox="1">
            <a:spLocks/>
          </p:cNvSpPr>
          <p:nvPr/>
        </p:nvSpPr>
        <p:spPr>
          <a:xfrm>
            <a:off x="1756092" y="121080"/>
            <a:ext cx="7509828"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dirty="0">
                <a:solidFill>
                  <a:schemeClr val="accent1"/>
                </a:solidFill>
                <a:latin typeface="Times New Roman" panose="02020603050405020304" pitchFamily="18" charset="0"/>
                <a:cs typeface="Times New Roman" panose="02020603050405020304" pitchFamily="18" charset="0"/>
              </a:rPr>
              <a:t>Valid &amp; Invalid Code Word</a:t>
            </a:r>
          </a:p>
        </p:txBody>
      </p:sp>
    </p:spTree>
    <p:extLst>
      <p:ext uri="{BB962C8B-B14F-4D97-AF65-F5344CB8AC3E}">
        <p14:creationId xmlns:p14="http://schemas.microsoft.com/office/powerpoint/2010/main" val="2659618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9">
            <a:extLst>
              <a:ext uri="{FF2B5EF4-FFF2-40B4-BE49-F238E27FC236}">
                <a16:creationId xmlns:a16="http://schemas.microsoft.com/office/drawing/2014/main" id="{CDC43BB7-86EF-D4D9-E17F-12B535D82CD6}"/>
              </a:ext>
            </a:extLst>
          </p:cNvPr>
          <p:cNvSpPr>
            <a:spLocks noChangeArrowheads="1"/>
          </p:cNvSpPr>
          <p:nvPr/>
        </p:nvSpPr>
        <p:spPr bwMode="auto">
          <a:xfrm>
            <a:off x="137160" y="2273319"/>
            <a:ext cx="7360920" cy="138499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en-US" sz="2800" i="1" dirty="0">
                <a:latin typeface="Times New Roman" panose="02020603050405020304" pitchFamily="18" charset="0"/>
              </a:rPr>
              <a:t>Hamming distance between two pairs of words.</a:t>
            </a:r>
          </a:p>
          <a:p>
            <a:pPr algn="just"/>
            <a:endParaRPr lang="en-US" altLang="en-US" sz="2800" i="1" dirty="0">
              <a:latin typeface="Times New Roman" panose="02020603050405020304" pitchFamily="18" charset="0"/>
            </a:endParaRPr>
          </a:p>
          <a:p>
            <a:pPr algn="just"/>
            <a:r>
              <a:rPr lang="en-US" altLang="en-US" sz="2800" i="1" dirty="0">
                <a:solidFill>
                  <a:schemeClr val="hlink"/>
                </a:solidFill>
                <a:latin typeface="Times New Roman" panose="02020603050405020304" pitchFamily="18" charset="0"/>
              </a:rPr>
              <a:t>1</a:t>
            </a:r>
            <a:r>
              <a:rPr lang="en-US" altLang="en-US" sz="2800" i="1" dirty="0">
                <a:latin typeface="Times New Roman" panose="02020603050405020304" pitchFamily="18" charset="0"/>
              </a:rPr>
              <a:t>. The Hamming distance d(000,011) is 2</a:t>
            </a:r>
          </a:p>
        </p:txBody>
      </p:sp>
      <p:sp>
        <p:nvSpPr>
          <p:cNvPr id="9" name="Rectangle 13">
            <a:extLst>
              <a:ext uri="{FF2B5EF4-FFF2-40B4-BE49-F238E27FC236}">
                <a16:creationId xmlns:a16="http://schemas.microsoft.com/office/drawing/2014/main" id="{12FD94DD-8B0F-5B71-0867-0042256798FC}"/>
              </a:ext>
            </a:extLst>
          </p:cNvPr>
          <p:cNvSpPr>
            <a:spLocks noChangeArrowheads="1"/>
          </p:cNvSpPr>
          <p:nvPr/>
        </p:nvSpPr>
        <p:spPr bwMode="auto">
          <a:xfrm>
            <a:off x="137160" y="4628099"/>
            <a:ext cx="7901940" cy="52322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en-US" sz="2800" i="1" dirty="0">
                <a:solidFill>
                  <a:schemeClr val="hlink"/>
                </a:solidFill>
                <a:latin typeface="Times New Roman" panose="02020603050405020304" pitchFamily="18" charset="0"/>
              </a:rPr>
              <a:t>2.</a:t>
            </a:r>
            <a:r>
              <a:rPr lang="en-US" altLang="en-US" sz="2800" i="1" dirty="0">
                <a:latin typeface="Times New Roman" panose="02020603050405020304" pitchFamily="18" charset="0"/>
              </a:rPr>
              <a:t> The Hamming distance d(10101, 11110) is 3</a:t>
            </a:r>
          </a:p>
        </p:txBody>
      </p:sp>
      <p:pic>
        <p:nvPicPr>
          <p:cNvPr id="10" name="Picture 15">
            <a:extLst>
              <a:ext uri="{FF2B5EF4-FFF2-40B4-BE49-F238E27FC236}">
                <a16:creationId xmlns:a16="http://schemas.microsoft.com/office/drawing/2014/main" id="{1C69C6CE-14BF-811A-0270-AE454E8A84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8248" y="3881162"/>
            <a:ext cx="2906712" cy="341313"/>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16">
            <a:extLst>
              <a:ext uri="{FF2B5EF4-FFF2-40B4-BE49-F238E27FC236}">
                <a16:creationId xmlns:a16="http://schemas.microsoft.com/office/drawing/2014/main" id="{36054732-806D-BA5E-1AC0-5987A04896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1826" y="5552836"/>
            <a:ext cx="3811588" cy="307975"/>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12">
            <a:extLst>
              <a:ext uri="{FF2B5EF4-FFF2-40B4-BE49-F238E27FC236}">
                <a16:creationId xmlns:a16="http://schemas.microsoft.com/office/drawing/2014/main" id="{59BE019B-F802-79D1-A698-02F96EFC18FB}"/>
              </a:ext>
            </a:extLst>
          </p:cNvPr>
          <p:cNvPicPr>
            <a:picLocks noChangeAspect="1"/>
          </p:cNvPicPr>
          <p:nvPr/>
        </p:nvPicPr>
        <p:blipFill>
          <a:blip r:embed="rId4"/>
          <a:stretch>
            <a:fillRect/>
          </a:stretch>
        </p:blipFill>
        <p:spPr>
          <a:xfrm>
            <a:off x="7627302" y="3133486"/>
            <a:ext cx="4152900" cy="2419350"/>
          </a:xfrm>
          <a:prstGeom prst="rect">
            <a:avLst/>
          </a:prstGeom>
        </p:spPr>
      </p:pic>
      <p:sp>
        <p:nvSpPr>
          <p:cNvPr id="4" name="TextBox 3">
            <a:extLst>
              <a:ext uri="{FF2B5EF4-FFF2-40B4-BE49-F238E27FC236}">
                <a16:creationId xmlns:a16="http://schemas.microsoft.com/office/drawing/2014/main" id="{FD70F0EE-8B20-56CA-1573-0C36BC6BE30D}"/>
              </a:ext>
            </a:extLst>
          </p:cNvPr>
          <p:cNvSpPr txBox="1"/>
          <p:nvPr/>
        </p:nvSpPr>
        <p:spPr>
          <a:xfrm>
            <a:off x="2480945" y="262176"/>
            <a:ext cx="6096000" cy="707886"/>
          </a:xfrm>
          <a:prstGeom prst="rect">
            <a:avLst/>
          </a:prstGeom>
          <a:noFill/>
        </p:spPr>
        <p:txBody>
          <a:bodyPr wrap="square">
            <a:spAutoFit/>
          </a:bodyPr>
          <a:lstStyle/>
          <a:p>
            <a:r>
              <a:rPr lang="en-IN" sz="4000" b="1" dirty="0">
                <a:solidFill>
                  <a:schemeClr val="accent1"/>
                </a:solidFill>
                <a:latin typeface="Times New Roman" panose="02020603050405020304" pitchFamily="18" charset="0"/>
                <a:cs typeface="Times New Roman" panose="02020603050405020304" pitchFamily="18" charset="0"/>
              </a:rPr>
              <a:t>Hamming Distance</a:t>
            </a:r>
            <a:endParaRPr lang="en-IN" sz="4000" dirty="0"/>
          </a:p>
        </p:txBody>
      </p:sp>
      <p:sp>
        <p:nvSpPr>
          <p:cNvPr id="6" name="TextBox 5">
            <a:extLst>
              <a:ext uri="{FF2B5EF4-FFF2-40B4-BE49-F238E27FC236}">
                <a16:creationId xmlns:a16="http://schemas.microsoft.com/office/drawing/2014/main" id="{84844238-8A45-6248-C648-DAB95ADDBF21}"/>
              </a:ext>
            </a:extLst>
          </p:cNvPr>
          <p:cNvSpPr txBox="1"/>
          <p:nvPr/>
        </p:nvSpPr>
        <p:spPr>
          <a:xfrm>
            <a:off x="436880" y="1096364"/>
            <a:ext cx="11470640" cy="954107"/>
          </a:xfrm>
          <a:prstGeom prst="rect">
            <a:avLst/>
          </a:prstGeom>
          <a:noFill/>
        </p:spPr>
        <p:txBody>
          <a:bodyPr wrap="square">
            <a:spAutoFit/>
          </a:bodyPr>
          <a:lstStyle/>
          <a:p>
            <a:r>
              <a:rPr lang="en-US" altLang="en-US" sz="2800" dirty="0">
                <a:solidFill>
                  <a:srgbClr val="FF0000"/>
                </a:solidFill>
                <a:latin typeface="Times New Roman" panose="02020603050405020304" pitchFamily="18" charset="0"/>
                <a:cs typeface="Times New Roman" panose="02020603050405020304" pitchFamily="18" charset="0"/>
              </a:rPr>
              <a:t>The Hamming distance between two words is the number of differences between corresponding bits.</a:t>
            </a:r>
          </a:p>
        </p:txBody>
      </p:sp>
    </p:spTree>
    <p:extLst>
      <p:ext uri="{BB962C8B-B14F-4D97-AF65-F5344CB8AC3E}">
        <p14:creationId xmlns:p14="http://schemas.microsoft.com/office/powerpoint/2010/main" val="36744363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9">
            <a:extLst>
              <a:ext uri="{FF2B5EF4-FFF2-40B4-BE49-F238E27FC236}">
                <a16:creationId xmlns:a16="http://schemas.microsoft.com/office/drawing/2014/main" id="{01208D7C-31A0-0C7A-ABA8-0059793B7E2E}"/>
              </a:ext>
            </a:extLst>
          </p:cNvPr>
          <p:cNvSpPr>
            <a:spLocks noChangeArrowheads="1"/>
          </p:cNvSpPr>
          <p:nvPr/>
        </p:nvSpPr>
        <p:spPr bwMode="auto">
          <a:xfrm>
            <a:off x="533877" y="1756173"/>
            <a:ext cx="9728200" cy="461665"/>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en-US" sz="2400" b="1" i="1" dirty="0">
                <a:solidFill>
                  <a:srgbClr val="FF0000"/>
                </a:solidFill>
                <a:latin typeface="Times New Roman" panose="02020603050405020304" pitchFamily="18" charset="0"/>
              </a:rPr>
              <a:t>Find the minimum Hamming distance of the coding</a:t>
            </a:r>
          </a:p>
        </p:txBody>
      </p:sp>
      <p:sp>
        <p:nvSpPr>
          <p:cNvPr id="4" name="Rectangle 10">
            <a:extLst>
              <a:ext uri="{FF2B5EF4-FFF2-40B4-BE49-F238E27FC236}">
                <a16:creationId xmlns:a16="http://schemas.microsoft.com/office/drawing/2014/main" id="{9DB74EED-72E5-E309-CA41-DC3309C93F82}"/>
              </a:ext>
            </a:extLst>
          </p:cNvPr>
          <p:cNvSpPr>
            <a:spLocks noChangeArrowheads="1"/>
          </p:cNvSpPr>
          <p:nvPr/>
        </p:nvSpPr>
        <p:spPr bwMode="auto">
          <a:xfrm>
            <a:off x="421640" y="4193247"/>
            <a:ext cx="9952674" cy="9461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800" i="1" dirty="0">
                <a:solidFill>
                  <a:schemeClr val="hlink"/>
                </a:solidFill>
                <a:latin typeface="Times New Roman" panose="02020603050405020304" pitchFamily="18" charset="0"/>
              </a:rPr>
              <a:t>Solution</a:t>
            </a:r>
          </a:p>
          <a:p>
            <a:r>
              <a:rPr lang="en-US" altLang="en-US" sz="2800" i="1" dirty="0">
                <a:latin typeface="Times" panose="02020603050405020304" pitchFamily="18" charset="0"/>
              </a:rPr>
              <a:t>We first find all Hamming distances.</a:t>
            </a:r>
          </a:p>
        </p:txBody>
      </p:sp>
      <p:pic>
        <p:nvPicPr>
          <p:cNvPr id="5" name="Picture 15">
            <a:extLst>
              <a:ext uri="{FF2B5EF4-FFF2-40B4-BE49-F238E27FC236}">
                <a16:creationId xmlns:a16="http://schemas.microsoft.com/office/drawing/2014/main" id="{1D123A96-6824-1A3C-652D-98DB142DAC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667" y="5408199"/>
            <a:ext cx="8558213" cy="620712"/>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16">
            <a:extLst>
              <a:ext uri="{FF2B5EF4-FFF2-40B4-BE49-F238E27FC236}">
                <a16:creationId xmlns:a16="http://schemas.microsoft.com/office/drawing/2014/main" id="{05C6DEEA-82A3-0C89-8B10-E55CF1BDA6F3}"/>
              </a:ext>
            </a:extLst>
          </p:cNvPr>
          <p:cNvSpPr>
            <a:spLocks noChangeArrowheads="1"/>
          </p:cNvSpPr>
          <p:nvPr/>
        </p:nvSpPr>
        <p:spPr bwMode="auto">
          <a:xfrm>
            <a:off x="513080" y="6096072"/>
            <a:ext cx="8686800" cy="51911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i="1" dirty="0">
                <a:latin typeface="Times" panose="02020603050405020304" pitchFamily="18" charset="0"/>
              </a:rPr>
              <a:t>The </a:t>
            </a:r>
            <a:r>
              <a:rPr lang="en-US" altLang="en-US" sz="2800" i="1" dirty="0" err="1">
                <a:latin typeface="Times" panose="02020603050405020304" pitchFamily="18" charset="0"/>
              </a:rPr>
              <a:t>d</a:t>
            </a:r>
            <a:r>
              <a:rPr lang="en-US" altLang="en-US" sz="2800" i="1" baseline="-25000" dirty="0" err="1">
                <a:latin typeface="Times" panose="02020603050405020304" pitchFamily="18" charset="0"/>
              </a:rPr>
              <a:t>min</a:t>
            </a:r>
            <a:r>
              <a:rPr lang="en-US" altLang="en-US" sz="2800" i="1" dirty="0">
                <a:latin typeface="Times" panose="02020603050405020304" pitchFamily="18" charset="0"/>
              </a:rPr>
              <a:t> in this case is 2.</a:t>
            </a:r>
          </a:p>
        </p:txBody>
      </p:sp>
      <p:pic>
        <p:nvPicPr>
          <p:cNvPr id="7" name="Picture 4">
            <a:extLst>
              <a:ext uri="{FF2B5EF4-FFF2-40B4-BE49-F238E27FC236}">
                <a16:creationId xmlns:a16="http://schemas.microsoft.com/office/drawing/2014/main" id="{1EF816A2-8EFA-3DB4-158F-B249DF65A4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5279" y="2352239"/>
            <a:ext cx="5237957" cy="2169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a:extLst>
              <a:ext uri="{FF2B5EF4-FFF2-40B4-BE49-F238E27FC236}">
                <a16:creationId xmlns:a16="http://schemas.microsoft.com/office/drawing/2014/main" id="{11BBE38D-BDF2-B19C-F97E-D818067D5BB6}"/>
              </a:ext>
            </a:extLst>
          </p:cNvPr>
          <p:cNvSpPr txBox="1"/>
          <p:nvPr/>
        </p:nvSpPr>
        <p:spPr>
          <a:xfrm>
            <a:off x="447040" y="826588"/>
            <a:ext cx="11297920" cy="830997"/>
          </a:xfrm>
          <a:prstGeom prst="rect">
            <a:avLst/>
          </a:prstGeom>
          <a:noFill/>
        </p:spPr>
        <p:txBody>
          <a:bodyPr wrap="square">
            <a:spAutoFit/>
          </a:bodyPr>
          <a:lstStyle/>
          <a:p>
            <a:r>
              <a:rPr lang="en-US" altLang="en-US" sz="2400" b="1" dirty="0">
                <a:solidFill>
                  <a:srgbClr val="00B050"/>
                </a:solidFill>
                <a:latin typeface="Times New Roman" panose="02020603050405020304" pitchFamily="18" charset="0"/>
                <a:cs typeface="Times New Roman" panose="02020603050405020304" pitchFamily="18" charset="0"/>
              </a:rPr>
              <a:t>The minimum Hamming distance is the smallest Hamming distance between all possible pairs in a set of words.</a:t>
            </a:r>
          </a:p>
        </p:txBody>
      </p:sp>
      <p:sp>
        <p:nvSpPr>
          <p:cNvPr id="9" name="TextBox 8">
            <a:extLst>
              <a:ext uri="{FF2B5EF4-FFF2-40B4-BE49-F238E27FC236}">
                <a16:creationId xmlns:a16="http://schemas.microsoft.com/office/drawing/2014/main" id="{41BC7543-A6C7-9E71-26B0-819EEF2F11FD}"/>
              </a:ext>
            </a:extLst>
          </p:cNvPr>
          <p:cNvSpPr txBox="1"/>
          <p:nvPr/>
        </p:nvSpPr>
        <p:spPr>
          <a:xfrm>
            <a:off x="1668462" y="62129"/>
            <a:ext cx="8987155" cy="707886"/>
          </a:xfrm>
          <a:prstGeom prst="rect">
            <a:avLst/>
          </a:prstGeom>
          <a:noFill/>
        </p:spPr>
        <p:txBody>
          <a:bodyPr wrap="square">
            <a:spAutoFit/>
          </a:bodyPr>
          <a:lstStyle/>
          <a:p>
            <a:r>
              <a:rPr lang="en-IN" sz="4000" b="1" dirty="0">
                <a:solidFill>
                  <a:schemeClr val="accent1"/>
                </a:solidFill>
                <a:latin typeface="Times New Roman" panose="02020603050405020304" pitchFamily="18" charset="0"/>
                <a:cs typeface="Times New Roman" panose="02020603050405020304" pitchFamily="18" charset="0"/>
              </a:rPr>
              <a:t>Minimum Hamming Distance</a:t>
            </a:r>
            <a:endParaRPr lang="en-IN" sz="4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87429-3668-CBAB-F686-5BDF4455C6D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13D1B6-49B8-6ADA-5FB4-2D1ADCB1E8BA}"/>
              </a:ext>
            </a:extLst>
          </p:cNvPr>
          <p:cNvSpPr>
            <a:spLocks noGrp="1"/>
          </p:cNvSpPr>
          <p:nvPr>
            <p:ph type="sldNum" sz="quarter" idx="10"/>
          </p:nvPr>
        </p:nvSpPr>
        <p:spPr/>
        <p:txBody>
          <a:bodyPr/>
          <a:lstStyle/>
          <a:p>
            <a:r>
              <a:rPr lang="en-US" altLang="en-US"/>
              <a:t>10.</a:t>
            </a:r>
            <a:fld id="{A23C5AF7-BD9F-4C31-B241-9583A1BC958A}" type="slidenum">
              <a:rPr lang="en-US" altLang="en-US"/>
              <a:pPr/>
              <a:t>13</a:t>
            </a:fld>
            <a:endParaRPr lang="en-US" altLang="en-US"/>
          </a:p>
        </p:txBody>
      </p:sp>
      <p:sp>
        <p:nvSpPr>
          <p:cNvPr id="925705" name="Rectangle 9">
            <a:extLst>
              <a:ext uri="{FF2B5EF4-FFF2-40B4-BE49-F238E27FC236}">
                <a16:creationId xmlns:a16="http://schemas.microsoft.com/office/drawing/2014/main" id="{23E4E733-74E3-5009-5931-D52A834DE06F}"/>
              </a:ext>
            </a:extLst>
          </p:cNvPr>
          <p:cNvSpPr>
            <a:spLocks noChangeArrowheads="1"/>
          </p:cNvSpPr>
          <p:nvPr/>
        </p:nvSpPr>
        <p:spPr bwMode="auto">
          <a:xfrm>
            <a:off x="919480" y="1051560"/>
            <a:ext cx="950976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en-US" sz="2800" b="1" i="1" dirty="0">
                <a:solidFill>
                  <a:srgbClr val="FF0000"/>
                </a:solidFill>
                <a:latin typeface="Times New Roman" panose="02020603050405020304" pitchFamily="18" charset="0"/>
              </a:rPr>
              <a:t>Find the minimum Hamming distance of the coding scheme</a:t>
            </a:r>
          </a:p>
        </p:txBody>
      </p:sp>
      <p:pic>
        <p:nvPicPr>
          <p:cNvPr id="3" name="Picture 4">
            <a:extLst>
              <a:ext uri="{FF2B5EF4-FFF2-40B4-BE49-F238E27FC236}">
                <a16:creationId xmlns:a16="http://schemas.microsoft.com/office/drawing/2014/main" id="{C49280D7-2836-A609-CECB-BDC7CCCBF3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8665" y="1738948"/>
            <a:ext cx="8410575" cy="3148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968697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5705" name="Rectangle 9">
            <a:extLst>
              <a:ext uri="{FF2B5EF4-FFF2-40B4-BE49-F238E27FC236}">
                <a16:creationId xmlns:a16="http://schemas.microsoft.com/office/drawing/2014/main" id="{CED6005A-8675-BBEB-5F29-E1DF596DBA09}"/>
              </a:ext>
            </a:extLst>
          </p:cNvPr>
          <p:cNvSpPr>
            <a:spLocks noChangeArrowheads="1"/>
          </p:cNvSpPr>
          <p:nvPr/>
        </p:nvSpPr>
        <p:spPr bwMode="auto">
          <a:xfrm>
            <a:off x="1053147" y="570061"/>
            <a:ext cx="8686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800" i="1" dirty="0">
                <a:latin typeface="Times New Roman" panose="02020603050405020304" pitchFamily="18" charset="0"/>
              </a:rPr>
              <a:t>Find the minimum Hamming distance of the coding scheme</a:t>
            </a:r>
          </a:p>
        </p:txBody>
      </p:sp>
      <p:sp>
        <p:nvSpPr>
          <p:cNvPr id="925706" name="Rectangle 10">
            <a:extLst>
              <a:ext uri="{FF2B5EF4-FFF2-40B4-BE49-F238E27FC236}">
                <a16:creationId xmlns:a16="http://schemas.microsoft.com/office/drawing/2014/main" id="{E3ADC949-C266-D16C-FE92-DCD9B08C466A}"/>
              </a:ext>
            </a:extLst>
          </p:cNvPr>
          <p:cNvSpPr>
            <a:spLocks noChangeArrowheads="1"/>
          </p:cNvSpPr>
          <p:nvPr/>
        </p:nvSpPr>
        <p:spPr bwMode="auto">
          <a:xfrm>
            <a:off x="563880" y="3437251"/>
            <a:ext cx="8686800" cy="9461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i="1" dirty="0">
                <a:solidFill>
                  <a:schemeClr val="hlink"/>
                </a:solidFill>
                <a:latin typeface="Times New Roman" panose="02020603050405020304" pitchFamily="18" charset="0"/>
              </a:rPr>
              <a:t>Solution</a:t>
            </a:r>
          </a:p>
          <a:p>
            <a:r>
              <a:rPr lang="en-US" altLang="en-US" sz="2800" i="1" dirty="0">
                <a:latin typeface="Times" panose="02020603050405020304" pitchFamily="18" charset="0"/>
              </a:rPr>
              <a:t>We first find all the Hamming distances.</a:t>
            </a:r>
          </a:p>
        </p:txBody>
      </p:sp>
      <p:sp>
        <p:nvSpPr>
          <p:cNvPr id="925708" name="Rectangle 12">
            <a:extLst>
              <a:ext uri="{FF2B5EF4-FFF2-40B4-BE49-F238E27FC236}">
                <a16:creationId xmlns:a16="http://schemas.microsoft.com/office/drawing/2014/main" id="{D9079542-E13E-BFAD-A4F0-C17B7DCB735A}"/>
              </a:ext>
            </a:extLst>
          </p:cNvPr>
          <p:cNvSpPr>
            <a:spLocks noChangeArrowheads="1"/>
          </p:cNvSpPr>
          <p:nvPr/>
        </p:nvSpPr>
        <p:spPr bwMode="auto">
          <a:xfrm>
            <a:off x="417354" y="5455443"/>
            <a:ext cx="8686800" cy="51911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i="1">
                <a:latin typeface="Times New Roman" panose="02020603050405020304" pitchFamily="18" charset="0"/>
              </a:rPr>
              <a:t>The d</a:t>
            </a:r>
            <a:r>
              <a:rPr lang="en-US" altLang="en-US" sz="2800" i="1" baseline="-25000">
                <a:latin typeface="Times New Roman" panose="02020603050405020304" pitchFamily="18" charset="0"/>
              </a:rPr>
              <a:t>min</a:t>
            </a:r>
            <a:r>
              <a:rPr lang="en-US" altLang="en-US" sz="2800" i="1">
                <a:latin typeface="Times New Roman" panose="02020603050405020304" pitchFamily="18" charset="0"/>
              </a:rPr>
              <a:t> in this case is 3.</a:t>
            </a:r>
          </a:p>
        </p:txBody>
      </p:sp>
      <p:pic>
        <p:nvPicPr>
          <p:cNvPr id="925710" name="Picture 14">
            <a:extLst>
              <a:ext uri="{FF2B5EF4-FFF2-40B4-BE49-F238E27FC236}">
                <a16:creationId xmlns:a16="http://schemas.microsoft.com/office/drawing/2014/main" id="{A3D837DC-0FA3-6477-1BD0-C729B14145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281" y="4595572"/>
            <a:ext cx="7945437" cy="64770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4">
            <a:extLst>
              <a:ext uri="{FF2B5EF4-FFF2-40B4-BE49-F238E27FC236}">
                <a16:creationId xmlns:a16="http://schemas.microsoft.com/office/drawing/2014/main" id="{4505EE06-D5A8-EB58-D48C-82C2D4B9DD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5760" y="1199366"/>
            <a:ext cx="5956935" cy="2229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59139" name="Text Box 3">
            <a:extLst>
              <a:ext uri="{FF2B5EF4-FFF2-40B4-BE49-F238E27FC236}">
                <a16:creationId xmlns:a16="http://schemas.microsoft.com/office/drawing/2014/main" id="{D62AE14E-AB60-A181-86B5-7FB606F59BC2}"/>
              </a:ext>
            </a:extLst>
          </p:cNvPr>
          <p:cNvSpPr txBox="1">
            <a:spLocks noChangeArrowheads="1"/>
          </p:cNvSpPr>
          <p:nvPr/>
        </p:nvSpPr>
        <p:spPr bwMode="auto">
          <a:xfrm>
            <a:off x="1752600" y="406400"/>
            <a:ext cx="6296917"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4400" dirty="0">
                <a:solidFill>
                  <a:srgbClr val="0070C0"/>
                </a:solidFill>
                <a:effectLst>
                  <a:outerShdw blurRad="38100" dist="38100" dir="2700000" algn="tl">
                    <a:srgbClr val="C0C0C0"/>
                  </a:outerShdw>
                </a:effectLst>
                <a:latin typeface="Times" panose="02020603050405020304" pitchFamily="18" charset="0"/>
              </a:rPr>
              <a:t>LINEAR BLOCK CODES</a:t>
            </a:r>
          </a:p>
        </p:txBody>
      </p:sp>
      <p:sp>
        <p:nvSpPr>
          <p:cNvPr id="859140" name="Text Box 4">
            <a:extLst>
              <a:ext uri="{FF2B5EF4-FFF2-40B4-BE49-F238E27FC236}">
                <a16:creationId xmlns:a16="http://schemas.microsoft.com/office/drawing/2014/main" id="{E6CC950B-5549-C930-03B2-938088EA1DFE}"/>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latin typeface="Times New Roman" panose="02020603050405020304" pitchFamily="18" charset="0"/>
            </a:endParaRPr>
          </a:p>
        </p:txBody>
      </p:sp>
      <p:sp>
        <p:nvSpPr>
          <p:cNvPr id="3" name="Rectangle 1">
            <a:extLst>
              <a:ext uri="{FF2B5EF4-FFF2-40B4-BE49-F238E27FC236}">
                <a16:creationId xmlns:a16="http://schemas.microsoft.com/office/drawing/2014/main" id="{D7BCCABD-0659-5DB1-D2DB-5B49E77B7183}"/>
              </a:ext>
            </a:extLst>
          </p:cNvPr>
          <p:cNvSpPr>
            <a:spLocks noChangeArrowheads="1"/>
          </p:cNvSpPr>
          <p:nvPr/>
        </p:nvSpPr>
        <p:spPr bwMode="auto">
          <a:xfrm>
            <a:off x="373017" y="1492461"/>
            <a:ext cx="1107875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Linear Block Code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 a type of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block code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which every valid codeword is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linear combination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 the message bits.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maps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 information bits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into an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n-bit codeword</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adding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(n−k) parity bits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modulo-2 sum (XOR) of any two valid codewords is also a valid codeword. </a:t>
            </a:r>
          </a:p>
        </p:txBody>
      </p:sp>
      <p:sp>
        <p:nvSpPr>
          <p:cNvPr id="4" name="Rectangle 2">
            <a:extLst>
              <a:ext uri="{FF2B5EF4-FFF2-40B4-BE49-F238E27FC236}">
                <a16:creationId xmlns:a16="http://schemas.microsoft.com/office/drawing/2014/main" id="{C24377EC-6231-51C5-3295-12ED01C4F428}"/>
              </a:ext>
            </a:extLst>
          </p:cNvPr>
          <p:cNvSpPr>
            <a:spLocks noChangeArrowheads="1"/>
          </p:cNvSpPr>
          <p:nvPr/>
        </p:nvSpPr>
        <p:spPr bwMode="auto">
          <a:xfrm>
            <a:off x="373017" y="3267039"/>
            <a:ext cx="4265911"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sz="2400" dirty="0">
                <a:solidFill>
                  <a:srgbClr val="FF0000"/>
                </a:solidFill>
                <a:latin typeface="Times New Roman" panose="02020603050405020304" pitchFamily="18" charset="0"/>
                <a:cs typeface="Times New Roman" panose="02020603050405020304" pitchFamily="18" charset="0"/>
              </a:rPr>
              <a:t>Examples of Linear Block Codes</a:t>
            </a:r>
            <a:endParaRPr kumimoji="0" lang="en-US" altLang="en-US" sz="24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Single Parity Check Code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Hamming Code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Cyclic Code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Reed–Solomon Code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dirty="0">
                <a:latin typeface="Times New Roman" panose="02020603050405020304" pitchFamily="18" charset="0"/>
                <a:cs typeface="Times New Roman" panose="02020603050405020304" pitchFamily="18" charset="0"/>
              </a:rPr>
              <a:t>BCH Code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Golay Code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A0410-1615-76B0-07D8-5911CC4A327F}"/>
              </a:ext>
            </a:extLst>
          </p:cNvPr>
          <p:cNvSpPr>
            <a:spLocks noGrp="1"/>
          </p:cNvSpPr>
          <p:nvPr>
            <p:ph type="title"/>
          </p:nvPr>
        </p:nvSpPr>
        <p:spPr>
          <a:xfrm>
            <a:off x="2328333" y="0"/>
            <a:ext cx="6400800" cy="935355"/>
          </a:xfrm>
        </p:spPr>
        <p:txBody>
          <a:bodyPr/>
          <a:lstStyle/>
          <a:p>
            <a:r>
              <a:rPr lang="en-IN" b="1" dirty="0">
                <a:solidFill>
                  <a:schemeClr val="accent1"/>
                </a:solidFill>
                <a:latin typeface="Accord SF" panose="020BE200000000000000" pitchFamily="34" charset="0"/>
              </a:rPr>
              <a:t>Single Parity Check Code</a:t>
            </a:r>
          </a:p>
        </p:txBody>
      </p:sp>
      <p:sp>
        <p:nvSpPr>
          <p:cNvPr id="3" name="Content Placeholder 2">
            <a:extLst>
              <a:ext uri="{FF2B5EF4-FFF2-40B4-BE49-F238E27FC236}">
                <a16:creationId xmlns:a16="http://schemas.microsoft.com/office/drawing/2014/main" id="{942D886F-43C9-B89B-5C38-E81DCF1036BA}"/>
              </a:ext>
            </a:extLst>
          </p:cNvPr>
          <p:cNvSpPr>
            <a:spLocks noGrp="1"/>
          </p:cNvSpPr>
          <p:nvPr>
            <p:ph idx="1"/>
          </p:nvPr>
        </p:nvSpPr>
        <p:spPr>
          <a:xfrm>
            <a:off x="289560" y="1002892"/>
            <a:ext cx="11902440" cy="1447800"/>
          </a:xfrm>
        </p:spPr>
        <p:txBody>
          <a:bodyPr>
            <a:normAutofit lnSpcReduction="10000"/>
          </a:bodyPr>
          <a:lstStyle/>
          <a:p>
            <a:pPr>
              <a:lnSpc>
                <a:spcPct val="100000"/>
              </a:lnSpc>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In this code, a </a:t>
            </a:r>
            <a:r>
              <a:rPr lang="en-IN" i="1" dirty="0">
                <a:solidFill>
                  <a:schemeClr val="accent1"/>
                </a:solidFill>
                <a:latin typeface="Times New Roman" panose="02020603050405020304" pitchFamily="18" charset="0"/>
                <a:cs typeface="Times New Roman" panose="02020603050405020304" pitchFamily="18" charset="0"/>
              </a:rPr>
              <a:t>r</a:t>
            </a:r>
            <a:r>
              <a:rPr lang="en-IN" dirty="0">
                <a:latin typeface="Times New Roman" panose="02020603050405020304" pitchFamily="18" charset="0"/>
                <a:cs typeface="Times New Roman" panose="02020603050405020304" pitchFamily="18" charset="0"/>
              </a:rPr>
              <a:t>-bit </a:t>
            </a:r>
            <a:r>
              <a:rPr lang="en-IN" dirty="0" err="1">
                <a:latin typeface="Times New Roman" panose="02020603050405020304" pitchFamily="18" charset="0"/>
                <a:cs typeface="Times New Roman" panose="02020603050405020304" pitchFamily="18" charset="0"/>
              </a:rPr>
              <a:t>dataword</a:t>
            </a:r>
            <a:r>
              <a:rPr lang="en-IN" dirty="0">
                <a:latin typeface="Times New Roman" panose="02020603050405020304" pitchFamily="18" charset="0"/>
                <a:cs typeface="Times New Roman" panose="02020603050405020304" pitchFamily="18" charset="0"/>
              </a:rPr>
              <a:t> is changed to an n-bit codeword where </a:t>
            </a:r>
            <a:r>
              <a:rPr lang="en-IN" i="1" dirty="0">
                <a:solidFill>
                  <a:schemeClr val="accent1"/>
                </a:solidFill>
                <a:latin typeface="Times New Roman" panose="02020603050405020304" pitchFamily="18" charset="0"/>
                <a:cs typeface="Times New Roman" panose="02020603050405020304" pitchFamily="18" charset="0"/>
              </a:rPr>
              <a:t>n = k + 1</a:t>
            </a:r>
            <a:r>
              <a:rPr lang="en-IN" dirty="0">
                <a:latin typeface="Times New Roman" panose="02020603050405020304" pitchFamily="18" charset="0"/>
                <a:cs typeface="Times New Roman" panose="02020603050405020304" pitchFamily="18" charset="0"/>
              </a:rPr>
              <a:t>. </a:t>
            </a:r>
          </a:p>
          <a:p>
            <a:pPr>
              <a:lnSpc>
                <a:spcPct val="100000"/>
              </a:lnSpc>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The extra bit is called the </a:t>
            </a:r>
            <a:r>
              <a:rPr lang="en-IN" i="1" dirty="0">
                <a:solidFill>
                  <a:schemeClr val="accent1"/>
                </a:solidFill>
                <a:latin typeface="Times New Roman" panose="02020603050405020304" pitchFamily="18" charset="0"/>
                <a:cs typeface="Times New Roman" panose="02020603050405020304" pitchFamily="18" charset="0"/>
              </a:rPr>
              <a:t>parity bit</a:t>
            </a:r>
            <a:r>
              <a:rPr lang="en-IN" dirty="0">
                <a:latin typeface="Times New Roman" panose="02020603050405020304" pitchFamily="18" charset="0"/>
                <a:cs typeface="Times New Roman" panose="02020603050405020304" pitchFamily="18" charset="0"/>
              </a:rPr>
              <a:t>, is selected to make the total number of 1’s in the codeword even (for </a:t>
            </a:r>
            <a:r>
              <a:rPr lang="en-IN" i="1" dirty="0">
                <a:solidFill>
                  <a:schemeClr val="accent1"/>
                </a:solidFill>
                <a:latin typeface="Times New Roman" panose="02020603050405020304" pitchFamily="18" charset="0"/>
                <a:cs typeface="Times New Roman" panose="02020603050405020304" pitchFamily="18" charset="0"/>
              </a:rPr>
              <a:t>even parity</a:t>
            </a:r>
            <a:r>
              <a:rPr lang="en-IN" dirty="0">
                <a:latin typeface="Times New Roman" panose="02020603050405020304" pitchFamily="18" charset="0"/>
                <a:cs typeface="Times New Roman" panose="02020603050405020304" pitchFamily="18" charset="0"/>
              </a:rPr>
              <a:t>) or odd (for </a:t>
            </a:r>
            <a:r>
              <a:rPr lang="en-IN" i="1" dirty="0">
                <a:solidFill>
                  <a:schemeClr val="accent1"/>
                </a:solidFill>
                <a:latin typeface="Times New Roman" panose="02020603050405020304" pitchFamily="18" charset="0"/>
                <a:cs typeface="Times New Roman" panose="02020603050405020304" pitchFamily="18" charset="0"/>
              </a:rPr>
              <a:t>odd parity</a:t>
            </a:r>
            <a:r>
              <a:rPr lang="en-IN" dirty="0">
                <a:latin typeface="Times New Roman" panose="02020603050405020304" pitchFamily="18" charset="0"/>
                <a:cs typeface="Times New Roman" panose="02020603050405020304" pitchFamily="18" charset="0"/>
              </a:rPr>
              <a:t>) . </a:t>
            </a:r>
          </a:p>
          <a:p>
            <a:pPr>
              <a:lnSpc>
                <a:spcPct val="150000"/>
              </a:lnSpc>
              <a:buFont typeface="Courier New" panose="02070309020205020404" pitchFamily="49" charset="0"/>
              <a:buChar char="o"/>
            </a:pPr>
            <a:endParaRPr lang="en-IN" sz="2400" dirty="0">
              <a:latin typeface="Times New Roman" panose="02020603050405020304" pitchFamily="18" charset="0"/>
              <a:cs typeface="Times New Roman" panose="02020603050405020304" pitchFamily="18" charset="0"/>
            </a:endParaRPr>
          </a:p>
        </p:txBody>
      </p:sp>
      <p:pic>
        <p:nvPicPr>
          <p:cNvPr id="5" name="Picture 6">
            <a:extLst>
              <a:ext uri="{FF2B5EF4-FFF2-40B4-BE49-F238E27FC236}">
                <a16:creationId xmlns:a16="http://schemas.microsoft.com/office/drawing/2014/main" id="{65EDF5B9-F061-9DB0-D655-A905A153D8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6869" y="2518229"/>
            <a:ext cx="7416557" cy="4004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a:extLst>
              <a:ext uri="{FF2B5EF4-FFF2-40B4-BE49-F238E27FC236}">
                <a16:creationId xmlns:a16="http://schemas.microsoft.com/office/drawing/2014/main" id="{FDFCF079-9DC6-9897-F130-2B093C99BAB3}"/>
              </a:ext>
            </a:extLst>
          </p:cNvPr>
          <p:cNvSpPr txBox="1"/>
          <p:nvPr/>
        </p:nvSpPr>
        <p:spPr>
          <a:xfrm>
            <a:off x="438574" y="3015679"/>
            <a:ext cx="3525625" cy="2677656"/>
          </a:xfrm>
          <a:prstGeom prst="rect">
            <a:avLst/>
          </a:prstGeom>
          <a:noFill/>
        </p:spPr>
        <p:txBody>
          <a:bodyPr wrap="square" rtlCol="0">
            <a:spAutoFit/>
          </a:bodyPr>
          <a:lstStyle/>
          <a:p>
            <a:pPr marL="342900" indent="-342900" algn="just">
              <a:buFont typeface="Courier New" panose="02070309020205020404" pitchFamily="49" charset="0"/>
              <a:buChar char="o"/>
            </a:pPr>
            <a:r>
              <a:rPr lang="en-IN" sz="2400" dirty="0">
                <a:solidFill>
                  <a:srgbClr val="FF0000"/>
                </a:solidFill>
                <a:latin typeface="Times New Roman" panose="02020603050405020304" pitchFamily="18" charset="0"/>
                <a:cs typeface="Times New Roman" panose="02020603050405020304" pitchFamily="18" charset="0"/>
              </a:rPr>
              <a:t>If the number of 1’s is even, the result is 0; </a:t>
            </a:r>
          </a:p>
          <a:p>
            <a:pPr marL="342900" indent="-342900" algn="just">
              <a:buFont typeface="Courier New" panose="02070309020205020404" pitchFamily="49" charset="0"/>
              <a:buChar char="o"/>
            </a:pPr>
            <a:r>
              <a:rPr lang="en-IN" sz="2400" dirty="0">
                <a:solidFill>
                  <a:srgbClr val="FF0000"/>
                </a:solidFill>
                <a:latin typeface="Times New Roman" panose="02020603050405020304" pitchFamily="18" charset="0"/>
                <a:cs typeface="Times New Roman" panose="02020603050405020304" pitchFamily="18" charset="0"/>
              </a:rPr>
              <a:t>if the number of 1s is odd, the result is 1. </a:t>
            </a:r>
          </a:p>
          <a:p>
            <a:pPr marL="342900" indent="-342900" algn="just">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In both cases, the total number of 1s in the codeword is even. </a:t>
            </a:r>
          </a:p>
        </p:txBody>
      </p:sp>
    </p:spTree>
    <p:extLst>
      <p:ext uri="{BB962C8B-B14F-4D97-AF65-F5344CB8AC3E}">
        <p14:creationId xmlns:p14="http://schemas.microsoft.com/office/powerpoint/2010/main" val="2814172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C71E27DC-57B1-34D7-3630-92F396DA55E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8925" y="4386834"/>
            <a:ext cx="5959475" cy="152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 name="Rectangle 1">
            <a:extLst>
              <a:ext uri="{FF2B5EF4-FFF2-40B4-BE49-F238E27FC236}">
                <a16:creationId xmlns:a16="http://schemas.microsoft.com/office/drawing/2014/main" id="{3B23371A-2CAD-CAD7-31C3-BBCE12D777AD}"/>
              </a:ext>
            </a:extLst>
          </p:cNvPr>
          <p:cNvSpPr>
            <a:spLocks noChangeArrowheads="1"/>
          </p:cNvSpPr>
          <p:nvPr/>
        </p:nvSpPr>
        <p:spPr bwMode="auto">
          <a:xfrm>
            <a:off x="331259" y="965826"/>
            <a:ext cx="11276541"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Hamming code</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a </a:t>
            </a: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linear block code </a:t>
            </a:r>
            <a:r>
              <a:rPr lang="en-US" altLang="en-US" sz="2200" dirty="0">
                <a:latin typeface="Times New Roman" panose="02020603050405020304" pitchFamily="18" charset="0"/>
                <a:cs typeface="Times New Roman" panose="02020603050405020304" pitchFamily="18" charset="0"/>
              </a:rPr>
              <a:t>w</a:t>
            </a: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hich  adds parity bits </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the original data bits to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 and correct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transmission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errors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Hamming code can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correct single-bit errors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 double-bit errors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an additional overall parity bit). </a:t>
            </a:r>
          </a:p>
        </p:txBody>
      </p:sp>
      <p:sp>
        <p:nvSpPr>
          <p:cNvPr id="9" name="TextBox 8">
            <a:extLst>
              <a:ext uri="{FF2B5EF4-FFF2-40B4-BE49-F238E27FC236}">
                <a16:creationId xmlns:a16="http://schemas.microsoft.com/office/drawing/2014/main" id="{FB9CC293-84E4-157B-8CDB-199993F9DF45}"/>
              </a:ext>
            </a:extLst>
          </p:cNvPr>
          <p:cNvSpPr txBox="1"/>
          <p:nvPr/>
        </p:nvSpPr>
        <p:spPr>
          <a:xfrm>
            <a:off x="331259" y="2603090"/>
            <a:ext cx="2708274" cy="369332"/>
          </a:xfrm>
          <a:prstGeom prst="rect">
            <a:avLst/>
          </a:prstGeom>
          <a:noFill/>
        </p:spPr>
        <p:txBody>
          <a:bodyPr wrap="square">
            <a:spAutoFit/>
          </a:bodyPr>
          <a:lstStyle/>
          <a:p>
            <a:r>
              <a:rPr lang="en-IN" b="1" dirty="0">
                <a:solidFill>
                  <a:schemeClr val="accent2"/>
                </a:solidFill>
              </a:rPr>
              <a:t>Number of Parity Bits</a:t>
            </a:r>
          </a:p>
        </p:txBody>
      </p:sp>
      <p:sp>
        <p:nvSpPr>
          <p:cNvPr id="12" name="Title 1">
            <a:extLst>
              <a:ext uri="{FF2B5EF4-FFF2-40B4-BE49-F238E27FC236}">
                <a16:creationId xmlns:a16="http://schemas.microsoft.com/office/drawing/2014/main" id="{300E2CA3-37E5-055E-DD9A-5C977E665744}"/>
              </a:ext>
            </a:extLst>
          </p:cNvPr>
          <p:cNvSpPr txBox="1">
            <a:spLocks/>
          </p:cNvSpPr>
          <p:nvPr/>
        </p:nvSpPr>
        <p:spPr>
          <a:xfrm>
            <a:off x="3981995" y="259173"/>
            <a:ext cx="4534989" cy="93535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dirty="0">
                <a:solidFill>
                  <a:schemeClr val="accent1"/>
                </a:solidFill>
                <a:latin typeface="Accord SF" panose="020BE200000000000000" pitchFamily="34" charset="0"/>
              </a:rPr>
              <a:t>Hamming Code</a:t>
            </a:r>
          </a:p>
        </p:txBody>
      </p:sp>
      <p:sp>
        <p:nvSpPr>
          <p:cNvPr id="13" name="Rectangle 2">
            <a:extLst>
              <a:ext uri="{FF2B5EF4-FFF2-40B4-BE49-F238E27FC236}">
                <a16:creationId xmlns:a16="http://schemas.microsoft.com/office/drawing/2014/main" id="{B2B3B7AC-9291-01C5-C19C-570216B23E64}"/>
              </a:ext>
            </a:extLst>
          </p:cNvPr>
          <p:cNvSpPr>
            <a:spLocks noChangeArrowheads="1"/>
          </p:cNvSpPr>
          <p:nvPr/>
        </p:nvSpPr>
        <p:spPr bwMode="auto">
          <a:xfrm>
            <a:off x="5107577" y="3106439"/>
            <a:ext cx="7271542"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Place parity bits at positions: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1, 2, 4, 8, ...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(powers of 2)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Insert data bits in the remaining positions. </a:t>
            </a:r>
          </a:p>
        </p:txBody>
      </p:sp>
      <p:sp>
        <p:nvSpPr>
          <p:cNvPr id="14" name="TextBox 13">
            <a:extLst>
              <a:ext uri="{FF2B5EF4-FFF2-40B4-BE49-F238E27FC236}">
                <a16:creationId xmlns:a16="http://schemas.microsoft.com/office/drawing/2014/main" id="{B47D18CE-1C30-A90E-4F59-9CA6A666DF6A}"/>
              </a:ext>
            </a:extLst>
          </p:cNvPr>
          <p:cNvSpPr txBox="1"/>
          <p:nvPr/>
        </p:nvSpPr>
        <p:spPr>
          <a:xfrm>
            <a:off x="5107577" y="2733985"/>
            <a:ext cx="4534989" cy="400110"/>
          </a:xfrm>
          <a:prstGeom prst="rect">
            <a:avLst/>
          </a:prstGeom>
          <a:noFill/>
        </p:spPr>
        <p:txBody>
          <a:bodyPr wrap="square">
            <a:spAutoFit/>
          </a:bodyPr>
          <a:lstStyle/>
          <a:p>
            <a:r>
              <a:rPr lang="en-IN" sz="2000" b="1" dirty="0">
                <a:solidFill>
                  <a:srgbClr val="FF0000"/>
                </a:solidFill>
                <a:latin typeface="Times New Roman" panose="02020603050405020304" pitchFamily="18" charset="0"/>
                <a:cs typeface="Times New Roman" panose="02020603050405020304" pitchFamily="18" charset="0"/>
              </a:rPr>
              <a:t>Placement of Data  &amp; Parity Bits</a:t>
            </a:r>
          </a:p>
        </p:txBody>
      </p:sp>
      <p:cxnSp>
        <p:nvCxnSpPr>
          <p:cNvPr id="16" name="Straight Connector 15">
            <a:extLst>
              <a:ext uri="{FF2B5EF4-FFF2-40B4-BE49-F238E27FC236}">
                <a16:creationId xmlns:a16="http://schemas.microsoft.com/office/drawing/2014/main" id="{DB40D4D8-CEF8-AAFF-6141-FB36511AA74B}"/>
              </a:ext>
            </a:extLst>
          </p:cNvPr>
          <p:cNvCxnSpPr/>
          <p:nvPr/>
        </p:nvCxnSpPr>
        <p:spPr>
          <a:xfrm>
            <a:off x="5029201" y="2972422"/>
            <a:ext cx="0" cy="3546911"/>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F288E165-7FBA-5481-A6E8-0CBEDAD95AE0}"/>
              </a:ext>
            </a:extLst>
          </p:cNvPr>
          <p:cNvPicPr>
            <a:picLocks noChangeAspect="1"/>
          </p:cNvPicPr>
          <p:nvPr/>
        </p:nvPicPr>
        <p:blipFill>
          <a:blip r:embed="rId3"/>
          <a:stretch>
            <a:fillRect/>
          </a:stretch>
        </p:blipFill>
        <p:spPr>
          <a:xfrm>
            <a:off x="1029758" y="2972422"/>
            <a:ext cx="2009775" cy="542925"/>
          </a:xfrm>
          <a:prstGeom prst="rect">
            <a:avLst/>
          </a:prstGeom>
        </p:spPr>
      </p:pic>
      <p:graphicFrame>
        <p:nvGraphicFramePr>
          <p:cNvPr id="6" name="Table 5">
            <a:extLst>
              <a:ext uri="{FF2B5EF4-FFF2-40B4-BE49-F238E27FC236}">
                <a16:creationId xmlns:a16="http://schemas.microsoft.com/office/drawing/2014/main" id="{32851609-77C6-8593-930D-A031A2B689C5}"/>
              </a:ext>
            </a:extLst>
          </p:cNvPr>
          <p:cNvGraphicFramePr>
            <a:graphicFrameLocks noGrp="1"/>
          </p:cNvGraphicFramePr>
          <p:nvPr>
            <p:extLst>
              <p:ext uri="{D42A27DB-BD31-4B8C-83A1-F6EECF244321}">
                <p14:modId xmlns:p14="http://schemas.microsoft.com/office/powerpoint/2010/main" val="2280125627"/>
              </p:ext>
            </p:extLst>
          </p:nvPr>
        </p:nvGraphicFramePr>
        <p:xfrm>
          <a:off x="118005" y="3660437"/>
          <a:ext cx="4818062" cy="2651760"/>
        </p:xfrm>
        <a:graphic>
          <a:graphicData uri="http://schemas.openxmlformats.org/drawingml/2006/table">
            <a:tbl>
              <a:tblPr/>
              <a:tblGrid>
                <a:gridCol w="1244600">
                  <a:extLst>
                    <a:ext uri="{9D8B030D-6E8A-4147-A177-3AD203B41FA5}">
                      <a16:colId xmlns:a16="http://schemas.microsoft.com/office/drawing/2014/main" val="2257227916"/>
                    </a:ext>
                  </a:extLst>
                </a:gridCol>
                <a:gridCol w="1981729">
                  <a:extLst>
                    <a:ext uri="{9D8B030D-6E8A-4147-A177-3AD203B41FA5}">
                      <a16:colId xmlns:a16="http://schemas.microsoft.com/office/drawing/2014/main" val="111784021"/>
                    </a:ext>
                  </a:extLst>
                </a:gridCol>
                <a:gridCol w="1591733">
                  <a:extLst>
                    <a:ext uri="{9D8B030D-6E8A-4147-A177-3AD203B41FA5}">
                      <a16:colId xmlns:a16="http://schemas.microsoft.com/office/drawing/2014/main" val="766719041"/>
                    </a:ext>
                  </a:extLst>
                </a:gridCol>
              </a:tblGrid>
              <a:tr h="0">
                <a:tc>
                  <a:txBody>
                    <a:bodyPr/>
                    <a:lstStyle/>
                    <a:p>
                      <a:pPr algn="ctr">
                        <a:buNone/>
                      </a:pPr>
                      <a:r>
                        <a:rPr lang="en-IN" dirty="0"/>
                        <a:t>Parameter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buNone/>
                      </a:pPr>
                      <a:r>
                        <a:rPr lang="en-IN" dirty="0"/>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buNone/>
                      </a:pPr>
                      <a:r>
                        <a:rPr lang="en-IN" dirty="0"/>
                        <a:t>Example: Hamming (7,4)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508563961"/>
                  </a:ext>
                </a:extLst>
              </a:tr>
              <a:tr h="0">
                <a:tc>
                  <a:txBody>
                    <a:bodyPr/>
                    <a:lstStyle/>
                    <a:p>
                      <a:pPr algn="ctr">
                        <a:buNone/>
                      </a:pPr>
                      <a:r>
                        <a:rPr lang="en-IN" dirty="0"/>
                        <a:t>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buNone/>
                      </a:pPr>
                      <a:r>
                        <a:rPr lang="en-IN" dirty="0"/>
                        <a:t>Data bits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buNone/>
                      </a:pPr>
                      <a:r>
                        <a:rPr lang="en-IN"/>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37520653"/>
                  </a:ext>
                </a:extLst>
              </a:tr>
              <a:tr h="0">
                <a:tc>
                  <a:txBody>
                    <a:bodyPr/>
                    <a:lstStyle/>
                    <a:p>
                      <a:pPr algn="ctr">
                        <a:buNone/>
                      </a:pPr>
                      <a:r>
                        <a:rPr lang="en-IN" dirty="0"/>
                        <a:t>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buNone/>
                      </a:pPr>
                      <a:r>
                        <a:rPr lang="en-IN" dirty="0"/>
                        <a:t>Parity/redundant bits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buNone/>
                      </a:pPr>
                      <a:r>
                        <a:rPr lang="en-IN"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712314278"/>
                  </a:ext>
                </a:extLst>
              </a:tr>
              <a:tr h="0">
                <a:tc>
                  <a:txBody>
                    <a:bodyPr/>
                    <a:lstStyle/>
                    <a:p>
                      <a:pPr algn="ctr">
                        <a:buNone/>
                      </a:pPr>
                      <a:r>
                        <a:rPr lang="en-IN" dirty="0"/>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buNone/>
                      </a:pPr>
                      <a:r>
                        <a:rPr lang="en-IN" dirty="0"/>
                        <a:t>Total codeword bits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buNone/>
                      </a:pPr>
                      <a:r>
                        <a:rPr lang="en-IN" dirty="0"/>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114595960"/>
                  </a:ext>
                </a:extLst>
              </a:tr>
              <a:tr h="0">
                <a:tc>
                  <a:txBody>
                    <a:bodyPr/>
                    <a:lstStyle/>
                    <a:p>
                      <a:pPr algn="ctr">
                        <a:buNone/>
                      </a:pPr>
                      <a:r>
                        <a:rPr lang="en-IN" dirty="0"/>
                        <a:t>(</a:t>
                      </a:r>
                      <a:r>
                        <a:rPr lang="en-IN" dirty="0" err="1"/>
                        <a:t>n,k</a:t>
                      </a: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buNone/>
                      </a:pPr>
                      <a:r>
                        <a:rPr lang="en-IN"/>
                        <a:t>Code notation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buNone/>
                      </a:pPr>
                      <a:r>
                        <a:rPr lang="en-IN" b="1" dirty="0"/>
                        <a:t>(7,4)</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304442245"/>
                  </a:ext>
                </a:extLst>
              </a:tr>
            </a:tbl>
          </a:graphicData>
        </a:graphic>
      </p:graphicFrame>
    </p:spTree>
    <p:extLst>
      <p:ext uri="{BB962C8B-B14F-4D97-AF65-F5344CB8AC3E}">
        <p14:creationId xmlns:p14="http://schemas.microsoft.com/office/powerpoint/2010/main" val="10021902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E15B5B-D2DC-6FCF-FE64-0DE411F8A2C2}"/>
              </a:ext>
            </a:extLst>
          </p:cNvPr>
          <p:cNvPicPr>
            <a:picLocks noChangeAspect="1"/>
          </p:cNvPicPr>
          <p:nvPr/>
        </p:nvPicPr>
        <p:blipFill>
          <a:blip r:embed="rId2"/>
          <a:stretch>
            <a:fillRect/>
          </a:stretch>
        </p:blipFill>
        <p:spPr>
          <a:xfrm>
            <a:off x="6443135" y="1193298"/>
            <a:ext cx="5009716" cy="3715280"/>
          </a:xfrm>
          <a:prstGeom prst="rect">
            <a:avLst/>
          </a:prstGeom>
        </p:spPr>
      </p:pic>
      <p:pic>
        <p:nvPicPr>
          <p:cNvPr id="4" name="Picture 3">
            <a:extLst>
              <a:ext uri="{FF2B5EF4-FFF2-40B4-BE49-F238E27FC236}">
                <a16:creationId xmlns:a16="http://schemas.microsoft.com/office/drawing/2014/main" id="{EB448CCE-54E0-37B6-2292-22890FB7E309}"/>
              </a:ext>
            </a:extLst>
          </p:cNvPr>
          <p:cNvPicPr>
            <a:picLocks noChangeAspect="1"/>
          </p:cNvPicPr>
          <p:nvPr/>
        </p:nvPicPr>
        <p:blipFill>
          <a:blip r:embed="rId3"/>
          <a:stretch>
            <a:fillRect/>
          </a:stretch>
        </p:blipFill>
        <p:spPr>
          <a:xfrm>
            <a:off x="221096" y="1127653"/>
            <a:ext cx="5527771" cy="3780925"/>
          </a:xfrm>
          <a:prstGeom prst="rect">
            <a:avLst/>
          </a:prstGeom>
        </p:spPr>
      </p:pic>
      <p:sp>
        <p:nvSpPr>
          <p:cNvPr id="10" name="TextBox 9">
            <a:extLst>
              <a:ext uri="{FF2B5EF4-FFF2-40B4-BE49-F238E27FC236}">
                <a16:creationId xmlns:a16="http://schemas.microsoft.com/office/drawing/2014/main" id="{BCF24CAE-CEAF-2F57-9435-55F6BB992E7D}"/>
              </a:ext>
            </a:extLst>
          </p:cNvPr>
          <p:cNvSpPr txBox="1"/>
          <p:nvPr/>
        </p:nvSpPr>
        <p:spPr>
          <a:xfrm>
            <a:off x="482600" y="5338241"/>
            <a:ext cx="11226800" cy="1323439"/>
          </a:xfrm>
          <a:prstGeom prst="rect">
            <a:avLst/>
          </a:prstGeom>
          <a:noFill/>
        </p:spPr>
        <p:txBody>
          <a:bodyPr wrap="square">
            <a:spAutoFit/>
          </a:bodyPr>
          <a:lstStyle/>
          <a:p>
            <a:pPr>
              <a:buFont typeface="Arial" panose="020B0604020202020204" pitchFamily="34" charset="0"/>
              <a:buChar char="•"/>
            </a:pPr>
            <a:r>
              <a:rPr lang="en-US" sz="2000" b="1" dirty="0">
                <a:solidFill>
                  <a:srgbClr val="FF0000"/>
                </a:solidFill>
              </a:rPr>
              <a:t>P1:</a:t>
            </a:r>
            <a:r>
              <a:rPr lang="en-US" sz="2000" b="1" dirty="0"/>
              <a:t> </a:t>
            </a:r>
            <a:r>
              <a:rPr lang="en-US" sz="2000" dirty="0"/>
              <a:t>checks </a:t>
            </a:r>
            <a:r>
              <a:rPr lang="en-US" sz="2000" b="1" dirty="0"/>
              <a:t>1 bit</a:t>
            </a:r>
            <a:r>
              <a:rPr lang="en-US" sz="2000" dirty="0"/>
              <a:t>, then </a:t>
            </a:r>
            <a:r>
              <a:rPr lang="en-US" sz="2000" b="1" dirty="0"/>
              <a:t>skips 1 bit</a:t>
            </a:r>
            <a:r>
              <a:rPr lang="en-US" sz="2000" dirty="0"/>
              <a:t>, and repeats this pattern until the end of the codeword. </a:t>
            </a:r>
          </a:p>
          <a:p>
            <a:pPr>
              <a:buFont typeface="Arial" panose="020B0604020202020204" pitchFamily="34" charset="0"/>
              <a:buChar char="•"/>
            </a:pPr>
            <a:r>
              <a:rPr lang="en-US" sz="2000" b="1" dirty="0">
                <a:solidFill>
                  <a:srgbClr val="FF0000"/>
                </a:solidFill>
              </a:rPr>
              <a:t>P2:</a:t>
            </a:r>
            <a:r>
              <a:rPr lang="en-US" sz="2000" dirty="0">
                <a:solidFill>
                  <a:srgbClr val="FF0000"/>
                </a:solidFill>
              </a:rPr>
              <a:t> </a:t>
            </a:r>
            <a:r>
              <a:rPr lang="en-US" sz="2000" dirty="0"/>
              <a:t>checks </a:t>
            </a:r>
            <a:r>
              <a:rPr lang="en-US" sz="2000" b="1" dirty="0"/>
              <a:t>2 consecutive bits</a:t>
            </a:r>
            <a:r>
              <a:rPr lang="en-US" sz="2000" dirty="0"/>
              <a:t>, then </a:t>
            </a:r>
            <a:r>
              <a:rPr lang="en-US" sz="2000" b="1" dirty="0"/>
              <a:t>skips 2 bits</a:t>
            </a:r>
            <a:r>
              <a:rPr lang="en-US" sz="2000" dirty="0"/>
              <a:t>, and repeats this pattern throughout the codeword. </a:t>
            </a:r>
          </a:p>
          <a:p>
            <a:pPr>
              <a:buFont typeface="Arial" panose="020B0604020202020204" pitchFamily="34" charset="0"/>
              <a:buChar char="•"/>
            </a:pPr>
            <a:r>
              <a:rPr lang="en-US" sz="2000" b="1" dirty="0">
                <a:solidFill>
                  <a:srgbClr val="FF0000"/>
                </a:solidFill>
              </a:rPr>
              <a:t>P4:</a:t>
            </a:r>
            <a:r>
              <a:rPr lang="en-US" sz="2000" dirty="0">
                <a:solidFill>
                  <a:srgbClr val="FF0000"/>
                </a:solidFill>
              </a:rPr>
              <a:t> </a:t>
            </a:r>
            <a:r>
              <a:rPr lang="en-US" sz="2000" dirty="0"/>
              <a:t>checks </a:t>
            </a:r>
            <a:r>
              <a:rPr lang="en-US" sz="2000" b="1" dirty="0"/>
              <a:t>4 consecutive bits</a:t>
            </a:r>
            <a:r>
              <a:rPr lang="en-US" sz="2000" dirty="0"/>
              <a:t>, then </a:t>
            </a:r>
            <a:r>
              <a:rPr lang="en-US" sz="2000" b="1" dirty="0"/>
              <a:t>skips 4 bits</a:t>
            </a:r>
            <a:r>
              <a:rPr lang="en-US" sz="2000" dirty="0"/>
              <a:t>, and continues this alternating pattern until the last bit. </a:t>
            </a:r>
          </a:p>
          <a:p>
            <a:pPr>
              <a:buFont typeface="Arial" panose="020B0604020202020204" pitchFamily="34" charset="0"/>
              <a:buChar char="•"/>
            </a:pPr>
            <a:r>
              <a:rPr lang="en-US" sz="2000" b="1" dirty="0">
                <a:solidFill>
                  <a:srgbClr val="FF0000"/>
                </a:solidFill>
              </a:rPr>
              <a:t>P8: </a:t>
            </a:r>
            <a:r>
              <a:rPr lang="en-US" sz="2000" dirty="0"/>
              <a:t>checks </a:t>
            </a:r>
            <a:r>
              <a:rPr lang="en-US" sz="2000" b="1" dirty="0"/>
              <a:t>8 consecutive bits</a:t>
            </a:r>
            <a:r>
              <a:rPr lang="en-US" sz="2000" dirty="0"/>
              <a:t>, then </a:t>
            </a:r>
            <a:r>
              <a:rPr lang="en-US" sz="2000" b="1" dirty="0"/>
              <a:t>skips 8 bits</a:t>
            </a:r>
            <a:r>
              <a:rPr lang="en-US" sz="2000" dirty="0"/>
              <a:t>, and repeats this process across the entire codeword. </a:t>
            </a:r>
          </a:p>
        </p:txBody>
      </p:sp>
      <p:sp>
        <p:nvSpPr>
          <p:cNvPr id="2" name="Title 1">
            <a:extLst>
              <a:ext uri="{FF2B5EF4-FFF2-40B4-BE49-F238E27FC236}">
                <a16:creationId xmlns:a16="http://schemas.microsoft.com/office/drawing/2014/main" id="{67258B2C-883F-3ADA-8CC4-07F3614213B5}"/>
              </a:ext>
            </a:extLst>
          </p:cNvPr>
          <p:cNvSpPr txBox="1">
            <a:spLocks/>
          </p:cNvSpPr>
          <p:nvPr/>
        </p:nvSpPr>
        <p:spPr>
          <a:xfrm>
            <a:off x="3981995" y="259173"/>
            <a:ext cx="4534989" cy="93535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dirty="0">
                <a:solidFill>
                  <a:schemeClr val="accent1"/>
                </a:solidFill>
                <a:latin typeface="Accord SF" panose="020BE200000000000000" pitchFamily="34" charset="0"/>
              </a:rPr>
              <a:t>Hamming Code</a:t>
            </a:r>
          </a:p>
        </p:txBody>
      </p:sp>
    </p:spTree>
    <p:extLst>
      <p:ext uri="{BB962C8B-B14F-4D97-AF65-F5344CB8AC3E}">
        <p14:creationId xmlns:p14="http://schemas.microsoft.com/office/powerpoint/2010/main" val="38742655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B13DD31-3B03-17BD-695B-C74555AFFF97}"/>
              </a:ext>
            </a:extLst>
          </p:cNvPr>
          <p:cNvSpPr txBox="1"/>
          <p:nvPr/>
        </p:nvSpPr>
        <p:spPr>
          <a:xfrm>
            <a:off x="211667" y="96836"/>
            <a:ext cx="11201400" cy="2677656"/>
          </a:xfrm>
          <a:prstGeom prst="rect">
            <a:avLst/>
          </a:prstGeom>
          <a:noFill/>
        </p:spPr>
        <p:txBody>
          <a:bodyPr wrap="square">
            <a:spAutoFit/>
          </a:bodyPr>
          <a:lstStyle/>
          <a:p>
            <a:r>
              <a:rPr lang="en-US" sz="2400" b="1" dirty="0">
                <a:solidFill>
                  <a:srgbClr val="FF0000"/>
                </a:solidFill>
                <a:latin typeface="Times New Roman" panose="02020603050405020304" pitchFamily="18" charset="0"/>
                <a:cs typeface="Times New Roman" panose="02020603050405020304" pitchFamily="18" charset="0"/>
              </a:rPr>
              <a:t>A 4-bit data block D=[1 1 0 1] is to be transmitted using the Hamming (7,4) code with even parity.</a:t>
            </a:r>
            <a:endParaRPr lang="en-US" sz="2400" dirty="0">
              <a:solidFill>
                <a:srgbClr val="FF0000"/>
              </a:solidFill>
              <a:latin typeface="Times New Roman" panose="02020603050405020304" pitchFamily="18" charset="0"/>
              <a:cs typeface="Times New Roman" panose="02020603050405020304" pitchFamily="18" charset="0"/>
            </a:endParaRPr>
          </a:p>
          <a:p>
            <a:r>
              <a:rPr lang="en-US" sz="2400" b="1" dirty="0">
                <a:solidFill>
                  <a:srgbClr val="FF0000"/>
                </a:solidFill>
                <a:latin typeface="Times New Roman" panose="02020603050405020304" pitchFamily="18" charset="0"/>
                <a:cs typeface="Times New Roman" panose="02020603050405020304" pitchFamily="18" charset="0"/>
              </a:rPr>
              <a:t>(</a:t>
            </a:r>
            <a:r>
              <a:rPr lang="en-US" sz="2400" b="1" dirty="0" err="1">
                <a:solidFill>
                  <a:srgbClr val="FF0000"/>
                </a:solidFill>
                <a:latin typeface="Times New Roman" panose="02020603050405020304" pitchFamily="18" charset="0"/>
                <a:cs typeface="Times New Roman" panose="02020603050405020304" pitchFamily="18" charset="0"/>
              </a:rPr>
              <a:t>i</a:t>
            </a:r>
            <a:r>
              <a:rPr lang="en-US" sz="2400" b="1" dirty="0">
                <a:solidFill>
                  <a:srgbClr val="FF0000"/>
                </a:solidFill>
                <a:latin typeface="Times New Roman" panose="02020603050405020304" pitchFamily="18" charset="0"/>
                <a:cs typeface="Times New Roman" panose="02020603050405020304" pitchFamily="18" charset="0"/>
              </a:rPr>
              <a:t>)</a:t>
            </a:r>
            <a:r>
              <a:rPr lang="en-US" sz="2400" dirty="0">
                <a:solidFill>
                  <a:srgbClr val="FF0000"/>
                </a:solidFill>
                <a:latin typeface="Times New Roman" panose="02020603050405020304" pitchFamily="18" charset="0"/>
                <a:cs typeface="Times New Roman" panose="02020603050405020304" pitchFamily="18" charset="0"/>
              </a:rPr>
              <a:t> Construct the corresponding 7-bit Hamming codeword by determining the parity bits P1​, P2​, and P4​.</a:t>
            </a:r>
          </a:p>
          <a:p>
            <a:r>
              <a:rPr lang="en-US" sz="2400" b="1" dirty="0">
                <a:solidFill>
                  <a:srgbClr val="FF0000"/>
                </a:solidFill>
                <a:latin typeface="Times New Roman" panose="02020603050405020304" pitchFamily="18" charset="0"/>
                <a:cs typeface="Times New Roman" panose="02020603050405020304" pitchFamily="18" charset="0"/>
              </a:rPr>
              <a:t>(ii)</a:t>
            </a:r>
            <a:r>
              <a:rPr lang="en-US" sz="2400" dirty="0">
                <a:solidFill>
                  <a:srgbClr val="FF0000"/>
                </a:solidFill>
                <a:latin typeface="Times New Roman" panose="02020603050405020304" pitchFamily="18" charset="0"/>
                <a:cs typeface="Times New Roman" panose="02020603050405020304" pitchFamily="18" charset="0"/>
              </a:rPr>
              <a:t> Assume that during transmission, the </a:t>
            </a:r>
            <a:r>
              <a:rPr lang="en-US" sz="2400" b="1" dirty="0">
                <a:solidFill>
                  <a:srgbClr val="FF0000"/>
                </a:solidFill>
                <a:latin typeface="Times New Roman" panose="02020603050405020304" pitchFamily="18" charset="0"/>
                <a:cs typeface="Times New Roman" panose="02020603050405020304" pitchFamily="18" charset="0"/>
              </a:rPr>
              <a:t>4th bit</a:t>
            </a:r>
            <a:r>
              <a:rPr lang="en-US" sz="2400" dirty="0">
                <a:solidFill>
                  <a:srgbClr val="FF0000"/>
                </a:solidFill>
                <a:latin typeface="Times New Roman" panose="02020603050405020304" pitchFamily="18" charset="0"/>
                <a:cs typeface="Times New Roman" panose="02020603050405020304" pitchFamily="18" charset="0"/>
              </a:rPr>
              <a:t> of the codeword is corrupted. Determine the received codeword and use </a:t>
            </a:r>
            <a:r>
              <a:rPr lang="en-US" sz="2400" b="1" dirty="0">
                <a:solidFill>
                  <a:srgbClr val="FF0000"/>
                </a:solidFill>
                <a:latin typeface="Times New Roman" panose="02020603050405020304" pitchFamily="18" charset="0"/>
                <a:cs typeface="Times New Roman" panose="02020603050405020304" pitchFamily="18" charset="0"/>
              </a:rPr>
              <a:t>syndrome decoding</a:t>
            </a:r>
            <a:r>
              <a:rPr lang="en-US" sz="2400" dirty="0">
                <a:solidFill>
                  <a:srgbClr val="FF0000"/>
                </a:solidFill>
                <a:latin typeface="Times New Roman" panose="02020603050405020304" pitchFamily="18" charset="0"/>
                <a:cs typeface="Times New Roman" panose="02020603050405020304" pitchFamily="18" charset="0"/>
              </a:rPr>
              <a:t> to detect and locate the error. </a:t>
            </a:r>
          </a:p>
          <a:p>
            <a:r>
              <a:rPr lang="en-US" sz="2400" b="1" dirty="0">
                <a:solidFill>
                  <a:srgbClr val="FF0000"/>
                </a:solidFill>
                <a:latin typeface="Times New Roman" panose="02020603050405020304" pitchFamily="18" charset="0"/>
                <a:cs typeface="Times New Roman" panose="02020603050405020304" pitchFamily="18" charset="0"/>
              </a:rPr>
              <a:t>(iii)</a:t>
            </a:r>
            <a:r>
              <a:rPr lang="en-US" sz="2400" dirty="0">
                <a:solidFill>
                  <a:srgbClr val="FF0000"/>
                </a:solidFill>
                <a:latin typeface="Times New Roman" panose="02020603050405020304" pitchFamily="18" charset="0"/>
                <a:cs typeface="Times New Roman" panose="02020603050405020304" pitchFamily="18" charset="0"/>
              </a:rPr>
              <a:t> Correct the erroneous bit and recover the original 4-bit data block.</a:t>
            </a:r>
          </a:p>
        </p:txBody>
      </p:sp>
      <p:sp>
        <p:nvSpPr>
          <p:cNvPr id="8" name="TextBox 7">
            <a:extLst>
              <a:ext uri="{FF2B5EF4-FFF2-40B4-BE49-F238E27FC236}">
                <a16:creationId xmlns:a16="http://schemas.microsoft.com/office/drawing/2014/main" id="{F93ED6E2-F3F4-1B32-DD2C-C3C8FED1A579}"/>
              </a:ext>
            </a:extLst>
          </p:cNvPr>
          <p:cNvSpPr txBox="1"/>
          <p:nvPr/>
        </p:nvSpPr>
        <p:spPr>
          <a:xfrm>
            <a:off x="211667" y="2844224"/>
            <a:ext cx="11683999" cy="400110"/>
          </a:xfrm>
          <a:prstGeom prst="rect">
            <a:avLst/>
          </a:prstGeom>
          <a:noFill/>
        </p:spPr>
        <p:txBody>
          <a:bodyPr wrap="square">
            <a:spAutoFit/>
          </a:bodyPr>
          <a:lstStyle/>
          <a:p>
            <a:r>
              <a:rPr lang="en-US" sz="1800" b="1" dirty="0">
                <a:solidFill>
                  <a:schemeClr val="accent6"/>
                </a:solidFill>
                <a:latin typeface="Times New Roman" panose="02020603050405020304" pitchFamily="18" charset="0"/>
                <a:cs typeface="Times New Roman" panose="02020603050405020304" pitchFamily="18" charset="0"/>
              </a:rPr>
              <a:t>(</a:t>
            </a:r>
            <a:r>
              <a:rPr lang="en-US" sz="2000" b="1" dirty="0" err="1">
                <a:solidFill>
                  <a:schemeClr val="accent6"/>
                </a:solidFill>
                <a:latin typeface="Times New Roman" panose="02020603050405020304" pitchFamily="18" charset="0"/>
                <a:cs typeface="Times New Roman" panose="02020603050405020304" pitchFamily="18" charset="0"/>
              </a:rPr>
              <a:t>i</a:t>
            </a:r>
            <a:r>
              <a:rPr lang="en-US" sz="2000" b="1" dirty="0">
                <a:solidFill>
                  <a:schemeClr val="accent6"/>
                </a:solidFill>
                <a:latin typeface="Times New Roman" panose="02020603050405020304" pitchFamily="18" charset="0"/>
                <a:cs typeface="Times New Roman" panose="02020603050405020304" pitchFamily="18" charset="0"/>
              </a:rPr>
              <a:t>) Construct the corresponding 7-bit Hamming codeword by determining the parity bits P1​, P2​, and P4</a:t>
            </a:r>
            <a:endParaRPr lang="en-IN" b="1" dirty="0">
              <a:solidFill>
                <a:schemeClr val="accent6"/>
              </a:solidFill>
            </a:endParaRPr>
          </a:p>
        </p:txBody>
      </p:sp>
      <p:graphicFrame>
        <p:nvGraphicFramePr>
          <p:cNvPr id="2" name="Table 1">
            <a:extLst>
              <a:ext uri="{FF2B5EF4-FFF2-40B4-BE49-F238E27FC236}">
                <a16:creationId xmlns:a16="http://schemas.microsoft.com/office/drawing/2014/main" id="{B16010FD-DAD1-1178-9066-29B987DAA415}"/>
              </a:ext>
            </a:extLst>
          </p:cNvPr>
          <p:cNvGraphicFramePr>
            <a:graphicFrameLocks noGrp="1"/>
          </p:cNvGraphicFramePr>
          <p:nvPr>
            <p:extLst>
              <p:ext uri="{D42A27DB-BD31-4B8C-83A1-F6EECF244321}">
                <p14:modId xmlns:p14="http://schemas.microsoft.com/office/powerpoint/2010/main" val="3001938981"/>
              </p:ext>
            </p:extLst>
          </p:nvPr>
        </p:nvGraphicFramePr>
        <p:xfrm>
          <a:off x="211667" y="3520534"/>
          <a:ext cx="7662333" cy="2834640"/>
        </p:xfrm>
        <a:graphic>
          <a:graphicData uri="http://schemas.openxmlformats.org/drawingml/2006/table">
            <a:tbl>
              <a:tblPr/>
              <a:tblGrid>
                <a:gridCol w="1998134">
                  <a:extLst>
                    <a:ext uri="{9D8B030D-6E8A-4147-A177-3AD203B41FA5}">
                      <a16:colId xmlns:a16="http://schemas.microsoft.com/office/drawing/2014/main" val="2917746081"/>
                    </a:ext>
                  </a:extLst>
                </a:gridCol>
                <a:gridCol w="872067">
                  <a:extLst>
                    <a:ext uri="{9D8B030D-6E8A-4147-A177-3AD203B41FA5}">
                      <a16:colId xmlns:a16="http://schemas.microsoft.com/office/drawing/2014/main" val="2832100430"/>
                    </a:ext>
                  </a:extLst>
                </a:gridCol>
                <a:gridCol w="1073149">
                  <a:extLst>
                    <a:ext uri="{9D8B030D-6E8A-4147-A177-3AD203B41FA5}">
                      <a16:colId xmlns:a16="http://schemas.microsoft.com/office/drawing/2014/main" val="1587890452"/>
                    </a:ext>
                  </a:extLst>
                </a:gridCol>
                <a:gridCol w="797983">
                  <a:extLst>
                    <a:ext uri="{9D8B030D-6E8A-4147-A177-3AD203B41FA5}">
                      <a16:colId xmlns:a16="http://schemas.microsoft.com/office/drawing/2014/main" val="3671738534"/>
                    </a:ext>
                  </a:extLst>
                </a:gridCol>
                <a:gridCol w="618067">
                  <a:extLst>
                    <a:ext uri="{9D8B030D-6E8A-4147-A177-3AD203B41FA5}">
                      <a16:colId xmlns:a16="http://schemas.microsoft.com/office/drawing/2014/main" val="1820258236"/>
                    </a:ext>
                  </a:extLst>
                </a:gridCol>
                <a:gridCol w="778933">
                  <a:extLst>
                    <a:ext uri="{9D8B030D-6E8A-4147-A177-3AD203B41FA5}">
                      <a16:colId xmlns:a16="http://schemas.microsoft.com/office/drawing/2014/main" val="2687606556"/>
                    </a:ext>
                  </a:extLst>
                </a:gridCol>
                <a:gridCol w="685800">
                  <a:extLst>
                    <a:ext uri="{9D8B030D-6E8A-4147-A177-3AD203B41FA5}">
                      <a16:colId xmlns:a16="http://schemas.microsoft.com/office/drawing/2014/main" val="50861206"/>
                    </a:ext>
                  </a:extLst>
                </a:gridCol>
                <a:gridCol w="838200">
                  <a:extLst>
                    <a:ext uri="{9D8B030D-6E8A-4147-A177-3AD203B41FA5}">
                      <a16:colId xmlns:a16="http://schemas.microsoft.com/office/drawing/2014/main" val="905291599"/>
                    </a:ext>
                  </a:extLst>
                </a:gridCol>
              </a:tblGrid>
              <a:tr h="0">
                <a:tc>
                  <a:txBody>
                    <a:bodyPr/>
                    <a:lstStyle/>
                    <a:p>
                      <a:pPr algn="l">
                        <a:buNone/>
                      </a:pPr>
                      <a:r>
                        <a:rPr lang="en-IN" b="1" dirty="0"/>
                        <a:t>Bit Position</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buNone/>
                      </a:pPr>
                      <a:r>
                        <a:rPr lang="en-IN" b="1"/>
                        <a:t>7</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buNone/>
                      </a:pPr>
                      <a:r>
                        <a:rPr lang="en-IN" b="1"/>
                        <a:t>6</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buNone/>
                      </a:pPr>
                      <a:r>
                        <a:rPr lang="en-IN" b="1"/>
                        <a:t>5</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buNone/>
                      </a:pPr>
                      <a:r>
                        <a:rPr lang="en-IN" b="1" dirty="0"/>
                        <a:t>4</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buNone/>
                      </a:pPr>
                      <a:r>
                        <a:rPr lang="en-IN" b="1"/>
                        <a:t>3</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buNone/>
                      </a:pPr>
                      <a:r>
                        <a:rPr lang="en-IN" b="1"/>
                        <a:t>2</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buNone/>
                      </a:pPr>
                      <a:r>
                        <a:rPr lang="en-IN" b="1"/>
                        <a:t>1</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802031203"/>
                  </a:ext>
                </a:extLst>
              </a:tr>
              <a:tr h="0">
                <a:tc>
                  <a:txBody>
                    <a:bodyPr/>
                    <a:lstStyle/>
                    <a:p>
                      <a:pPr algn="l">
                        <a:buNone/>
                      </a:pPr>
                      <a:r>
                        <a:rPr lang="en-IN" b="1"/>
                        <a:t>Bit Type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buNone/>
                      </a:pPr>
                      <a:r>
                        <a:rPr lang="en-IN" b="1" dirty="0"/>
                        <a:t>d₇</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buNone/>
                      </a:pPr>
                      <a:r>
                        <a:rPr lang="en-IN" b="1" dirty="0"/>
                        <a:t>d₆</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buNone/>
                      </a:pPr>
                      <a:r>
                        <a:rPr lang="en-IN" b="1"/>
                        <a:t>d₅</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buNone/>
                      </a:pPr>
                      <a:r>
                        <a:rPr lang="en-IN" b="1"/>
                        <a:t>P₄</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buNone/>
                      </a:pPr>
                      <a:r>
                        <a:rPr lang="en-IN" b="1"/>
                        <a:t>d₃</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buNone/>
                      </a:pPr>
                      <a:r>
                        <a:rPr lang="en-IN" b="1"/>
                        <a:t>P₂</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buNone/>
                      </a:pPr>
                      <a:r>
                        <a:rPr lang="en-IN" b="1"/>
                        <a:t>P₁</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753489776"/>
                  </a:ext>
                </a:extLst>
              </a:tr>
              <a:tr h="0">
                <a:tc>
                  <a:txBody>
                    <a:bodyPr/>
                    <a:lstStyle/>
                    <a:p>
                      <a:pPr algn="l">
                        <a:buNone/>
                      </a:pPr>
                      <a:r>
                        <a:rPr lang="en-IN" b="1"/>
                        <a:t>Data Word (without parity)</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buNone/>
                      </a:pPr>
                      <a:r>
                        <a:rPr lang="en-IN" b="1" dirty="0"/>
                        <a:t>1</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buNone/>
                      </a:pPr>
                      <a:r>
                        <a:rPr lang="en-IN" b="1" dirty="0"/>
                        <a:t>1</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buNone/>
                      </a:pPr>
                      <a:r>
                        <a:rPr lang="en-IN" b="1" dirty="0"/>
                        <a:t>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buNone/>
                      </a:pP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buNone/>
                      </a:pPr>
                      <a:r>
                        <a:rPr lang="en-IN" b="1" dirty="0"/>
                        <a:t>1</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buNone/>
                      </a:pP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buNone/>
                      </a:pP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851057328"/>
                  </a:ext>
                </a:extLst>
              </a:tr>
              <a:tr h="0">
                <a:tc>
                  <a:txBody>
                    <a:bodyPr/>
                    <a:lstStyle/>
                    <a:p>
                      <a:pPr algn="l">
                        <a:buNone/>
                      </a:pPr>
                      <a:r>
                        <a:rPr lang="en-IN" b="1"/>
                        <a:t>P₁ = d₃ ⊕ d₅ ⊕ d₇</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a:t>1</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a:t>0</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a:t>1</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dirty="0"/>
                        <a:t>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5728578"/>
                  </a:ext>
                </a:extLst>
              </a:tr>
              <a:tr h="0">
                <a:tc>
                  <a:txBody>
                    <a:bodyPr/>
                    <a:lstStyle/>
                    <a:p>
                      <a:pPr algn="l">
                        <a:buNone/>
                      </a:pPr>
                      <a:r>
                        <a:rPr lang="en-IN" b="1"/>
                        <a:t>P₂ = d₃ ⊕ d₆ ⊕ d₇</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a:t>1</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a:t>1</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a:t>1</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dirty="0"/>
                        <a:t>1</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250627"/>
                  </a:ext>
                </a:extLst>
              </a:tr>
              <a:tr h="0">
                <a:tc>
                  <a:txBody>
                    <a:bodyPr/>
                    <a:lstStyle/>
                    <a:p>
                      <a:pPr algn="l">
                        <a:buNone/>
                      </a:pPr>
                      <a:r>
                        <a:rPr lang="en-IN" b="1"/>
                        <a:t>P₄ = d₅ ⊕ d₆ ⊕ d₇</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a:t>1</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a:t>1</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a:t>0</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dirty="0"/>
                        <a:t>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buNone/>
                      </a:pP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5486991"/>
                  </a:ext>
                </a:extLst>
              </a:tr>
              <a:tr h="0">
                <a:tc>
                  <a:txBody>
                    <a:bodyPr/>
                    <a:lstStyle/>
                    <a:p>
                      <a:pPr algn="l">
                        <a:buNone/>
                      </a:pPr>
                      <a:r>
                        <a:rPr lang="en-IN" b="1"/>
                        <a:t>Final Codeword</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dirty="0"/>
                        <a:t>1</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dirty="0"/>
                        <a:t>1</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dirty="0"/>
                        <a:t>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dirty="0"/>
                        <a:t>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dirty="0"/>
                        <a:t>1</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dirty="0"/>
                        <a:t>1</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b="1" dirty="0"/>
                        <a:t>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2196215"/>
                  </a:ext>
                </a:extLst>
              </a:tr>
            </a:tbl>
          </a:graphicData>
        </a:graphic>
      </p:graphicFrame>
      <p:pic>
        <p:nvPicPr>
          <p:cNvPr id="7" name="Picture 6">
            <a:extLst>
              <a:ext uri="{FF2B5EF4-FFF2-40B4-BE49-F238E27FC236}">
                <a16:creationId xmlns:a16="http://schemas.microsoft.com/office/drawing/2014/main" id="{DE5697AA-30DF-D72F-F6A9-2D6432B31CF9}"/>
              </a:ext>
            </a:extLst>
          </p:cNvPr>
          <p:cNvPicPr>
            <a:picLocks noChangeAspect="1"/>
          </p:cNvPicPr>
          <p:nvPr/>
        </p:nvPicPr>
        <p:blipFill>
          <a:blip r:embed="rId2"/>
          <a:stretch>
            <a:fillRect/>
          </a:stretch>
        </p:blipFill>
        <p:spPr>
          <a:xfrm>
            <a:off x="7991475" y="3520534"/>
            <a:ext cx="4200525" cy="1143000"/>
          </a:xfrm>
          <a:prstGeom prst="rect">
            <a:avLst/>
          </a:prstGeom>
        </p:spPr>
      </p:pic>
      <p:sp>
        <p:nvSpPr>
          <p:cNvPr id="12" name="TextBox 11">
            <a:extLst>
              <a:ext uri="{FF2B5EF4-FFF2-40B4-BE49-F238E27FC236}">
                <a16:creationId xmlns:a16="http://schemas.microsoft.com/office/drawing/2014/main" id="{980EE19D-0906-1E2A-B313-2186FF06C8A8}"/>
              </a:ext>
            </a:extLst>
          </p:cNvPr>
          <p:cNvSpPr txBox="1"/>
          <p:nvPr/>
        </p:nvSpPr>
        <p:spPr>
          <a:xfrm>
            <a:off x="8297333" y="5684707"/>
            <a:ext cx="3683000" cy="461665"/>
          </a:xfrm>
          <a:prstGeom prst="rect">
            <a:avLst/>
          </a:prstGeom>
          <a:noFill/>
        </p:spPr>
        <p:txBody>
          <a:bodyPr wrap="square">
            <a:spAutoFit/>
          </a:bodyPr>
          <a:lstStyle/>
          <a:p>
            <a:pPr>
              <a:buNone/>
            </a:pPr>
            <a:r>
              <a:rPr lang="en-US" sz="2400" b="1" dirty="0">
                <a:solidFill>
                  <a:srgbClr val="00B050"/>
                </a:solidFill>
              </a:rPr>
              <a:t>Final Code Word: 1100110 </a:t>
            </a:r>
          </a:p>
        </p:txBody>
      </p:sp>
    </p:spTree>
    <p:extLst>
      <p:ext uri="{BB962C8B-B14F-4D97-AF65-F5344CB8AC3E}">
        <p14:creationId xmlns:p14="http://schemas.microsoft.com/office/powerpoint/2010/main" val="41918723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9A97B2-56F0-F0F0-33DA-C4FC5B63DF0C}"/>
              </a:ext>
            </a:extLst>
          </p:cNvPr>
          <p:cNvSpPr txBox="1"/>
          <p:nvPr/>
        </p:nvSpPr>
        <p:spPr>
          <a:xfrm>
            <a:off x="7873999" y="215460"/>
            <a:ext cx="3344334" cy="1200329"/>
          </a:xfrm>
          <a:prstGeom prst="rect">
            <a:avLst/>
          </a:prstGeom>
          <a:noFill/>
          <a:ln>
            <a:solidFill>
              <a:srgbClr val="00B0F0"/>
            </a:solidFill>
          </a:ln>
        </p:spPr>
        <p:txBody>
          <a:bodyPr wrap="square">
            <a:spAutoFit/>
          </a:bodyPr>
          <a:lstStyle/>
          <a:p>
            <a:pPr>
              <a:buNone/>
            </a:pPr>
            <a:r>
              <a:rPr lang="en-US" sz="2400" dirty="0"/>
              <a:t>Original: 110</a:t>
            </a:r>
            <a:r>
              <a:rPr lang="en-US" sz="2400" b="1" dirty="0">
                <a:solidFill>
                  <a:schemeClr val="accent2">
                    <a:lumMod val="50000"/>
                  </a:schemeClr>
                </a:solidFill>
              </a:rPr>
              <a:t>0</a:t>
            </a:r>
            <a:r>
              <a:rPr lang="en-US" sz="2400" dirty="0"/>
              <a:t>110 </a:t>
            </a:r>
          </a:p>
          <a:p>
            <a:pPr>
              <a:buNone/>
            </a:pPr>
            <a:r>
              <a:rPr lang="en-US" sz="2400" dirty="0">
                <a:solidFill>
                  <a:srgbClr val="FF0000"/>
                </a:solidFill>
              </a:rPr>
              <a:t>Bit 4 changes from </a:t>
            </a:r>
            <a:r>
              <a:rPr lang="en-US" sz="2400" b="1" dirty="0">
                <a:solidFill>
                  <a:srgbClr val="FF0000"/>
                </a:solidFill>
              </a:rPr>
              <a:t>0 → 1</a:t>
            </a:r>
            <a:endParaRPr lang="en-US" sz="2400" dirty="0">
              <a:solidFill>
                <a:srgbClr val="FF0000"/>
              </a:solidFill>
            </a:endParaRPr>
          </a:p>
          <a:p>
            <a:pPr>
              <a:buNone/>
            </a:pPr>
            <a:r>
              <a:rPr lang="en-US" sz="2400" dirty="0"/>
              <a:t>Codeword: 110</a:t>
            </a:r>
            <a:r>
              <a:rPr lang="en-US" sz="2400" b="1" dirty="0">
                <a:solidFill>
                  <a:srgbClr val="C00000"/>
                </a:solidFill>
              </a:rPr>
              <a:t>1</a:t>
            </a:r>
            <a:r>
              <a:rPr lang="en-US" sz="2400" dirty="0"/>
              <a:t>110</a:t>
            </a:r>
            <a:r>
              <a:rPr lang="en-US" dirty="0"/>
              <a:t>​</a:t>
            </a:r>
            <a:endParaRPr lang="en-IN" dirty="0"/>
          </a:p>
        </p:txBody>
      </p:sp>
      <p:graphicFrame>
        <p:nvGraphicFramePr>
          <p:cNvPr id="8" name="Table 7">
            <a:extLst>
              <a:ext uri="{FF2B5EF4-FFF2-40B4-BE49-F238E27FC236}">
                <a16:creationId xmlns:a16="http://schemas.microsoft.com/office/drawing/2014/main" id="{F84D10D1-3537-65B7-53CF-6E90BAA14195}"/>
              </a:ext>
            </a:extLst>
          </p:cNvPr>
          <p:cNvGraphicFramePr>
            <a:graphicFrameLocks noGrp="1"/>
          </p:cNvGraphicFramePr>
          <p:nvPr>
            <p:extLst>
              <p:ext uri="{D42A27DB-BD31-4B8C-83A1-F6EECF244321}">
                <p14:modId xmlns:p14="http://schemas.microsoft.com/office/powerpoint/2010/main" val="2963523773"/>
              </p:ext>
            </p:extLst>
          </p:nvPr>
        </p:nvGraphicFramePr>
        <p:xfrm>
          <a:off x="601133" y="5281140"/>
          <a:ext cx="10515600" cy="1097280"/>
        </p:xfrm>
        <a:graphic>
          <a:graphicData uri="http://schemas.openxmlformats.org/drawingml/2006/table">
            <a:tbl>
              <a:tblPr/>
              <a:tblGrid>
                <a:gridCol w="1314450">
                  <a:extLst>
                    <a:ext uri="{9D8B030D-6E8A-4147-A177-3AD203B41FA5}">
                      <a16:colId xmlns:a16="http://schemas.microsoft.com/office/drawing/2014/main" val="3918000714"/>
                    </a:ext>
                  </a:extLst>
                </a:gridCol>
                <a:gridCol w="1149350">
                  <a:extLst>
                    <a:ext uri="{9D8B030D-6E8A-4147-A177-3AD203B41FA5}">
                      <a16:colId xmlns:a16="http://schemas.microsoft.com/office/drawing/2014/main" val="265005133"/>
                    </a:ext>
                  </a:extLst>
                </a:gridCol>
                <a:gridCol w="973667">
                  <a:extLst>
                    <a:ext uri="{9D8B030D-6E8A-4147-A177-3AD203B41FA5}">
                      <a16:colId xmlns:a16="http://schemas.microsoft.com/office/drawing/2014/main" val="3847427075"/>
                    </a:ext>
                  </a:extLst>
                </a:gridCol>
                <a:gridCol w="1227667">
                  <a:extLst>
                    <a:ext uri="{9D8B030D-6E8A-4147-A177-3AD203B41FA5}">
                      <a16:colId xmlns:a16="http://schemas.microsoft.com/office/drawing/2014/main" val="4252791493"/>
                    </a:ext>
                  </a:extLst>
                </a:gridCol>
                <a:gridCol w="1286933">
                  <a:extLst>
                    <a:ext uri="{9D8B030D-6E8A-4147-A177-3AD203B41FA5}">
                      <a16:colId xmlns:a16="http://schemas.microsoft.com/office/drawing/2014/main" val="2405882953"/>
                    </a:ext>
                  </a:extLst>
                </a:gridCol>
                <a:gridCol w="1473200">
                  <a:extLst>
                    <a:ext uri="{9D8B030D-6E8A-4147-A177-3AD203B41FA5}">
                      <a16:colId xmlns:a16="http://schemas.microsoft.com/office/drawing/2014/main" val="3449707559"/>
                    </a:ext>
                  </a:extLst>
                </a:gridCol>
                <a:gridCol w="1388533">
                  <a:extLst>
                    <a:ext uri="{9D8B030D-6E8A-4147-A177-3AD203B41FA5}">
                      <a16:colId xmlns:a16="http://schemas.microsoft.com/office/drawing/2014/main" val="1261651384"/>
                    </a:ext>
                  </a:extLst>
                </a:gridCol>
                <a:gridCol w="1701800">
                  <a:extLst>
                    <a:ext uri="{9D8B030D-6E8A-4147-A177-3AD203B41FA5}">
                      <a16:colId xmlns:a16="http://schemas.microsoft.com/office/drawing/2014/main" val="3277205972"/>
                    </a:ext>
                  </a:extLst>
                </a:gridCol>
              </a:tblGrid>
              <a:tr h="0">
                <a:tc>
                  <a:txBody>
                    <a:bodyPr/>
                    <a:lstStyle/>
                    <a:p>
                      <a:pPr algn="ctr">
                        <a:buNone/>
                      </a:pPr>
                      <a:r>
                        <a:rPr lang="en-IN" dirty="0"/>
                        <a:t>Bit Position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buNone/>
                      </a:pPr>
                      <a:r>
                        <a:rPr lang="en-IN" b="1"/>
                        <a:t>7</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buNone/>
                      </a:pPr>
                      <a:r>
                        <a:rPr lang="en-IN" b="1"/>
                        <a:t>6</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buNone/>
                      </a:pPr>
                      <a:r>
                        <a:rPr lang="en-IN" b="1"/>
                        <a:t>5</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buNone/>
                      </a:pPr>
                      <a:r>
                        <a:rPr lang="en-IN" b="1"/>
                        <a:t>4</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buNone/>
                      </a:pPr>
                      <a:r>
                        <a:rPr lang="en-IN" b="1"/>
                        <a:t>3</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buNone/>
                      </a:pPr>
                      <a:r>
                        <a:rPr lang="en-IN" b="1"/>
                        <a:t>2</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buNone/>
                      </a:pPr>
                      <a:r>
                        <a:rPr lang="en-IN" b="1" dirty="0"/>
                        <a:t>1</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3765320867"/>
                  </a:ext>
                </a:extLst>
              </a:tr>
              <a:tr h="0">
                <a:tc>
                  <a:txBody>
                    <a:bodyPr/>
                    <a:lstStyle/>
                    <a:p>
                      <a:pPr algn="ctr">
                        <a:buNone/>
                      </a:pPr>
                      <a:r>
                        <a:rPr lang="en-IN"/>
                        <a:t>Received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0" dirty="0"/>
                        <a:t>0</a:t>
                      </a:r>
                      <a:endParaRPr lang="en-IN"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dirty="0"/>
                        <a:t>1</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buNone/>
                      </a:pP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dirty="0"/>
                        <a:t>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2220852"/>
                  </a:ext>
                </a:extLst>
              </a:tr>
              <a:tr h="0">
                <a:tc>
                  <a:txBody>
                    <a:bodyPr/>
                    <a:lstStyle/>
                    <a:p>
                      <a:pPr algn="ctr">
                        <a:buNone/>
                      </a:pPr>
                      <a:r>
                        <a:rPr lang="en-IN"/>
                        <a:t>Corrected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0" dirty="0"/>
                        <a:t>0</a:t>
                      </a:r>
                      <a:endParaRPr lang="en-IN"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buNone/>
                      </a:pP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dirty="0"/>
                        <a:t>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8680074"/>
                  </a:ext>
                </a:extLst>
              </a:tr>
            </a:tbl>
          </a:graphicData>
        </a:graphic>
      </p:graphicFrame>
      <p:graphicFrame>
        <p:nvGraphicFramePr>
          <p:cNvPr id="9" name="Table 8">
            <a:extLst>
              <a:ext uri="{FF2B5EF4-FFF2-40B4-BE49-F238E27FC236}">
                <a16:creationId xmlns:a16="http://schemas.microsoft.com/office/drawing/2014/main" id="{2A3DD003-3CC9-DCDA-FBEE-E565B825D7F8}"/>
              </a:ext>
            </a:extLst>
          </p:cNvPr>
          <p:cNvGraphicFramePr>
            <a:graphicFrameLocks noGrp="1"/>
          </p:cNvGraphicFramePr>
          <p:nvPr>
            <p:extLst>
              <p:ext uri="{D42A27DB-BD31-4B8C-83A1-F6EECF244321}">
                <p14:modId xmlns:p14="http://schemas.microsoft.com/office/powerpoint/2010/main" val="2934033281"/>
              </p:ext>
            </p:extLst>
          </p:nvPr>
        </p:nvGraphicFramePr>
        <p:xfrm>
          <a:off x="245534" y="1571231"/>
          <a:ext cx="10778066" cy="2528757"/>
        </p:xfrm>
        <a:graphic>
          <a:graphicData uri="http://schemas.openxmlformats.org/drawingml/2006/table">
            <a:tbl>
              <a:tblPr/>
              <a:tblGrid>
                <a:gridCol w="2101837">
                  <a:extLst>
                    <a:ext uri="{9D8B030D-6E8A-4147-A177-3AD203B41FA5}">
                      <a16:colId xmlns:a16="http://schemas.microsoft.com/office/drawing/2014/main" val="2478544630"/>
                    </a:ext>
                  </a:extLst>
                </a:gridCol>
                <a:gridCol w="861496">
                  <a:extLst>
                    <a:ext uri="{9D8B030D-6E8A-4147-A177-3AD203B41FA5}">
                      <a16:colId xmlns:a16="http://schemas.microsoft.com/office/drawing/2014/main" val="281791312"/>
                    </a:ext>
                  </a:extLst>
                </a:gridCol>
                <a:gridCol w="677333">
                  <a:extLst>
                    <a:ext uri="{9D8B030D-6E8A-4147-A177-3AD203B41FA5}">
                      <a16:colId xmlns:a16="http://schemas.microsoft.com/office/drawing/2014/main" val="1520680189"/>
                    </a:ext>
                  </a:extLst>
                </a:gridCol>
                <a:gridCol w="732367">
                  <a:extLst>
                    <a:ext uri="{9D8B030D-6E8A-4147-A177-3AD203B41FA5}">
                      <a16:colId xmlns:a16="http://schemas.microsoft.com/office/drawing/2014/main" val="370379628"/>
                    </a:ext>
                  </a:extLst>
                </a:gridCol>
                <a:gridCol w="673100">
                  <a:extLst>
                    <a:ext uri="{9D8B030D-6E8A-4147-A177-3AD203B41FA5}">
                      <a16:colId xmlns:a16="http://schemas.microsoft.com/office/drawing/2014/main" val="2527223515"/>
                    </a:ext>
                  </a:extLst>
                </a:gridCol>
                <a:gridCol w="736600">
                  <a:extLst>
                    <a:ext uri="{9D8B030D-6E8A-4147-A177-3AD203B41FA5}">
                      <a16:colId xmlns:a16="http://schemas.microsoft.com/office/drawing/2014/main" val="368541061"/>
                    </a:ext>
                  </a:extLst>
                </a:gridCol>
                <a:gridCol w="745067">
                  <a:extLst>
                    <a:ext uri="{9D8B030D-6E8A-4147-A177-3AD203B41FA5}">
                      <a16:colId xmlns:a16="http://schemas.microsoft.com/office/drawing/2014/main" val="3705008637"/>
                    </a:ext>
                  </a:extLst>
                </a:gridCol>
                <a:gridCol w="990600">
                  <a:extLst>
                    <a:ext uri="{9D8B030D-6E8A-4147-A177-3AD203B41FA5}">
                      <a16:colId xmlns:a16="http://schemas.microsoft.com/office/drawing/2014/main" val="1660870542"/>
                    </a:ext>
                  </a:extLst>
                </a:gridCol>
                <a:gridCol w="2023533">
                  <a:extLst>
                    <a:ext uri="{9D8B030D-6E8A-4147-A177-3AD203B41FA5}">
                      <a16:colId xmlns:a16="http://schemas.microsoft.com/office/drawing/2014/main" val="3694810051"/>
                    </a:ext>
                  </a:extLst>
                </a:gridCol>
                <a:gridCol w="1236133">
                  <a:extLst>
                    <a:ext uri="{9D8B030D-6E8A-4147-A177-3AD203B41FA5}">
                      <a16:colId xmlns:a16="http://schemas.microsoft.com/office/drawing/2014/main" val="3257697137"/>
                    </a:ext>
                  </a:extLst>
                </a:gridCol>
              </a:tblGrid>
              <a:tr h="549264">
                <a:tc>
                  <a:txBody>
                    <a:bodyPr/>
                    <a:lstStyle/>
                    <a:p>
                      <a:pPr>
                        <a:buNone/>
                      </a:pPr>
                      <a:r>
                        <a:rPr lang="en-IN" b="1"/>
                        <a:t>Bit Position</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7</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6</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5</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4</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3</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2</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1</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Parity Check (XOR)</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Syndrome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3567483"/>
                  </a:ext>
                </a:extLst>
              </a:tr>
              <a:tr h="322321">
                <a:tc>
                  <a:txBody>
                    <a:bodyPr/>
                    <a:lstStyle/>
                    <a:p>
                      <a:pPr>
                        <a:buNone/>
                      </a:pPr>
                      <a:r>
                        <a:rPr lang="en-IN" b="1"/>
                        <a:t>Bit Type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d₇</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d₆</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d₅</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P₄</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d₃</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P₂</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P₁</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9786514"/>
                  </a:ext>
                </a:extLst>
              </a:tr>
              <a:tr h="302120">
                <a:tc>
                  <a:txBody>
                    <a:bodyPr/>
                    <a:lstStyle/>
                    <a:p>
                      <a:pPr>
                        <a:buNone/>
                      </a:pPr>
                      <a:r>
                        <a:rPr lang="en-IN" b="1"/>
                        <a:t>Received Codeword</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1</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1</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0</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1</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1</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1</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0</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7401849"/>
                  </a:ext>
                </a:extLst>
              </a:tr>
              <a:tr h="419183">
                <a:tc>
                  <a:txBody>
                    <a:bodyPr/>
                    <a:lstStyle/>
                    <a:p>
                      <a:pPr>
                        <a:buNone/>
                      </a:pPr>
                      <a:r>
                        <a:rPr lang="en-IN" b="1"/>
                        <a:t>S₁</a:t>
                      </a:r>
                      <a:r>
                        <a:rPr lang="en-IN"/>
                        <a:t> (Checks 1,3,5,7)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b="1"/>
                        <a:t>1</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b="1"/>
                        <a:t>0</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b="1"/>
                        <a:t>1</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b="1"/>
                        <a:t>0</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a:t>0 ⊕ 1 ⊕ 0 ⊕ 1 = </a:t>
                      </a:r>
                      <a:r>
                        <a:rPr lang="en-IN" b="1"/>
                        <a:t>0</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b="1"/>
                        <a:t>S₁ = 0</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336910589"/>
                  </a:ext>
                </a:extLst>
              </a:tr>
              <a:tr h="386202">
                <a:tc>
                  <a:txBody>
                    <a:bodyPr/>
                    <a:lstStyle/>
                    <a:p>
                      <a:pPr>
                        <a:buNone/>
                      </a:pPr>
                      <a:r>
                        <a:rPr lang="en-IN" b="1"/>
                        <a:t>S₂</a:t>
                      </a:r>
                      <a:r>
                        <a:rPr lang="en-IN"/>
                        <a:t> (Checks 2,3,6,7)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IN" b="1"/>
                        <a:t>1</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IN" b="1"/>
                        <a:t>1</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IN" b="1"/>
                        <a:t>1</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IN" b="1"/>
                        <a:t>1</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IN"/>
                        <a:t>1 ⊕ 1 ⊕ 1 ⊕ 1 = </a:t>
                      </a:r>
                      <a:r>
                        <a:rPr lang="en-IN" b="1"/>
                        <a:t>0</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buNone/>
                      </a:pPr>
                      <a:r>
                        <a:rPr lang="en-IN" b="1"/>
                        <a:t>S₂ = 0</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993317545"/>
                  </a:ext>
                </a:extLst>
              </a:tr>
              <a:tr h="442588">
                <a:tc>
                  <a:txBody>
                    <a:bodyPr/>
                    <a:lstStyle/>
                    <a:p>
                      <a:pPr>
                        <a:buNone/>
                      </a:pPr>
                      <a:r>
                        <a:rPr lang="en-IN" b="1"/>
                        <a:t>S₄</a:t>
                      </a:r>
                      <a:r>
                        <a:rPr lang="en-IN"/>
                        <a:t> (Checks 4,5,6,7)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IN" b="1"/>
                        <a:t>1</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IN" b="1"/>
                        <a:t>1</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IN" b="1"/>
                        <a:t>0</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IN" b="1"/>
                        <a:t>1</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IN"/>
                        <a:t>1 ⊕ 0 ⊕ 1 ⊕ 1 = </a:t>
                      </a:r>
                      <a:r>
                        <a:rPr lang="en-IN" b="1"/>
                        <a:t>1</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IN" b="1" dirty="0"/>
                        <a:t>S₄ = 1</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462242242"/>
                  </a:ext>
                </a:extLst>
              </a:tr>
            </a:tbl>
          </a:graphicData>
        </a:graphic>
      </p:graphicFrame>
      <p:grpSp>
        <p:nvGrpSpPr>
          <p:cNvPr id="12" name="Group 11">
            <a:extLst>
              <a:ext uri="{FF2B5EF4-FFF2-40B4-BE49-F238E27FC236}">
                <a16:creationId xmlns:a16="http://schemas.microsoft.com/office/drawing/2014/main" id="{1DF3BE20-4CAF-029B-8781-D147BEFE8F3F}"/>
              </a:ext>
            </a:extLst>
          </p:cNvPr>
          <p:cNvGrpSpPr/>
          <p:nvPr/>
        </p:nvGrpSpPr>
        <p:grpSpPr>
          <a:xfrm>
            <a:off x="1800754" y="4172750"/>
            <a:ext cx="8734425" cy="447675"/>
            <a:chOff x="172508" y="4600956"/>
            <a:chExt cx="8734425" cy="447675"/>
          </a:xfrm>
        </p:grpSpPr>
        <p:sp>
          <p:nvSpPr>
            <p:cNvPr id="6" name="TextBox 5">
              <a:extLst>
                <a:ext uri="{FF2B5EF4-FFF2-40B4-BE49-F238E27FC236}">
                  <a16:creationId xmlns:a16="http://schemas.microsoft.com/office/drawing/2014/main" id="{0CFBAD54-9263-70AC-1085-B4EE06C864C6}"/>
                </a:ext>
              </a:extLst>
            </p:cNvPr>
            <p:cNvSpPr txBox="1"/>
            <p:nvPr/>
          </p:nvSpPr>
          <p:spPr>
            <a:xfrm>
              <a:off x="2810933" y="4623588"/>
              <a:ext cx="6096000" cy="400110"/>
            </a:xfrm>
            <a:prstGeom prst="rect">
              <a:avLst/>
            </a:prstGeom>
            <a:noFill/>
          </p:spPr>
          <p:txBody>
            <a:bodyPr wrap="square">
              <a:spAutoFit/>
            </a:bodyPr>
            <a:lstStyle/>
            <a:p>
              <a:pPr>
                <a:buNone/>
              </a:pPr>
              <a:r>
                <a:rPr lang="en-US" sz="2000" b="1" dirty="0">
                  <a:solidFill>
                    <a:srgbClr val="FF0000"/>
                  </a:solidFill>
                </a:rPr>
                <a:t>Hence, the error is at bit position 4</a:t>
              </a:r>
              <a:r>
                <a:rPr lang="en-US" sz="2000" dirty="0"/>
                <a:t>.</a:t>
              </a:r>
            </a:p>
          </p:txBody>
        </p:sp>
        <p:pic>
          <p:nvPicPr>
            <p:cNvPr id="11" name="Picture 10">
              <a:extLst>
                <a:ext uri="{FF2B5EF4-FFF2-40B4-BE49-F238E27FC236}">
                  <a16:creationId xmlns:a16="http://schemas.microsoft.com/office/drawing/2014/main" id="{BCFA2329-4433-7664-D65B-571F185A1C77}"/>
                </a:ext>
              </a:extLst>
            </p:cNvPr>
            <p:cNvPicPr>
              <a:picLocks noChangeAspect="1"/>
            </p:cNvPicPr>
            <p:nvPr/>
          </p:nvPicPr>
          <p:blipFill>
            <a:blip r:embed="rId2"/>
            <a:stretch>
              <a:fillRect/>
            </a:stretch>
          </p:blipFill>
          <p:spPr>
            <a:xfrm>
              <a:off x="172508" y="4600956"/>
              <a:ext cx="2638425" cy="447675"/>
            </a:xfrm>
            <a:prstGeom prst="rect">
              <a:avLst/>
            </a:prstGeom>
          </p:spPr>
        </p:pic>
      </p:grpSp>
      <p:sp>
        <p:nvSpPr>
          <p:cNvPr id="14" name="TextBox 13">
            <a:extLst>
              <a:ext uri="{FF2B5EF4-FFF2-40B4-BE49-F238E27FC236}">
                <a16:creationId xmlns:a16="http://schemas.microsoft.com/office/drawing/2014/main" id="{B23E397A-15FF-E4D8-A6A4-581FD245B931}"/>
              </a:ext>
            </a:extLst>
          </p:cNvPr>
          <p:cNvSpPr txBox="1"/>
          <p:nvPr/>
        </p:nvSpPr>
        <p:spPr>
          <a:xfrm>
            <a:off x="125412" y="252446"/>
            <a:ext cx="7205133" cy="1015663"/>
          </a:xfrm>
          <a:prstGeom prst="rect">
            <a:avLst/>
          </a:prstGeom>
          <a:noFill/>
        </p:spPr>
        <p:txBody>
          <a:bodyPr wrap="square">
            <a:spAutoFit/>
          </a:bodyPr>
          <a:lstStyle/>
          <a:p>
            <a:r>
              <a:rPr lang="en-US" sz="2000" b="1" dirty="0">
                <a:solidFill>
                  <a:schemeClr val="accent6">
                    <a:lumMod val="75000"/>
                  </a:schemeClr>
                </a:solidFill>
                <a:latin typeface="Times New Roman" panose="02020603050405020304" pitchFamily="18" charset="0"/>
                <a:cs typeface="Times New Roman" panose="02020603050405020304" pitchFamily="18" charset="0"/>
              </a:rPr>
              <a:t>(ii)</a:t>
            </a:r>
            <a:r>
              <a:rPr lang="en-US" sz="2000" dirty="0">
                <a:solidFill>
                  <a:schemeClr val="accent6">
                    <a:lumMod val="75000"/>
                  </a:schemeClr>
                </a:solidFill>
                <a:latin typeface="Times New Roman" panose="02020603050405020304" pitchFamily="18" charset="0"/>
                <a:cs typeface="Times New Roman" panose="02020603050405020304" pitchFamily="18" charset="0"/>
              </a:rPr>
              <a:t> Assume that during transmission, the </a:t>
            </a:r>
            <a:r>
              <a:rPr lang="en-US" sz="2000" b="1" dirty="0">
                <a:solidFill>
                  <a:schemeClr val="accent6">
                    <a:lumMod val="75000"/>
                  </a:schemeClr>
                </a:solidFill>
                <a:latin typeface="Times New Roman" panose="02020603050405020304" pitchFamily="18" charset="0"/>
                <a:cs typeface="Times New Roman" panose="02020603050405020304" pitchFamily="18" charset="0"/>
              </a:rPr>
              <a:t>4th bit</a:t>
            </a:r>
            <a:r>
              <a:rPr lang="en-US" sz="2000" dirty="0">
                <a:solidFill>
                  <a:schemeClr val="accent6">
                    <a:lumMod val="75000"/>
                  </a:schemeClr>
                </a:solidFill>
                <a:latin typeface="Times New Roman" panose="02020603050405020304" pitchFamily="18" charset="0"/>
                <a:cs typeface="Times New Roman" panose="02020603050405020304" pitchFamily="18" charset="0"/>
              </a:rPr>
              <a:t> of the codeword is corrupted. Determine the received codeword and use </a:t>
            </a:r>
            <a:r>
              <a:rPr lang="en-US" sz="2000" b="1" dirty="0">
                <a:solidFill>
                  <a:schemeClr val="accent6">
                    <a:lumMod val="75000"/>
                  </a:schemeClr>
                </a:solidFill>
                <a:latin typeface="Times New Roman" panose="02020603050405020304" pitchFamily="18" charset="0"/>
                <a:cs typeface="Times New Roman" panose="02020603050405020304" pitchFamily="18" charset="0"/>
              </a:rPr>
              <a:t>syndrome decoding</a:t>
            </a:r>
            <a:r>
              <a:rPr lang="en-US" sz="2000" dirty="0">
                <a:solidFill>
                  <a:schemeClr val="accent6">
                    <a:lumMod val="75000"/>
                  </a:schemeClr>
                </a:solidFill>
                <a:latin typeface="Times New Roman" panose="02020603050405020304" pitchFamily="18" charset="0"/>
                <a:cs typeface="Times New Roman" panose="02020603050405020304" pitchFamily="18" charset="0"/>
              </a:rPr>
              <a:t> to detect and locate the error. </a:t>
            </a:r>
          </a:p>
        </p:txBody>
      </p:sp>
      <p:sp>
        <p:nvSpPr>
          <p:cNvPr id="16" name="TextBox 15">
            <a:extLst>
              <a:ext uri="{FF2B5EF4-FFF2-40B4-BE49-F238E27FC236}">
                <a16:creationId xmlns:a16="http://schemas.microsoft.com/office/drawing/2014/main" id="{357B8CDD-F987-A53A-518C-39066EAFDDAD}"/>
              </a:ext>
            </a:extLst>
          </p:cNvPr>
          <p:cNvSpPr txBox="1"/>
          <p:nvPr/>
        </p:nvSpPr>
        <p:spPr>
          <a:xfrm>
            <a:off x="372533" y="4753650"/>
            <a:ext cx="7899400" cy="369332"/>
          </a:xfrm>
          <a:prstGeom prst="rect">
            <a:avLst/>
          </a:prstGeom>
          <a:noFill/>
        </p:spPr>
        <p:txBody>
          <a:bodyPr wrap="square">
            <a:spAutoFit/>
          </a:bodyPr>
          <a:lstStyle/>
          <a:p>
            <a:r>
              <a:rPr lang="en-US" sz="1800" b="1" dirty="0">
                <a:solidFill>
                  <a:schemeClr val="accent6"/>
                </a:solidFill>
                <a:latin typeface="Times New Roman" panose="02020603050405020304" pitchFamily="18" charset="0"/>
                <a:cs typeface="Times New Roman" panose="02020603050405020304" pitchFamily="18" charset="0"/>
              </a:rPr>
              <a:t>(iii) Correct the erroneous bit and recover the original 4-bit data block.</a:t>
            </a:r>
            <a:endParaRPr lang="en-IN" b="1" dirty="0">
              <a:solidFill>
                <a:schemeClr val="accent6"/>
              </a:solidFill>
            </a:endParaRPr>
          </a:p>
        </p:txBody>
      </p:sp>
    </p:spTree>
    <p:extLst>
      <p:ext uri="{BB962C8B-B14F-4D97-AF65-F5344CB8AC3E}">
        <p14:creationId xmlns:p14="http://schemas.microsoft.com/office/powerpoint/2010/main" val="8077056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180C4-2FDA-6452-B7D2-67EF8B3D8AEB}"/>
              </a:ext>
            </a:extLst>
          </p:cNvPr>
          <p:cNvSpPr>
            <a:spLocks noGrp="1"/>
          </p:cNvSpPr>
          <p:nvPr>
            <p:ph type="title"/>
          </p:nvPr>
        </p:nvSpPr>
        <p:spPr>
          <a:xfrm>
            <a:off x="3520440" y="0"/>
            <a:ext cx="3855720" cy="1325563"/>
          </a:xfrm>
        </p:spPr>
        <p:txBody>
          <a:bodyPr/>
          <a:lstStyle/>
          <a:p>
            <a:r>
              <a:rPr lang="en-IN" b="1" dirty="0">
                <a:solidFill>
                  <a:schemeClr val="accent1"/>
                </a:solidFill>
                <a:latin typeface="Accord SF" panose="020BE200000000000000" pitchFamily="34" charset="0"/>
              </a:rPr>
              <a:t>Cyclic Codes</a:t>
            </a:r>
          </a:p>
        </p:txBody>
      </p:sp>
      <p:sp>
        <p:nvSpPr>
          <p:cNvPr id="3" name="Content Placeholder 2">
            <a:extLst>
              <a:ext uri="{FF2B5EF4-FFF2-40B4-BE49-F238E27FC236}">
                <a16:creationId xmlns:a16="http://schemas.microsoft.com/office/drawing/2014/main" id="{EDD0E1F6-E6E4-E50C-8766-CA07562E9BD4}"/>
              </a:ext>
            </a:extLst>
          </p:cNvPr>
          <p:cNvSpPr>
            <a:spLocks noGrp="1"/>
          </p:cNvSpPr>
          <p:nvPr>
            <p:ph idx="1"/>
          </p:nvPr>
        </p:nvSpPr>
        <p:spPr>
          <a:xfrm>
            <a:off x="558800" y="1162368"/>
            <a:ext cx="10718800" cy="4351338"/>
          </a:xfrm>
        </p:spPr>
        <p:txBody>
          <a:bodyPr>
            <a:normAutofit/>
          </a:bodyPr>
          <a:lstStyle/>
          <a:p>
            <a:pPr marL="0" indent="0" algn="just">
              <a:lnSpc>
                <a:spcPct val="100000"/>
              </a:lnSpc>
              <a:buNone/>
            </a:pPr>
            <a:r>
              <a:rPr lang="en-IN" i="1" dirty="0">
                <a:solidFill>
                  <a:schemeClr val="accent1"/>
                </a:solidFill>
                <a:latin typeface="Times New Roman" panose="02020603050405020304" pitchFamily="18" charset="0"/>
                <a:cs typeface="Times New Roman" panose="02020603050405020304" pitchFamily="18" charset="0"/>
              </a:rPr>
              <a:t>Cyclic codes </a:t>
            </a:r>
            <a:r>
              <a:rPr lang="en-IN" dirty="0">
                <a:latin typeface="Times New Roman" panose="02020603050405020304" pitchFamily="18" charset="0"/>
                <a:cs typeface="Times New Roman" panose="02020603050405020304" pitchFamily="18" charset="0"/>
              </a:rPr>
              <a:t>are special linear block codes with one extra property. In a </a:t>
            </a:r>
            <a:r>
              <a:rPr lang="en-IN" i="1" dirty="0">
                <a:solidFill>
                  <a:schemeClr val="accent1"/>
                </a:solidFill>
                <a:latin typeface="Times New Roman" panose="02020603050405020304" pitchFamily="18" charset="0"/>
                <a:cs typeface="Times New Roman" panose="02020603050405020304" pitchFamily="18" charset="0"/>
              </a:rPr>
              <a:t>cyclic code</a:t>
            </a:r>
            <a:r>
              <a:rPr lang="en-IN" dirty="0">
                <a:latin typeface="Times New Roman" panose="02020603050405020304" pitchFamily="18" charset="0"/>
                <a:cs typeface="Times New Roman" panose="02020603050405020304" pitchFamily="18" charset="0"/>
              </a:rPr>
              <a:t>, if a codeword is cyclically shifted (rotated), the result is another codeword.  		</a:t>
            </a:r>
          </a:p>
          <a:p>
            <a:pPr marL="0" indent="0" algn="just">
              <a:lnSpc>
                <a:spcPct val="150000"/>
              </a:lnSpc>
              <a:buNone/>
            </a:pPr>
            <a:r>
              <a:rPr lang="en-IN" i="1" kern="100" baseline="-25000" dirty="0">
                <a:solidFill>
                  <a:schemeClr val="accent1"/>
                </a:solidFill>
                <a:latin typeface="Times New Roman" panose="02020603050405020304" pitchFamily="18" charset="0"/>
                <a:ea typeface="Calibri" panose="020F0502020204030204" pitchFamily="34" charset="0"/>
                <a:cs typeface="Times New Roman" panose="02020603050405020304" pitchFamily="18" charset="0"/>
              </a:rPr>
              <a:t>  </a:t>
            </a:r>
            <a:r>
              <a:rPr lang="en-IN" sz="3600" i="1" kern="100" baseline="-250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Codeword1</a:t>
            </a:r>
            <a:r>
              <a:rPr lang="en-IN" sz="3600" kern="100" baseline="-250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 1011000     </a:t>
            </a:r>
            <a:endParaRPr lang="en-IN" sz="3200" kern="100" baseline="-250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50000"/>
              </a:lnSpc>
              <a:buNone/>
            </a:pPr>
            <a:r>
              <a:rPr lang="en-IN" sz="4000" i="1" kern="100" baseline="-25000" dirty="0">
                <a:solidFill>
                  <a:schemeClr val="accent1"/>
                </a:solidFill>
                <a:latin typeface="Times New Roman" panose="02020603050405020304" pitchFamily="18" charset="0"/>
                <a:ea typeface="Calibri" panose="020F0502020204030204" pitchFamily="34" charset="0"/>
                <a:cs typeface="Times New Roman" panose="02020603050405020304" pitchFamily="18" charset="0"/>
              </a:rPr>
              <a:t>Codeword2 </a:t>
            </a:r>
            <a:r>
              <a:rPr lang="en-IN" sz="4000" kern="100" baseline="-25000" dirty="0">
                <a:latin typeface="Times New Roman" panose="02020603050405020304" pitchFamily="18" charset="0"/>
                <a:ea typeface="Calibri" panose="020F0502020204030204" pitchFamily="34" charset="0"/>
                <a:cs typeface="Times New Roman" panose="02020603050405020304" pitchFamily="18" charset="0"/>
              </a:rPr>
              <a:t>= 0110001</a:t>
            </a:r>
            <a:endParaRPr lang="en-IN" sz="4000" kern="100" baseline="-25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00000"/>
              </a:lnSpc>
              <a:buNone/>
            </a:pPr>
            <a:r>
              <a:rPr lang="en-IN" kern="100" baseline="-25000" dirty="0">
                <a:latin typeface="Times New Roman" panose="02020603050405020304" pitchFamily="18" charset="0"/>
                <a:ea typeface="Calibri" panose="020F0502020204030204" pitchFamily="34" charset="0"/>
                <a:cs typeface="Times New Roman" panose="02020603050405020304" pitchFamily="18" charset="0"/>
              </a:rPr>
              <a:t>                                                 </a:t>
            </a: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50000"/>
              </a:lnSpc>
              <a:buNone/>
            </a:pPr>
            <a:endParaRPr lang="en-IN" dirty="0">
              <a:latin typeface="Times New Roman" panose="02020603050405020304" pitchFamily="18" charset="0"/>
              <a:cs typeface="Times New Roman" panose="02020603050405020304" pitchFamily="18" charset="0"/>
            </a:endParaRPr>
          </a:p>
        </p:txBody>
      </p:sp>
      <p:pic>
        <p:nvPicPr>
          <p:cNvPr id="1026" name="Picture 2" descr="Circular Shift Left">
            <a:extLst>
              <a:ext uri="{FF2B5EF4-FFF2-40B4-BE49-F238E27FC236}">
                <a16:creationId xmlns:a16="http://schemas.microsoft.com/office/drawing/2014/main" id="{19547233-2C4F-CB91-8CC1-92AA7D1C57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1120" y="2758917"/>
            <a:ext cx="3860800" cy="308864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88B0404-B8BE-5304-7346-52971E2818FE}"/>
              </a:ext>
            </a:extLst>
          </p:cNvPr>
          <p:cNvSpPr txBox="1"/>
          <p:nvPr/>
        </p:nvSpPr>
        <p:spPr>
          <a:xfrm>
            <a:off x="558800" y="4785875"/>
            <a:ext cx="4572000" cy="1133965"/>
          </a:xfrm>
          <a:prstGeom prst="rect">
            <a:avLst/>
          </a:prstGeom>
          <a:noFill/>
        </p:spPr>
        <p:txBody>
          <a:bodyPr wrap="square">
            <a:spAutoFit/>
          </a:bodyPr>
          <a:lstStyle/>
          <a:p>
            <a:pPr marL="0" indent="0" algn="just">
              <a:lnSpc>
                <a:spcPct val="150000"/>
              </a:lnSpc>
              <a:buNone/>
            </a:pPr>
            <a:r>
              <a:rPr lang="en-IN" sz="2400" b="1" i="1" kern="1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b</a:t>
            </a:r>
            <a:r>
              <a:rPr lang="en-IN" sz="2400" b="1" i="1" kern="100" baseline="-250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0</a:t>
            </a:r>
            <a:r>
              <a:rPr lang="en-IN" sz="2400" b="1" i="1" kern="1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 a</a:t>
            </a:r>
            <a:r>
              <a:rPr lang="en-IN" sz="2400" b="1" i="1" kern="100" baseline="-250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6 </a:t>
            </a:r>
            <a:r>
              <a:rPr lang="en-IN" sz="2400" b="1" i="1" kern="1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b</a:t>
            </a:r>
            <a:r>
              <a:rPr lang="en-IN" sz="2400" b="1" i="1" kern="100" baseline="-250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6</a:t>
            </a:r>
            <a:r>
              <a:rPr lang="en-IN" sz="2400" b="1" i="1" kern="1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 a</a:t>
            </a:r>
            <a:r>
              <a:rPr lang="en-IN" sz="2400" b="1" i="1" kern="100" baseline="-250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5</a:t>
            </a:r>
            <a:r>
              <a:rPr lang="en-IN" sz="2400" b="1" i="1" kern="1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b</a:t>
            </a:r>
            <a:r>
              <a:rPr lang="en-IN" sz="2400" b="1" i="1" kern="100" baseline="-250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5</a:t>
            </a:r>
            <a:r>
              <a:rPr lang="en-IN" sz="2400" b="1" i="1" kern="1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 a</a:t>
            </a:r>
            <a:r>
              <a:rPr lang="en-IN" sz="2400" b="1" i="1" kern="100" baseline="-250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4</a:t>
            </a:r>
            <a:r>
              <a:rPr lang="en-IN" sz="2400" b="1" i="1" kern="1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b</a:t>
            </a:r>
            <a:r>
              <a:rPr lang="en-IN" sz="2400" b="1" i="1" kern="100" baseline="-250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4</a:t>
            </a:r>
            <a:r>
              <a:rPr lang="en-IN" sz="2400" b="1" i="1" kern="1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 a</a:t>
            </a:r>
            <a:r>
              <a:rPr lang="en-IN" sz="2400" b="1" i="1" kern="100" baseline="-250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3 </a:t>
            </a:r>
            <a:r>
              <a:rPr lang="en-IN" sz="2400" b="1" i="1" kern="1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a:t>
            </a:r>
          </a:p>
          <a:p>
            <a:pPr marL="0" indent="0" algn="just">
              <a:lnSpc>
                <a:spcPct val="150000"/>
              </a:lnSpc>
              <a:buNone/>
            </a:pPr>
            <a:r>
              <a:rPr lang="en-IN" sz="2400" b="1" i="1" kern="1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b</a:t>
            </a:r>
            <a:r>
              <a:rPr lang="en-IN" sz="2400" b="1" i="1" kern="100" baseline="-250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3</a:t>
            </a:r>
            <a:r>
              <a:rPr lang="en-IN" sz="2400" b="1" i="1" kern="1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 a</a:t>
            </a:r>
            <a:r>
              <a:rPr lang="en-IN" sz="2400" b="1" i="1" kern="100" baseline="-250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2</a:t>
            </a:r>
            <a:r>
              <a:rPr lang="en-IN" sz="2400" b="1" i="1" kern="1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b</a:t>
            </a:r>
            <a:r>
              <a:rPr lang="en-IN" sz="2400" b="1" i="1" kern="100" baseline="-250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2</a:t>
            </a:r>
            <a:r>
              <a:rPr lang="en-IN" sz="2400" b="1" i="1" kern="1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 a</a:t>
            </a:r>
            <a:r>
              <a:rPr lang="en-IN" sz="2400" b="1" i="1" kern="100" baseline="-250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1</a:t>
            </a:r>
            <a:r>
              <a:rPr lang="en-IN" sz="2400" b="1" i="1" kern="1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b</a:t>
            </a:r>
            <a:r>
              <a:rPr lang="en-IN" sz="2400" b="1" i="1" kern="100" baseline="-250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1</a:t>
            </a:r>
            <a:r>
              <a:rPr lang="en-IN" sz="2400" b="1" i="1" kern="1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 a</a:t>
            </a:r>
            <a:r>
              <a:rPr lang="en-IN" sz="2400" b="1" i="1" kern="100" baseline="-250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0</a:t>
            </a:r>
            <a:endParaRPr lang="en-IN" sz="2400" b="1" i="1" kern="100"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915949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5524" name="Text Box 4">
            <a:extLst>
              <a:ext uri="{FF2B5EF4-FFF2-40B4-BE49-F238E27FC236}">
                <a16:creationId xmlns:a16="http://schemas.microsoft.com/office/drawing/2014/main" id="{0E86A2C0-A66D-259B-DEC1-C31EAAC1041B}"/>
              </a:ext>
            </a:extLst>
          </p:cNvPr>
          <p:cNvSpPr txBox="1">
            <a:spLocks noChangeArrowheads="1"/>
          </p:cNvSpPr>
          <p:nvPr/>
        </p:nvSpPr>
        <p:spPr bwMode="auto">
          <a:xfrm>
            <a:off x="3332480" y="192623"/>
            <a:ext cx="622808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3600" dirty="0">
                <a:solidFill>
                  <a:srgbClr val="002060"/>
                </a:solidFill>
                <a:latin typeface="Times New Roman" panose="02020603050405020304" pitchFamily="18" charset="0"/>
              </a:rPr>
              <a:t>CRC Encoder and Decoder</a:t>
            </a:r>
          </a:p>
        </p:txBody>
      </p:sp>
      <p:pic>
        <p:nvPicPr>
          <p:cNvPr id="875526" name="Picture 6">
            <a:extLst>
              <a:ext uri="{FF2B5EF4-FFF2-40B4-BE49-F238E27FC236}">
                <a16:creationId xmlns:a16="http://schemas.microsoft.com/office/drawing/2014/main" id="{C9F278F5-6303-84F2-1E74-30FF305A44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1261" y="1080254"/>
            <a:ext cx="7864598" cy="4128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C3B83277-3580-E67A-4598-F2CE4E349FFA}"/>
              </a:ext>
            </a:extLst>
          </p:cNvPr>
          <p:cNvSpPr txBox="1"/>
          <p:nvPr/>
        </p:nvSpPr>
        <p:spPr>
          <a:xfrm>
            <a:off x="0" y="1267568"/>
            <a:ext cx="4226560" cy="4893647"/>
          </a:xfrm>
          <a:prstGeom prst="rect">
            <a:avLst/>
          </a:prstGeom>
          <a:noFill/>
        </p:spPr>
        <p:txBody>
          <a:bodyPr wrap="square">
            <a:spAutoFit/>
          </a:bodyPr>
          <a:lstStyle/>
          <a:p>
            <a:pPr marL="342900" indent="-342900">
              <a:buFont typeface="Wingdings" panose="05000000000000000000" pitchFamily="2" charset="2"/>
              <a:buChar char="Ø"/>
            </a:pPr>
            <a:r>
              <a:rPr lang="en-US" sz="2400" b="0" i="0" dirty="0">
                <a:solidFill>
                  <a:srgbClr val="242021"/>
                </a:solidFill>
                <a:effectLst/>
                <a:latin typeface="Times New Roman" panose="02020603050405020304" pitchFamily="18" charset="0"/>
                <a:cs typeface="Times New Roman" panose="02020603050405020304" pitchFamily="18" charset="0"/>
              </a:rPr>
              <a:t>In the encoder, the </a:t>
            </a:r>
            <a:r>
              <a:rPr lang="en-US" sz="2400" b="0" i="0" dirty="0" err="1">
                <a:solidFill>
                  <a:srgbClr val="242021"/>
                </a:solidFill>
                <a:effectLst/>
                <a:latin typeface="Times New Roman" panose="02020603050405020304" pitchFamily="18" charset="0"/>
                <a:cs typeface="Times New Roman" panose="02020603050405020304" pitchFamily="18" charset="0"/>
              </a:rPr>
              <a:t>dataword</a:t>
            </a:r>
            <a:r>
              <a:rPr lang="en-US" sz="2400" b="0" i="0" dirty="0">
                <a:solidFill>
                  <a:srgbClr val="242021"/>
                </a:solidFill>
                <a:effectLst/>
                <a:latin typeface="Times New Roman" panose="02020603050405020304" pitchFamily="18" charset="0"/>
                <a:cs typeface="Times New Roman" panose="02020603050405020304" pitchFamily="18" charset="0"/>
              </a:rPr>
              <a:t> has </a:t>
            </a:r>
            <a:r>
              <a:rPr lang="en-US" sz="2400" b="0" i="1" dirty="0">
                <a:solidFill>
                  <a:srgbClr val="242021"/>
                </a:solidFill>
                <a:effectLst/>
                <a:latin typeface="Times New Roman" panose="02020603050405020304" pitchFamily="18" charset="0"/>
                <a:cs typeface="Times New Roman" panose="02020603050405020304" pitchFamily="18" charset="0"/>
              </a:rPr>
              <a:t>k </a:t>
            </a:r>
            <a:r>
              <a:rPr lang="en-US" sz="2400" b="0" i="0" dirty="0">
                <a:solidFill>
                  <a:srgbClr val="242021"/>
                </a:solidFill>
                <a:effectLst/>
                <a:latin typeface="Times New Roman" panose="02020603050405020304" pitchFamily="18" charset="0"/>
                <a:cs typeface="Times New Roman" panose="02020603050405020304" pitchFamily="18" charset="0"/>
              </a:rPr>
              <a:t>bits (4 here); the codeword has </a:t>
            </a:r>
            <a:r>
              <a:rPr lang="en-US" sz="2400" b="0" i="1" dirty="0">
                <a:solidFill>
                  <a:srgbClr val="242021"/>
                </a:solidFill>
                <a:effectLst/>
                <a:latin typeface="Times New Roman" panose="02020603050405020304" pitchFamily="18" charset="0"/>
                <a:cs typeface="Times New Roman" panose="02020603050405020304" pitchFamily="18" charset="0"/>
              </a:rPr>
              <a:t>n </a:t>
            </a:r>
            <a:r>
              <a:rPr lang="en-US" sz="2400" b="0" i="0" dirty="0">
                <a:solidFill>
                  <a:srgbClr val="242021"/>
                </a:solidFill>
                <a:effectLst/>
                <a:latin typeface="Times New Roman" panose="02020603050405020304" pitchFamily="18" charset="0"/>
                <a:cs typeface="Times New Roman" panose="02020603050405020304" pitchFamily="18" charset="0"/>
              </a:rPr>
              <a:t>bits (7 here).</a:t>
            </a:r>
          </a:p>
          <a:p>
            <a:pPr marL="342900" indent="-342900">
              <a:buFont typeface="Wingdings" panose="05000000000000000000" pitchFamily="2" charset="2"/>
              <a:buChar char="Ø"/>
            </a:pPr>
            <a:r>
              <a:rPr lang="en-US" sz="2400" b="0" i="0" dirty="0">
                <a:solidFill>
                  <a:srgbClr val="242021"/>
                </a:solidFill>
                <a:effectLst/>
                <a:latin typeface="Times New Roman" panose="02020603050405020304" pitchFamily="18" charset="0"/>
                <a:cs typeface="Times New Roman" panose="02020603050405020304" pitchFamily="18" charset="0"/>
              </a:rPr>
              <a:t>The size of the </a:t>
            </a:r>
            <a:r>
              <a:rPr lang="en-US" sz="2400" b="0" i="0" dirty="0" err="1">
                <a:solidFill>
                  <a:srgbClr val="242021"/>
                </a:solidFill>
                <a:effectLst/>
                <a:latin typeface="Times New Roman" panose="02020603050405020304" pitchFamily="18" charset="0"/>
                <a:cs typeface="Times New Roman" panose="02020603050405020304" pitchFamily="18" charset="0"/>
              </a:rPr>
              <a:t>dataword</a:t>
            </a:r>
            <a:r>
              <a:rPr lang="en-US" sz="2400" b="0" i="0" dirty="0">
                <a:solidFill>
                  <a:srgbClr val="242021"/>
                </a:solidFill>
                <a:effectLst/>
                <a:latin typeface="Times New Roman" panose="02020603050405020304" pitchFamily="18" charset="0"/>
                <a:cs typeface="Times New Roman" panose="02020603050405020304" pitchFamily="18" charset="0"/>
              </a:rPr>
              <a:t> is augmented by adding </a:t>
            </a:r>
            <a:r>
              <a:rPr lang="en-US" sz="2400" b="0" i="1" dirty="0">
                <a:solidFill>
                  <a:srgbClr val="242021"/>
                </a:solidFill>
                <a:effectLst/>
                <a:latin typeface="Times New Roman" panose="02020603050405020304" pitchFamily="18" charset="0"/>
                <a:cs typeface="Times New Roman" panose="02020603050405020304" pitchFamily="18" charset="0"/>
              </a:rPr>
              <a:t>n </a:t>
            </a:r>
            <a:r>
              <a:rPr lang="en-US" sz="2400" b="0" i="0" dirty="0">
                <a:solidFill>
                  <a:srgbClr val="242021"/>
                </a:solidFill>
                <a:effectLst/>
                <a:latin typeface="Times New Roman" panose="02020603050405020304" pitchFamily="18" charset="0"/>
                <a:cs typeface="Times New Roman" panose="02020603050405020304" pitchFamily="18" charset="0"/>
              </a:rPr>
              <a:t>- </a:t>
            </a:r>
            <a:r>
              <a:rPr lang="en-US" sz="2400" b="0" i="1" dirty="0">
                <a:solidFill>
                  <a:srgbClr val="242021"/>
                </a:solidFill>
                <a:effectLst/>
                <a:latin typeface="Times New Roman" panose="02020603050405020304" pitchFamily="18" charset="0"/>
                <a:cs typeface="Times New Roman" panose="02020603050405020304" pitchFamily="18" charset="0"/>
              </a:rPr>
              <a:t>k </a:t>
            </a:r>
            <a:endParaRPr lang="en-US" sz="2400" dirty="0">
              <a:solidFill>
                <a:srgbClr val="242021"/>
              </a:solidFill>
              <a:latin typeface="Times New Roman" panose="02020603050405020304" pitchFamily="18" charset="0"/>
              <a:cs typeface="Times New Roman" panose="02020603050405020304" pitchFamily="18" charset="0"/>
            </a:endParaRPr>
          </a:p>
          <a:p>
            <a:r>
              <a:rPr lang="en-US" sz="2400" b="0" i="0" dirty="0">
                <a:solidFill>
                  <a:srgbClr val="242021"/>
                </a:solidFill>
                <a:effectLst/>
                <a:latin typeface="Times New Roman" panose="02020603050405020304" pitchFamily="18" charset="0"/>
                <a:cs typeface="Times New Roman" panose="02020603050405020304" pitchFamily="18" charset="0"/>
              </a:rPr>
              <a:t>     0s to the right-hand side of</a:t>
            </a:r>
          </a:p>
          <a:p>
            <a:r>
              <a:rPr lang="en-US" sz="2400" dirty="0">
                <a:solidFill>
                  <a:srgbClr val="242021"/>
                </a:solidFill>
                <a:latin typeface="Times New Roman" panose="02020603050405020304" pitchFamily="18" charset="0"/>
                <a:cs typeface="Times New Roman" panose="02020603050405020304" pitchFamily="18" charset="0"/>
              </a:rPr>
              <a:t>    </a:t>
            </a:r>
            <a:r>
              <a:rPr lang="en-US" sz="2400" b="0" i="0" dirty="0">
                <a:solidFill>
                  <a:srgbClr val="242021"/>
                </a:solidFill>
                <a:effectLst/>
                <a:latin typeface="Times New Roman" panose="02020603050405020304" pitchFamily="18" charset="0"/>
                <a:cs typeface="Times New Roman" panose="02020603050405020304" pitchFamily="18" charset="0"/>
              </a:rPr>
              <a:t> the word. </a:t>
            </a:r>
          </a:p>
          <a:p>
            <a:pPr marL="342900" indent="-342900">
              <a:buFont typeface="Wingdings" panose="05000000000000000000" pitchFamily="2" charset="2"/>
              <a:buChar char="Ø"/>
            </a:pPr>
            <a:r>
              <a:rPr lang="en-US" sz="2400" b="0" i="0" dirty="0">
                <a:solidFill>
                  <a:srgbClr val="242021"/>
                </a:solidFill>
                <a:effectLst/>
                <a:latin typeface="Times New Roman" panose="02020603050405020304" pitchFamily="18" charset="0"/>
                <a:cs typeface="Times New Roman" panose="02020603050405020304" pitchFamily="18" charset="0"/>
              </a:rPr>
              <a:t>The </a:t>
            </a:r>
            <a:r>
              <a:rPr lang="en-US" sz="2400" b="0" i="1" dirty="0">
                <a:solidFill>
                  <a:srgbClr val="242021"/>
                </a:solidFill>
                <a:effectLst/>
                <a:latin typeface="Times New Roman" panose="02020603050405020304" pitchFamily="18" charset="0"/>
                <a:cs typeface="Times New Roman" panose="02020603050405020304" pitchFamily="18" charset="0"/>
              </a:rPr>
              <a:t>n</a:t>
            </a:r>
            <a:r>
              <a:rPr lang="en-US" sz="2400" b="0" i="0" dirty="0">
                <a:solidFill>
                  <a:srgbClr val="242021"/>
                </a:solidFill>
                <a:effectLst/>
                <a:latin typeface="Times New Roman" panose="02020603050405020304" pitchFamily="18" charset="0"/>
                <a:cs typeface="Times New Roman" panose="02020603050405020304" pitchFamily="18" charset="0"/>
              </a:rPr>
              <a:t>-bit result is fed into the generator. </a:t>
            </a:r>
            <a:endParaRPr lang="en-US" sz="2400" dirty="0">
              <a:solidFill>
                <a:srgbClr val="24202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The divisor in a cyclic code is normally called the generator polynomial.</a:t>
            </a:r>
          </a:p>
          <a:p>
            <a:pPr marL="342900" indent="-342900">
              <a:buFont typeface="Wingdings" panose="05000000000000000000" pitchFamily="2" charset="2"/>
              <a:buChar char="Ø"/>
            </a:pPr>
            <a:endParaRPr lang="en-US" sz="2400" b="0" i="0" dirty="0">
              <a:solidFill>
                <a:srgbClr val="242021"/>
              </a:solidFill>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16E24AC-D592-E097-E69E-64717F4A0B5E}"/>
              </a:ext>
            </a:extLst>
          </p:cNvPr>
          <p:cNvSpPr txBox="1"/>
          <p:nvPr/>
        </p:nvSpPr>
        <p:spPr>
          <a:xfrm>
            <a:off x="650240" y="5757216"/>
            <a:ext cx="10891520" cy="461665"/>
          </a:xfrm>
          <a:prstGeom prst="rect">
            <a:avLst/>
          </a:prstGeom>
          <a:solidFill>
            <a:srgbClr val="FFFF00"/>
          </a:solidFill>
        </p:spPr>
        <p:txBody>
          <a:bodyPr wrap="square">
            <a:spAutoFit/>
          </a:bodyPr>
          <a:lstStyle/>
          <a:p>
            <a:r>
              <a:rPr lang="en-US" sz="2400" b="0" i="0" dirty="0">
                <a:solidFill>
                  <a:srgbClr val="242021"/>
                </a:solidFill>
                <a:effectLst/>
                <a:latin typeface="Times New Roman" panose="02020603050405020304" pitchFamily="18" charset="0"/>
                <a:cs typeface="Times New Roman" panose="02020603050405020304" pitchFamily="18" charset="0"/>
              </a:rPr>
              <a:t>The generator uses a divisor of size = </a:t>
            </a:r>
            <a:r>
              <a:rPr lang="en-US" sz="2400" b="1" i="1" dirty="0">
                <a:solidFill>
                  <a:srgbClr val="FF0000"/>
                </a:solidFill>
                <a:effectLst/>
                <a:latin typeface="Times New Roman" panose="02020603050405020304" pitchFamily="18" charset="0"/>
                <a:cs typeface="Times New Roman" panose="02020603050405020304" pitchFamily="18" charset="0"/>
              </a:rPr>
              <a:t>n </a:t>
            </a:r>
            <a:r>
              <a:rPr lang="en-US" sz="2400" b="1" i="0" dirty="0">
                <a:solidFill>
                  <a:srgbClr val="FF0000"/>
                </a:solidFill>
                <a:effectLst/>
                <a:latin typeface="Times New Roman" panose="02020603050405020304" pitchFamily="18" charset="0"/>
                <a:cs typeface="Times New Roman" panose="02020603050405020304" pitchFamily="18" charset="0"/>
              </a:rPr>
              <a:t>- </a:t>
            </a:r>
            <a:r>
              <a:rPr lang="en-US" sz="2400" b="1" i="1" dirty="0">
                <a:solidFill>
                  <a:srgbClr val="FF0000"/>
                </a:solidFill>
                <a:effectLst/>
                <a:latin typeface="Times New Roman" panose="02020603050405020304" pitchFamily="18" charset="0"/>
                <a:cs typeface="Times New Roman" panose="02020603050405020304" pitchFamily="18" charset="0"/>
              </a:rPr>
              <a:t>k </a:t>
            </a:r>
            <a:r>
              <a:rPr lang="en-US" sz="2400" b="1" i="0" dirty="0">
                <a:solidFill>
                  <a:srgbClr val="FF0000"/>
                </a:solidFill>
                <a:effectLst/>
                <a:latin typeface="Times New Roman" panose="02020603050405020304" pitchFamily="18" charset="0"/>
                <a:cs typeface="Times New Roman" panose="02020603050405020304" pitchFamily="18" charset="0"/>
              </a:rPr>
              <a:t>+ 1</a:t>
            </a:r>
            <a:r>
              <a:rPr lang="en-US" sz="2400" b="0" i="0" dirty="0">
                <a:solidFill>
                  <a:srgbClr val="242021"/>
                </a:solidFill>
                <a:effectLst/>
                <a:latin typeface="Times New Roman" panose="02020603050405020304" pitchFamily="18" charset="0"/>
                <a:cs typeface="Times New Roman" panose="02020603050405020304" pitchFamily="18" charset="0"/>
              </a:rPr>
              <a:t> (4 here), predefined and agreed upon. </a:t>
            </a:r>
            <a:endParaRPr lang="en-IN"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548" name="Text Box 4">
            <a:extLst>
              <a:ext uri="{FF2B5EF4-FFF2-40B4-BE49-F238E27FC236}">
                <a16:creationId xmlns:a16="http://schemas.microsoft.com/office/drawing/2014/main" id="{2A3709FA-C8DB-D572-70B5-508F0188C5BC}"/>
              </a:ext>
            </a:extLst>
          </p:cNvPr>
          <p:cNvSpPr txBox="1">
            <a:spLocks noChangeArrowheads="1"/>
          </p:cNvSpPr>
          <p:nvPr/>
        </p:nvSpPr>
        <p:spPr bwMode="auto">
          <a:xfrm>
            <a:off x="121921" y="1524000"/>
            <a:ext cx="2956559"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400" dirty="0">
                <a:solidFill>
                  <a:schemeClr val="folHlink"/>
                </a:solidFill>
                <a:latin typeface="Times New Roman" panose="02020603050405020304" pitchFamily="18" charset="0"/>
              </a:rPr>
              <a:t>Figure  </a:t>
            </a:r>
            <a:r>
              <a:rPr lang="en-US" altLang="en-US" sz="2000" i="1" dirty="0">
                <a:latin typeface="Times New Roman" panose="02020603050405020304" pitchFamily="18" charset="0"/>
              </a:rPr>
              <a:t>Division in CRC encoder</a:t>
            </a:r>
          </a:p>
        </p:txBody>
      </p:sp>
      <p:pic>
        <p:nvPicPr>
          <p:cNvPr id="876550" name="Picture 6">
            <a:extLst>
              <a:ext uri="{FF2B5EF4-FFF2-40B4-BE49-F238E27FC236}">
                <a16:creationId xmlns:a16="http://schemas.microsoft.com/office/drawing/2014/main" id="{C0C8E101-503F-42BA-40B3-D112827F6A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9356" y="172720"/>
            <a:ext cx="6116320" cy="6324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7572" name="Text Box 4">
            <a:extLst>
              <a:ext uri="{FF2B5EF4-FFF2-40B4-BE49-F238E27FC236}">
                <a16:creationId xmlns:a16="http://schemas.microsoft.com/office/drawing/2014/main" id="{9AA8BCE2-6C32-30AA-6D39-518FE60BCCED}"/>
              </a:ext>
            </a:extLst>
          </p:cNvPr>
          <p:cNvSpPr txBox="1">
            <a:spLocks noChangeArrowheads="1"/>
          </p:cNvSpPr>
          <p:nvPr/>
        </p:nvSpPr>
        <p:spPr bwMode="auto">
          <a:xfrm>
            <a:off x="2875281" y="142240"/>
            <a:ext cx="57486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solidFill>
                  <a:schemeClr val="folHlink"/>
                </a:solidFill>
                <a:latin typeface="Times New Roman" panose="02020603050405020304" pitchFamily="18" charset="0"/>
              </a:rPr>
              <a:t>Figure   </a:t>
            </a:r>
            <a:r>
              <a:rPr lang="en-US" altLang="en-US" sz="2000" i="1" dirty="0">
                <a:latin typeface="Times New Roman" panose="02020603050405020304" pitchFamily="18" charset="0"/>
              </a:rPr>
              <a:t>Division in the CRC decoder for two cases</a:t>
            </a:r>
          </a:p>
        </p:txBody>
      </p:sp>
      <p:pic>
        <p:nvPicPr>
          <p:cNvPr id="877574" name="Picture 6">
            <a:extLst>
              <a:ext uri="{FF2B5EF4-FFF2-40B4-BE49-F238E27FC236}">
                <a16:creationId xmlns:a16="http://schemas.microsoft.com/office/drawing/2014/main" id="{78E60FBA-00EF-F7B4-FFA4-65642E1533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2559" y="992154"/>
            <a:ext cx="9486423" cy="5628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692" name="Text Box 4">
            <a:extLst>
              <a:ext uri="{FF2B5EF4-FFF2-40B4-BE49-F238E27FC236}">
                <a16:creationId xmlns:a16="http://schemas.microsoft.com/office/drawing/2014/main" id="{8881B3D6-F06F-0F99-DE75-B2530A6827DE}"/>
              </a:ext>
            </a:extLst>
          </p:cNvPr>
          <p:cNvSpPr txBox="1">
            <a:spLocks noChangeArrowheads="1"/>
          </p:cNvSpPr>
          <p:nvPr/>
        </p:nvSpPr>
        <p:spPr bwMode="auto">
          <a:xfrm>
            <a:off x="2661921" y="680720"/>
            <a:ext cx="767383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i="1" dirty="0">
                <a:solidFill>
                  <a:srgbClr val="0000FF"/>
                </a:solidFill>
                <a:latin typeface="Times New Roman" panose="02020603050405020304" pitchFamily="18" charset="0"/>
              </a:rPr>
              <a:t>A</a:t>
            </a:r>
            <a:r>
              <a:rPr lang="en-US" altLang="en-US" sz="3600" dirty="0">
                <a:solidFill>
                  <a:srgbClr val="0000FF"/>
                </a:solidFill>
                <a:latin typeface="Times New Roman" panose="02020603050405020304" pitchFamily="18" charset="0"/>
              </a:rPr>
              <a:t> </a:t>
            </a:r>
            <a:r>
              <a:rPr lang="en-US" altLang="en-US" sz="3600" i="1" dirty="0">
                <a:solidFill>
                  <a:srgbClr val="0000FF"/>
                </a:solidFill>
                <a:latin typeface="Times New Roman" panose="02020603050405020304" pitchFamily="18" charset="0"/>
              </a:rPr>
              <a:t>polynomial to represent a binary word</a:t>
            </a:r>
          </a:p>
        </p:txBody>
      </p:sp>
      <p:pic>
        <p:nvPicPr>
          <p:cNvPr id="882694" name="Picture 6">
            <a:extLst>
              <a:ext uri="{FF2B5EF4-FFF2-40B4-BE49-F238E27FC236}">
                <a16:creationId xmlns:a16="http://schemas.microsoft.com/office/drawing/2014/main" id="{62C3DE0A-164A-C0FA-2D10-2A9027BCA8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827" y="1914307"/>
            <a:ext cx="11422900" cy="3088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3716" name="Text Box 4">
            <a:extLst>
              <a:ext uri="{FF2B5EF4-FFF2-40B4-BE49-F238E27FC236}">
                <a16:creationId xmlns:a16="http://schemas.microsoft.com/office/drawing/2014/main" id="{9FBD751C-AC74-6C94-CF4F-CFC5CB01F20F}"/>
              </a:ext>
            </a:extLst>
          </p:cNvPr>
          <p:cNvSpPr txBox="1">
            <a:spLocks noChangeArrowheads="1"/>
          </p:cNvSpPr>
          <p:nvPr/>
        </p:nvSpPr>
        <p:spPr bwMode="auto">
          <a:xfrm>
            <a:off x="111761" y="1529080"/>
            <a:ext cx="343408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400" dirty="0">
                <a:solidFill>
                  <a:schemeClr val="folHlink"/>
                </a:solidFill>
                <a:latin typeface="Times New Roman" panose="02020603050405020304" pitchFamily="18" charset="0"/>
              </a:rPr>
              <a:t>Figure   </a:t>
            </a:r>
            <a:r>
              <a:rPr lang="en-US" altLang="en-US" sz="2000" i="1" dirty="0">
                <a:latin typeface="Times New Roman" panose="02020603050405020304" pitchFamily="18" charset="0"/>
              </a:rPr>
              <a:t>CRC division using polynomials</a:t>
            </a:r>
          </a:p>
        </p:txBody>
      </p:sp>
      <p:pic>
        <p:nvPicPr>
          <p:cNvPr id="883718" name="Picture 6">
            <a:extLst>
              <a:ext uri="{FF2B5EF4-FFF2-40B4-BE49-F238E27FC236}">
                <a16:creationId xmlns:a16="http://schemas.microsoft.com/office/drawing/2014/main" id="{2BD4D118-DACF-B3C7-58D9-93AAE577FC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5841" y="552991"/>
            <a:ext cx="7850186" cy="5532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E767272-BA44-ACDD-F097-461CB312A4B4}"/>
              </a:ext>
            </a:extLst>
          </p:cNvPr>
          <p:cNvSpPr txBox="1"/>
          <p:nvPr/>
        </p:nvSpPr>
        <p:spPr>
          <a:xfrm>
            <a:off x="406400" y="759936"/>
            <a:ext cx="11785600" cy="1569660"/>
          </a:xfrm>
          <a:prstGeom prst="rect">
            <a:avLst/>
          </a:prstGeom>
          <a:noFill/>
        </p:spPr>
        <p:txBody>
          <a:bodyPr wrap="square">
            <a:spAutoFit/>
          </a:bodyPr>
          <a:lstStyle/>
          <a:p>
            <a:r>
              <a:rPr lang="en-US" sz="2400" b="1" i="0" dirty="0">
                <a:solidFill>
                  <a:srgbClr val="242021"/>
                </a:solidFill>
                <a:effectLst/>
                <a:latin typeface="Times New Roman" panose="02020603050405020304" pitchFamily="18" charset="0"/>
                <a:cs typeface="Times New Roman" panose="02020603050405020304" pitchFamily="18" charset="0"/>
              </a:rPr>
              <a:t>Checksum </a:t>
            </a:r>
            <a:r>
              <a:rPr lang="en-US" sz="2400" b="0" i="0" dirty="0">
                <a:solidFill>
                  <a:srgbClr val="242021"/>
                </a:solidFill>
                <a:effectLst/>
                <a:latin typeface="Times New Roman" panose="02020603050405020304" pitchFamily="18" charset="0"/>
                <a:cs typeface="Times New Roman" panose="02020603050405020304" pitchFamily="18" charset="0"/>
              </a:rPr>
              <a:t>is an error-detecting technique that can be applied to a message of any length. In the Internet, the checksum technique is mostly used at the network and transport layer rather than the data-link layer.</a:t>
            </a:r>
            <a:r>
              <a:rPr lang="en-US" sz="2400" dirty="0">
                <a:latin typeface="Times New Roman" panose="02020603050405020304" pitchFamily="18" charset="0"/>
                <a:cs typeface="Times New Roman" panose="02020603050405020304" pitchFamily="18" charset="0"/>
              </a:rPr>
              <a:t> </a:t>
            </a:r>
            <a:br>
              <a:rPr lang="en-US"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944300A-B3E5-F0ED-EB9C-EF2D1ECBC7B8}"/>
              </a:ext>
            </a:extLst>
          </p:cNvPr>
          <p:cNvPicPr>
            <a:picLocks noChangeAspect="1"/>
          </p:cNvPicPr>
          <p:nvPr/>
        </p:nvPicPr>
        <p:blipFill>
          <a:blip r:embed="rId2"/>
          <a:stretch>
            <a:fillRect/>
          </a:stretch>
        </p:blipFill>
        <p:spPr>
          <a:xfrm>
            <a:off x="4642486" y="1876616"/>
            <a:ext cx="7224394" cy="3337157"/>
          </a:xfrm>
          <a:prstGeom prst="rect">
            <a:avLst/>
          </a:prstGeom>
        </p:spPr>
      </p:pic>
      <p:sp>
        <p:nvSpPr>
          <p:cNvPr id="7" name="TextBox 6">
            <a:extLst>
              <a:ext uri="{FF2B5EF4-FFF2-40B4-BE49-F238E27FC236}">
                <a16:creationId xmlns:a16="http://schemas.microsoft.com/office/drawing/2014/main" id="{80717292-BEDC-22EB-32C3-3082A56184DB}"/>
              </a:ext>
            </a:extLst>
          </p:cNvPr>
          <p:cNvSpPr txBox="1"/>
          <p:nvPr/>
        </p:nvSpPr>
        <p:spPr>
          <a:xfrm>
            <a:off x="406400" y="2085539"/>
            <a:ext cx="3835996" cy="2308324"/>
          </a:xfrm>
          <a:prstGeom prst="rect">
            <a:avLst/>
          </a:prstGeom>
          <a:noFill/>
        </p:spPr>
        <p:txBody>
          <a:bodyPr wrap="square">
            <a:spAutoFit/>
          </a:bodyPr>
          <a:lstStyle/>
          <a:p>
            <a:r>
              <a:rPr lang="en-US" sz="2400" b="0" i="0" dirty="0">
                <a:solidFill>
                  <a:srgbClr val="242021"/>
                </a:solidFill>
                <a:effectLst/>
                <a:latin typeface="Times New Roman" panose="02020603050405020304" pitchFamily="18" charset="0"/>
                <a:cs typeface="Times New Roman" panose="02020603050405020304" pitchFamily="18" charset="0"/>
              </a:rPr>
              <a:t>At the source, the message is first divided into </a:t>
            </a:r>
            <a:r>
              <a:rPr lang="en-US" sz="2400" b="0" i="1" dirty="0">
                <a:solidFill>
                  <a:srgbClr val="242021"/>
                </a:solidFill>
                <a:effectLst/>
                <a:latin typeface="Times New Roman" panose="02020603050405020304" pitchFamily="18" charset="0"/>
                <a:cs typeface="Times New Roman" panose="02020603050405020304" pitchFamily="18" charset="0"/>
              </a:rPr>
              <a:t>m</a:t>
            </a:r>
            <a:r>
              <a:rPr lang="en-US" sz="2400" b="0" i="0" dirty="0">
                <a:solidFill>
                  <a:srgbClr val="242021"/>
                </a:solidFill>
                <a:effectLst/>
                <a:latin typeface="Times New Roman" panose="02020603050405020304" pitchFamily="18" charset="0"/>
                <a:cs typeface="Times New Roman" panose="02020603050405020304" pitchFamily="18" charset="0"/>
              </a:rPr>
              <a:t>-bit units. The generator then creates an extra </a:t>
            </a:r>
            <a:r>
              <a:rPr lang="en-US" sz="2400" b="0" i="1" dirty="0">
                <a:solidFill>
                  <a:srgbClr val="242021"/>
                </a:solidFill>
                <a:effectLst/>
                <a:latin typeface="Times New Roman" panose="02020603050405020304" pitchFamily="18" charset="0"/>
                <a:cs typeface="Times New Roman" panose="02020603050405020304" pitchFamily="18" charset="0"/>
              </a:rPr>
              <a:t>m</a:t>
            </a:r>
            <a:r>
              <a:rPr lang="en-US" sz="2400" b="0" i="0" dirty="0">
                <a:solidFill>
                  <a:srgbClr val="242021"/>
                </a:solidFill>
                <a:effectLst/>
                <a:latin typeface="Times New Roman" panose="02020603050405020304" pitchFamily="18" charset="0"/>
                <a:cs typeface="Times New Roman" panose="02020603050405020304" pitchFamily="18" charset="0"/>
              </a:rPr>
              <a:t>-bit unit called the </a:t>
            </a:r>
            <a:r>
              <a:rPr lang="en-US" sz="2400" b="1" i="1" dirty="0">
                <a:solidFill>
                  <a:srgbClr val="242021"/>
                </a:solidFill>
                <a:effectLst/>
                <a:latin typeface="Times New Roman" panose="02020603050405020304" pitchFamily="18" charset="0"/>
                <a:cs typeface="Times New Roman" panose="02020603050405020304" pitchFamily="18" charset="0"/>
              </a:rPr>
              <a:t>checksum, </a:t>
            </a:r>
            <a:r>
              <a:rPr lang="en-US" sz="2400" b="0" i="0" dirty="0">
                <a:solidFill>
                  <a:srgbClr val="242021"/>
                </a:solidFill>
                <a:effectLst/>
                <a:latin typeface="Times New Roman" panose="02020603050405020304" pitchFamily="18" charset="0"/>
                <a:cs typeface="Times New Roman" panose="02020603050405020304" pitchFamily="18" charset="0"/>
              </a:rPr>
              <a:t>which is sent with the message. </a:t>
            </a:r>
          </a:p>
        </p:txBody>
      </p:sp>
      <p:sp>
        <p:nvSpPr>
          <p:cNvPr id="9" name="TextBox 8">
            <a:extLst>
              <a:ext uri="{FF2B5EF4-FFF2-40B4-BE49-F238E27FC236}">
                <a16:creationId xmlns:a16="http://schemas.microsoft.com/office/drawing/2014/main" id="{23C1348C-90D4-36B9-76C7-D16E6140F18F}"/>
              </a:ext>
            </a:extLst>
          </p:cNvPr>
          <p:cNvSpPr txBox="1"/>
          <p:nvPr/>
        </p:nvSpPr>
        <p:spPr>
          <a:xfrm>
            <a:off x="406400" y="5213773"/>
            <a:ext cx="11460480" cy="1477328"/>
          </a:xfrm>
          <a:prstGeom prst="rect">
            <a:avLst/>
          </a:prstGeom>
          <a:noFill/>
        </p:spPr>
        <p:txBody>
          <a:bodyPr wrap="square">
            <a:spAutoFit/>
          </a:bodyPr>
          <a:lstStyle/>
          <a:p>
            <a:r>
              <a:rPr lang="en-US" sz="2400" b="0" i="0" dirty="0">
                <a:solidFill>
                  <a:srgbClr val="242021"/>
                </a:solidFill>
                <a:effectLst/>
                <a:latin typeface="Times New Roman" panose="02020603050405020304" pitchFamily="18" charset="0"/>
                <a:cs typeface="Times New Roman" panose="02020603050405020304" pitchFamily="18" charset="0"/>
              </a:rPr>
              <a:t>At the destination, the checker creates a new checksum from the combination of the message and sent checksum. If the new checksum is all 0s, the message is accepted; otherwise, the message is discarded</a:t>
            </a:r>
            <a:r>
              <a:rPr lang="en-US" sz="2400" dirty="0">
                <a:latin typeface="Times New Roman" panose="02020603050405020304" pitchFamily="18" charset="0"/>
                <a:cs typeface="Times New Roman" panose="02020603050405020304" pitchFamily="18" charset="0"/>
              </a:rPr>
              <a:t> </a:t>
            </a:r>
            <a:br>
              <a:rPr lang="en-US" dirty="0"/>
            </a:br>
            <a:endParaRPr lang="en-IN" dirty="0"/>
          </a:p>
        </p:txBody>
      </p:sp>
      <p:sp>
        <p:nvSpPr>
          <p:cNvPr id="10" name="Text Box 4">
            <a:extLst>
              <a:ext uri="{FF2B5EF4-FFF2-40B4-BE49-F238E27FC236}">
                <a16:creationId xmlns:a16="http://schemas.microsoft.com/office/drawing/2014/main" id="{6CB36AF4-BE0B-5EBB-8608-5C16E84C03E7}"/>
              </a:ext>
            </a:extLst>
          </p:cNvPr>
          <p:cNvSpPr txBox="1">
            <a:spLocks noChangeArrowheads="1"/>
          </p:cNvSpPr>
          <p:nvPr/>
        </p:nvSpPr>
        <p:spPr bwMode="auto">
          <a:xfrm>
            <a:off x="4739729" y="166899"/>
            <a:ext cx="208262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i="1" dirty="0">
                <a:solidFill>
                  <a:srgbClr val="0000FF"/>
                </a:solidFill>
                <a:latin typeface="Times New Roman" panose="02020603050405020304" pitchFamily="18" charset="0"/>
              </a:rPr>
              <a:t>Checksum</a:t>
            </a:r>
          </a:p>
        </p:txBody>
      </p:sp>
    </p:spTree>
    <p:extLst>
      <p:ext uri="{BB962C8B-B14F-4D97-AF65-F5344CB8AC3E}">
        <p14:creationId xmlns:p14="http://schemas.microsoft.com/office/powerpoint/2010/main" val="11946196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1A9217-0D3B-6807-3999-AAC281FCF3EF}"/>
              </a:ext>
            </a:extLst>
          </p:cNvPr>
          <p:cNvSpPr txBox="1"/>
          <p:nvPr/>
        </p:nvSpPr>
        <p:spPr>
          <a:xfrm>
            <a:off x="132080" y="570006"/>
            <a:ext cx="4262120" cy="6370975"/>
          </a:xfrm>
          <a:prstGeom prst="rect">
            <a:avLst/>
          </a:prstGeom>
          <a:noFill/>
        </p:spPr>
        <p:txBody>
          <a:bodyPr wrap="square">
            <a:spAutoFit/>
          </a:bodyPr>
          <a:lstStyle/>
          <a:p>
            <a:pPr algn="just"/>
            <a:r>
              <a:rPr lang="en-US" altLang="en-US" sz="2400" dirty="0">
                <a:latin typeface="Times New Roman" panose="02020603050405020304" pitchFamily="18" charset="0"/>
                <a:cs typeface="Times New Roman" panose="02020603050405020304" pitchFamily="18" charset="0"/>
              </a:rPr>
              <a:t>Suppose our data is a list of five 4-bit numbers that we want to send to a destination. In addition to sending these numbers, we send the sum of the numbers. </a:t>
            </a:r>
          </a:p>
          <a:p>
            <a:pPr algn="just"/>
            <a:endParaRPr lang="en-US" altLang="en-US" sz="2400" dirty="0">
              <a:latin typeface="Times New Roman" panose="02020603050405020304" pitchFamily="18" charset="0"/>
              <a:cs typeface="Times New Roman" panose="02020603050405020304" pitchFamily="18" charset="0"/>
            </a:endParaRPr>
          </a:p>
          <a:p>
            <a:pPr algn="just"/>
            <a:r>
              <a:rPr lang="en-US" altLang="en-US" sz="2400" dirty="0">
                <a:latin typeface="Times New Roman" panose="02020603050405020304" pitchFamily="18" charset="0"/>
                <a:cs typeface="Times New Roman" panose="02020603050405020304" pitchFamily="18" charset="0"/>
              </a:rPr>
              <a:t>For example, if the set of numbers is (7, 11, 12, 0, 6), we send (7, 11, 12, 0, 6, </a:t>
            </a:r>
            <a:r>
              <a:rPr lang="en-US" altLang="en-US" sz="2400" dirty="0">
                <a:solidFill>
                  <a:schemeClr val="hlink"/>
                </a:solidFill>
                <a:latin typeface="Times New Roman" panose="02020603050405020304" pitchFamily="18" charset="0"/>
                <a:cs typeface="Times New Roman" panose="02020603050405020304" pitchFamily="18" charset="0"/>
              </a:rPr>
              <a:t>9</a:t>
            </a:r>
            <a:r>
              <a:rPr lang="en-US" altLang="en-US" sz="2400" dirty="0">
                <a:latin typeface="Times New Roman" panose="02020603050405020304" pitchFamily="18" charset="0"/>
                <a:cs typeface="Times New Roman" panose="02020603050405020304" pitchFamily="18" charset="0"/>
              </a:rPr>
              <a:t>), where 9 is the checksum. </a:t>
            </a:r>
          </a:p>
          <a:p>
            <a:pPr algn="just"/>
            <a:endParaRPr lang="en-US" altLang="en-US" sz="2400" dirty="0">
              <a:latin typeface="Times New Roman" panose="02020603050405020304" pitchFamily="18" charset="0"/>
              <a:cs typeface="Times New Roman" panose="02020603050405020304" pitchFamily="18" charset="0"/>
            </a:endParaRPr>
          </a:p>
          <a:p>
            <a:pPr algn="just"/>
            <a:r>
              <a:rPr lang="en-US" altLang="en-US" sz="2400" dirty="0">
                <a:latin typeface="Times New Roman" panose="02020603050405020304" pitchFamily="18" charset="0"/>
                <a:cs typeface="Times New Roman" panose="02020603050405020304" pitchFamily="18" charset="0"/>
              </a:rPr>
              <a:t>The receiver can add all the numbers received (including the checksum). If the result is 0, it assumes no error; otherwise, there is an error.</a:t>
            </a:r>
            <a:endParaRPr lang="en-IN" sz="2400" dirty="0">
              <a:latin typeface="Times New Roman" panose="02020603050405020304" pitchFamily="18" charset="0"/>
              <a:cs typeface="Times New Roman" panose="02020603050405020304" pitchFamily="18" charset="0"/>
            </a:endParaRPr>
          </a:p>
          <a:p>
            <a:pPr algn="just"/>
            <a:endParaRPr lang="en-US" altLang="en-US" sz="2400" i="1" dirty="0">
              <a:latin typeface="Times New Roman" panose="02020603050405020304" pitchFamily="18" charset="0"/>
            </a:endParaRPr>
          </a:p>
        </p:txBody>
      </p:sp>
      <p:grpSp>
        <p:nvGrpSpPr>
          <p:cNvPr id="4" name="Group 8">
            <a:extLst>
              <a:ext uri="{FF2B5EF4-FFF2-40B4-BE49-F238E27FC236}">
                <a16:creationId xmlns:a16="http://schemas.microsoft.com/office/drawing/2014/main" id="{F56116E9-B514-F6C9-F5BA-EB6C13B1A432}"/>
              </a:ext>
            </a:extLst>
          </p:cNvPr>
          <p:cNvGrpSpPr>
            <a:grpSpLocks/>
          </p:cNvGrpSpPr>
          <p:nvPr/>
        </p:nvGrpSpPr>
        <p:grpSpPr bwMode="auto">
          <a:xfrm>
            <a:off x="4874895" y="911195"/>
            <a:ext cx="7185025" cy="4668838"/>
            <a:chOff x="831850" y="1066800"/>
            <a:chExt cx="7185025" cy="4668838"/>
          </a:xfrm>
        </p:grpSpPr>
        <p:grpSp>
          <p:nvGrpSpPr>
            <p:cNvPr id="5" name="Group 5">
              <a:extLst>
                <a:ext uri="{FF2B5EF4-FFF2-40B4-BE49-F238E27FC236}">
                  <a16:creationId xmlns:a16="http://schemas.microsoft.com/office/drawing/2014/main" id="{B496E5BE-D96D-BC65-2BAF-A96E5DBF3B57}"/>
                </a:ext>
              </a:extLst>
            </p:cNvPr>
            <p:cNvGrpSpPr>
              <a:grpSpLocks/>
            </p:cNvGrpSpPr>
            <p:nvPr/>
          </p:nvGrpSpPr>
          <p:grpSpPr bwMode="auto">
            <a:xfrm>
              <a:off x="831850" y="1066800"/>
              <a:ext cx="7185025" cy="4668838"/>
              <a:chOff x="831850" y="1066800"/>
              <a:chExt cx="7185025" cy="4668838"/>
            </a:xfrm>
          </p:grpSpPr>
          <p:grpSp>
            <p:nvGrpSpPr>
              <p:cNvPr id="8" name="Group 3">
                <a:extLst>
                  <a:ext uri="{FF2B5EF4-FFF2-40B4-BE49-F238E27FC236}">
                    <a16:creationId xmlns:a16="http://schemas.microsoft.com/office/drawing/2014/main" id="{20E91082-3ACD-2B93-5AF8-F200E8202498}"/>
                  </a:ext>
                </a:extLst>
              </p:cNvPr>
              <p:cNvGrpSpPr>
                <a:grpSpLocks/>
              </p:cNvGrpSpPr>
              <p:nvPr/>
            </p:nvGrpSpPr>
            <p:grpSpPr bwMode="auto">
              <a:xfrm>
                <a:off x="831850" y="1066800"/>
                <a:ext cx="7185025" cy="4668838"/>
                <a:chOff x="831850" y="1066800"/>
                <a:chExt cx="7185025" cy="4668838"/>
              </a:xfrm>
            </p:grpSpPr>
            <p:pic>
              <p:nvPicPr>
                <p:cNvPr id="10" name="Picture 7">
                  <a:extLst>
                    <a:ext uri="{FF2B5EF4-FFF2-40B4-BE49-F238E27FC236}">
                      <a16:creationId xmlns:a16="http://schemas.microsoft.com/office/drawing/2014/main" id="{0BDAED9A-B41E-1371-13FE-D2405025B9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850" y="1066800"/>
                  <a:ext cx="7185025" cy="4668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Rectangle 2">
                  <a:extLst>
                    <a:ext uri="{FF2B5EF4-FFF2-40B4-BE49-F238E27FC236}">
                      <a16:creationId xmlns:a16="http://schemas.microsoft.com/office/drawing/2014/main" id="{F9696FBD-200E-61ED-35FC-920641C957FF}"/>
                    </a:ext>
                  </a:extLst>
                </p:cNvPr>
                <p:cNvSpPr>
                  <a:spLocks noChangeArrowheads="1"/>
                </p:cNvSpPr>
                <p:nvPr/>
              </p:nvSpPr>
              <p:spPr bwMode="auto">
                <a:xfrm>
                  <a:off x="2067719" y="4876800"/>
                  <a:ext cx="294481" cy="228600"/>
                </a:xfrm>
                <a:prstGeom prst="rect">
                  <a:avLst/>
                </a:prstGeom>
                <a:solidFill>
                  <a:srgbClr val="FFFF00"/>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a:t>1</a:t>
                  </a:r>
                  <a:endParaRPr lang="en-IN" altLang="en-US" sz="1200"/>
                </a:p>
              </p:txBody>
            </p:sp>
          </p:grpSp>
          <p:sp>
            <p:nvSpPr>
              <p:cNvPr id="9" name="Rectangle 4">
                <a:extLst>
                  <a:ext uri="{FF2B5EF4-FFF2-40B4-BE49-F238E27FC236}">
                    <a16:creationId xmlns:a16="http://schemas.microsoft.com/office/drawing/2014/main" id="{D23D3F9C-FAB4-6325-60AA-131B73DA69F5}"/>
                  </a:ext>
                </a:extLst>
              </p:cNvPr>
              <p:cNvSpPr>
                <a:spLocks noChangeArrowheads="1"/>
              </p:cNvSpPr>
              <p:nvPr/>
            </p:nvSpPr>
            <p:spPr bwMode="auto">
              <a:xfrm>
                <a:off x="6182438" y="4892039"/>
                <a:ext cx="294481" cy="228600"/>
              </a:xfrm>
              <a:prstGeom prst="rect">
                <a:avLst/>
              </a:prstGeom>
              <a:solidFill>
                <a:srgbClr val="FFFF00"/>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400"/>
                  <a:t>0</a:t>
                </a:r>
                <a:endParaRPr lang="en-IN" altLang="en-US" sz="1400"/>
              </a:p>
            </p:txBody>
          </p:sp>
        </p:grpSp>
        <p:sp>
          <p:nvSpPr>
            <p:cNvPr id="6" name="Rectangle 6">
              <a:extLst>
                <a:ext uri="{FF2B5EF4-FFF2-40B4-BE49-F238E27FC236}">
                  <a16:creationId xmlns:a16="http://schemas.microsoft.com/office/drawing/2014/main" id="{11E8D4CE-2442-DE0C-F383-078D9F2CF775}"/>
                </a:ext>
              </a:extLst>
            </p:cNvPr>
            <p:cNvSpPr>
              <a:spLocks noChangeArrowheads="1"/>
            </p:cNvSpPr>
            <p:nvPr/>
          </p:nvSpPr>
          <p:spPr bwMode="auto">
            <a:xfrm>
              <a:off x="6217998" y="4607560"/>
              <a:ext cx="294481" cy="304799"/>
            </a:xfrm>
            <a:prstGeom prst="rect">
              <a:avLst/>
            </a:prstGeom>
            <a:solidFill>
              <a:srgbClr val="FFFF00"/>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a:t>1</a:t>
              </a:r>
              <a:endParaRPr lang="en-IN" altLang="en-US" sz="1200"/>
            </a:p>
          </p:txBody>
        </p:sp>
        <p:sp>
          <p:nvSpPr>
            <p:cNvPr id="7" name="Rectangle 7">
              <a:extLst>
                <a:ext uri="{FF2B5EF4-FFF2-40B4-BE49-F238E27FC236}">
                  <a16:creationId xmlns:a16="http://schemas.microsoft.com/office/drawing/2014/main" id="{049257C3-E426-4B42-EB71-5844369B85B9}"/>
                </a:ext>
              </a:extLst>
            </p:cNvPr>
            <p:cNvSpPr>
              <a:spLocks noChangeArrowheads="1"/>
            </p:cNvSpPr>
            <p:nvPr/>
          </p:nvSpPr>
          <p:spPr bwMode="auto">
            <a:xfrm>
              <a:off x="6929040" y="4587240"/>
              <a:ext cx="294481" cy="304799"/>
            </a:xfrm>
            <a:prstGeom prst="rect">
              <a:avLst/>
            </a:prstGeom>
            <a:solidFill>
              <a:srgbClr val="FFFF00"/>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a:t>1</a:t>
              </a:r>
              <a:endParaRPr lang="en-IN" altLang="en-US" sz="1200"/>
            </a:p>
          </p:txBody>
        </p:sp>
      </p:grpSp>
      <p:sp>
        <p:nvSpPr>
          <p:cNvPr id="12" name="Text Box 4">
            <a:extLst>
              <a:ext uri="{FF2B5EF4-FFF2-40B4-BE49-F238E27FC236}">
                <a16:creationId xmlns:a16="http://schemas.microsoft.com/office/drawing/2014/main" id="{38880379-02D2-A57B-DF8C-81F5923A62EE}"/>
              </a:ext>
            </a:extLst>
          </p:cNvPr>
          <p:cNvSpPr txBox="1">
            <a:spLocks noChangeArrowheads="1"/>
          </p:cNvSpPr>
          <p:nvPr/>
        </p:nvSpPr>
        <p:spPr bwMode="auto">
          <a:xfrm>
            <a:off x="4739729" y="166899"/>
            <a:ext cx="208262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i="1" dirty="0">
                <a:solidFill>
                  <a:srgbClr val="0000FF"/>
                </a:solidFill>
                <a:latin typeface="Times New Roman" panose="02020603050405020304" pitchFamily="18" charset="0"/>
              </a:rPr>
              <a:t>Checksum</a:t>
            </a:r>
          </a:p>
        </p:txBody>
      </p:sp>
    </p:spTree>
    <p:extLst>
      <p:ext uri="{BB962C8B-B14F-4D97-AF65-F5344CB8AC3E}">
        <p14:creationId xmlns:p14="http://schemas.microsoft.com/office/powerpoint/2010/main" val="10635239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99968E-043E-446F-15A3-B0B820215419}"/>
              </a:ext>
            </a:extLst>
          </p:cNvPr>
          <p:cNvSpPr txBox="1"/>
          <p:nvPr/>
        </p:nvSpPr>
        <p:spPr>
          <a:xfrm>
            <a:off x="2366127" y="2639505"/>
            <a:ext cx="7041823" cy="1077218"/>
          </a:xfrm>
          <a:prstGeom prst="rect">
            <a:avLst/>
          </a:prstGeom>
          <a:noFill/>
        </p:spPr>
        <p:txBody>
          <a:bodyPr wrap="square" rtlCol="0">
            <a:spAutoFit/>
          </a:bodyPr>
          <a:lstStyle/>
          <a:p>
            <a:pPr algn="ctr"/>
            <a:r>
              <a:rPr lang="en-IN" sz="6400" b="1" dirty="0">
                <a:solidFill>
                  <a:schemeClr val="accent1"/>
                </a:solidFill>
                <a:latin typeface="Times New Roman" panose="02020603050405020304" pitchFamily="18" charset="0"/>
                <a:cs typeface="Times New Roman" panose="02020603050405020304" pitchFamily="18" charset="0"/>
              </a:rPr>
              <a:t>Data Link Control</a:t>
            </a:r>
          </a:p>
        </p:txBody>
      </p:sp>
    </p:spTree>
    <p:extLst>
      <p:ext uri="{BB962C8B-B14F-4D97-AF65-F5344CB8AC3E}">
        <p14:creationId xmlns:p14="http://schemas.microsoft.com/office/powerpoint/2010/main" val="13926878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1" name="Text Box 3">
            <a:extLst>
              <a:ext uri="{FF2B5EF4-FFF2-40B4-BE49-F238E27FC236}">
                <a16:creationId xmlns:a16="http://schemas.microsoft.com/office/drawing/2014/main" id="{0305FF34-E2BC-C930-EDFC-F9E209F3E23A}"/>
              </a:ext>
            </a:extLst>
          </p:cNvPr>
          <p:cNvSpPr txBox="1">
            <a:spLocks noChangeArrowheads="1"/>
          </p:cNvSpPr>
          <p:nvPr/>
        </p:nvSpPr>
        <p:spPr bwMode="auto">
          <a:xfrm>
            <a:off x="1752601" y="406400"/>
            <a:ext cx="255069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4000" dirty="0">
                <a:solidFill>
                  <a:srgbClr val="0000FF"/>
                </a:solidFill>
                <a:effectLst>
                  <a:outerShdw blurRad="38100" dist="38100" dir="2700000" algn="tl">
                    <a:srgbClr val="C0C0C0"/>
                  </a:outerShdw>
                </a:effectLst>
                <a:latin typeface="Times" panose="02020603050405020304" pitchFamily="18" charset="0"/>
              </a:rPr>
              <a:t>FRAMING</a:t>
            </a:r>
          </a:p>
        </p:txBody>
      </p:sp>
      <p:sp>
        <p:nvSpPr>
          <p:cNvPr id="565252" name="Text Box 4">
            <a:extLst>
              <a:ext uri="{FF2B5EF4-FFF2-40B4-BE49-F238E27FC236}">
                <a16:creationId xmlns:a16="http://schemas.microsoft.com/office/drawing/2014/main" id="{65418557-EA9C-98EC-B840-7A090346127B}"/>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latin typeface="Times New Roman" panose="02020603050405020304" pitchFamily="18" charset="0"/>
            </a:endParaRPr>
          </a:p>
        </p:txBody>
      </p:sp>
      <p:sp>
        <p:nvSpPr>
          <p:cNvPr id="565253" name="Rectangle 5">
            <a:extLst>
              <a:ext uri="{FF2B5EF4-FFF2-40B4-BE49-F238E27FC236}">
                <a16:creationId xmlns:a16="http://schemas.microsoft.com/office/drawing/2014/main" id="{C41D5564-AEB0-8D38-0C7A-E8E8268ED63B}"/>
              </a:ext>
            </a:extLst>
          </p:cNvPr>
          <p:cNvSpPr>
            <a:spLocks noChangeArrowheads="1"/>
          </p:cNvSpPr>
          <p:nvPr/>
        </p:nvSpPr>
        <p:spPr bwMode="auto">
          <a:xfrm>
            <a:off x="365760" y="1389329"/>
            <a:ext cx="1086612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1" hangingPunct="1"/>
            <a:r>
              <a:rPr lang="en-US" altLang="en-US" sz="2800" i="1" dirty="0">
                <a:effectLst>
                  <a:outerShdw blurRad="38100" dist="38100" dir="2700000" algn="tl">
                    <a:srgbClr val="C0C0C0"/>
                  </a:outerShdw>
                </a:effectLst>
                <a:latin typeface="Times New Roman" panose="02020603050405020304" pitchFamily="18" charset="0"/>
              </a:rPr>
              <a:t>The data link layer needs to pack bits into </a:t>
            </a:r>
            <a:r>
              <a:rPr lang="en-US" altLang="en-US" sz="2800" i="1" dirty="0">
                <a:solidFill>
                  <a:schemeClr val="hlink"/>
                </a:solidFill>
                <a:effectLst>
                  <a:outerShdw blurRad="38100" dist="38100" dir="2700000" algn="tl">
                    <a:srgbClr val="C0C0C0"/>
                  </a:outerShdw>
                </a:effectLst>
                <a:latin typeface="Times New Roman" panose="02020603050405020304" pitchFamily="18" charset="0"/>
              </a:rPr>
              <a:t>frames</a:t>
            </a:r>
            <a:r>
              <a:rPr lang="en-US" altLang="en-US" sz="2800" i="1" dirty="0">
                <a:effectLst>
                  <a:outerShdw blurRad="38100" dist="38100" dir="2700000" algn="tl">
                    <a:srgbClr val="C0C0C0"/>
                  </a:outerShdw>
                </a:effectLst>
                <a:latin typeface="Times New Roman" panose="02020603050405020304" pitchFamily="18" charset="0"/>
              </a:rPr>
              <a:t>, so that each frame is distinguishable from another. </a:t>
            </a:r>
          </a:p>
        </p:txBody>
      </p:sp>
      <p:pic>
        <p:nvPicPr>
          <p:cNvPr id="3" name="Picture 6">
            <a:extLst>
              <a:ext uri="{FF2B5EF4-FFF2-40B4-BE49-F238E27FC236}">
                <a16:creationId xmlns:a16="http://schemas.microsoft.com/office/drawing/2014/main" id="{342D5B3A-8B16-425B-6FD5-CFBAAC9C8D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592" y="2811002"/>
            <a:ext cx="8586094" cy="119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6">
            <a:extLst>
              <a:ext uri="{FF2B5EF4-FFF2-40B4-BE49-F238E27FC236}">
                <a16:creationId xmlns:a16="http://schemas.microsoft.com/office/drawing/2014/main" id="{E3C732A2-885A-BBC0-EF19-90AEFF82AD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3447" y="4514565"/>
            <a:ext cx="8692063" cy="16109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6308" name="Text Box 4">
            <a:extLst>
              <a:ext uri="{FF2B5EF4-FFF2-40B4-BE49-F238E27FC236}">
                <a16:creationId xmlns:a16="http://schemas.microsoft.com/office/drawing/2014/main" id="{D21C9D65-1112-1A4F-B7B1-A21C1AC695D2}"/>
              </a:ext>
            </a:extLst>
          </p:cNvPr>
          <p:cNvSpPr txBox="1">
            <a:spLocks noChangeArrowheads="1"/>
          </p:cNvSpPr>
          <p:nvPr/>
        </p:nvSpPr>
        <p:spPr bwMode="auto">
          <a:xfrm>
            <a:off x="3291840" y="344269"/>
            <a:ext cx="527580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i="1" dirty="0">
                <a:solidFill>
                  <a:srgbClr val="0000FF"/>
                </a:solidFill>
                <a:latin typeface="Times New Roman" panose="02020603050405020304" pitchFamily="18" charset="0"/>
              </a:rPr>
              <a:t>Byte stuffing and unstuffing</a:t>
            </a:r>
          </a:p>
        </p:txBody>
      </p:sp>
      <p:pic>
        <p:nvPicPr>
          <p:cNvPr id="866310" name="Picture 6">
            <a:extLst>
              <a:ext uri="{FF2B5EF4-FFF2-40B4-BE49-F238E27FC236}">
                <a16:creationId xmlns:a16="http://schemas.microsoft.com/office/drawing/2014/main" id="{54F71821-2351-45A3-EBDD-BA3AC7783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339047"/>
            <a:ext cx="7331075" cy="406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A497675E-255B-8F56-18FB-095F439BE5FF}"/>
              </a:ext>
            </a:extLst>
          </p:cNvPr>
          <p:cNvSpPr txBox="1"/>
          <p:nvPr/>
        </p:nvSpPr>
        <p:spPr>
          <a:xfrm>
            <a:off x="1224280" y="5751493"/>
            <a:ext cx="9108440" cy="830997"/>
          </a:xfrm>
          <a:prstGeom prst="rect">
            <a:avLst/>
          </a:prstGeom>
          <a:noFill/>
        </p:spPr>
        <p:txBody>
          <a:bodyPr wrap="square">
            <a:spAutoFit/>
          </a:bodyPr>
          <a:lstStyle/>
          <a:p>
            <a:pPr algn="ctr"/>
            <a:r>
              <a:rPr lang="en-US" altLang="en-US" sz="2400" baseline="0" dirty="0">
                <a:latin typeface="Times New Roman" panose="02020603050405020304" pitchFamily="18" charset="0"/>
                <a:cs typeface="Times New Roman" panose="02020603050405020304" pitchFamily="18" charset="0"/>
              </a:rPr>
              <a:t>Byte stuffing is the process of adding 1 extra byte whenever there is a flag or escape character in the text.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8356" name="Text Box 4">
            <a:extLst>
              <a:ext uri="{FF2B5EF4-FFF2-40B4-BE49-F238E27FC236}">
                <a16:creationId xmlns:a16="http://schemas.microsoft.com/office/drawing/2014/main" id="{8AF400A7-0C23-4B6F-0D66-A1BEF9CCD306}"/>
              </a:ext>
            </a:extLst>
          </p:cNvPr>
          <p:cNvSpPr txBox="1">
            <a:spLocks noChangeArrowheads="1"/>
          </p:cNvSpPr>
          <p:nvPr/>
        </p:nvSpPr>
        <p:spPr bwMode="auto">
          <a:xfrm>
            <a:off x="3647440" y="105509"/>
            <a:ext cx="76708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3600" i="1" dirty="0">
                <a:solidFill>
                  <a:srgbClr val="0000FF"/>
                </a:solidFill>
                <a:latin typeface="Times New Roman" panose="02020603050405020304" pitchFamily="18" charset="0"/>
              </a:rPr>
              <a:t>Bit stuffing and unstuffing</a:t>
            </a:r>
          </a:p>
        </p:txBody>
      </p:sp>
      <p:pic>
        <p:nvPicPr>
          <p:cNvPr id="868358" name="Picture 6">
            <a:extLst>
              <a:ext uri="{FF2B5EF4-FFF2-40B4-BE49-F238E27FC236}">
                <a16:creationId xmlns:a16="http://schemas.microsoft.com/office/drawing/2014/main" id="{EB9FCD16-1AE9-7D0D-F16F-B6DE0E69E0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2080" y="1084442"/>
            <a:ext cx="6329680" cy="4485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11">
            <a:extLst>
              <a:ext uri="{FF2B5EF4-FFF2-40B4-BE49-F238E27FC236}">
                <a16:creationId xmlns:a16="http://schemas.microsoft.com/office/drawing/2014/main" id="{6E88237B-6336-930A-AFFA-58357AB56FDB}"/>
              </a:ext>
            </a:extLst>
          </p:cNvPr>
          <p:cNvSpPr>
            <a:spLocks noChangeArrowheads="1"/>
          </p:cNvSpPr>
          <p:nvPr/>
        </p:nvSpPr>
        <p:spPr bwMode="auto">
          <a:xfrm>
            <a:off x="355600" y="2090171"/>
            <a:ext cx="4500880" cy="2677656"/>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sz="2800" dirty="0">
                <a:latin typeface="Times New Roman" panose="02020603050405020304" pitchFamily="18" charset="0"/>
                <a:cs typeface="Times New Roman" panose="02020603050405020304" pitchFamily="18" charset="0"/>
              </a:rPr>
              <a:t>Bit stuffing is the process of adding one extra 0 whenever five consecutive 1s follow a 0 in the data, so that the receiver does not mistake</a:t>
            </a:r>
          </a:p>
          <a:p>
            <a:pPr algn="ctr"/>
            <a:r>
              <a:rPr lang="en-US" altLang="en-US" sz="2800" dirty="0">
                <a:latin typeface="Times New Roman" panose="02020603050405020304" pitchFamily="18" charset="0"/>
                <a:cs typeface="Times New Roman" panose="02020603050405020304" pitchFamily="18" charset="0"/>
              </a:rPr>
              <a:t>the pattern 0111110 for a flag.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E7170-2820-1A6B-C4C3-0B1610D4F87A}"/>
              </a:ext>
            </a:extLst>
          </p:cNvPr>
          <p:cNvSpPr>
            <a:spLocks noGrp="1"/>
          </p:cNvSpPr>
          <p:nvPr>
            <p:ph type="title"/>
          </p:nvPr>
        </p:nvSpPr>
        <p:spPr>
          <a:xfrm>
            <a:off x="0" y="365125"/>
            <a:ext cx="12192000" cy="1325563"/>
          </a:xfrm>
        </p:spPr>
        <p:txBody>
          <a:bodyPr>
            <a:normAutofit/>
          </a:bodyPr>
          <a:lstStyle/>
          <a:p>
            <a:pPr algn="ctr"/>
            <a:r>
              <a:rPr lang="en-IN" sz="4800" b="1" dirty="0">
                <a:solidFill>
                  <a:schemeClr val="accent1"/>
                </a:solidFill>
                <a:latin typeface="Times New Roman" panose="02020603050405020304" pitchFamily="18" charset="0"/>
                <a:cs typeface="Times New Roman" panose="02020603050405020304" pitchFamily="18" charset="0"/>
              </a:rPr>
              <a:t>Flow and Error Control</a:t>
            </a:r>
          </a:p>
        </p:txBody>
      </p:sp>
      <p:sp>
        <p:nvSpPr>
          <p:cNvPr id="11" name="TextBox 10">
            <a:extLst>
              <a:ext uri="{FF2B5EF4-FFF2-40B4-BE49-F238E27FC236}">
                <a16:creationId xmlns:a16="http://schemas.microsoft.com/office/drawing/2014/main" id="{0232E6D4-20B4-2936-2D73-53E5988EBCB7}"/>
              </a:ext>
            </a:extLst>
          </p:cNvPr>
          <p:cNvSpPr txBox="1"/>
          <p:nvPr/>
        </p:nvSpPr>
        <p:spPr>
          <a:xfrm>
            <a:off x="386080" y="3429000"/>
            <a:ext cx="11531600" cy="830997"/>
          </a:xfrm>
          <a:prstGeom prst="rect">
            <a:avLst/>
          </a:prstGeom>
          <a:noFill/>
        </p:spPr>
        <p:txBody>
          <a:bodyPr wrap="square">
            <a:spAutoFit/>
          </a:bodyPr>
          <a:lstStyle/>
          <a:p>
            <a:r>
              <a:rPr lang="en-US" altLang="en-US" sz="2400" b="1" baseline="0" dirty="0">
                <a:solidFill>
                  <a:srgbClr val="FF0000"/>
                </a:solidFill>
                <a:latin typeface="Times New Roman" panose="02020603050405020304" pitchFamily="18" charset="0"/>
                <a:cs typeface="Times New Roman" panose="02020603050405020304" pitchFamily="18" charset="0"/>
              </a:rPr>
              <a:t>Flow Control : </a:t>
            </a:r>
            <a:r>
              <a:rPr lang="en-US" altLang="en-US" sz="2400" b="1" baseline="0" dirty="0">
                <a:solidFill>
                  <a:srgbClr val="00B050"/>
                </a:solidFill>
                <a:latin typeface="Times New Roman" panose="02020603050405020304" pitchFamily="18" charset="0"/>
                <a:cs typeface="Times New Roman" panose="02020603050405020304" pitchFamily="18" charset="0"/>
              </a:rPr>
              <a:t>Flow control refers to a set of procedures used to </a:t>
            </a:r>
            <a:r>
              <a:rPr lang="en-US" altLang="en-US" sz="2400" b="1" baseline="0" dirty="0">
                <a:solidFill>
                  <a:srgbClr val="0000FF"/>
                </a:solidFill>
                <a:latin typeface="Times New Roman" panose="02020603050405020304" pitchFamily="18" charset="0"/>
                <a:cs typeface="Times New Roman" panose="02020603050405020304" pitchFamily="18" charset="0"/>
              </a:rPr>
              <a:t>restrict  the amount of data</a:t>
            </a:r>
            <a:r>
              <a:rPr lang="en-US" altLang="en-US" sz="2400" b="1" baseline="0" dirty="0">
                <a:solidFill>
                  <a:srgbClr val="00B050"/>
                </a:solidFill>
                <a:latin typeface="Times New Roman" panose="02020603050405020304" pitchFamily="18" charset="0"/>
                <a:cs typeface="Times New Roman" panose="02020603050405020304" pitchFamily="18" charset="0"/>
              </a:rPr>
              <a:t> that the sender can send  before waiting for acknowledgment.</a:t>
            </a:r>
          </a:p>
        </p:txBody>
      </p:sp>
      <p:sp>
        <p:nvSpPr>
          <p:cNvPr id="20" name="TextBox 19">
            <a:extLst>
              <a:ext uri="{FF2B5EF4-FFF2-40B4-BE49-F238E27FC236}">
                <a16:creationId xmlns:a16="http://schemas.microsoft.com/office/drawing/2014/main" id="{8A39EC13-6ACC-9E24-C550-5EB71BD37931}"/>
              </a:ext>
            </a:extLst>
          </p:cNvPr>
          <p:cNvSpPr txBox="1"/>
          <p:nvPr/>
        </p:nvSpPr>
        <p:spPr>
          <a:xfrm>
            <a:off x="386080" y="4629835"/>
            <a:ext cx="11531600" cy="892552"/>
          </a:xfrm>
          <a:prstGeom prst="rect">
            <a:avLst/>
          </a:prstGeom>
          <a:noFill/>
        </p:spPr>
        <p:txBody>
          <a:bodyPr wrap="square">
            <a:spAutoFit/>
          </a:bodyPr>
          <a:lstStyle/>
          <a:p>
            <a:r>
              <a:rPr lang="en-US" altLang="en-US" sz="2800" b="1" dirty="0">
                <a:solidFill>
                  <a:srgbClr val="FF0000"/>
                </a:solidFill>
                <a:latin typeface="Times New Roman" panose="02020603050405020304" pitchFamily="18" charset="0"/>
                <a:cs typeface="Times New Roman" panose="02020603050405020304" pitchFamily="18" charset="0"/>
              </a:rPr>
              <a:t>Error control: </a:t>
            </a:r>
            <a:r>
              <a:rPr lang="en-US" altLang="en-US" sz="2400" dirty="0">
                <a:solidFill>
                  <a:srgbClr val="0070C0"/>
                </a:solidFill>
                <a:latin typeface="Times New Roman" panose="02020603050405020304" pitchFamily="18" charset="0"/>
                <a:cs typeface="Times New Roman" panose="02020603050405020304" pitchFamily="18" charset="0"/>
              </a:rPr>
              <a:t>Error control in the data link layer is based on </a:t>
            </a:r>
            <a:r>
              <a:rPr lang="en-US" altLang="en-US" sz="2400" dirty="0">
                <a:solidFill>
                  <a:srgbClr val="FF0000"/>
                </a:solidFill>
                <a:latin typeface="Times New Roman" panose="02020603050405020304" pitchFamily="18" charset="0"/>
                <a:cs typeface="Times New Roman" panose="02020603050405020304" pitchFamily="18" charset="0"/>
              </a:rPr>
              <a:t>automatic repeat request</a:t>
            </a:r>
            <a:r>
              <a:rPr lang="en-US" altLang="en-US" sz="2400" dirty="0">
                <a:solidFill>
                  <a:srgbClr val="0070C0"/>
                </a:solidFill>
                <a:latin typeface="Times New Roman" panose="02020603050405020304" pitchFamily="18" charset="0"/>
                <a:cs typeface="Times New Roman" panose="02020603050405020304" pitchFamily="18" charset="0"/>
              </a:rPr>
              <a:t>, which is the retransmission of data.</a:t>
            </a:r>
          </a:p>
        </p:txBody>
      </p:sp>
      <p:sp>
        <p:nvSpPr>
          <p:cNvPr id="3" name="Rectangle 5">
            <a:extLst>
              <a:ext uri="{FF2B5EF4-FFF2-40B4-BE49-F238E27FC236}">
                <a16:creationId xmlns:a16="http://schemas.microsoft.com/office/drawing/2014/main" id="{9B4AA7F8-0982-0308-2072-67DC5F0960BF}"/>
              </a:ext>
            </a:extLst>
          </p:cNvPr>
          <p:cNvSpPr>
            <a:spLocks noChangeArrowheads="1"/>
          </p:cNvSpPr>
          <p:nvPr/>
        </p:nvSpPr>
        <p:spPr bwMode="auto">
          <a:xfrm>
            <a:off x="304800" y="1804978"/>
            <a:ext cx="113284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1" hangingPunct="1"/>
            <a:r>
              <a:rPr lang="en-US" altLang="en-US" sz="2800" i="1" baseline="0" dirty="0">
                <a:effectLst>
                  <a:outerShdw blurRad="38100" dist="38100" dir="2700000" algn="tl">
                    <a:srgbClr val="C0C0C0"/>
                  </a:outerShdw>
                </a:effectLst>
                <a:latin typeface="Times New Roman" panose="02020603050405020304" pitchFamily="18" charset="0"/>
              </a:rPr>
              <a:t>The most important responsibilities of the data link layer are </a:t>
            </a:r>
            <a:r>
              <a:rPr lang="en-US" altLang="en-US" sz="2800" i="1" baseline="0" dirty="0">
                <a:solidFill>
                  <a:srgbClr val="FF0000"/>
                </a:solidFill>
                <a:effectLst>
                  <a:outerShdw blurRad="38100" dist="38100" dir="2700000" algn="tl">
                    <a:srgbClr val="C0C0C0"/>
                  </a:outerShdw>
                </a:effectLst>
                <a:latin typeface="Times New Roman" panose="02020603050405020304" pitchFamily="18" charset="0"/>
              </a:rPr>
              <a:t>flow control </a:t>
            </a:r>
            <a:r>
              <a:rPr lang="en-US" altLang="en-US" sz="2800" i="1" baseline="0" dirty="0">
                <a:effectLst>
                  <a:outerShdw blurRad="38100" dist="38100" dir="2700000" algn="tl">
                    <a:srgbClr val="C0C0C0"/>
                  </a:outerShdw>
                </a:effectLst>
                <a:latin typeface="Times New Roman" panose="02020603050405020304" pitchFamily="18" charset="0"/>
              </a:rPr>
              <a:t>and </a:t>
            </a:r>
            <a:r>
              <a:rPr lang="en-US" altLang="en-US" sz="2800" i="1" baseline="0" dirty="0">
                <a:solidFill>
                  <a:srgbClr val="FF0000"/>
                </a:solidFill>
                <a:effectLst>
                  <a:outerShdw blurRad="38100" dist="38100" dir="2700000" algn="tl">
                    <a:srgbClr val="C0C0C0"/>
                  </a:outerShdw>
                </a:effectLst>
                <a:latin typeface="Times New Roman" panose="02020603050405020304" pitchFamily="18" charset="0"/>
              </a:rPr>
              <a:t>error control</a:t>
            </a:r>
            <a:r>
              <a:rPr lang="en-US" altLang="en-US" sz="2800" i="1" baseline="0" dirty="0">
                <a:effectLst>
                  <a:outerShdw blurRad="38100" dist="38100" dir="2700000" algn="tl">
                    <a:srgbClr val="C0C0C0"/>
                  </a:outerShdw>
                </a:effectLst>
                <a:latin typeface="Times New Roman" panose="02020603050405020304" pitchFamily="18" charset="0"/>
              </a:rPr>
              <a:t>. Collectively, these functions are known as </a:t>
            </a:r>
            <a:r>
              <a:rPr lang="en-US" altLang="en-US" sz="2800" i="1" baseline="0" dirty="0">
                <a:solidFill>
                  <a:srgbClr val="FF0000"/>
                </a:solidFill>
                <a:effectLst>
                  <a:outerShdw blurRad="38100" dist="38100" dir="2700000" algn="tl">
                    <a:srgbClr val="C0C0C0"/>
                  </a:outerShdw>
                </a:effectLst>
                <a:latin typeface="Times New Roman" panose="02020603050405020304" pitchFamily="18" charset="0"/>
              </a:rPr>
              <a:t>data link control</a:t>
            </a:r>
            <a:r>
              <a:rPr lang="en-US" altLang="en-US" sz="2800" i="1" baseline="0" dirty="0">
                <a:effectLst>
                  <a:outerShdw blurRad="38100" dist="38100" dir="2700000" algn="tl">
                    <a:srgbClr val="C0C0C0"/>
                  </a:outerShdw>
                </a:effectLst>
                <a:latin typeface="Times New Roman" panose="02020603050405020304" pitchFamily="18" charset="0"/>
              </a:rPr>
              <a:t>.</a:t>
            </a:r>
          </a:p>
        </p:txBody>
      </p:sp>
    </p:spTree>
    <p:extLst>
      <p:ext uri="{BB962C8B-B14F-4D97-AF65-F5344CB8AC3E}">
        <p14:creationId xmlns:p14="http://schemas.microsoft.com/office/powerpoint/2010/main" val="23352169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a:extLst>
              <a:ext uri="{FF2B5EF4-FFF2-40B4-BE49-F238E27FC236}">
                <a16:creationId xmlns:a16="http://schemas.microsoft.com/office/drawing/2014/main" id="{57F243D8-DCFC-A13D-5855-54AAB8C1EA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0670" y="1003935"/>
            <a:ext cx="8528050" cy="380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071557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211A55D9-F1FA-6683-CD84-31E128D85264}"/>
              </a:ext>
            </a:extLst>
          </p:cNvPr>
          <p:cNvSpPr>
            <a:spLocks noChangeArrowheads="1"/>
          </p:cNvSpPr>
          <p:nvPr/>
        </p:nvSpPr>
        <p:spPr bwMode="auto">
          <a:xfrm>
            <a:off x="375920" y="1762760"/>
            <a:ext cx="1074928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1" hangingPunct="1"/>
            <a:r>
              <a:rPr lang="en-US" altLang="en-US" sz="2800" i="1" baseline="0" dirty="0">
                <a:effectLst>
                  <a:outerShdw blurRad="38100" dist="38100" dir="2700000" algn="tl">
                    <a:srgbClr val="C0C0C0"/>
                  </a:outerShdw>
                </a:effectLst>
                <a:latin typeface="Times New Roman" panose="02020603050405020304" pitchFamily="18" charset="0"/>
              </a:rPr>
              <a:t>Let us first assume we have an ideal channel in which no frames are lost, duplicated, or corrupted. We introduce two protocols for this type of channel.</a:t>
            </a:r>
          </a:p>
        </p:txBody>
      </p:sp>
      <p:sp>
        <p:nvSpPr>
          <p:cNvPr id="5" name="Rectangle 6">
            <a:extLst>
              <a:ext uri="{FF2B5EF4-FFF2-40B4-BE49-F238E27FC236}">
                <a16:creationId xmlns:a16="http://schemas.microsoft.com/office/drawing/2014/main" id="{DFAD71F6-9F90-8804-E8D1-962F5B98D2BB}"/>
              </a:ext>
            </a:extLst>
          </p:cNvPr>
          <p:cNvSpPr>
            <a:spLocks noChangeArrowheads="1"/>
          </p:cNvSpPr>
          <p:nvPr/>
        </p:nvSpPr>
        <p:spPr bwMode="auto">
          <a:xfrm>
            <a:off x="528320" y="3836670"/>
            <a:ext cx="6705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anose="05000000000000000000" pitchFamily="2" charset="2"/>
              <a:buNone/>
            </a:pPr>
            <a:r>
              <a:rPr lang="en-US" altLang="en-US" sz="2400" baseline="0" dirty="0">
                <a:solidFill>
                  <a:srgbClr val="0033CC"/>
                </a:solidFill>
                <a:latin typeface="Times New Roman" panose="02020603050405020304" pitchFamily="18" charset="0"/>
              </a:rPr>
              <a:t>Simplest Protocol</a:t>
            </a:r>
            <a:br>
              <a:rPr lang="fr-FR" altLang="en-US" sz="2400" baseline="0" dirty="0">
                <a:solidFill>
                  <a:srgbClr val="0033CC"/>
                </a:solidFill>
                <a:latin typeface="Times New Roman" panose="02020603050405020304" pitchFamily="18" charset="0"/>
              </a:rPr>
            </a:br>
            <a:r>
              <a:rPr lang="fr-FR" altLang="en-US" sz="2400" baseline="0" dirty="0">
                <a:solidFill>
                  <a:srgbClr val="0033CC"/>
                </a:solidFill>
                <a:latin typeface="Times New Roman" panose="02020603050405020304" pitchFamily="18" charset="0"/>
              </a:rPr>
              <a:t>Stop-and-</a:t>
            </a:r>
            <a:r>
              <a:rPr lang="fr-FR" altLang="en-US" sz="2400" baseline="0" dirty="0" err="1">
                <a:solidFill>
                  <a:srgbClr val="0033CC"/>
                </a:solidFill>
                <a:latin typeface="Times New Roman" panose="02020603050405020304" pitchFamily="18" charset="0"/>
              </a:rPr>
              <a:t>Wait</a:t>
            </a:r>
            <a:r>
              <a:rPr lang="fr-FR" altLang="en-US" sz="2400" baseline="0" dirty="0">
                <a:solidFill>
                  <a:srgbClr val="0033CC"/>
                </a:solidFill>
                <a:latin typeface="Times New Roman" panose="02020603050405020304" pitchFamily="18" charset="0"/>
              </a:rPr>
              <a:t> Protocol</a:t>
            </a:r>
            <a:endParaRPr lang="en-US" altLang="en-US" sz="2400" baseline="0" dirty="0">
              <a:solidFill>
                <a:srgbClr val="0033CC"/>
              </a:solidFill>
              <a:latin typeface="Times New Roman" panose="02020603050405020304" pitchFamily="18" charset="0"/>
            </a:endParaRPr>
          </a:p>
        </p:txBody>
      </p:sp>
      <p:sp>
        <p:nvSpPr>
          <p:cNvPr id="3" name="Text Box 3">
            <a:extLst>
              <a:ext uri="{FF2B5EF4-FFF2-40B4-BE49-F238E27FC236}">
                <a16:creationId xmlns:a16="http://schemas.microsoft.com/office/drawing/2014/main" id="{200CA614-5AA5-CB88-B24E-B3768D3C3A84}"/>
              </a:ext>
            </a:extLst>
          </p:cNvPr>
          <p:cNvSpPr txBox="1">
            <a:spLocks noGrp="1" noChangeArrowheads="1"/>
          </p:cNvSpPr>
          <p:nvPr>
            <p:ph type="title"/>
          </p:nvPr>
        </p:nvSpPr>
        <p:spPr bwMode="auto">
          <a:xfrm>
            <a:off x="838200" y="732441"/>
            <a:ext cx="5262979" cy="590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dirty="0">
                <a:solidFill>
                  <a:srgbClr val="0070C0"/>
                </a:solidFill>
                <a:effectLst>
                  <a:outerShdw blurRad="38100" dist="38100" dir="2700000" algn="tl">
                    <a:srgbClr val="C0C0C0"/>
                  </a:outerShdw>
                </a:effectLst>
                <a:latin typeface="Times" panose="02020603050405020304" pitchFamily="18" charset="0"/>
              </a:rPr>
              <a:t>   NOISLESS CHANNELS</a:t>
            </a:r>
          </a:p>
        </p:txBody>
      </p:sp>
    </p:spTree>
    <p:extLst>
      <p:ext uri="{BB962C8B-B14F-4D97-AF65-F5344CB8AC3E}">
        <p14:creationId xmlns:p14="http://schemas.microsoft.com/office/powerpoint/2010/main" val="37946541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2DD51-1BD0-F74E-8892-3BCB03AE8157}"/>
              </a:ext>
            </a:extLst>
          </p:cNvPr>
          <p:cNvSpPr>
            <a:spLocks noGrp="1"/>
          </p:cNvSpPr>
          <p:nvPr>
            <p:ph type="title"/>
          </p:nvPr>
        </p:nvSpPr>
        <p:spPr/>
        <p:txBody>
          <a:bodyPr/>
          <a:lstStyle/>
          <a:p>
            <a:r>
              <a:rPr lang="en-US" altLang="en-US" dirty="0">
                <a:solidFill>
                  <a:srgbClr val="0033CC"/>
                </a:solidFill>
                <a:latin typeface="Times New Roman" panose="02020603050405020304" pitchFamily="18" charset="0"/>
              </a:rPr>
              <a:t>Simplest Protocol</a:t>
            </a:r>
            <a:endParaRPr lang="en-IN" dirty="0"/>
          </a:p>
        </p:txBody>
      </p:sp>
      <p:sp>
        <p:nvSpPr>
          <p:cNvPr id="5" name="TextBox 4">
            <a:extLst>
              <a:ext uri="{FF2B5EF4-FFF2-40B4-BE49-F238E27FC236}">
                <a16:creationId xmlns:a16="http://schemas.microsoft.com/office/drawing/2014/main" id="{EEECF68D-4F7C-0095-C3C4-1F4DB6116CFC}"/>
              </a:ext>
            </a:extLst>
          </p:cNvPr>
          <p:cNvSpPr txBox="1"/>
          <p:nvPr/>
        </p:nvSpPr>
        <p:spPr>
          <a:xfrm>
            <a:off x="233680" y="1776998"/>
            <a:ext cx="5699760" cy="4524315"/>
          </a:xfrm>
          <a:prstGeom prst="rect">
            <a:avLst/>
          </a:prstGeom>
          <a:noFill/>
        </p:spPr>
        <p:txBody>
          <a:bodyPr wrap="square">
            <a:spAutoFit/>
          </a:bodyPr>
          <a:lstStyle/>
          <a:p>
            <a:pPr marL="342900" indent="-342900" algn="just">
              <a:buFont typeface="Wingdings" panose="05000000000000000000" pitchFamily="2" charset="2"/>
              <a:buChar char="Ø"/>
            </a:pPr>
            <a:r>
              <a:rPr lang="en-US" altLang="en-US" sz="2400" baseline="0" dirty="0">
                <a:latin typeface="Times New Roman" panose="02020603050405020304" pitchFamily="18" charset="0"/>
              </a:rPr>
              <a:t>Figure shows an example of communication using this protocol. It is very simple. </a:t>
            </a:r>
          </a:p>
          <a:p>
            <a:pPr marL="342900" indent="-342900" algn="just">
              <a:buFont typeface="Wingdings" panose="05000000000000000000" pitchFamily="2" charset="2"/>
              <a:buChar char="Ø"/>
            </a:pPr>
            <a:r>
              <a:rPr lang="en-US" altLang="en-US" sz="2400" baseline="0" dirty="0">
                <a:latin typeface="Times New Roman" panose="02020603050405020304" pitchFamily="18" charset="0"/>
              </a:rPr>
              <a:t>The sender sends a sequence of frames without even thinking about the receiver. </a:t>
            </a:r>
          </a:p>
          <a:p>
            <a:pPr marL="342900" indent="-342900" algn="just">
              <a:buFont typeface="Wingdings" panose="05000000000000000000" pitchFamily="2" charset="2"/>
              <a:buChar char="Ø"/>
            </a:pPr>
            <a:r>
              <a:rPr lang="en-US" altLang="en-US" sz="2400" baseline="0" dirty="0">
                <a:latin typeface="Times New Roman" panose="02020603050405020304" pitchFamily="18" charset="0"/>
              </a:rPr>
              <a:t>To send three frames, three events occur at the sender site and three events at the receiver site.</a:t>
            </a:r>
          </a:p>
          <a:p>
            <a:pPr marL="342900" indent="-342900" algn="just">
              <a:buFont typeface="Wingdings" panose="05000000000000000000" pitchFamily="2" charset="2"/>
              <a:buChar char="Ø"/>
            </a:pPr>
            <a:r>
              <a:rPr lang="en-US" altLang="en-US" sz="2400" baseline="0" dirty="0">
                <a:latin typeface="Times New Roman" panose="02020603050405020304" pitchFamily="18" charset="0"/>
              </a:rPr>
              <a:t> Note that the data frames are shown by tilted boxes; the height of the box defines the transmission time difference between</a:t>
            </a:r>
          </a:p>
          <a:p>
            <a:pPr marL="342900" indent="-342900" algn="just">
              <a:buFont typeface="Wingdings" panose="05000000000000000000" pitchFamily="2" charset="2"/>
              <a:buChar char="Ø"/>
            </a:pPr>
            <a:r>
              <a:rPr lang="en-US" altLang="en-US" sz="2400" baseline="0" dirty="0">
                <a:latin typeface="Times New Roman" panose="02020603050405020304" pitchFamily="18" charset="0"/>
              </a:rPr>
              <a:t>the first bit and the last bit in the frame.</a:t>
            </a:r>
          </a:p>
        </p:txBody>
      </p:sp>
      <p:pic>
        <p:nvPicPr>
          <p:cNvPr id="6" name="Picture 6">
            <a:extLst>
              <a:ext uri="{FF2B5EF4-FFF2-40B4-BE49-F238E27FC236}">
                <a16:creationId xmlns:a16="http://schemas.microsoft.com/office/drawing/2014/main" id="{6C7E0320-8767-26F2-5796-65FBBA6EF9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5281" y="2240598"/>
            <a:ext cx="5539400" cy="336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851545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E6F7A-4A23-69D6-BCFC-18189F0D064C}"/>
              </a:ext>
            </a:extLst>
          </p:cNvPr>
          <p:cNvSpPr>
            <a:spLocks noGrp="1"/>
          </p:cNvSpPr>
          <p:nvPr>
            <p:ph type="title"/>
          </p:nvPr>
        </p:nvSpPr>
        <p:spPr>
          <a:xfrm>
            <a:off x="3566160" y="100965"/>
            <a:ext cx="5948680" cy="1325563"/>
          </a:xfrm>
        </p:spPr>
        <p:txBody>
          <a:bodyPr/>
          <a:lstStyle/>
          <a:p>
            <a:r>
              <a:rPr lang="fr-FR" altLang="en-US" dirty="0">
                <a:solidFill>
                  <a:srgbClr val="0033CC"/>
                </a:solidFill>
                <a:latin typeface="Times New Roman" panose="02020603050405020304" pitchFamily="18" charset="0"/>
              </a:rPr>
              <a:t>Stop-and-</a:t>
            </a:r>
            <a:r>
              <a:rPr lang="fr-FR" altLang="en-US" dirty="0" err="1">
                <a:solidFill>
                  <a:srgbClr val="0033CC"/>
                </a:solidFill>
                <a:latin typeface="Times New Roman" panose="02020603050405020304" pitchFamily="18" charset="0"/>
              </a:rPr>
              <a:t>Wait</a:t>
            </a:r>
            <a:r>
              <a:rPr lang="fr-FR" altLang="en-US" dirty="0">
                <a:solidFill>
                  <a:srgbClr val="0033CC"/>
                </a:solidFill>
                <a:latin typeface="Times New Roman" panose="02020603050405020304" pitchFamily="18" charset="0"/>
              </a:rPr>
              <a:t> Protocol</a:t>
            </a:r>
            <a:endParaRPr lang="en-IN" dirty="0"/>
          </a:p>
        </p:txBody>
      </p:sp>
      <p:sp>
        <p:nvSpPr>
          <p:cNvPr id="5" name="TextBox 4">
            <a:extLst>
              <a:ext uri="{FF2B5EF4-FFF2-40B4-BE49-F238E27FC236}">
                <a16:creationId xmlns:a16="http://schemas.microsoft.com/office/drawing/2014/main" id="{358DD156-F28D-8AC2-1E69-9FAF7C823247}"/>
              </a:ext>
            </a:extLst>
          </p:cNvPr>
          <p:cNvSpPr txBox="1"/>
          <p:nvPr/>
        </p:nvSpPr>
        <p:spPr>
          <a:xfrm>
            <a:off x="254000" y="1426528"/>
            <a:ext cx="5842000" cy="3785652"/>
          </a:xfrm>
          <a:prstGeom prst="rect">
            <a:avLst/>
          </a:prstGeom>
          <a:noFill/>
        </p:spPr>
        <p:txBody>
          <a:bodyPr wrap="square">
            <a:spAutoFit/>
          </a:bodyPr>
          <a:lstStyle/>
          <a:p>
            <a:pPr marL="342900" indent="-342900" algn="just">
              <a:buFont typeface="Wingdings" panose="05000000000000000000" pitchFamily="2" charset="2"/>
              <a:buChar char="Ø"/>
            </a:pPr>
            <a:r>
              <a:rPr lang="en-US" altLang="en-US" sz="2400" baseline="0" dirty="0">
                <a:latin typeface="Times New Roman" panose="02020603050405020304" pitchFamily="18" charset="0"/>
              </a:rPr>
              <a:t>Figure shows an example of communication using this protocol. It is still very simple.</a:t>
            </a:r>
          </a:p>
          <a:p>
            <a:pPr marL="342900" indent="-342900" algn="just">
              <a:buFont typeface="Wingdings" panose="05000000000000000000" pitchFamily="2" charset="2"/>
              <a:buChar char="Ø"/>
            </a:pPr>
            <a:r>
              <a:rPr lang="en-US" altLang="en-US" sz="2400" baseline="0" dirty="0">
                <a:latin typeface="Times New Roman" panose="02020603050405020304" pitchFamily="18" charset="0"/>
              </a:rPr>
              <a:t> The sender sends one frame and waits for feedback from the receiver. </a:t>
            </a:r>
          </a:p>
          <a:p>
            <a:pPr marL="342900" indent="-342900" algn="just">
              <a:buFont typeface="Wingdings" panose="05000000000000000000" pitchFamily="2" charset="2"/>
              <a:buChar char="Ø"/>
            </a:pPr>
            <a:r>
              <a:rPr lang="en-US" altLang="en-US" sz="2400" baseline="0" dirty="0">
                <a:latin typeface="Times New Roman" panose="02020603050405020304" pitchFamily="18" charset="0"/>
              </a:rPr>
              <a:t>When the ACK arrives, the sender sends the next frame. </a:t>
            </a:r>
          </a:p>
          <a:p>
            <a:pPr marL="342900" indent="-342900" algn="just">
              <a:buFont typeface="Wingdings" panose="05000000000000000000" pitchFamily="2" charset="2"/>
              <a:buChar char="Ø"/>
            </a:pPr>
            <a:r>
              <a:rPr lang="en-US" altLang="en-US" sz="2400" baseline="0" dirty="0">
                <a:latin typeface="Times New Roman" panose="02020603050405020304" pitchFamily="18" charset="0"/>
              </a:rPr>
              <a:t>Note that sending two frames in the protocol involves the sender in four events and the receiver in two events.</a:t>
            </a:r>
          </a:p>
        </p:txBody>
      </p:sp>
      <p:pic>
        <p:nvPicPr>
          <p:cNvPr id="6" name="Picture 6">
            <a:extLst>
              <a:ext uri="{FF2B5EF4-FFF2-40B4-BE49-F238E27FC236}">
                <a16:creationId xmlns:a16="http://schemas.microsoft.com/office/drawing/2014/main" id="{064BA916-3AA9-6A05-C3BA-6F06BF8B1C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0500" y="1387872"/>
            <a:ext cx="5445760" cy="4082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380852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2212" name="Text Box 4">
            <a:extLst>
              <a:ext uri="{FF2B5EF4-FFF2-40B4-BE49-F238E27FC236}">
                <a16:creationId xmlns:a16="http://schemas.microsoft.com/office/drawing/2014/main" id="{EE3AB442-1EC6-2721-0206-C3BDFC9E37BD}"/>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latin typeface="Times New Roman" panose="02020603050405020304" pitchFamily="18" charset="0"/>
            </a:endParaRPr>
          </a:p>
        </p:txBody>
      </p:sp>
      <p:sp>
        <p:nvSpPr>
          <p:cNvPr id="862213" name="Rectangle 5">
            <a:extLst>
              <a:ext uri="{FF2B5EF4-FFF2-40B4-BE49-F238E27FC236}">
                <a16:creationId xmlns:a16="http://schemas.microsoft.com/office/drawing/2014/main" id="{F96B2AEC-D692-6DBE-361A-0E109FC2AE05}"/>
              </a:ext>
            </a:extLst>
          </p:cNvPr>
          <p:cNvSpPr>
            <a:spLocks noChangeArrowheads="1"/>
          </p:cNvSpPr>
          <p:nvPr/>
        </p:nvSpPr>
        <p:spPr bwMode="auto">
          <a:xfrm>
            <a:off x="477520" y="1269304"/>
            <a:ext cx="1063752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1" hangingPunct="1"/>
            <a:r>
              <a:rPr lang="en-US" altLang="en-US" sz="2800" i="1" dirty="0">
                <a:effectLst>
                  <a:outerShdw blurRad="38100" dist="38100" dir="2700000" algn="tl">
                    <a:srgbClr val="C0C0C0"/>
                  </a:outerShdw>
                </a:effectLst>
                <a:latin typeface="Times New Roman" panose="02020603050405020304" pitchFamily="18" charset="0"/>
              </a:rPr>
              <a:t>Although the Stop-and-Wait Protocol gives us an idea of how to add flow control to its predecessor, noiseless channels are nonexistent. We discuss three protocols in this section that use error control.</a:t>
            </a:r>
          </a:p>
        </p:txBody>
      </p:sp>
      <p:sp>
        <p:nvSpPr>
          <p:cNvPr id="862214" name="Rectangle 6">
            <a:extLst>
              <a:ext uri="{FF2B5EF4-FFF2-40B4-BE49-F238E27FC236}">
                <a16:creationId xmlns:a16="http://schemas.microsoft.com/office/drawing/2014/main" id="{DB8239F3-D056-09EA-030C-07B60A1F30DA}"/>
              </a:ext>
            </a:extLst>
          </p:cNvPr>
          <p:cNvSpPr>
            <a:spLocks noChangeArrowheads="1"/>
          </p:cNvSpPr>
          <p:nvPr/>
        </p:nvSpPr>
        <p:spPr bwMode="auto">
          <a:xfrm>
            <a:off x="762000" y="3724911"/>
            <a:ext cx="67056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anose="05000000000000000000" pitchFamily="2" charset="2"/>
              <a:buNone/>
            </a:pPr>
            <a:r>
              <a:rPr lang="en-US" altLang="en-US" sz="2400" dirty="0">
                <a:solidFill>
                  <a:srgbClr val="0033CC"/>
                </a:solidFill>
                <a:latin typeface="Times New Roman" panose="02020603050405020304" pitchFamily="18" charset="0"/>
              </a:rPr>
              <a:t>Stop-and-Wait Automatic Repeat Request</a:t>
            </a:r>
            <a:br>
              <a:rPr lang="fr-FR" altLang="en-US" sz="2400" dirty="0">
                <a:solidFill>
                  <a:srgbClr val="0033CC"/>
                </a:solidFill>
                <a:latin typeface="Times New Roman" panose="02020603050405020304" pitchFamily="18" charset="0"/>
              </a:rPr>
            </a:br>
            <a:r>
              <a:rPr lang="fr-FR" altLang="en-US" sz="2400" dirty="0">
                <a:solidFill>
                  <a:srgbClr val="0033CC"/>
                </a:solidFill>
                <a:latin typeface="Times New Roman" panose="02020603050405020304" pitchFamily="18" charset="0"/>
              </a:rPr>
              <a:t>Go-Back-N </a:t>
            </a:r>
            <a:r>
              <a:rPr lang="fr-FR" altLang="en-US" sz="2400" dirty="0" err="1">
                <a:solidFill>
                  <a:srgbClr val="0033CC"/>
                </a:solidFill>
                <a:latin typeface="Times New Roman" panose="02020603050405020304" pitchFamily="18" charset="0"/>
              </a:rPr>
              <a:t>Automatic</a:t>
            </a:r>
            <a:r>
              <a:rPr lang="fr-FR" altLang="en-US" sz="2400" dirty="0">
                <a:solidFill>
                  <a:srgbClr val="0033CC"/>
                </a:solidFill>
                <a:latin typeface="Times New Roman" panose="02020603050405020304" pitchFamily="18" charset="0"/>
              </a:rPr>
              <a:t> </a:t>
            </a:r>
            <a:r>
              <a:rPr lang="fr-FR" altLang="en-US" sz="2400" dirty="0" err="1">
                <a:solidFill>
                  <a:srgbClr val="0033CC"/>
                </a:solidFill>
                <a:latin typeface="Times New Roman" panose="02020603050405020304" pitchFamily="18" charset="0"/>
              </a:rPr>
              <a:t>Repeat</a:t>
            </a:r>
            <a:r>
              <a:rPr lang="fr-FR" altLang="en-US" sz="2400" dirty="0">
                <a:solidFill>
                  <a:srgbClr val="0033CC"/>
                </a:solidFill>
                <a:latin typeface="Times New Roman" panose="02020603050405020304" pitchFamily="18" charset="0"/>
              </a:rPr>
              <a:t> </a:t>
            </a:r>
            <a:r>
              <a:rPr lang="fr-FR" altLang="en-US" sz="2400" dirty="0" err="1">
                <a:solidFill>
                  <a:srgbClr val="0033CC"/>
                </a:solidFill>
                <a:latin typeface="Times New Roman" panose="02020603050405020304" pitchFamily="18" charset="0"/>
              </a:rPr>
              <a:t>Request</a:t>
            </a:r>
            <a:br>
              <a:rPr lang="fr-FR" altLang="en-US" sz="2400" dirty="0">
                <a:solidFill>
                  <a:srgbClr val="0033CC"/>
                </a:solidFill>
                <a:latin typeface="Times New Roman" panose="02020603050405020304" pitchFamily="18" charset="0"/>
              </a:rPr>
            </a:br>
            <a:r>
              <a:rPr lang="en-US" altLang="en-US" sz="2400" dirty="0">
                <a:solidFill>
                  <a:srgbClr val="0033CC"/>
                </a:solidFill>
                <a:latin typeface="Times New Roman" panose="02020603050405020304" pitchFamily="18" charset="0"/>
              </a:rPr>
              <a:t>Selective Repeat Automatic Repeat Request</a:t>
            </a:r>
          </a:p>
        </p:txBody>
      </p:sp>
      <p:sp>
        <p:nvSpPr>
          <p:cNvPr id="3" name="Text Box 3">
            <a:extLst>
              <a:ext uri="{FF2B5EF4-FFF2-40B4-BE49-F238E27FC236}">
                <a16:creationId xmlns:a16="http://schemas.microsoft.com/office/drawing/2014/main" id="{6D6B4D6F-5C64-3DB6-F89A-D74B36A41C73}"/>
              </a:ext>
            </a:extLst>
          </p:cNvPr>
          <p:cNvSpPr txBox="1">
            <a:spLocks noChangeArrowheads="1"/>
          </p:cNvSpPr>
          <p:nvPr/>
        </p:nvSpPr>
        <p:spPr bwMode="auto">
          <a:xfrm>
            <a:off x="1752600" y="406400"/>
            <a:ext cx="450206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dirty="0">
                <a:solidFill>
                  <a:srgbClr val="0070C0"/>
                </a:solidFill>
                <a:effectLst>
                  <a:outerShdw blurRad="38100" dist="38100" dir="2700000" algn="tl">
                    <a:srgbClr val="C0C0C0"/>
                  </a:outerShdw>
                </a:effectLst>
                <a:latin typeface="Times" panose="02020603050405020304" pitchFamily="18" charset="0"/>
              </a:rPr>
              <a:t>   NOISY CHANNELS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A1AC7F-712E-5FCF-FE78-0C0F2EE5DD08}"/>
              </a:ext>
            </a:extLst>
          </p:cNvPr>
          <p:cNvSpPr txBox="1"/>
          <p:nvPr/>
        </p:nvSpPr>
        <p:spPr>
          <a:xfrm>
            <a:off x="325120" y="1463655"/>
            <a:ext cx="11531600" cy="4524315"/>
          </a:xfrm>
          <a:prstGeom prst="rect">
            <a:avLst/>
          </a:prstGeom>
          <a:noFill/>
        </p:spPr>
        <p:txBody>
          <a:bodyPr wrap="square">
            <a:spAutoFit/>
          </a:bodyPr>
          <a:lstStyle/>
          <a:p>
            <a:pPr marL="457200" indent="-457200">
              <a:lnSpc>
                <a:spcPct val="150000"/>
              </a:lnSpc>
              <a:buFont typeface="Wingdings" panose="05000000000000000000" pitchFamily="2" charset="2"/>
              <a:buChar char="Ø"/>
            </a:pPr>
            <a:r>
              <a:rPr lang="en-US" altLang="en-US" sz="2800" baseline="0" dirty="0">
                <a:solidFill>
                  <a:srgbClr val="0070C0"/>
                </a:solidFill>
                <a:latin typeface="Times New Roman" panose="02020603050405020304" pitchFamily="18" charset="0"/>
                <a:cs typeface="Times New Roman" panose="02020603050405020304" pitchFamily="18" charset="0"/>
              </a:rPr>
              <a:t>Error correction in Stop-and-Wait ARQ is done by </a:t>
            </a:r>
            <a:r>
              <a:rPr lang="en-US" altLang="en-US" sz="2800" baseline="0" dirty="0">
                <a:solidFill>
                  <a:srgbClr val="FF0000"/>
                </a:solidFill>
                <a:latin typeface="Times New Roman" panose="02020603050405020304" pitchFamily="18" charset="0"/>
                <a:cs typeface="Times New Roman" panose="02020603050405020304" pitchFamily="18" charset="0"/>
              </a:rPr>
              <a:t>keeping a copy </a:t>
            </a:r>
            <a:r>
              <a:rPr lang="en-US" altLang="en-US" sz="2800" baseline="0" dirty="0">
                <a:solidFill>
                  <a:srgbClr val="0070C0"/>
                </a:solidFill>
                <a:latin typeface="Times New Roman" panose="02020603050405020304" pitchFamily="18" charset="0"/>
                <a:cs typeface="Times New Roman" panose="02020603050405020304" pitchFamily="18" charset="0"/>
              </a:rPr>
              <a:t>of the </a:t>
            </a:r>
            <a:r>
              <a:rPr lang="en-US" altLang="en-US" sz="2800" baseline="0" dirty="0">
                <a:solidFill>
                  <a:srgbClr val="FF0000"/>
                </a:solidFill>
                <a:latin typeface="Times New Roman" panose="02020603050405020304" pitchFamily="18" charset="0"/>
                <a:cs typeface="Times New Roman" panose="02020603050405020304" pitchFamily="18" charset="0"/>
              </a:rPr>
              <a:t>sent frame </a:t>
            </a:r>
            <a:r>
              <a:rPr lang="en-US" altLang="en-US" sz="2800" baseline="0" dirty="0">
                <a:solidFill>
                  <a:srgbClr val="0070C0"/>
                </a:solidFill>
                <a:latin typeface="Times New Roman" panose="02020603050405020304" pitchFamily="18" charset="0"/>
                <a:cs typeface="Times New Roman" panose="02020603050405020304" pitchFamily="18" charset="0"/>
              </a:rPr>
              <a:t>and retransmitting of the frame when the timer expires.</a:t>
            </a:r>
          </a:p>
          <a:p>
            <a:pPr marL="457200" indent="-457200">
              <a:lnSpc>
                <a:spcPct val="150000"/>
              </a:lnSpc>
              <a:buFont typeface="Wingdings" panose="05000000000000000000" pitchFamily="2" charset="2"/>
              <a:buChar char="Ø"/>
            </a:pPr>
            <a:r>
              <a:rPr lang="en-US" altLang="en-US" sz="2800" dirty="0">
                <a:solidFill>
                  <a:srgbClr val="00B050"/>
                </a:solidFill>
                <a:latin typeface="Times New Roman" panose="02020603050405020304" pitchFamily="18" charset="0"/>
                <a:cs typeface="Times New Roman" panose="02020603050405020304" pitchFamily="18" charset="0"/>
              </a:rPr>
              <a:t>In Stop-and-Wait ARQ, we use </a:t>
            </a:r>
            <a:r>
              <a:rPr lang="en-US" altLang="en-US" sz="2800" dirty="0">
                <a:solidFill>
                  <a:srgbClr val="FF0000"/>
                </a:solidFill>
                <a:latin typeface="Times New Roman" panose="02020603050405020304" pitchFamily="18" charset="0"/>
                <a:cs typeface="Times New Roman" panose="02020603050405020304" pitchFamily="18" charset="0"/>
              </a:rPr>
              <a:t>sequence numbers </a:t>
            </a:r>
            <a:r>
              <a:rPr lang="en-US" altLang="en-US" sz="2800" dirty="0">
                <a:solidFill>
                  <a:srgbClr val="00B050"/>
                </a:solidFill>
                <a:latin typeface="Times New Roman" panose="02020603050405020304" pitchFamily="18" charset="0"/>
                <a:cs typeface="Times New Roman" panose="02020603050405020304" pitchFamily="18" charset="0"/>
              </a:rPr>
              <a:t>to number the frames. The sequence numbers are based on modulo-2 arithmetic.</a:t>
            </a:r>
          </a:p>
          <a:p>
            <a:pPr marL="457200" indent="-457200">
              <a:lnSpc>
                <a:spcPct val="150000"/>
              </a:lnSpc>
              <a:buFont typeface="Wingdings" panose="05000000000000000000" pitchFamily="2" charset="2"/>
              <a:buChar char="Ø"/>
            </a:pPr>
            <a:r>
              <a:rPr lang="en-US" altLang="en-US" sz="2800" dirty="0">
                <a:solidFill>
                  <a:srgbClr val="002060"/>
                </a:solidFill>
                <a:latin typeface="Times New Roman" panose="02020603050405020304" pitchFamily="18" charset="0"/>
                <a:cs typeface="Times New Roman" panose="02020603050405020304" pitchFamily="18" charset="0"/>
              </a:rPr>
              <a:t>In Stop-and-Wait ARQ, the </a:t>
            </a:r>
            <a:r>
              <a:rPr lang="en-US" altLang="en-US" sz="2800" dirty="0">
                <a:solidFill>
                  <a:srgbClr val="FF0000"/>
                </a:solidFill>
                <a:latin typeface="Times New Roman" panose="02020603050405020304" pitchFamily="18" charset="0"/>
                <a:cs typeface="Times New Roman" panose="02020603050405020304" pitchFamily="18" charset="0"/>
              </a:rPr>
              <a:t>acknowledgment number </a:t>
            </a:r>
            <a:r>
              <a:rPr lang="en-US" altLang="en-US" sz="2800" dirty="0">
                <a:solidFill>
                  <a:srgbClr val="002060"/>
                </a:solidFill>
                <a:latin typeface="Times New Roman" panose="02020603050405020304" pitchFamily="18" charset="0"/>
                <a:cs typeface="Times New Roman" panose="02020603050405020304" pitchFamily="18" charset="0"/>
              </a:rPr>
              <a:t>always announces in modulo-2 arithmetic the </a:t>
            </a:r>
            <a:r>
              <a:rPr lang="en-US" altLang="en-US" sz="2800" dirty="0">
                <a:solidFill>
                  <a:srgbClr val="FF0000"/>
                </a:solidFill>
                <a:latin typeface="Times New Roman" panose="02020603050405020304" pitchFamily="18" charset="0"/>
                <a:cs typeface="Times New Roman" panose="02020603050405020304" pitchFamily="18" charset="0"/>
              </a:rPr>
              <a:t>sequence number of the next frame </a:t>
            </a:r>
            <a:r>
              <a:rPr lang="en-US" altLang="en-US" sz="2800" dirty="0">
                <a:solidFill>
                  <a:srgbClr val="002060"/>
                </a:solidFill>
                <a:latin typeface="Times New Roman" panose="02020603050405020304" pitchFamily="18" charset="0"/>
                <a:cs typeface="Times New Roman" panose="02020603050405020304" pitchFamily="18" charset="0"/>
              </a:rPr>
              <a:t>expected.</a:t>
            </a:r>
          </a:p>
          <a:p>
            <a:endParaRPr lang="en-US" altLang="en-US" dirty="0"/>
          </a:p>
          <a:p>
            <a:endParaRPr lang="en-US" altLang="en-US" baseline="0" dirty="0"/>
          </a:p>
        </p:txBody>
      </p:sp>
      <p:sp>
        <p:nvSpPr>
          <p:cNvPr id="5" name="TextBox 4">
            <a:extLst>
              <a:ext uri="{FF2B5EF4-FFF2-40B4-BE49-F238E27FC236}">
                <a16:creationId xmlns:a16="http://schemas.microsoft.com/office/drawing/2014/main" id="{9535C825-9CF0-4E03-00FB-7E39302A002F}"/>
              </a:ext>
            </a:extLst>
          </p:cNvPr>
          <p:cNvSpPr txBox="1"/>
          <p:nvPr/>
        </p:nvSpPr>
        <p:spPr>
          <a:xfrm>
            <a:off x="1656080" y="257294"/>
            <a:ext cx="9215120" cy="707886"/>
          </a:xfrm>
          <a:prstGeom prst="rect">
            <a:avLst/>
          </a:prstGeom>
          <a:noFill/>
        </p:spPr>
        <p:txBody>
          <a:bodyPr wrap="square">
            <a:spAutoFit/>
          </a:bodyPr>
          <a:lstStyle/>
          <a:p>
            <a:r>
              <a:rPr lang="en-US" altLang="en-US" sz="4000" dirty="0">
                <a:solidFill>
                  <a:srgbClr val="0033CC"/>
                </a:solidFill>
                <a:latin typeface="Times New Roman" panose="02020603050405020304" pitchFamily="18" charset="0"/>
              </a:rPr>
              <a:t>Stop-and-Wait Automatic Repeat Request</a:t>
            </a:r>
            <a:endParaRPr lang="en-IN" sz="4000" dirty="0"/>
          </a:p>
        </p:txBody>
      </p:sp>
    </p:spTree>
    <p:extLst>
      <p:ext uri="{BB962C8B-B14F-4D97-AF65-F5344CB8AC3E}">
        <p14:creationId xmlns:p14="http://schemas.microsoft.com/office/powerpoint/2010/main" val="12179020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BD24AE-BAC1-4A99-1EE0-40A3D1C9A69A}"/>
              </a:ext>
            </a:extLst>
          </p:cNvPr>
          <p:cNvSpPr txBox="1"/>
          <p:nvPr/>
        </p:nvSpPr>
        <p:spPr>
          <a:xfrm>
            <a:off x="284480" y="1166842"/>
            <a:ext cx="4805680" cy="5262979"/>
          </a:xfrm>
          <a:prstGeom prst="rect">
            <a:avLst/>
          </a:prstGeom>
          <a:noFill/>
        </p:spPr>
        <p:txBody>
          <a:bodyPr wrap="square">
            <a:spAutoFit/>
          </a:bodyPr>
          <a:lstStyle/>
          <a:p>
            <a:pPr marL="342900" indent="-342900" algn="just">
              <a:buFont typeface="Wingdings" panose="05000000000000000000" pitchFamily="2" charset="2"/>
              <a:buChar char="Ø"/>
            </a:pPr>
            <a:r>
              <a:rPr lang="en-US" altLang="en-US" sz="2400" baseline="0" dirty="0">
                <a:latin typeface="Times New Roman" panose="02020603050405020304" pitchFamily="18" charset="0"/>
              </a:rPr>
              <a:t>Figure shows an example of </a:t>
            </a:r>
            <a:r>
              <a:rPr lang="en-US" altLang="en-US" sz="2400" baseline="0" dirty="0">
                <a:solidFill>
                  <a:schemeClr val="hlink"/>
                </a:solidFill>
                <a:latin typeface="Times New Roman" panose="02020603050405020304" pitchFamily="18" charset="0"/>
              </a:rPr>
              <a:t>Stop-and-Wait ARQ</a:t>
            </a:r>
            <a:r>
              <a:rPr lang="en-US" altLang="en-US" sz="2400" baseline="0" dirty="0">
                <a:latin typeface="Times New Roman" panose="02020603050405020304" pitchFamily="18" charset="0"/>
              </a:rPr>
              <a:t>. </a:t>
            </a:r>
          </a:p>
          <a:p>
            <a:pPr marL="342900" indent="-342900" algn="just">
              <a:buFont typeface="Wingdings" panose="05000000000000000000" pitchFamily="2" charset="2"/>
              <a:buChar char="Ø"/>
            </a:pPr>
            <a:r>
              <a:rPr lang="en-US" altLang="en-US" sz="2400" baseline="0" dirty="0">
                <a:latin typeface="Times New Roman" panose="02020603050405020304" pitchFamily="18" charset="0"/>
              </a:rPr>
              <a:t>Frame 0 is sent and acknowledged.</a:t>
            </a:r>
          </a:p>
          <a:p>
            <a:pPr marL="342900" indent="-342900" algn="just">
              <a:buFont typeface="Wingdings" panose="05000000000000000000" pitchFamily="2" charset="2"/>
              <a:buChar char="Ø"/>
            </a:pPr>
            <a:r>
              <a:rPr lang="en-US" altLang="en-US" sz="2400" baseline="0" dirty="0">
                <a:latin typeface="Times New Roman" panose="02020603050405020304" pitchFamily="18" charset="0"/>
              </a:rPr>
              <a:t> Frame 1 is lost and resent after the time-out. The resent frame 1 is acknowledged and the timer stops.</a:t>
            </a:r>
          </a:p>
          <a:p>
            <a:pPr marL="342900" indent="-342900" algn="just">
              <a:buFont typeface="Wingdings" panose="05000000000000000000" pitchFamily="2" charset="2"/>
              <a:buChar char="Ø"/>
            </a:pPr>
            <a:r>
              <a:rPr lang="en-US" altLang="en-US" sz="2400" baseline="0" dirty="0">
                <a:latin typeface="Times New Roman" panose="02020603050405020304" pitchFamily="18" charset="0"/>
              </a:rPr>
              <a:t> Frame 0 is sent and acknowledged, but the acknowledgment is lost.</a:t>
            </a:r>
          </a:p>
          <a:p>
            <a:pPr marL="342900" indent="-342900" algn="just">
              <a:buFont typeface="Wingdings" panose="05000000000000000000" pitchFamily="2" charset="2"/>
              <a:buChar char="Ø"/>
            </a:pPr>
            <a:r>
              <a:rPr lang="en-US" altLang="en-US" sz="2400" baseline="0" dirty="0">
                <a:latin typeface="Times New Roman" panose="02020603050405020304" pitchFamily="18" charset="0"/>
              </a:rPr>
              <a:t> The sender has no idea if the frame or the acknowledgment is lost, so after the time-out, it resends frame 0, which is acknowledged.</a:t>
            </a:r>
          </a:p>
        </p:txBody>
      </p:sp>
      <p:pic>
        <p:nvPicPr>
          <p:cNvPr id="4" name="Picture 8">
            <a:extLst>
              <a:ext uri="{FF2B5EF4-FFF2-40B4-BE49-F238E27FC236}">
                <a16:creationId xmlns:a16="http://schemas.microsoft.com/office/drawing/2014/main" id="{61F4009B-2E8F-1D9B-9811-DD2D70EF12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1960" y="864235"/>
            <a:ext cx="6385560" cy="5649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a:extLst>
              <a:ext uri="{FF2B5EF4-FFF2-40B4-BE49-F238E27FC236}">
                <a16:creationId xmlns:a16="http://schemas.microsoft.com/office/drawing/2014/main" id="{77F4965E-0BE5-C2AB-82D8-F291549C9CDB}"/>
              </a:ext>
            </a:extLst>
          </p:cNvPr>
          <p:cNvSpPr txBox="1"/>
          <p:nvPr/>
        </p:nvSpPr>
        <p:spPr>
          <a:xfrm>
            <a:off x="3596640" y="156349"/>
            <a:ext cx="5029200" cy="707886"/>
          </a:xfrm>
          <a:prstGeom prst="rect">
            <a:avLst/>
          </a:prstGeom>
          <a:noFill/>
        </p:spPr>
        <p:txBody>
          <a:bodyPr wrap="square">
            <a:spAutoFit/>
          </a:bodyPr>
          <a:lstStyle/>
          <a:p>
            <a:r>
              <a:rPr lang="en-US" altLang="en-US" sz="4000" dirty="0">
                <a:solidFill>
                  <a:srgbClr val="0033CC"/>
                </a:solidFill>
                <a:latin typeface="Times New Roman" panose="02020603050405020304" pitchFamily="18" charset="0"/>
              </a:rPr>
              <a:t>Stop-and-Wait ARQ</a:t>
            </a:r>
            <a:endParaRPr lang="en-IN" sz="4000" dirty="0"/>
          </a:p>
        </p:txBody>
      </p:sp>
    </p:spTree>
    <p:extLst>
      <p:ext uri="{BB962C8B-B14F-4D97-AF65-F5344CB8AC3E}">
        <p14:creationId xmlns:p14="http://schemas.microsoft.com/office/powerpoint/2010/main" val="25936253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98CCF-FFF3-3286-F035-B058217DDEA0}"/>
            </a:ext>
          </a:extLst>
        </p:cNvPr>
        <p:cNvGrpSpPr/>
        <p:nvPr/>
      </p:nvGrpSpPr>
      <p:grpSpPr>
        <a:xfrm>
          <a:off x="0" y="0"/>
          <a:ext cx="0" cy="0"/>
          <a:chOff x="0" y="0"/>
          <a:chExt cx="0" cy="0"/>
        </a:xfrm>
      </p:grpSpPr>
      <p:sp>
        <p:nvSpPr>
          <p:cNvPr id="877572" name="Text Box 4">
            <a:extLst>
              <a:ext uri="{FF2B5EF4-FFF2-40B4-BE49-F238E27FC236}">
                <a16:creationId xmlns:a16="http://schemas.microsoft.com/office/drawing/2014/main" id="{D247685A-5D5F-D232-9CEC-A2C142411AB5}"/>
              </a:ext>
            </a:extLst>
          </p:cNvPr>
          <p:cNvSpPr txBox="1">
            <a:spLocks noChangeArrowheads="1"/>
          </p:cNvSpPr>
          <p:nvPr/>
        </p:nvSpPr>
        <p:spPr bwMode="auto">
          <a:xfrm>
            <a:off x="4389344" y="0"/>
            <a:ext cx="329256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i="1" dirty="0">
                <a:solidFill>
                  <a:srgbClr val="0000FF"/>
                </a:solidFill>
                <a:latin typeface="Times New Roman" panose="02020603050405020304" pitchFamily="18" charset="0"/>
              </a:rPr>
              <a:t>Go-Back-N ARQ</a:t>
            </a:r>
          </a:p>
        </p:txBody>
      </p:sp>
      <p:sp>
        <p:nvSpPr>
          <p:cNvPr id="3" name="TextBox 2">
            <a:extLst>
              <a:ext uri="{FF2B5EF4-FFF2-40B4-BE49-F238E27FC236}">
                <a16:creationId xmlns:a16="http://schemas.microsoft.com/office/drawing/2014/main" id="{8F8F6604-53E0-FBF7-12B8-48802EBD5E22}"/>
              </a:ext>
            </a:extLst>
          </p:cNvPr>
          <p:cNvSpPr txBox="1"/>
          <p:nvPr/>
        </p:nvSpPr>
        <p:spPr>
          <a:xfrm>
            <a:off x="114618" y="223192"/>
            <a:ext cx="11630342" cy="2954655"/>
          </a:xfrm>
          <a:prstGeom prst="rect">
            <a:avLst/>
          </a:prstGeom>
          <a:noFill/>
        </p:spPr>
        <p:txBody>
          <a:bodyPr wrap="square">
            <a:spAutoFit/>
          </a:bodyPr>
          <a:lstStyle/>
          <a:p>
            <a:pPr marL="342900" indent="-342900">
              <a:buFont typeface="Wingdings" panose="05000000000000000000" pitchFamily="2" charset="2"/>
              <a:buChar char="Ø"/>
            </a:pPr>
            <a:endParaRPr lang="en-US" alt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In the Go-Back-N Protocol, the </a:t>
            </a:r>
            <a:r>
              <a:rPr lang="en-US" altLang="en-US" sz="2400" dirty="0">
                <a:solidFill>
                  <a:srgbClr val="FF0000"/>
                </a:solidFill>
                <a:latin typeface="Times New Roman" panose="02020603050405020304" pitchFamily="18" charset="0"/>
                <a:cs typeface="Times New Roman" panose="02020603050405020304" pitchFamily="18" charset="0"/>
              </a:rPr>
              <a:t>sequence numbers are modulo 2</a:t>
            </a:r>
            <a:r>
              <a:rPr lang="en-US" altLang="en-US" sz="2400" i="1" baseline="30000" dirty="0">
                <a:solidFill>
                  <a:srgbClr val="FF0000"/>
                </a:solidFill>
                <a:latin typeface="Times New Roman" panose="02020603050405020304" pitchFamily="18" charset="0"/>
                <a:cs typeface="Times New Roman" panose="02020603050405020304" pitchFamily="18" charset="0"/>
              </a:rPr>
              <a:t>m</a:t>
            </a:r>
            <a:r>
              <a:rPr lang="en-US" altLang="en-US" sz="2400" dirty="0">
                <a:latin typeface="Times New Roman" panose="02020603050405020304" pitchFamily="18" charset="0"/>
                <a:cs typeface="Times New Roman" panose="02020603050405020304" pitchFamily="18" charset="0"/>
              </a:rPr>
              <a:t>, where </a:t>
            </a:r>
            <a:r>
              <a:rPr lang="en-US" altLang="en-US" sz="2400" dirty="0">
                <a:solidFill>
                  <a:srgbClr val="FF0000"/>
                </a:solidFill>
                <a:latin typeface="Times New Roman" panose="02020603050405020304" pitchFamily="18" charset="0"/>
                <a:cs typeface="Times New Roman" panose="02020603050405020304" pitchFamily="18" charset="0"/>
              </a:rPr>
              <a:t>m</a:t>
            </a:r>
            <a:r>
              <a:rPr lang="en-US" altLang="en-US" sz="2400" dirty="0">
                <a:latin typeface="Times New Roman" panose="02020603050405020304" pitchFamily="18" charset="0"/>
                <a:cs typeface="Times New Roman" panose="02020603050405020304" pitchFamily="18" charset="0"/>
              </a:rPr>
              <a:t> is the size of the sequence number field in </a:t>
            </a:r>
            <a:r>
              <a:rPr lang="en-US" altLang="en-US" sz="2400" dirty="0">
                <a:solidFill>
                  <a:srgbClr val="FF0000"/>
                </a:solidFill>
                <a:latin typeface="Times New Roman" panose="02020603050405020304" pitchFamily="18" charset="0"/>
                <a:cs typeface="Times New Roman" panose="02020603050405020304" pitchFamily="18" charset="0"/>
              </a:rPr>
              <a:t>bits</a:t>
            </a:r>
            <a:r>
              <a:rPr lang="en-US" altLang="en-US" sz="2400" dirty="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The </a:t>
            </a:r>
            <a:r>
              <a:rPr lang="en-US" altLang="en-US" sz="2400" dirty="0">
                <a:solidFill>
                  <a:srgbClr val="FF0000"/>
                </a:solidFill>
                <a:latin typeface="Times New Roman" panose="02020603050405020304" pitchFamily="18" charset="0"/>
                <a:cs typeface="Times New Roman" panose="02020603050405020304" pitchFamily="18" charset="0"/>
              </a:rPr>
              <a:t>send window </a:t>
            </a:r>
            <a:r>
              <a:rPr lang="en-US" altLang="en-US" sz="2400" dirty="0">
                <a:latin typeface="Times New Roman" panose="02020603050405020304" pitchFamily="18" charset="0"/>
                <a:cs typeface="Times New Roman" panose="02020603050405020304" pitchFamily="18" charset="0"/>
              </a:rPr>
              <a:t>is an abstract concept defining an imaginary box of </a:t>
            </a:r>
            <a:r>
              <a:rPr lang="en-US" altLang="en-US" sz="2400" dirty="0">
                <a:solidFill>
                  <a:srgbClr val="FF0000"/>
                </a:solidFill>
                <a:latin typeface="Times New Roman" panose="02020603050405020304" pitchFamily="18" charset="0"/>
                <a:cs typeface="Times New Roman" panose="02020603050405020304" pitchFamily="18" charset="0"/>
              </a:rPr>
              <a:t>size 2</a:t>
            </a:r>
            <a:r>
              <a:rPr lang="en-US" altLang="en-US" sz="2400" i="1" baseline="30000" dirty="0">
                <a:solidFill>
                  <a:srgbClr val="FF0000"/>
                </a:solidFill>
                <a:latin typeface="Times New Roman" panose="02020603050405020304" pitchFamily="18" charset="0"/>
                <a:cs typeface="Times New Roman" panose="02020603050405020304" pitchFamily="18" charset="0"/>
              </a:rPr>
              <a:t>m</a:t>
            </a:r>
            <a:r>
              <a:rPr lang="en-US" altLang="en-US" sz="2400" dirty="0">
                <a:solidFill>
                  <a:srgbClr val="FF0000"/>
                </a:solidFill>
                <a:latin typeface="Times New Roman" panose="02020603050405020304" pitchFamily="18" charset="0"/>
                <a:cs typeface="Times New Roman" panose="02020603050405020304" pitchFamily="18" charset="0"/>
              </a:rPr>
              <a:t> − 1 </a:t>
            </a:r>
            <a:r>
              <a:rPr lang="en-US" altLang="en-US" sz="2400" dirty="0">
                <a:latin typeface="Times New Roman" panose="02020603050405020304" pitchFamily="18" charset="0"/>
                <a:cs typeface="Times New Roman" panose="02020603050405020304" pitchFamily="18" charset="0"/>
              </a:rPr>
              <a:t>with three variables: Sf, Sn, and </a:t>
            </a:r>
            <a:r>
              <a:rPr lang="en-US" altLang="en-US" sz="2400" dirty="0" err="1">
                <a:latin typeface="Times New Roman" panose="02020603050405020304" pitchFamily="18" charset="0"/>
                <a:cs typeface="Times New Roman" panose="02020603050405020304" pitchFamily="18" charset="0"/>
              </a:rPr>
              <a:t>S</a:t>
            </a:r>
            <a:r>
              <a:rPr lang="en-US" altLang="en-US" sz="2400" baseline="-16000" dirty="0" err="1">
                <a:latin typeface="Times New Roman" panose="02020603050405020304" pitchFamily="18" charset="0"/>
                <a:cs typeface="Times New Roman" panose="02020603050405020304" pitchFamily="18" charset="0"/>
              </a:rPr>
              <a:t>size</a:t>
            </a:r>
            <a:r>
              <a:rPr lang="en-US" altLang="en-US" sz="2400" dirty="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The </a:t>
            </a:r>
            <a:r>
              <a:rPr lang="en-US" altLang="en-US" sz="2400" dirty="0">
                <a:solidFill>
                  <a:srgbClr val="FF0000"/>
                </a:solidFill>
                <a:latin typeface="Times New Roman" panose="02020603050405020304" pitchFamily="18" charset="0"/>
                <a:cs typeface="Times New Roman" panose="02020603050405020304" pitchFamily="18" charset="0"/>
              </a:rPr>
              <a:t>receive window </a:t>
            </a:r>
            <a:r>
              <a:rPr lang="en-US" altLang="en-US" sz="2400" dirty="0">
                <a:latin typeface="Times New Roman" panose="02020603050405020304" pitchFamily="18" charset="0"/>
                <a:cs typeface="Times New Roman" panose="02020603050405020304" pitchFamily="18" charset="0"/>
              </a:rPr>
              <a:t>is an abstract concept defining an imaginary box of </a:t>
            </a:r>
            <a:r>
              <a:rPr lang="en-US" altLang="en-US" sz="2400" dirty="0">
                <a:solidFill>
                  <a:srgbClr val="FF0000"/>
                </a:solidFill>
                <a:latin typeface="Times New Roman" panose="02020603050405020304" pitchFamily="18" charset="0"/>
                <a:cs typeface="Times New Roman" panose="02020603050405020304" pitchFamily="18" charset="0"/>
              </a:rPr>
              <a:t>size 1</a:t>
            </a:r>
            <a:r>
              <a:rPr lang="en-US" altLang="en-US" sz="2400" dirty="0">
                <a:latin typeface="Times New Roman" panose="02020603050405020304" pitchFamily="18" charset="0"/>
                <a:cs typeface="Times New Roman" panose="02020603050405020304" pitchFamily="18" charset="0"/>
              </a:rPr>
              <a:t> with one single variable  R</a:t>
            </a:r>
            <a:r>
              <a:rPr lang="en-US" altLang="en-US" sz="2400" baseline="-16000" dirty="0">
                <a:latin typeface="Times New Roman" panose="02020603050405020304" pitchFamily="18" charset="0"/>
                <a:cs typeface="Times New Roman" panose="02020603050405020304" pitchFamily="18" charset="0"/>
              </a:rPr>
              <a:t>n</a:t>
            </a:r>
            <a:r>
              <a:rPr lang="en-US" altLang="en-US" sz="2400" dirty="0">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Ø"/>
            </a:pPr>
            <a:endParaRPr lang="en-US" altLang="en-US" dirty="0"/>
          </a:p>
        </p:txBody>
      </p:sp>
      <p:pic>
        <p:nvPicPr>
          <p:cNvPr id="2" name="Picture 6">
            <a:extLst>
              <a:ext uri="{FF2B5EF4-FFF2-40B4-BE49-F238E27FC236}">
                <a16:creationId xmlns:a16="http://schemas.microsoft.com/office/drawing/2014/main" id="{B60DDEDD-EE35-CA5F-643E-FAAF0E1850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6625" y="2877701"/>
            <a:ext cx="6683375" cy="3571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185511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80644" name="Text Box 4">
            <a:extLst>
              <a:ext uri="{FF2B5EF4-FFF2-40B4-BE49-F238E27FC236}">
                <a16:creationId xmlns:a16="http://schemas.microsoft.com/office/drawing/2014/main" id="{F2E866F3-129C-B232-CB90-8CCBFD648BD9}"/>
              </a:ext>
            </a:extLst>
          </p:cNvPr>
          <p:cNvSpPr txBox="1">
            <a:spLocks noChangeArrowheads="1"/>
          </p:cNvSpPr>
          <p:nvPr/>
        </p:nvSpPr>
        <p:spPr bwMode="auto">
          <a:xfrm>
            <a:off x="1828800" y="381000"/>
            <a:ext cx="567213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i="1" dirty="0">
                <a:solidFill>
                  <a:srgbClr val="0000FF"/>
                </a:solidFill>
                <a:latin typeface="Times New Roman" panose="02020603050405020304" pitchFamily="18" charset="0"/>
              </a:rPr>
              <a:t>Window size for Go-Back-N ARQ</a:t>
            </a:r>
          </a:p>
        </p:txBody>
      </p:sp>
      <p:pic>
        <p:nvPicPr>
          <p:cNvPr id="880646" name="Picture 6">
            <a:extLst>
              <a:ext uri="{FF2B5EF4-FFF2-40B4-BE49-F238E27FC236}">
                <a16:creationId xmlns:a16="http://schemas.microsoft.com/office/drawing/2014/main" id="{E6E48350-4D8E-243D-98BD-1BD2442301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4865" y="1429702"/>
            <a:ext cx="7358062" cy="5138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a:extLst>
              <a:ext uri="{FF2B5EF4-FFF2-40B4-BE49-F238E27FC236}">
                <a16:creationId xmlns:a16="http://schemas.microsoft.com/office/drawing/2014/main" id="{CD333007-4717-A838-DC78-4E2366D87A4B}"/>
              </a:ext>
            </a:extLst>
          </p:cNvPr>
          <p:cNvSpPr txBox="1"/>
          <p:nvPr/>
        </p:nvSpPr>
        <p:spPr>
          <a:xfrm>
            <a:off x="-75082" y="1876306"/>
            <a:ext cx="4739947" cy="1815882"/>
          </a:xfrm>
          <a:prstGeom prst="rect">
            <a:avLst/>
          </a:prstGeom>
          <a:noFill/>
        </p:spPr>
        <p:txBody>
          <a:bodyPr wrap="square">
            <a:spAutoFit/>
          </a:bodyPr>
          <a:lstStyle/>
          <a:p>
            <a:pPr marL="285750" indent="-285750">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In Go-Back-N ARQ, the size of the send window must be less than 2</a:t>
            </a:r>
            <a:r>
              <a:rPr lang="en-US" altLang="en-US" sz="2800" i="1" baseline="30000" dirty="0">
                <a:latin typeface="Times New Roman" panose="02020603050405020304" pitchFamily="18" charset="0"/>
                <a:cs typeface="Times New Roman" panose="02020603050405020304" pitchFamily="18" charset="0"/>
              </a:rPr>
              <a:t>m </a:t>
            </a:r>
            <a:r>
              <a:rPr lang="en-US" altLang="en-US" sz="2800" dirty="0">
                <a:latin typeface="Times New Roman" panose="02020603050405020304" pitchFamily="18" charset="0"/>
                <a:cs typeface="Times New Roman" panose="02020603050405020304" pitchFamily="18" charset="0"/>
              </a:rPr>
              <a:t>the size of the receiver window  is always 1.</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24" name="Text Box 4">
            <a:extLst>
              <a:ext uri="{FF2B5EF4-FFF2-40B4-BE49-F238E27FC236}">
                <a16:creationId xmlns:a16="http://schemas.microsoft.com/office/drawing/2014/main" id="{A94CB893-4A73-9B43-43C0-5A5249BDAE41}"/>
              </a:ext>
            </a:extLst>
          </p:cNvPr>
          <p:cNvSpPr txBox="1">
            <a:spLocks noChangeArrowheads="1"/>
          </p:cNvSpPr>
          <p:nvPr/>
        </p:nvSpPr>
        <p:spPr bwMode="auto">
          <a:xfrm>
            <a:off x="4216400" y="177800"/>
            <a:ext cx="252184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i="1" dirty="0">
                <a:solidFill>
                  <a:srgbClr val="0000FF"/>
                </a:solidFill>
                <a:latin typeface="Times New Roman" panose="02020603050405020304" pitchFamily="18" charset="0"/>
              </a:rPr>
              <a:t>Flow diagram</a:t>
            </a:r>
          </a:p>
        </p:txBody>
      </p:sp>
      <p:pic>
        <p:nvPicPr>
          <p:cNvPr id="952326" name="Picture 6">
            <a:extLst>
              <a:ext uri="{FF2B5EF4-FFF2-40B4-BE49-F238E27FC236}">
                <a16:creationId xmlns:a16="http://schemas.microsoft.com/office/drawing/2014/main" id="{AB6CB02A-D2E0-1B83-DB7F-EB5FC1528B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7268" y="822325"/>
            <a:ext cx="7212012" cy="5213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DA98AA56-5EE1-AAC7-A3B3-922B4EE0D230}"/>
              </a:ext>
            </a:extLst>
          </p:cNvPr>
          <p:cNvSpPr txBox="1"/>
          <p:nvPr/>
        </p:nvSpPr>
        <p:spPr>
          <a:xfrm>
            <a:off x="0" y="1166842"/>
            <a:ext cx="4704080" cy="4893647"/>
          </a:xfrm>
          <a:prstGeom prst="rect">
            <a:avLst/>
          </a:prstGeom>
          <a:noFill/>
        </p:spPr>
        <p:txBody>
          <a:bodyPr wrap="square">
            <a:spAutoFit/>
          </a:bodyPr>
          <a:lstStyle/>
          <a:p>
            <a:pPr algn="just"/>
            <a:r>
              <a:rPr lang="en-US" altLang="en-US" sz="2400" dirty="0">
                <a:latin typeface="Times New Roman" panose="02020603050405020304" pitchFamily="18" charset="0"/>
              </a:rPr>
              <a:t>Figure shows an example of Go-Back-N. After initialization, there are seven sender events. </a:t>
            </a:r>
          </a:p>
          <a:p>
            <a:pPr algn="just"/>
            <a:r>
              <a:rPr lang="en-US" altLang="en-US" sz="2400" dirty="0">
                <a:latin typeface="Times New Roman" panose="02020603050405020304" pitchFamily="18" charset="0"/>
              </a:rPr>
              <a:t>No data frames are lost, but some ACKs are delayed and one is lost. There is no time-out event here because all outstanding frames are acknowledged before the timer expires. </a:t>
            </a:r>
          </a:p>
          <a:p>
            <a:pPr algn="just"/>
            <a:r>
              <a:rPr lang="en-US" altLang="en-US" sz="2400" dirty="0">
                <a:latin typeface="Times New Roman" panose="02020603050405020304" pitchFamily="18" charset="0"/>
              </a:rPr>
              <a:t>The example how </a:t>
            </a:r>
            <a:r>
              <a:rPr lang="en-US" altLang="en-US" sz="2400" dirty="0">
                <a:solidFill>
                  <a:srgbClr val="FF0000"/>
                </a:solidFill>
                <a:latin typeface="Times New Roman" panose="02020603050405020304" pitchFamily="18" charset="0"/>
              </a:rPr>
              <a:t>cumulative acknowledgments </a:t>
            </a:r>
            <a:r>
              <a:rPr lang="en-US" altLang="en-US" sz="2400" dirty="0">
                <a:latin typeface="Times New Roman" panose="02020603050405020304" pitchFamily="18" charset="0"/>
              </a:rPr>
              <a:t>can help if acknowledgments are delayed or lost</a:t>
            </a:r>
            <a:r>
              <a:rPr lang="en-US" altLang="en-US" sz="2400" i="1" dirty="0">
                <a:latin typeface="Times New Roman" panose="02020603050405020304" pitchFamily="18" charset="0"/>
              </a:rPr>
              <a:t>.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2694" name="Picture 6">
            <a:extLst>
              <a:ext uri="{FF2B5EF4-FFF2-40B4-BE49-F238E27FC236}">
                <a16:creationId xmlns:a16="http://schemas.microsoft.com/office/drawing/2014/main" id="{FC673287-4A71-3B39-F41E-AC1D35AB47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3920" y="685800"/>
            <a:ext cx="5713413"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5367EB58-3D2A-2A44-FB34-F0CEB7F5BA42}"/>
              </a:ext>
            </a:extLst>
          </p:cNvPr>
          <p:cNvSpPr txBox="1"/>
          <p:nvPr/>
        </p:nvSpPr>
        <p:spPr>
          <a:xfrm>
            <a:off x="304800" y="869950"/>
            <a:ext cx="5222240" cy="5262979"/>
          </a:xfrm>
          <a:prstGeom prst="rect">
            <a:avLst/>
          </a:prstGeom>
          <a:noFill/>
        </p:spPr>
        <p:txBody>
          <a:bodyPr wrap="square">
            <a:spAutoFit/>
          </a:bodyPr>
          <a:lstStyle/>
          <a:p>
            <a:r>
              <a:rPr lang="en-US" altLang="en-US" sz="2400" dirty="0">
                <a:latin typeface="Times New Roman" panose="02020603050405020304" pitchFamily="18" charset="0"/>
                <a:cs typeface="Times New Roman" panose="02020603050405020304" pitchFamily="18" charset="0"/>
              </a:rPr>
              <a:t>Figure shows what happens when a frame is lost. Frames 0, 1, 2, and 3 are sent. However, frame 1 is lost. The receiver receives frames 2 and 3, but they are </a:t>
            </a:r>
            <a:r>
              <a:rPr lang="en-US" altLang="en-US" sz="2400" b="1" dirty="0">
                <a:solidFill>
                  <a:srgbClr val="FF0000"/>
                </a:solidFill>
                <a:latin typeface="Times New Roman" panose="02020603050405020304" pitchFamily="18" charset="0"/>
                <a:cs typeface="Times New Roman" panose="02020603050405020304" pitchFamily="18" charset="0"/>
              </a:rPr>
              <a:t>discarded</a:t>
            </a:r>
            <a:r>
              <a:rPr lang="en-US" altLang="en-US" sz="2400" dirty="0">
                <a:latin typeface="Times New Roman" panose="02020603050405020304" pitchFamily="18" charset="0"/>
                <a:cs typeface="Times New Roman" panose="02020603050405020304" pitchFamily="18" charset="0"/>
              </a:rPr>
              <a:t> because they are received </a:t>
            </a:r>
            <a:r>
              <a:rPr lang="en-US" altLang="en-US" sz="2400" b="1" dirty="0">
                <a:solidFill>
                  <a:srgbClr val="FF0000"/>
                </a:solidFill>
                <a:latin typeface="Times New Roman" panose="02020603050405020304" pitchFamily="18" charset="0"/>
                <a:cs typeface="Times New Roman" panose="02020603050405020304" pitchFamily="18" charset="0"/>
              </a:rPr>
              <a:t>out of order. </a:t>
            </a:r>
          </a:p>
          <a:p>
            <a:endParaRPr lang="en-US" altLang="en-US" sz="2400" b="1" dirty="0">
              <a:solidFill>
                <a:srgbClr val="FF0000"/>
              </a:solidFill>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The sender receives no acknowledgment about frames 1, 2, or 3. Its timer finally expires. The sender sends all outstanding frames (1, 2, and 3) because it does not know what is wrong. Note that the resending of frames 1, 2, and 3 is the response to one single event. </a:t>
            </a:r>
            <a:endParaRPr lang="en-IN" sz="2400" dirty="0">
              <a:latin typeface="Times New Roman" panose="02020603050405020304" pitchFamily="18" charset="0"/>
              <a:cs typeface="Times New Roman" panose="02020603050405020304" pitchFamily="18" charset="0"/>
            </a:endParaRPr>
          </a:p>
        </p:txBody>
      </p:sp>
      <p:sp>
        <p:nvSpPr>
          <p:cNvPr id="2" name="Text Box 4">
            <a:extLst>
              <a:ext uri="{FF2B5EF4-FFF2-40B4-BE49-F238E27FC236}">
                <a16:creationId xmlns:a16="http://schemas.microsoft.com/office/drawing/2014/main" id="{32C67845-C96E-C6C4-755D-DA218A48BFC7}"/>
              </a:ext>
            </a:extLst>
          </p:cNvPr>
          <p:cNvSpPr txBox="1">
            <a:spLocks noChangeArrowheads="1"/>
          </p:cNvSpPr>
          <p:nvPr/>
        </p:nvSpPr>
        <p:spPr bwMode="auto">
          <a:xfrm>
            <a:off x="4216400" y="177800"/>
            <a:ext cx="252184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i="1" dirty="0">
                <a:solidFill>
                  <a:srgbClr val="0000FF"/>
                </a:solidFill>
                <a:latin typeface="Times New Roman" panose="02020603050405020304" pitchFamily="18" charset="0"/>
              </a:rPr>
              <a:t>Flow diagram</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3716" name="Text Box 4">
            <a:extLst>
              <a:ext uri="{FF2B5EF4-FFF2-40B4-BE49-F238E27FC236}">
                <a16:creationId xmlns:a16="http://schemas.microsoft.com/office/drawing/2014/main" id="{D4662A42-A876-69E7-0183-C3DF86199B3E}"/>
              </a:ext>
            </a:extLst>
          </p:cNvPr>
          <p:cNvSpPr txBox="1">
            <a:spLocks noChangeArrowheads="1"/>
          </p:cNvSpPr>
          <p:nvPr/>
        </p:nvSpPr>
        <p:spPr bwMode="auto">
          <a:xfrm>
            <a:off x="3226676" y="243027"/>
            <a:ext cx="467339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4000" i="1" dirty="0">
                <a:solidFill>
                  <a:srgbClr val="0000FF"/>
                </a:solidFill>
                <a:latin typeface="Times New Roman" panose="02020603050405020304" pitchFamily="18" charset="0"/>
              </a:rPr>
              <a:t>Selective Repeat ARQ</a:t>
            </a:r>
          </a:p>
        </p:txBody>
      </p:sp>
      <p:pic>
        <p:nvPicPr>
          <p:cNvPr id="883718" name="Picture 6">
            <a:extLst>
              <a:ext uri="{FF2B5EF4-FFF2-40B4-BE49-F238E27FC236}">
                <a16:creationId xmlns:a16="http://schemas.microsoft.com/office/drawing/2014/main" id="{DDD5F34F-18F3-51FF-F3D8-C40F38B6E1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3863" y="4394200"/>
            <a:ext cx="8447087" cy="223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BE55B781-3F45-5A53-2BDF-71760A338B17}"/>
              </a:ext>
            </a:extLst>
          </p:cNvPr>
          <p:cNvSpPr txBox="1"/>
          <p:nvPr/>
        </p:nvSpPr>
        <p:spPr>
          <a:xfrm>
            <a:off x="401006" y="1563376"/>
            <a:ext cx="5694994" cy="1384995"/>
          </a:xfrm>
          <a:prstGeom prst="rect">
            <a:avLst/>
          </a:prstGeom>
          <a:noFill/>
        </p:spPr>
        <p:txBody>
          <a:bodyPr wrap="square">
            <a:spAutoFit/>
          </a:bodyPr>
          <a:lstStyle/>
          <a:p>
            <a:r>
              <a:rPr lang="en-US" altLang="en-US" sz="2800" dirty="0">
                <a:latin typeface="Times New Roman" panose="02020603050405020304" pitchFamily="18" charset="0"/>
                <a:cs typeface="Times New Roman" panose="02020603050405020304" pitchFamily="18" charset="0"/>
              </a:rPr>
              <a:t>In Selective Repeat ARQ, the size of the sender and receiver window must be at most </a:t>
            </a:r>
            <a:r>
              <a:rPr lang="en-US" altLang="en-US" sz="2800" b="1" dirty="0">
                <a:solidFill>
                  <a:srgbClr val="FF0000"/>
                </a:solidFill>
                <a:latin typeface="Times New Roman" panose="02020603050405020304" pitchFamily="18" charset="0"/>
                <a:cs typeface="Times New Roman" panose="02020603050405020304" pitchFamily="18" charset="0"/>
              </a:rPr>
              <a:t>one-half of 2</a:t>
            </a:r>
            <a:r>
              <a:rPr lang="en-US" altLang="en-US" sz="2800" b="1" baseline="30000" dirty="0">
                <a:solidFill>
                  <a:srgbClr val="FF0000"/>
                </a:solidFill>
                <a:latin typeface="Times New Roman" panose="02020603050405020304" pitchFamily="18" charset="0"/>
                <a:cs typeface="Times New Roman" panose="02020603050405020304" pitchFamily="18" charset="0"/>
              </a:rPr>
              <a:t>m   </a:t>
            </a:r>
            <a:endParaRPr lang="en-US" altLang="en-US" sz="2800" b="1" dirty="0">
              <a:solidFill>
                <a:srgbClr val="FF0000"/>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7E6AFC49-3B4A-FC13-4ED5-EF3F0465020F}"/>
              </a:ext>
            </a:extLst>
          </p:cNvPr>
          <p:cNvPicPr>
            <a:picLocks noChangeAspect="1"/>
          </p:cNvPicPr>
          <p:nvPr/>
        </p:nvPicPr>
        <p:blipFill>
          <a:blip r:embed="rId4"/>
          <a:stretch>
            <a:fillRect/>
          </a:stretch>
        </p:blipFill>
        <p:spPr>
          <a:xfrm>
            <a:off x="6096000" y="1289050"/>
            <a:ext cx="5924550" cy="310515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8836" name="Text Box 4">
            <a:extLst>
              <a:ext uri="{FF2B5EF4-FFF2-40B4-BE49-F238E27FC236}">
                <a16:creationId xmlns:a16="http://schemas.microsoft.com/office/drawing/2014/main" id="{568E879C-22A9-E749-ECF6-7CC1677FB67C}"/>
              </a:ext>
            </a:extLst>
          </p:cNvPr>
          <p:cNvSpPr txBox="1">
            <a:spLocks noChangeArrowheads="1"/>
          </p:cNvSpPr>
          <p:nvPr/>
        </p:nvSpPr>
        <p:spPr bwMode="auto">
          <a:xfrm>
            <a:off x="4835078" y="0"/>
            <a:ext cx="252184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i="1" dirty="0">
                <a:solidFill>
                  <a:srgbClr val="0000FF"/>
                </a:solidFill>
                <a:latin typeface="Times New Roman" panose="02020603050405020304" pitchFamily="18" charset="0"/>
              </a:rPr>
              <a:t>Flow diagram</a:t>
            </a:r>
          </a:p>
        </p:txBody>
      </p:sp>
      <p:pic>
        <p:nvPicPr>
          <p:cNvPr id="888838" name="Picture 6">
            <a:extLst>
              <a:ext uri="{FF2B5EF4-FFF2-40B4-BE49-F238E27FC236}">
                <a16:creationId xmlns:a16="http://schemas.microsoft.com/office/drawing/2014/main" id="{579513A1-6102-C3CD-3363-4A1AA31958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0480" y="911611"/>
            <a:ext cx="6856412" cy="4783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70AB0D20-F66D-F2CA-3A94-961CAA8A4D51}"/>
              </a:ext>
            </a:extLst>
          </p:cNvPr>
          <p:cNvSpPr txBox="1"/>
          <p:nvPr/>
        </p:nvSpPr>
        <p:spPr>
          <a:xfrm>
            <a:off x="81280" y="487025"/>
            <a:ext cx="5029200" cy="5632311"/>
          </a:xfrm>
          <a:prstGeom prst="rect">
            <a:avLst/>
          </a:prstGeom>
          <a:noFill/>
        </p:spPr>
        <p:txBody>
          <a:bodyPr wrap="square">
            <a:spAutoFit/>
          </a:bodyPr>
          <a:lstStyle/>
          <a:p>
            <a:pPr algn="just"/>
            <a:r>
              <a:rPr lang="en-US" altLang="en-US" sz="2400" i="1" baseline="0" dirty="0">
                <a:latin typeface="Times New Roman" panose="02020603050405020304" pitchFamily="18" charset="0"/>
                <a:cs typeface="Times New Roman" panose="02020603050405020304" pitchFamily="18" charset="0"/>
              </a:rPr>
              <a:t>Example in which frame 1 is lost. Here, each frame sent or resent needs a timer, which means that the timers need to be numbered (0, 1, 2, and 3). The timer for frame 0 starts at the first request, but stops when the ACK for this frame arrives.</a:t>
            </a:r>
          </a:p>
          <a:p>
            <a:pPr algn="just"/>
            <a:endParaRPr lang="en-US" altLang="en-US" sz="2400" i="1" baseline="0" dirty="0">
              <a:latin typeface="Times New Roman" panose="02020603050405020304" pitchFamily="18" charset="0"/>
              <a:cs typeface="Times New Roman" panose="02020603050405020304" pitchFamily="18" charset="0"/>
            </a:endParaRPr>
          </a:p>
          <a:p>
            <a:pPr algn="just"/>
            <a:r>
              <a:rPr lang="en-US" altLang="en-US" sz="2400" i="1" baseline="0" dirty="0">
                <a:latin typeface="Times New Roman" panose="02020603050405020304" pitchFamily="18" charset="0"/>
                <a:cs typeface="Times New Roman" panose="02020603050405020304" pitchFamily="18" charset="0"/>
              </a:rPr>
              <a:t> The timer for frame 1 starts at the second request, restarts when a NAK arrives, and finally stops when the last ACK arrives. The other two timers start when the corresponding frames are sent and stop at the last arrival event.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4125F-740A-B0C9-3C59-A1AB616C2652}"/>
            </a:ext>
          </a:extLst>
        </p:cNvPr>
        <p:cNvGrpSpPr/>
        <p:nvPr/>
      </p:nvGrpSpPr>
      <p:grpSpPr>
        <a:xfrm>
          <a:off x="0" y="0"/>
          <a:ext cx="0" cy="0"/>
          <a:chOff x="0" y="0"/>
          <a:chExt cx="0" cy="0"/>
        </a:xfrm>
      </p:grpSpPr>
      <p:sp>
        <p:nvSpPr>
          <p:cNvPr id="888836" name="Text Box 4">
            <a:extLst>
              <a:ext uri="{FF2B5EF4-FFF2-40B4-BE49-F238E27FC236}">
                <a16:creationId xmlns:a16="http://schemas.microsoft.com/office/drawing/2014/main" id="{FA598E33-267D-AE9D-A610-26F16677BEA8}"/>
              </a:ext>
            </a:extLst>
          </p:cNvPr>
          <p:cNvSpPr txBox="1">
            <a:spLocks noChangeArrowheads="1"/>
          </p:cNvSpPr>
          <p:nvPr/>
        </p:nvSpPr>
        <p:spPr bwMode="auto">
          <a:xfrm>
            <a:off x="4835078" y="0"/>
            <a:ext cx="252184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i="1" dirty="0">
                <a:solidFill>
                  <a:srgbClr val="0000FF"/>
                </a:solidFill>
                <a:latin typeface="Times New Roman" panose="02020603050405020304" pitchFamily="18" charset="0"/>
              </a:rPr>
              <a:t>Flow diagram</a:t>
            </a:r>
          </a:p>
        </p:txBody>
      </p:sp>
      <p:pic>
        <p:nvPicPr>
          <p:cNvPr id="888838" name="Picture 6">
            <a:extLst>
              <a:ext uri="{FF2B5EF4-FFF2-40B4-BE49-F238E27FC236}">
                <a16:creationId xmlns:a16="http://schemas.microsoft.com/office/drawing/2014/main" id="{1A3AD370-1FD4-F088-679D-2197E03EB0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734596"/>
            <a:ext cx="5850278" cy="4081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a:extLst>
              <a:ext uri="{FF2B5EF4-FFF2-40B4-BE49-F238E27FC236}">
                <a16:creationId xmlns:a16="http://schemas.microsoft.com/office/drawing/2014/main" id="{37833C93-B281-509A-0A2D-47A63E230D41}"/>
              </a:ext>
            </a:extLst>
          </p:cNvPr>
          <p:cNvSpPr txBox="1"/>
          <p:nvPr/>
        </p:nvSpPr>
        <p:spPr>
          <a:xfrm>
            <a:off x="145156" y="584775"/>
            <a:ext cx="5666364" cy="4524315"/>
          </a:xfrm>
          <a:prstGeom prst="rect">
            <a:avLst/>
          </a:prstGeom>
          <a:noFill/>
        </p:spPr>
        <p:txBody>
          <a:bodyPr wrap="square">
            <a:spAutoFit/>
          </a:bodyPr>
          <a:lstStyle/>
          <a:p>
            <a:pPr marL="342900" indent="-342900" algn="just">
              <a:buFont typeface="Wingdings" panose="05000000000000000000" pitchFamily="2" charset="2"/>
              <a:buChar char="Ø"/>
            </a:pPr>
            <a:r>
              <a:rPr lang="en-US" altLang="en-US" sz="2400" baseline="0" dirty="0">
                <a:latin typeface="Times New Roman" panose="02020603050405020304" pitchFamily="18" charset="0"/>
                <a:cs typeface="Times New Roman" panose="02020603050405020304" pitchFamily="18" charset="0"/>
              </a:rPr>
              <a:t>At the receiver site, frame 2  and frame 3 arrive and </a:t>
            </a:r>
            <a:r>
              <a:rPr lang="en-US" altLang="en-US" sz="2400" dirty="0">
                <a:latin typeface="Times New Roman" panose="02020603050405020304" pitchFamily="18" charset="0"/>
                <a:cs typeface="Times New Roman" panose="02020603050405020304" pitchFamily="18" charset="0"/>
              </a:rPr>
              <a:t>are</a:t>
            </a:r>
            <a:r>
              <a:rPr lang="en-US" altLang="en-US" sz="2400" baseline="0" dirty="0">
                <a:latin typeface="Times New Roman" panose="02020603050405020304" pitchFamily="18" charset="0"/>
                <a:cs typeface="Times New Roman" panose="02020603050405020304" pitchFamily="18" charset="0"/>
              </a:rPr>
              <a:t> stored and marked, but it cannot be delivered because frame 1 is missing. </a:t>
            </a:r>
            <a:r>
              <a:rPr lang="en-US" altLang="en-US" sz="2400" dirty="0">
                <a:latin typeface="Times New Roman" panose="02020603050405020304" pitchFamily="18" charset="0"/>
                <a:cs typeface="Times New Roman" panose="02020603050405020304" pitchFamily="18" charset="0"/>
              </a:rPr>
              <a:t>W</a:t>
            </a:r>
            <a:r>
              <a:rPr lang="en-US" altLang="en-US" sz="2400" baseline="0" dirty="0">
                <a:latin typeface="Times New Roman" panose="02020603050405020304" pitchFamily="18" charset="0"/>
                <a:cs typeface="Times New Roman" panose="02020603050405020304" pitchFamily="18" charset="0"/>
              </a:rPr>
              <a:t>hen finally, a copy of frame 1 arrives, frames 1, 2, and 3 be delivered to the network layer. </a:t>
            </a:r>
          </a:p>
          <a:p>
            <a:pPr marL="342900" indent="-342900" algn="just">
              <a:buFont typeface="Wingdings" panose="05000000000000000000" pitchFamily="2" charset="2"/>
              <a:buChar char="Ø"/>
            </a:pPr>
            <a:r>
              <a:rPr lang="en-US" altLang="en-US" sz="2400" dirty="0">
                <a:latin typeface="Times New Roman" panose="02020603050405020304" pitchFamily="18" charset="0"/>
              </a:rPr>
              <a:t>Another important point is that a NAK is sent after the second arrival, but not after the third. The reason is that the protocol does not want to crowd the network with unnecessary. </a:t>
            </a:r>
          </a:p>
          <a:p>
            <a:pPr algn="just"/>
            <a:endParaRPr lang="en-US" altLang="en-US" sz="2400" i="1" baseline="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566128A-06AD-1D10-47DD-4CF7D6D250C7}"/>
              </a:ext>
            </a:extLst>
          </p:cNvPr>
          <p:cNvSpPr txBox="1"/>
          <p:nvPr/>
        </p:nvSpPr>
        <p:spPr>
          <a:xfrm>
            <a:off x="41722" y="4909035"/>
            <a:ext cx="11771724" cy="1569660"/>
          </a:xfrm>
          <a:prstGeom prst="rect">
            <a:avLst/>
          </a:prstGeom>
          <a:noFill/>
        </p:spPr>
        <p:txBody>
          <a:bodyPr wrap="square">
            <a:spAutoFit/>
          </a:bodyPr>
          <a:lstStyle/>
          <a:p>
            <a:pPr marL="342900" indent="-342900" algn="just">
              <a:buFont typeface="Wingdings" panose="05000000000000000000" pitchFamily="2" charset="2"/>
              <a:buChar char="Ø"/>
            </a:pPr>
            <a:r>
              <a:rPr lang="en-US" altLang="en-US" sz="2400" baseline="0" dirty="0">
                <a:latin typeface="Times New Roman" panose="02020603050405020304" pitchFamily="18" charset="0"/>
                <a:cs typeface="Times New Roman" panose="02020603050405020304" pitchFamily="18" charset="0"/>
              </a:rPr>
              <a:t>The next point is about the ACKs. Notice that only two ACKs are sent here. The first one acknowledges only the first frame; the second one acknowledges three frames. In Selective Repeat, ACKs are sent when data are delivered to the network layer. If the data belonging to n frames are delivered in one shot, only one ACK is sent for all of them.</a:t>
            </a:r>
          </a:p>
        </p:txBody>
      </p:sp>
    </p:spTree>
    <p:extLst>
      <p:ext uri="{BB962C8B-B14F-4D97-AF65-F5344CB8AC3E}">
        <p14:creationId xmlns:p14="http://schemas.microsoft.com/office/powerpoint/2010/main" val="13156419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3235" name="Text Box 3">
            <a:extLst>
              <a:ext uri="{FF2B5EF4-FFF2-40B4-BE49-F238E27FC236}">
                <a16:creationId xmlns:a16="http://schemas.microsoft.com/office/drawing/2014/main" id="{F8261D45-204E-797E-2EF8-E4F66F829465}"/>
              </a:ext>
            </a:extLst>
          </p:cNvPr>
          <p:cNvSpPr txBox="1">
            <a:spLocks noChangeArrowheads="1"/>
          </p:cNvSpPr>
          <p:nvPr/>
        </p:nvSpPr>
        <p:spPr bwMode="auto">
          <a:xfrm>
            <a:off x="1752600" y="406400"/>
            <a:ext cx="144142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dirty="0">
                <a:solidFill>
                  <a:srgbClr val="0000FF"/>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HDLC</a:t>
            </a:r>
          </a:p>
        </p:txBody>
      </p:sp>
      <p:sp>
        <p:nvSpPr>
          <p:cNvPr id="863236" name="Text Box 4">
            <a:extLst>
              <a:ext uri="{FF2B5EF4-FFF2-40B4-BE49-F238E27FC236}">
                <a16:creationId xmlns:a16="http://schemas.microsoft.com/office/drawing/2014/main" id="{6C21F752-AC42-8111-6C99-413BA54DFF82}"/>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latin typeface="Times New Roman" panose="02020603050405020304" pitchFamily="18" charset="0"/>
            </a:endParaRPr>
          </a:p>
        </p:txBody>
      </p:sp>
      <p:sp>
        <p:nvSpPr>
          <p:cNvPr id="863237" name="Rectangle 5">
            <a:extLst>
              <a:ext uri="{FF2B5EF4-FFF2-40B4-BE49-F238E27FC236}">
                <a16:creationId xmlns:a16="http://schemas.microsoft.com/office/drawing/2014/main" id="{7E3DB13F-657E-ADEE-11BF-7F57DE7368B9}"/>
              </a:ext>
            </a:extLst>
          </p:cNvPr>
          <p:cNvSpPr>
            <a:spLocks noChangeArrowheads="1"/>
          </p:cNvSpPr>
          <p:nvPr/>
        </p:nvSpPr>
        <p:spPr bwMode="auto">
          <a:xfrm>
            <a:off x="165100" y="1206471"/>
            <a:ext cx="1032002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1" hangingPunct="1"/>
            <a:r>
              <a:rPr lang="en-US" altLang="en-US" sz="2800" i="1" dirty="0">
                <a:solidFill>
                  <a:schemeClr val="hlink"/>
                </a:solidFill>
                <a:effectLst>
                  <a:outerShdw blurRad="38100" dist="38100" dir="2700000" algn="tl">
                    <a:srgbClr val="C0C0C0"/>
                  </a:outerShdw>
                </a:effectLst>
                <a:latin typeface="Times New Roman" panose="02020603050405020304" pitchFamily="18" charset="0"/>
              </a:rPr>
              <a:t>High-level Data Link Control (HDLC)</a:t>
            </a:r>
            <a:r>
              <a:rPr lang="en-US" altLang="en-US" sz="2800" i="1" dirty="0">
                <a:effectLst>
                  <a:outerShdw blurRad="38100" dist="38100" dir="2700000" algn="tl">
                    <a:srgbClr val="C0C0C0"/>
                  </a:outerShdw>
                </a:effectLst>
                <a:latin typeface="Times New Roman" panose="02020603050405020304" pitchFamily="18" charset="0"/>
              </a:rPr>
              <a:t> is a </a:t>
            </a:r>
            <a:r>
              <a:rPr lang="en-US" altLang="en-US" sz="2800" i="1" dirty="0">
                <a:solidFill>
                  <a:schemeClr val="hlink"/>
                </a:solidFill>
                <a:effectLst>
                  <a:outerShdw blurRad="38100" dist="38100" dir="2700000" algn="tl">
                    <a:srgbClr val="C0C0C0"/>
                  </a:outerShdw>
                </a:effectLst>
                <a:latin typeface="Times New Roman" panose="02020603050405020304" pitchFamily="18" charset="0"/>
              </a:rPr>
              <a:t>bit-oriented</a:t>
            </a:r>
            <a:r>
              <a:rPr lang="en-US" altLang="en-US" sz="2800" i="1" dirty="0">
                <a:effectLst>
                  <a:outerShdw blurRad="38100" dist="38100" dir="2700000" algn="tl">
                    <a:srgbClr val="C0C0C0"/>
                  </a:outerShdw>
                </a:effectLst>
                <a:latin typeface="Times New Roman" panose="02020603050405020304" pitchFamily="18" charset="0"/>
              </a:rPr>
              <a:t> protocol for communication over point-to-point and multipoint links. It implements the ARQ mechanisms.</a:t>
            </a:r>
          </a:p>
        </p:txBody>
      </p:sp>
      <p:sp>
        <p:nvSpPr>
          <p:cNvPr id="4" name="Rectangle 6">
            <a:extLst>
              <a:ext uri="{FF2B5EF4-FFF2-40B4-BE49-F238E27FC236}">
                <a16:creationId xmlns:a16="http://schemas.microsoft.com/office/drawing/2014/main" id="{E6970B1B-62BD-344F-AB57-743522AEBCB1}"/>
              </a:ext>
            </a:extLst>
          </p:cNvPr>
          <p:cNvSpPr>
            <a:spLocks noChangeArrowheads="1"/>
          </p:cNvSpPr>
          <p:nvPr/>
        </p:nvSpPr>
        <p:spPr bwMode="auto">
          <a:xfrm>
            <a:off x="152400" y="4679950"/>
            <a:ext cx="6705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anose="05000000000000000000" pitchFamily="2" charset="2"/>
              <a:buNone/>
            </a:pPr>
            <a:r>
              <a:rPr lang="en-US" altLang="en-US" sz="2400" baseline="0" dirty="0">
                <a:solidFill>
                  <a:srgbClr val="0033CC"/>
                </a:solidFill>
                <a:latin typeface="Times New Roman" panose="02020603050405020304" pitchFamily="18" charset="0"/>
              </a:rPr>
              <a:t>Configurations and Transfer Modes</a:t>
            </a:r>
            <a:br>
              <a:rPr lang="fr-FR" altLang="en-US" sz="2400" baseline="0" dirty="0">
                <a:solidFill>
                  <a:srgbClr val="0033CC"/>
                </a:solidFill>
                <a:latin typeface="Times New Roman" panose="02020603050405020304" pitchFamily="18" charset="0"/>
              </a:rPr>
            </a:br>
            <a:r>
              <a:rPr lang="fr-FR" altLang="en-US" sz="2400" baseline="0" dirty="0">
                <a:solidFill>
                  <a:srgbClr val="0033CC"/>
                </a:solidFill>
                <a:latin typeface="Times New Roman" panose="02020603050405020304" pitchFamily="18" charset="0"/>
              </a:rPr>
              <a:t>Frames</a:t>
            </a:r>
            <a:br>
              <a:rPr lang="fr-FR" altLang="en-US" sz="2400" baseline="0" dirty="0">
                <a:solidFill>
                  <a:srgbClr val="0033CC"/>
                </a:solidFill>
                <a:latin typeface="Times New Roman" panose="02020603050405020304" pitchFamily="18" charset="0"/>
              </a:rPr>
            </a:br>
            <a:r>
              <a:rPr lang="fr-FR" altLang="en-US" sz="2400" baseline="0" dirty="0">
                <a:solidFill>
                  <a:srgbClr val="0033CC"/>
                </a:solidFill>
                <a:latin typeface="Times New Roman" panose="02020603050405020304" pitchFamily="18" charset="0"/>
              </a:rPr>
              <a:t>Control Field</a:t>
            </a:r>
            <a:endParaRPr lang="en-US" altLang="en-US" sz="2400" baseline="0" dirty="0">
              <a:solidFill>
                <a:srgbClr val="0033CC"/>
              </a:solidFill>
              <a:latin typeface="Times New Roman" panose="02020603050405020304" pitchFamily="18" charset="0"/>
            </a:endParaRPr>
          </a:p>
        </p:txBody>
      </p:sp>
      <p:sp>
        <p:nvSpPr>
          <p:cNvPr id="5" name="Text Box 7">
            <a:extLst>
              <a:ext uri="{FF2B5EF4-FFF2-40B4-BE49-F238E27FC236}">
                <a16:creationId xmlns:a16="http://schemas.microsoft.com/office/drawing/2014/main" id="{1ABDD3BA-167B-4897-61BA-F5E059CD5D3B}"/>
              </a:ext>
            </a:extLst>
          </p:cNvPr>
          <p:cNvSpPr txBox="1">
            <a:spLocks noChangeArrowheads="1"/>
          </p:cNvSpPr>
          <p:nvPr/>
        </p:nvSpPr>
        <p:spPr bwMode="auto">
          <a:xfrm>
            <a:off x="165100" y="42037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800" i="1" u="sng" baseline="0" dirty="0">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B5148-E736-7672-C421-295A3E18E7C2}"/>
              </a:ext>
            </a:extLst>
          </p:cNvPr>
          <p:cNvSpPr>
            <a:spLocks noGrp="1"/>
          </p:cNvSpPr>
          <p:nvPr>
            <p:ph type="title"/>
          </p:nvPr>
        </p:nvSpPr>
        <p:spPr>
          <a:xfrm>
            <a:off x="0" y="304289"/>
            <a:ext cx="12192000" cy="1325563"/>
          </a:xfrm>
        </p:spPr>
        <p:txBody>
          <a:bodyPr>
            <a:normAutofit/>
          </a:bodyPr>
          <a:lstStyle/>
          <a:p>
            <a:pPr algn="ctr"/>
            <a:r>
              <a:rPr lang="en-IN" sz="4800" b="1" dirty="0">
                <a:solidFill>
                  <a:schemeClr val="accent1"/>
                </a:solidFill>
                <a:latin typeface="Times New Roman" panose="02020603050405020304" pitchFamily="18" charset="0"/>
                <a:cs typeface="Times New Roman" panose="02020603050405020304" pitchFamily="18" charset="0"/>
              </a:rPr>
              <a:t>Normal Response Mode(NRM)</a:t>
            </a:r>
          </a:p>
        </p:txBody>
      </p:sp>
      <p:sp>
        <p:nvSpPr>
          <p:cNvPr id="3" name="Content Placeholder 2">
            <a:extLst>
              <a:ext uri="{FF2B5EF4-FFF2-40B4-BE49-F238E27FC236}">
                <a16:creationId xmlns:a16="http://schemas.microsoft.com/office/drawing/2014/main" id="{26FEE37A-2992-CDE0-416F-CE61F24BB87B}"/>
              </a:ext>
            </a:extLst>
          </p:cNvPr>
          <p:cNvSpPr>
            <a:spLocks noGrp="1"/>
          </p:cNvSpPr>
          <p:nvPr>
            <p:ph idx="1"/>
          </p:nvPr>
        </p:nvSpPr>
        <p:spPr>
          <a:xfrm>
            <a:off x="-2" y="1791811"/>
            <a:ext cx="5401560" cy="3572669"/>
          </a:xfrm>
        </p:spPr>
        <p:txBody>
          <a:bodyPr>
            <a:normAutofit/>
          </a:bodyPr>
          <a:lstStyle/>
          <a:p>
            <a:pPr algn="just">
              <a:lnSpc>
                <a:spcPct val="100000"/>
              </a:lnSpc>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 In normal response mode(NRM), the station </a:t>
            </a:r>
            <a:r>
              <a:rPr lang="en-IN" sz="2400" dirty="0">
                <a:solidFill>
                  <a:srgbClr val="FF0000"/>
                </a:solidFill>
                <a:latin typeface="Times New Roman" panose="02020603050405020304" pitchFamily="18" charset="0"/>
                <a:cs typeface="Times New Roman" panose="02020603050405020304" pitchFamily="18" charset="0"/>
              </a:rPr>
              <a:t>configuration is unbalanced</a:t>
            </a:r>
            <a:r>
              <a:rPr lang="en-IN" sz="2400" dirty="0">
                <a:latin typeface="Times New Roman" panose="02020603050405020304" pitchFamily="18" charset="0"/>
                <a:cs typeface="Times New Roman" panose="02020603050405020304" pitchFamily="18" charset="0"/>
              </a:rPr>
              <a:t>.</a:t>
            </a:r>
          </a:p>
          <a:p>
            <a:pPr algn="just">
              <a:lnSpc>
                <a:spcPct val="100000"/>
              </a:lnSpc>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 One primary station and multiple secondary stations are present. </a:t>
            </a:r>
          </a:p>
          <a:p>
            <a:pPr algn="just">
              <a:lnSpc>
                <a:spcPct val="100000"/>
              </a:lnSpc>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A </a:t>
            </a:r>
            <a:r>
              <a:rPr lang="en-IN" sz="2400" dirty="0">
                <a:solidFill>
                  <a:srgbClr val="FF0000"/>
                </a:solidFill>
                <a:latin typeface="Times New Roman" panose="02020603050405020304" pitchFamily="18" charset="0"/>
                <a:cs typeface="Times New Roman" panose="02020603050405020304" pitchFamily="18" charset="0"/>
              </a:rPr>
              <a:t>primary station</a:t>
            </a:r>
            <a:r>
              <a:rPr lang="en-IN" sz="2400" dirty="0">
                <a:latin typeface="Times New Roman" panose="02020603050405020304" pitchFamily="18" charset="0"/>
                <a:cs typeface="Times New Roman" panose="02020603050405020304" pitchFamily="18" charset="0"/>
              </a:rPr>
              <a:t> can </a:t>
            </a:r>
            <a:r>
              <a:rPr lang="en-IN" sz="2400" dirty="0">
                <a:solidFill>
                  <a:srgbClr val="FF0000"/>
                </a:solidFill>
                <a:latin typeface="Times New Roman" panose="02020603050405020304" pitchFamily="18" charset="0"/>
                <a:cs typeface="Times New Roman" panose="02020603050405020304" pitchFamily="18" charset="0"/>
              </a:rPr>
              <a:t>send</a:t>
            </a:r>
            <a:r>
              <a:rPr lang="en-IN" sz="2400" dirty="0">
                <a:latin typeface="Times New Roman" panose="02020603050405020304" pitchFamily="18" charset="0"/>
                <a:cs typeface="Times New Roman" panose="02020603050405020304" pitchFamily="18" charset="0"/>
              </a:rPr>
              <a:t> commands, a </a:t>
            </a:r>
            <a:r>
              <a:rPr lang="en-IN" sz="2400" dirty="0">
                <a:solidFill>
                  <a:srgbClr val="FF0000"/>
                </a:solidFill>
                <a:latin typeface="Times New Roman" panose="02020603050405020304" pitchFamily="18" charset="0"/>
                <a:cs typeface="Times New Roman" panose="02020603050405020304" pitchFamily="18" charset="0"/>
              </a:rPr>
              <a:t>secondary</a:t>
            </a:r>
            <a:r>
              <a:rPr lang="en-IN" sz="2400" dirty="0">
                <a:latin typeface="Times New Roman" panose="02020603050405020304" pitchFamily="18" charset="0"/>
                <a:cs typeface="Times New Roman" panose="02020603050405020304" pitchFamily="18" charset="0"/>
              </a:rPr>
              <a:t> station can only </a:t>
            </a:r>
            <a:r>
              <a:rPr lang="en-IN" sz="2400" dirty="0">
                <a:solidFill>
                  <a:srgbClr val="FF0000"/>
                </a:solidFill>
                <a:latin typeface="Times New Roman" panose="02020603050405020304" pitchFamily="18" charset="0"/>
                <a:cs typeface="Times New Roman" panose="02020603050405020304" pitchFamily="18" charset="0"/>
              </a:rPr>
              <a:t>respond</a:t>
            </a:r>
            <a:r>
              <a:rPr lang="en-IN" sz="2400" dirty="0">
                <a:latin typeface="Times New Roman" panose="02020603050405020304" pitchFamily="18" charset="0"/>
                <a:cs typeface="Times New Roman" panose="02020603050405020304" pitchFamily="18" charset="0"/>
              </a:rPr>
              <a:t>. </a:t>
            </a:r>
          </a:p>
          <a:p>
            <a:pPr algn="just">
              <a:lnSpc>
                <a:spcPct val="100000"/>
              </a:lnSpc>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The NRM is used for both point-to-point and multiple-point link. </a:t>
            </a:r>
          </a:p>
          <a:p>
            <a:pPr algn="just">
              <a:lnSpc>
                <a:spcPct val="150000"/>
              </a:lnSpc>
              <a:buFont typeface="Courier New" panose="02070309020205020404" pitchFamily="49" charset="0"/>
              <a:buChar char="o"/>
            </a:pP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32E9A84-5DEF-1670-B0F8-D2C618CBE098}"/>
              </a:ext>
            </a:extLst>
          </p:cNvPr>
          <p:cNvPicPr>
            <a:picLocks noChangeAspect="1"/>
          </p:cNvPicPr>
          <p:nvPr/>
        </p:nvPicPr>
        <p:blipFill>
          <a:blip r:embed="rId2">
            <a:extLst>
              <a:ext uri="{28A0092B-C50C-407E-A947-70E740481C1C}">
                <a14:useLocalDpi xmlns:a14="http://schemas.microsoft.com/office/drawing/2010/main" val="0"/>
              </a:ext>
            </a:extLst>
          </a:blip>
          <a:srcRect b="30329"/>
          <a:stretch/>
        </p:blipFill>
        <p:spPr>
          <a:xfrm>
            <a:off x="5401558" y="1791811"/>
            <a:ext cx="6524625" cy="2946465"/>
          </a:xfrm>
          <a:prstGeom prst="rect">
            <a:avLst/>
          </a:prstGeom>
        </p:spPr>
      </p:pic>
      <p:sp>
        <p:nvSpPr>
          <p:cNvPr id="6" name="TextBox 5">
            <a:extLst>
              <a:ext uri="{FF2B5EF4-FFF2-40B4-BE49-F238E27FC236}">
                <a16:creationId xmlns:a16="http://schemas.microsoft.com/office/drawing/2014/main" id="{C15AC323-2AE7-2939-CE00-831D6E438971}"/>
              </a:ext>
            </a:extLst>
          </p:cNvPr>
          <p:cNvSpPr txBox="1"/>
          <p:nvPr/>
        </p:nvSpPr>
        <p:spPr>
          <a:xfrm>
            <a:off x="6542203" y="5062194"/>
            <a:ext cx="4826524" cy="400110"/>
          </a:xfrm>
          <a:prstGeom prst="rect">
            <a:avLst/>
          </a:prstGeom>
          <a:noFill/>
        </p:spPr>
        <p:txBody>
          <a:bodyPr wrap="square" rtlCol="0">
            <a:spAutoFit/>
          </a:bodyPr>
          <a:lstStyle/>
          <a:p>
            <a:r>
              <a:rPr lang="en-IN" sz="2000" i="1" dirty="0">
                <a:solidFill>
                  <a:schemeClr val="accent1"/>
                </a:solidFill>
                <a:latin typeface="Times New Roman" panose="02020603050405020304" pitchFamily="18" charset="0"/>
                <a:cs typeface="Times New Roman" panose="02020603050405020304" pitchFamily="18" charset="0"/>
              </a:rPr>
              <a:t>Figure: </a:t>
            </a:r>
            <a:r>
              <a:rPr lang="en-IN" sz="2000" dirty="0">
                <a:latin typeface="Times New Roman" panose="02020603050405020304" pitchFamily="18" charset="0"/>
                <a:cs typeface="Times New Roman" panose="02020603050405020304" pitchFamily="18" charset="0"/>
              </a:rPr>
              <a:t>Normal Response Mode(NRM)</a:t>
            </a:r>
          </a:p>
        </p:txBody>
      </p:sp>
    </p:spTree>
    <p:extLst>
      <p:ext uri="{BB962C8B-B14F-4D97-AF65-F5344CB8AC3E}">
        <p14:creationId xmlns:p14="http://schemas.microsoft.com/office/powerpoint/2010/main" val="17158723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F034C-FA33-5239-A628-044809C9AD4A}"/>
              </a:ext>
            </a:extLst>
          </p:cNvPr>
          <p:cNvSpPr>
            <a:spLocks noGrp="1"/>
          </p:cNvSpPr>
          <p:nvPr>
            <p:ph type="title"/>
          </p:nvPr>
        </p:nvSpPr>
        <p:spPr>
          <a:xfrm>
            <a:off x="0" y="0"/>
            <a:ext cx="12192000" cy="1325563"/>
          </a:xfrm>
        </p:spPr>
        <p:txBody>
          <a:bodyPr>
            <a:normAutofit/>
          </a:bodyPr>
          <a:lstStyle/>
          <a:p>
            <a:pPr algn="ctr"/>
            <a:r>
              <a:rPr lang="en-IN" sz="4800" b="1" dirty="0">
                <a:solidFill>
                  <a:schemeClr val="accent1"/>
                </a:solidFill>
                <a:latin typeface="Times New Roman" panose="02020603050405020304" pitchFamily="18" charset="0"/>
                <a:cs typeface="Times New Roman" panose="02020603050405020304" pitchFamily="18" charset="0"/>
              </a:rPr>
              <a:t>Asynchronous Balanced Mode (ABM)</a:t>
            </a:r>
          </a:p>
        </p:txBody>
      </p:sp>
      <p:sp>
        <p:nvSpPr>
          <p:cNvPr id="3" name="Content Placeholder 2">
            <a:extLst>
              <a:ext uri="{FF2B5EF4-FFF2-40B4-BE49-F238E27FC236}">
                <a16:creationId xmlns:a16="http://schemas.microsoft.com/office/drawing/2014/main" id="{FD334733-AF9C-B21E-D97E-1903C82ED955}"/>
              </a:ext>
            </a:extLst>
          </p:cNvPr>
          <p:cNvSpPr>
            <a:spLocks noGrp="1"/>
          </p:cNvSpPr>
          <p:nvPr>
            <p:ph idx="1"/>
          </p:nvPr>
        </p:nvSpPr>
        <p:spPr>
          <a:xfrm>
            <a:off x="901011" y="1448553"/>
            <a:ext cx="10576560" cy="1228659"/>
          </a:xfrm>
        </p:spPr>
        <p:txBody>
          <a:bodyPr>
            <a:normAutofit/>
          </a:bodyPr>
          <a:lstStyle/>
          <a:p>
            <a:pPr marL="0" indent="0" algn="just">
              <a:lnSpc>
                <a:spcPct val="150000"/>
              </a:lnSpc>
              <a:buNone/>
            </a:pPr>
            <a:r>
              <a:rPr lang="en-IN" sz="2400" dirty="0">
                <a:latin typeface="Times New Roman" panose="02020603050405020304" pitchFamily="18" charset="0"/>
                <a:cs typeface="Times New Roman" panose="02020603050405020304" pitchFamily="18" charset="0"/>
              </a:rPr>
              <a:t>In this mode, the configuration is </a:t>
            </a:r>
            <a:r>
              <a:rPr lang="en-IN" sz="2400" dirty="0">
                <a:solidFill>
                  <a:srgbClr val="FF0000"/>
                </a:solidFill>
                <a:latin typeface="Times New Roman" panose="02020603050405020304" pitchFamily="18" charset="0"/>
                <a:cs typeface="Times New Roman" panose="02020603050405020304" pitchFamily="18" charset="0"/>
              </a:rPr>
              <a:t>balanced</a:t>
            </a:r>
            <a:r>
              <a:rPr lang="en-IN" sz="2400" dirty="0">
                <a:latin typeface="Times New Roman" panose="02020603050405020304" pitchFamily="18" charset="0"/>
                <a:cs typeface="Times New Roman" panose="02020603050405020304" pitchFamily="18" charset="0"/>
              </a:rPr>
              <a:t>. The link is point-to-point and each station can function as a primary and a secondary.   </a:t>
            </a:r>
          </a:p>
        </p:txBody>
      </p:sp>
      <p:pic>
        <p:nvPicPr>
          <p:cNvPr id="5" name="Picture 4">
            <a:extLst>
              <a:ext uri="{FF2B5EF4-FFF2-40B4-BE49-F238E27FC236}">
                <a16:creationId xmlns:a16="http://schemas.microsoft.com/office/drawing/2014/main" id="{ED41CC86-937E-5628-68B9-EEE08F4C1684}"/>
              </a:ext>
            </a:extLst>
          </p:cNvPr>
          <p:cNvPicPr>
            <a:picLocks noChangeAspect="1"/>
          </p:cNvPicPr>
          <p:nvPr/>
        </p:nvPicPr>
        <p:blipFill>
          <a:blip r:embed="rId2">
            <a:extLst>
              <a:ext uri="{28A0092B-C50C-407E-A947-70E740481C1C}">
                <a14:useLocalDpi xmlns:a14="http://schemas.microsoft.com/office/drawing/2010/main" val="0"/>
              </a:ext>
            </a:extLst>
          </a:blip>
          <a:srcRect t="73684"/>
          <a:stretch/>
        </p:blipFill>
        <p:spPr>
          <a:xfrm>
            <a:off x="1353679" y="2941163"/>
            <a:ext cx="9671224" cy="1649690"/>
          </a:xfrm>
          <a:prstGeom prst="rect">
            <a:avLst/>
          </a:prstGeom>
        </p:spPr>
      </p:pic>
      <p:sp>
        <p:nvSpPr>
          <p:cNvPr id="6" name="TextBox 5">
            <a:extLst>
              <a:ext uri="{FF2B5EF4-FFF2-40B4-BE49-F238E27FC236}">
                <a16:creationId xmlns:a16="http://schemas.microsoft.com/office/drawing/2014/main" id="{4E578BF0-A151-161E-8A65-2ADA25392DBA}"/>
              </a:ext>
            </a:extLst>
          </p:cNvPr>
          <p:cNvSpPr txBox="1"/>
          <p:nvPr/>
        </p:nvSpPr>
        <p:spPr>
          <a:xfrm>
            <a:off x="3214541" y="4854804"/>
            <a:ext cx="5410984" cy="400110"/>
          </a:xfrm>
          <a:prstGeom prst="rect">
            <a:avLst/>
          </a:prstGeom>
          <a:noFill/>
        </p:spPr>
        <p:txBody>
          <a:bodyPr wrap="square" rtlCol="0">
            <a:spAutoFit/>
          </a:bodyPr>
          <a:lstStyle/>
          <a:p>
            <a:r>
              <a:rPr lang="en-IN" sz="2000" i="1" dirty="0">
                <a:solidFill>
                  <a:schemeClr val="accent1"/>
                </a:solidFill>
                <a:latin typeface="Times New Roman" panose="02020603050405020304" pitchFamily="18" charset="0"/>
                <a:cs typeface="Times New Roman" panose="02020603050405020304" pitchFamily="18" charset="0"/>
              </a:rPr>
              <a:t>Figure: </a:t>
            </a:r>
            <a:r>
              <a:rPr lang="en-IN" sz="2000" dirty="0">
                <a:latin typeface="Times New Roman" panose="02020603050405020304" pitchFamily="18" charset="0"/>
                <a:cs typeface="Times New Roman" panose="02020603050405020304" pitchFamily="18" charset="0"/>
              </a:rPr>
              <a:t>Asynchronous Balanced Mode(ABM)</a:t>
            </a:r>
          </a:p>
        </p:txBody>
      </p:sp>
    </p:spTree>
    <p:extLst>
      <p:ext uri="{BB962C8B-B14F-4D97-AF65-F5344CB8AC3E}">
        <p14:creationId xmlns:p14="http://schemas.microsoft.com/office/powerpoint/2010/main" val="27525444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7FBA8-CA91-6997-9664-7D4B67219597}"/>
              </a:ext>
            </a:extLst>
          </p:cNvPr>
          <p:cNvSpPr>
            <a:spLocks noGrp="1"/>
          </p:cNvSpPr>
          <p:nvPr>
            <p:ph type="title"/>
          </p:nvPr>
        </p:nvSpPr>
        <p:spPr>
          <a:xfrm>
            <a:off x="838200" y="3616"/>
            <a:ext cx="10515600" cy="1325563"/>
          </a:xfrm>
        </p:spPr>
        <p:txBody>
          <a:bodyPr>
            <a:normAutofit/>
          </a:bodyPr>
          <a:lstStyle/>
          <a:p>
            <a:r>
              <a:rPr lang="en-IN" sz="4800" b="1" dirty="0">
                <a:solidFill>
                  <a:schemeClr val="accent1"/>
                </a:solidFill>
                <a:latin typeface="Times New Roman" panose="02020603050405020304" pitchFamily="18" charset="0"/>
                <a:cs typeface="Times New Roman" panose="02020603050405020304" pitchFamily="18" charset="0"/>
              </a:rPr>
              <a:t>HDLC Frames</a:t>
            </a:r>
          </a:p>
        </p:txBody>
      </p:sp>
      <p:sp>
        <p:nvSpPr>
          <p:cNvPr id="3" name="Content Placeholder 2">
            <a:extLst>
              <a:ext uri="{FF2B5EF4-FFF2-40B4-BE49-F238E27FC236}">
                <a16:creationId xmlns:a16="http://schemas.microsoft.com/office/drawing/2014/main" id="{C1E022FA-8340-DA7C-CA9F-FB7F267A4FAB}"/>
              </a:ext>
            </a:extLst>
          </p:cNvPr>
          <p:cNvSpPr>
            <a:spLocks noGrp="1"/>
          </p:cNvSpPr>
          <p:nvPr>
            <p:ph idx="1"/>
          </p:nvPr>
        </p:nvSpPr>
        <p:spPr>
          <a:xfrm>
            <a:off x="711200" y="1036948"/>
            <a:ext cx="10800080" cy="4468306"/>
          </a:xfrm>
        </p:spPr>
        <p:txBody>
          <a:bodyPr>
            <a:normAutofit/>
          </a:bodyPr>
          <a:lstStyle/>
          <a:p>
            <a:pPr algn="just">
              <a:lnSpc>
                <a:spcPct val="150000"/>
              </a:lnSpc>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HDLC defines three types of frames: </a:t>
            </a:r>
            <a:r>
              <a:rPr lang="en-IN" sz="2400" dirty="0">
                <a:solidFill>
                  <a:schemeClr val="accent1"/>
                </a:solidFill>
                <a:latin typeface="Times New Roman" panose="02020603050405020304" pitchFamily="18" charset="0"/>
                <a:cs typeface="Times New Roman" panose="02020603050405020304" pitchFamily="18" charset="0"/>
              </a:rPr>
              <a:t>information frames (I-frames), supervisory frames (S-frames) and unnumbered frames (U-frames)</a:t>
            </a:r>
            <a:r>
              <a:rPr lang="en-IN" sz="2400" dirty="0">
                <a:latin typeface="Times New Roman" panose="02020603050405020304" pitchFamily="18" charset="0"/>
                <a:cs typeface="Times New Roman" panose="02020603050405020304" pitchFamily="18" charset="0"/>
              </a:rPr>
              <a:t>. </a:t>
            </a:r>
          </a:p>
          <a:p>
            <a:pPr algn="just">
              <a:lnSpc>
                <a:spcPct val="150000"/>
              </a:lnSpc>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 </a:t>
            </a:r>
            <a:r>
              <a:rPr lang="en-IN" sz="2400" dirty="0">
                <a:solidFill>
                  <a:srgbClr val="FF0000"/>
                </a:solidFill>
                <a:latin typeface="Times New Roman" panose="02020603050405020304" pitchFamily="18" charset="0"/>
                <a:cs typeface="Times New Roman" panose="02020603050405020304" pitchFamily="18" charset="0"/>
              </a:rPr>
              <a:t>I-frames</a:t>
            </a:r>
            <a:r>
              <a:rPr lang="en-IN" sz="2400" dirty="0">
                <a:latin typeface="Times New Roman" panose="02020603050405020304" pitchFamily="18" charset="0"/>
                <a:cs typeface="Times New Roman" panose="02020603050405020304" pitchFamily="18" charset="0"/>
              </a:rPr>
              <a:t> are used to transport </a:t>
            </a:r>
            <a:r>
              <a:rPr lang="en-IN" sz="2400" dirty="0">
                <a:solidFill>
                  <a:srgbClr val="FF0000"/>
                </a:solidFill>
                <a:latin typeface="Times New Roman" panose="02020603050405020304" pitchFamily="18" charset="0"/>
                <a:cs typeface="Times New Roman" panose="02020603050405020304" pitchFamily="18" charset="0"/>
              </a:rPr>
              <a:t>user data and control information </a:t>
            </a:r>
            <a:r>
              <a:rPr lang="en-IN" sz="2400" dirty="0">
                <a:latin typeface="Times New Roman" panose="02020603050405020304" pitchFamily="18" charset="0"/>
                <a:cs typeface="Times New Roman" panose="02020603050405020304" pitchFamily="18" charset="0"/>
              </a:rPr>
              <a:t>relating to user data. </a:t>
            </a:r>
          </a:p>
          <a:p>
            <a:pPr algn="just">
              <a:lnSpc>
                <a:spcPct val="150000"/>
              </a:lnSpc>
              <a:buFont typeface="Courier New" panose="02070309020205020404" pitchFamily="49" charset="0"/>
              <a:buChar char="o"/>
            </a:pPr>
            <a:r>
              <a:rPr lang="en-IN" sz="2400" dirty="0">
                <a:solidFill>
                  <a:srgbClr val="FF0000"/>
                </a:solidFill>
                <a:latin typeface="Times New Roman" panose="02020603050405020304" pitchFamily="18" charset="0"/>
                <a:cs typeface="Times New Roman" panose="02020603050405020304" pitchFamily="18" charset="0"/>
              </a:rPr>
              <a:t>S-frames</a:t>
            </a:r>
            <a:r>
              <a:rPr lang="en-IN" sz="2400" dirty="0">
                <a:latin typeface="Times New Roman" panose="02020603050405020304" pitchFamily="18" charset="0"/>
                <a:cs typeface="Times New Roman" panose="02020603050405020304" pitchFamily="18" charset="0"/>
              </a:rPr>
              <a:t> are used only to transport </a:t>
            </a:r>
            <a:r>
              <a:rPr lang="en-IN" sz="2400" dirty="0">
                <a:solidFill>
                  <a:srgbClr val="FF0000"/>
                </a:solidFill>
                <a:latin typeface="Times New Roman" panose="02020603050405020304" pitchFamily="18" charset="0"/>
                <a:cs typeface="Times New Roman" panose="02020603050405020304" pitchFamily="18" charset="0"/>
              </a:rPr>
              <a:t>control information</a:t>
            </a:r>
            <a:r>
              <a:rPr lang="en-IN" sz="2400" dirty="0">
                <a:latin typeface="Times New Roman" panose="02020603050405020304" pitchFamily="18" charset="0"/>
                <a:cs typeface="Times New Roman" panose="02020603050405020304" pitchFamily="18" charset="0"/>
              </a:rPr>
              <a:t>. </a:t>
            </a:r>
          </a:p>
          <a:p>
            <a:pPr algn="just">
              <a:lnSpc>
                <a:spcPct val="150000"/>
              </a:lnSpc>
              <a:buFont typeface="Courier New" panose="02070309020205020404" pitchFamily="49" charset="0"/>
              <a:buChar char="o"/>
            </a:pPr>
            <a:r>
              <a:rPr lang="en-IN" sz="2400" dirty="0">
                <a:solidFill>
                  <a:srgbClr val="FF0000"/>
                </a:solidFill>
                <a:latin typeface="Times New Roman" panose="02020603050405020304" pitchFamily="18" charset="0"/>
                <a:cs typeface="Times New Roman" panose="02020603050405020304" pitchFamily="18" charset="0"/>
              </a:rPr>
              <a:t>U-frames</a:t>
            </a:r>
            <a:r>
              <a:rPr lang="en-IN" sz="2400" dirty="0">
                <a:latin typeface="Times New Roman" panose="02020603050405020304" pitchFamily="18" charset="0"/>
                <a:cs typeface="Times New Roman" panose="02020603050405020304" pitchFamily="18" charset="0"/>
              </a:rPr>
              <a:t> are reserved for </a:t>
            </a:r>
            <a:r>
              <a:rPr lang="en-IN" sz="2400" dirty="0">
                <a:solidFill>
                  <a:srgbClr val="FF0000"/>
                </a:solidFill>
                <a:latin typeface="Times New Roman" panose="02020603050405020304" pitchFamily="18" charset="0"/>
                <a:cs typeface="Times New Roman" panose="02020603050405020304" pitchFamily="18" charset="0"/>
              </a:rPr>
              <a:t>system management</a:t>
            </a:r>
            <a:r>
              <a:rPr lang="en-IN"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7873468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6BA5C-43B5-BBD3-7EFB-99384E16927D}"/>
              </a:ext>
            </a:extLst>
          </p:cNvPr>
          <p:cNvSpPr>
            <a:spLocks noGrp="1"/>
          </p:cNvSpPr>
          <p:nvPr>
            <p:ph type="title"/>
          </p:nvPr>
        </p:nvSpPr>
        <p:spPr>
          <a:xfrm>
            <a:off x="0" y="38149"/>
            <a:ext cx="12192000" cy="1325563"/>
          </a:xfrm>
        </p:spPr>
        <p:txBody>
          <a:bodyPr>
            <a:normAutofit/>
          </a:bodyPr>
          <a:lstStyle/>
          <a:p>
            <a:pPr algn="ctr"/>
            <a:r>
              <a:rPr lang="en-IN" sz="4800" b="1" dirty="0">
                <a:solidFill>
                  <a:schemeClr val="accent1"/>
                </a:solidFill>
                <a:latin typeface="Times New Roman" panose="02020603050405020304" pitchFamily="18" charset="0"/>
                <a:cs typeface="Times New Roman" panose="02020603050405020304" pitchFamily="18" charset="0"/>
              </a:rPr>
              <a:t>HDLC Frame Format</a:t>
            </a:r>
          </a:p>
        </p:txBody>
      </p:sp>
      <p:sp>
        <p:nvSpPr>
          <p:cNvPr id="3" name="Content Placeholder 2">
            <a:extLst>
              <a:ext uri="{FF2B5EF4-FFF2-40B4-BE49-F238E27FC236}">
                <a16:creationId xmlns:a16="http://schemas.microsoft.com/office/drawing/2014/main" id="{4FF9D836-8AB6-7281-E1C5-DF3F20354422}"/>
              </a:ext>
            </a:extLst>
          </p:cNvPr>
          <p:cNvSpPr>
            <a:spLocks noGrp="1"/>
          </p:cNvSpPr>
          <p:nvPr>
            <p:ph idx="1"/>
          </p:nvPr>
        </p:nvSpPr>
        <p:spPr>
          <a:xfrm>
            <a:off x="558800" y="1062054"/>
            <a:ext cx="11633200" cy="1718853"/>
          </a:xfrm>
        </p:spPr>
        <p:txBody>
          <a:bodyPr>
            <a:normAutofit/>
          </a:bodyPr>
          <a:lstStyle/>
          <a:p>
            <a:pPr marL="0" indent="0" algn="just">
              <a:lnSpc>
                <a:spcPct val="150000"/>
              </a:lnSpc>
              <a:buNone/>
            </a:pPr>
            <a:r>
              <a:rPr lang="en-IN" sz="2400" dirty="0">
                <a:latin typeface="Times New Roman" panose="02020603050405020304" pitchFamily="18" charset="0"/>
                <a:cs typeface="Times New Roman" panose="02020603050405020304" pitchFamily="18" charset="0"/>
              </a:rPr>
              <a:t>Each frame in HDLC may contain up to </a:t>
            </a:r>
            <a:r>
              <a:rPr lang="en-IN" sz="2400" dirty="0">
                <a:solidFill>
                  <a:srgbClr val="FF0000"/>
                </a:solidFill>
                <a:latin typeface="Times New Roman" panose="02020603050405020304" pitchFamily="18" charset="0"/>
                <a:cs typeface="Times New Roman" panose="02020603050405020304" pitchFamily="18" charset="0"/>
              </a:rPr>
              <a:t>six fields </a:t>
            </a:r>
            <a:r>
              <a:rPr lang="en-IN" sz="2400" dirty="0">
                <a:latin typeface="Times New Roman" panose="02020603050405020304" pitchFamily="18" charset="0"/>
                <a:cs typeface="Times New Roman" panose="02020603050405020304" pitchFamily="18" charset="0"/>
              </a:rPr>
              <a:t>as shown in figure: a beginning flag field, an address field, a control field, an information field, a frame check sequence (FCS) field, and an ending flag field.  </a:t>
            </a:r>
          </a:p>
        </p:txBody>
      </p:sp>
      <p:pic>
        <p:nvPicPr>
          <p:cNvPr id="5" name="Picture 4">
            <a:extLst>
              <a:ext uri="{FF2B5EF4-FFF2-40B4-BE49-F238E27FC236}">
                <a16:creationId xmlns:a16="http://schemas.microsoft.com/office/drawing/2014/main" id="{11D75AD7-704A-9EE2-0D60-E02B20374A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329" y="2780348"/>
            <a:ext cx="4946401" cy="2048927"/>
          </a:xfrm>
          <a:prstGeom prst="rect">
            <a:avLst/>
          </a:prstGeom>
        </p:spPr>
      </p:pic>
      <p:pic>
        <p:nvPicPr>
          <p:cNvPr id="7" name="Picture 6">
            <a:extLst>
              <a:ext uri="{FF2B5EF4-FFF2-40B4-BE49-F238E27FC236}">
                <a16:creationId xmlns:a16="http://schemas.microsoft.com/office/drawing/2014/main" id="{DF5A2773-493F-51B3-70CA-73AE9646DFD6}"/>
              </a:ext>
            </a:extLst>
          </p:cNvPr>
          <p:cNvPicPr>
            <a:picLocks noChangeAspect="1"/>
          </p:cNvPicPr>
          <p:nvPr/>
        </p:nvPicPr>
        <p:blipFill>
          <a:blip r:embed="rId3">
            <a:extLst>
              <a:ext uri="{28A0092B-C50C-407E-A947-70E740481C1C}">
                <a14:useLocalDpi xmlns:a14="http://schemas.microsoft.com/office/drawing/2010/main" val="0"/>
              </a:ext>
            </a:extLst>
          </a:blip>
          <a:srcRect l="3655" t="32400" b="4980"/>
          <a:stretch/>
        </p:blipFill>
        <p:spPr>
          <a:xfrm>
            <a:off x="7164371" y="3670541"/>
            <a:ext cx="3908982" cy="1158734"/>
          </a:xfrm>
          <a:prstGeom prst="rect">
            <a:avLst/>
          </a:prstGeom>
        </p:spPr>
      </p:pic>
      <p:pic>
        <p:nvPicPr>
          <p:cNvPr id="9" name="Picture 8">
            <a:extLst>
              <a:ext uri="{FF2B5EF4-FFF2-40B4-BE49-F238E27FC236}">
                <a16:creationId xmlns:a16="http://schemas.microsoft.com/office/drawing/2014/main" id="{01ED3405-51B1-859D-DEA7-149F3202A6C2}"/>
              </a:ext>
            </a:extLst>
          </p:cNvPr>
          <p:cNvPicPr>
            <a:picLocks noChangeAspect="1"/>
          </p:cNvPicPr>
          <p:nvPr/>
        </p:nvPicPr>
        <p:blipFill>
          <a:blip r:embed="rId4">
            <a:extLst>
              <a:ext uri="{28A0092B-C50C-407E-A947-70E740481C1C}">
                <a14:useLocalDpi xmlns:a14="http://schemas.microsoft.com/office/drawing/2010/main" val="0"/>
              </a:ext>
            </a:extLst>
          </a:blip>
          <a:srcRect l="1355" t="13075"/>
          <a:stretch/>
        </p:blipFill>
        <p:spPr>
          <a:xfrm>
            <a:off x="3518909" y="4609708"/>
            <a:ext cx="5006554" cy="1960774"/>
          </a:xfrm>
          <a:prstGeom prst="rect">
            <a:avLst/>
          </a:prstGeom>
        </p:spPr>
      </p:pic>
    </p:spTree>
    <p:extLst>
      <p:ext uri="{BB962C8B-B14F-4D97-AF65-F5344CB8AC3E}">
        <p14:creationId xmlns:p14="http://schemas.microsoft.com/office/powerpoint/2010/main" val="13283414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46A96-140B-90A3-A958-C02BB84A9FAB}"/>
              </a:ext>
            </a:extLst>
          </p:cNvPr>
          <p:cNvSpPr>
            <a:spLocks noGrp="1"/>
          </p:cNvSpPr>
          <p:nvPr>
            <p:ph type="title"/>
          </p:nvPr>
        </p:nvSpPr>
        <p:spPr>
          <a:xfrm>
            <a:off x="589280" y="-73185"/>
            <a:ext cx="10515600" cy="1325563"/>
          </a:xfrm>
        </p:spPr>
        <p:txBody>
          <a:bodyPr>
            <a:normAutofit/>
          </a:bodyPr>
          <a:lstStyle/>
          <a:p>
            <a:r>
              <a:rPr lang="en-IN" sz="4800" b="1" i="1" dirty="0">
                <a:solidFill>
                  <a:schemeClr val="accent1"/>
                </a:solidFill>
                <a:latin typeface="Times New Roman" panose="02020603050405020304" pitchFamily="18" charset="0"/>
                <a:cs typeface="Times New Roman" panose="02020603050405020304" pitchFamily="18" charset="0"/>
              </a:rPr>
              <a:t>Fields</a:t>
            </a:r>
          </a:p>
        </p:txBody>
      </p:sp>
      <p:sp>
        <p:nvSpPr>
          <p:cNvPr id="3" name="Content Placeholder 2">
            <a:extLst>
              <a:ext uri="{FF2B5EF4-FFF2-40B4-BE49-F238E27FC236}">
                <a16:creationId xmlns:a16="http://schemas.microsoft.com/office/drawing/2014/main" id="{8683D3B5-F412-07FF-36C8-C0C51AFC319F}"/>
              </a:ext>
            </a:extLst>
          </p:cNvPr>
          <p:cNvSpPr>
            <a:spLocks noGrp="1"/>
          </p:cNvSpPr>
          <p:nvPr>
            <p:ph idx="1"/>
          </p:nvPr>
        </p:nvSpPr>
        <p:spPr>
          <a:xfrm>
            <a:off x="243840" y="1010207"/>
            <a:ext cx="11135360" cy="4780993"/>
          </a:xfrm>
        </p:spPr>
        <p:txBody>
          <a:bodyPr>
            <a:normAutofit/>
          </a:bodyPr>
          <a:lstStyle/>
          <a:p>
            <a:pPr algn="just">
              <a:lnSpc>
                <a:spcPct val="100000"/>
              </a:lnSpc>
              <a:buFont typeface="Courier New" panose="02070309020205020404" pitchFamily="49" charset="0"/>
              <a:buChar char="o"/>
            </a:pPr>
            <a:r>
              <a:rPr lang="en-IN" sz="2400" b="1" i="1" dirty="0">
                <a:solidFill>
                  <a:schemeClr val="accent1"/>
                </a:solidFill>
                <a:latin typeface="Times New Roman" panose="02020603050405020304" pitchFamily="18" charset="0"/>
                <a:cs typeface="Times New Roman" panose="02020603050405020304" pitchFamily="18" charset="0"/>
              </a:rPr>
              <a:t>Flag field: </a:t>
            </a:r>
            <a:r>
              <a:rPr lang="en-IN" sz="2400" dirty="0">
                <a:latin typeface="Times New Roman" panose="02020603050405020304" pitchFamily="18" charset="0"/>
                <a:cs typeface="Times New Roman" panose="02020603050405020304" pitchFamily="18" charset="0"/>
              </a:rPr>
              <a:t>The flag field of an HDLC frame is an </a:t>
            </a:r>
            <a:r>
              <a:rPr lang="en-IN" sz="2400" dirty="0">
                <a:solidFill>
                  <a:srgbClr val="FF0000"/>
                </a:solidFill>
                <a:latin typeface="Times New Roman" panose="02020603050405020304" pitchFamily="18" charset="0"/>
                <a:cs typeface="Times New Roman" panose="02020603050405020304" pitchFamily="18" charset="0"/>
              </a:rPr>
              <a:t>8-bit sequence </a:t>
            </a:r>
            <a:r>
              <a:rPr lang="en-IN" sz="2400" dirty="0">
                <a:latin typeface="Times New Roman" panose="02020603050405020304" pitchFamily="18" charset="0"/>
                <a:cs typeface="Times New Roman" panose="02020603050405020304" pitchFamily="18" charset="0"/>
              </a:rPr>
              <a:t>with the bit pattern 01111110 that </a:t>
            </a:r>
            <a:r>
              <a:rPr lang="en-IN" sz="2400" dirty="0">
                <a:solidFill>
                  <a:srgbClr val="FF0000"/>
                </a:solidFill>
                <a:latin typeface="Times New Roman" panose="02020603050405020304" pitchFamily="18" charset="0"/>
                <a:cs typeface="Times New Roman" panose="02020603050405020304" pitchFamily="18" charset="0"/>
              </a:rPr>
              <a:t>identifies</a:t>
            </a:r>
            <a:r>
              <a:rPr lang="en-IN" sz="2400" dirty="0">
                <a:latin typeface="Times New Roman" panose="02020603050405020304" pitchFamily="18" charset="0"/>
                <a:cs typeface="Times New Roman" panose="02020603050405020304" pitchFamily="18" charset="0"/>
              </a:rPr>
              <a:t> both the </a:t>
            </a:r>
            <a:r>
              <a:rPr lang="en-IN" sz="2400" dirty="0">
                <a:solidFill>
                  <a:srgbClr val="FF0000"/>
                </a:solidFill>
                <a:latin typeface="Times New Roman" panose="02020603050405020304" pitchFamily="18" charset="0"/>
                <a:cs typeface="Times New Roman" panose="02020603050405020304" pitchFamily="18" charset="0"/>
              </a:rPr>
              <a:t>beginning and the end </a:t>
            </a:r>
            <a:r>
              <a:rPr lang="en-IN" sz="2400" dirty="0">
                <a:latin typeface="Times New Roman" panose="02020603050405020304" pitchFamily="18" charset="0"/>
                <a:cs typeface="Times New Roman" panose="02020603050405020304" pitchFamily="18" charset="0"/>
              </a:rPr>
              <a:t>of a frame and serves as a synchronization pattern of the receiver. </a:t>
            </a:r>
          </a:p>
          <a:p>
            <a:pPr algn="just">
              <a:lnSpc>
                <a:spcPct val="100000"/>
              </a:lnSpc>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 </a:t>
            </a:r>
            <a:r>
              <a:rPr lang="en-IN" sz="2400" b="1" i="1" dirty="0">
                <a:solidFill>
                  <a:schemeClr val="accent1"/>
                </a:solidFill>
                <a:latin typeface="Times New Roman" panose="02020603050405020304" pitchFamily="18" charset="0"/>
                <a:cs typeface="Times New Roman" panose="02020603050405020304" pitchFamily="18" charset="0"/>
              </a:rPr>
              <a:t>Address field:  </a:t>
            </a:r>
            <a:r>
              <a:rPr lang="en-IN" sz="2400" dirty="0">
                <a:latin typeface="Times New Roman" panose="02020603050405020304" pitchFamily="18" charset="0"/>
                <a:cs typeface="Times New Roman" panose="02020603050405020304" pitchFamily="18" charset="0"/>
              </a:rPr>
              <a:t>The second field of an HDLC frame contains the </a:t>
            </a:r>
            <a:r>
              <a:rPr lang="en-IN" sz="2400" dirty="0">
                <a:solidFill>
                  <a:srgbClr val="FF0000"/>
                </a:solidFill>
                <a:latin typeface="Times New Roman" panose="02020603050405020304" pitchFamily="18" charset="0"/>
                <a:cs typeface="Times New Roman" panose="02020603050405020304" pitchFamily="18" charset="0"/>
              </a:rPr>
              <a:t>address of the secondary station</a:t>
            </a:r>
            <a:r>
              <a:rPr lang="en-IN" sz="2400" dirty="0">
                <a:latin typeface="Times New Roman" panose="02020603050405020304" pitchFamily="18" charset="0"/>
                <a:cs typeface="Times New Roman" panose="02020603050405020304" pitchFamily="18" charset="0"/>
              </a:rPr>
              <a:t>.</a:t>
            </a:r>
          </a:p>
          <a:p>
            <a:pPr algn="just">
              <a:lnSpc>
                <a:spcPct val="100000"/>
              </a:lnSpc>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 </a:t>
            </a:r>
            <a:r>
              <a:rPr lang="en-IN" sz="2400" b="1" i="1" dirty="0">
                <a:solidFill>
                  <a:schemeClr val="accent1"/>
                </a:solidFill>
                <a:latin typeface="Times New Roman" panose="02020603050405020304" pitchFamily="18" charset="0"/>
                <a:cs typeface="Times New Roman" panose="02020603050405020304" pitchFamily="18" charset="0"/>
              </a:rPr>
              <a:t>Control field: </a:t>
            </a:r>
            <a:r>
              <a:rPr lang="en-IN" sz="2400" dirty="0">
                <a:latin typeface="Times New Roman" panose="02020603050405020304" pitchFamily="18" charset="0"/>
                <a:cs typeface="Times New Roman" panose="02020603050405020304" pitchFamily="18" charset="0"/>
              </a:rPr>
              <a:t>The control field is a </a:t>
            </a:r>
            <a:r>
              <a:rPr lang="en-IN" sz="2400" dirty="0">
                <a:solidFill>
                  <a:srgbClr val="FF0000"/>
                </a:solidFill>
                <a:latin typeface="Times New Roman" panose="02020603050405020304" pitchFamily="18" charset="0"/>
                <a:cs typeface="Times New Roman" panose="02020603050405020304" pitchFamily="18" charset="0"/>
              </a:rPr>
              <a:t>1 or 2-byte segment </a:t>
            </a:r>
            <a:r>
              <a:rPr lang="en-IN" sz="2400" dirty="0">
                <a:latin typeface="Times New Roman" panose="02020603050405020304" pitchFamily="18" charset="0"/>
                <a:cs typeface="Times New Roman" panose="02020603050405020304" pitchFamily="18" charset="0"/>
              </a:rPr>
              <a:t>of the frame used for </a:t>
            </a:r>
            <a:r>
              <a:rPr lang="en-IN" sz="2400" dirty="0">
                <a:solidFill>
                  <a:srgbClr val="FF0000"/>
                </a:solidFill>
                <a:latin typeface="Times New Roman" panose="02020603050405020304" pitchFamily="18" charset="0"/>
                <a:cs typeface="Times New Roman" panose="02020603050405020304" pitchFamily="18" charset="0"/>
              </a:rPr>
              <a:t>flow and error control</a:t>
            </a:r>
            <a:r>
              <a:rPr lang="en-IN" sz="2400" dirty="0">
                <a:latin typeface="Times New Roman" panose="02020603050405020304" pitchFamily="18" charset="0"/>
                <a:cs typeface="Times New Roman" panose="02020603050405020304" pitchFamily="18" charset="0"/>
              </a:rPr>
              <a:t>. This field determines the </a:t>
            </a:r>
            <a:r>
              <a:rPr lang="en-IN" sz="2400" dirty="0">
                <a:solidFill>
                  <a:srgbClr val="FF0000"/>
                </a:solidFill>
                <a:latin typeface="Times New Roman" panose="02020603050405020304" pitchFamily="18" charset="0"/>
                <a:cs typeface="Times New Roman" panose="02020603050405020304" pitchFamily="18" charset="0"/>
              </a:rPr>
              <a:t>type of frames </a:t>
            </a:r>
            <a:r>
              <a:rPr lang="en-IN" sz="2400" dirty="0">
                <a:latin typeface="Times New Roman" panose="02020603050405020304" pitchFamily="18" charset="0"/>
                <a:cs typeface="Times New Roman" panose="02020603050405020304" pitchFamily="18" charset="0"/>
              </a:rPr>
              <a:t>and defines its functionality</a:t>
            </a:r>
          </a:p>
          <a:p>
            <a:pPr algn="just">
              <a:lnSpc>
                <a:spcPct val="100000"/>
              </a:lnSpc>
              <a:buFont typeface="Courier New" panose="02070309020205020404" pitchFamily="49" charset="0"/>
              <a:buChar char="o"/>
            </a:pPr>
            <a:r>
              <a:rPr lang="en-IN" sz="2400" b="1" i="1" dirty="0">
                <a:solidFill>
                  <a:schemeClr val="accent1"/>
                </a:solidFill>
                <a:latin typeface="Times New Roman" panose="02020603050405020304" pitchFamily="18" charset="0"/>
                <a:cs typeface="Times New Roman" panose="02020603050405020304" pitchFamily="18" charset="0"/>
              </a:rPr>
              <a:t>Information field: </a:t>
            </a:r>
            <a:r>
              <a:rPr lang="en-IN" sz="2400" dirty="0">
                <a:latin typeface="Times New Roman" panose="02020603050405020304" pitchFamily="18" charset="0"/>
                <a:cs typeface="Times New Roman" panose="02020603050405020304" pitchFamily="18" charset="0"/>
              </a:rPr>
              <a:t>This field contains the </a:t>
            </a:r>
            <a:r>
              <a:rPr lang="en-IN" sz="2400" dirty="0">
                <a:solidFill>
                  <a:srgbClr val="FF0000"/>
                </a:solidFill>
                <a:latin typeface="Times New Roman" panose="02020603050405020304" pitchFamily="18" charset="0"/>
                <a:cs typeface="Times New Roman" panose="02020603050405020304" pitchFamily="18" charset="0"/>
              </a:rPr>
              <a:t>user’s data</a:t>
            </a:r>
            <a:r>
              <a:rPr lang="en-IN" sz="2400" dirty="0">
                <a:latin typeface="Times New Roman" panose="02020603050405020304" pitchFamily="18" charset="0"/>
                <a:cs typeface="Times New Roman" panose="02020603050405020304" pitchFamily="18" charset="0"/>
              </a:rPr>
              <a:t> from the network layer or management information.  </a:t>
            </a:r>
          </a:p>
          <a:p>
            <a:pPr algn="just">
              <a:lnSpc>
                <a:spcPct val="100000"/>
              </a:lnSpc>
              <a:buFont typeface="Courier New" panose="02070309020205020404" pitchFamily="49" charset="0"/>
              <a:buChar char="o"/>
            </a:pPr>
            <a:r>
              <a:rPr lang="en-IN" sz="2400" b="1" i="1" dirty="0">
                <a:solidFill>
                  <a:schemeClr val="accent1"/>
                </a:solidFill>
                <a:latin typeface="Times New Roman" panose="02020603050405020304" pitchFamily="18" charset="0"/>
                <a:cs typeface="Times New Roman" panose="02020603050405020304" pitchFamily="18" charset="0"/>
              </a:rPr>
              <a:t>FCS field:  </a:t>
            </a:r>
            <a:r>
              <a:rPr lang="en-IN" sz="2400" dirty="0">
                <a:latin typeface="Times New Roman" panose="02020603050405020304" pitchFamily="18" charset="0"/>
                <a:cs typeface="Times New Roman" panose="02020603050405020304" pitchFamily="18" charset="0"/>
              </a:rPr>
              <a:t>The frame check sequence (FCS) is the HDLC </a:t>
            </a:r>
            <a:r>
              <a:rPr lang="en-IN" sz="2400" dirty="0">
                <a:solidFill>
                  <a:srgbClr val="FF0000"/>
                </a:solidFill>
                <a:latin typeface="Times New Roman" panose="02020603050405020304" pitchFamily="18" charset="0"/>
                <a:cs typeface="Times New Roman" panose="02020603050405020304" pitchFamily="18" charset="0"/>
              </a:rPr>
              <a:t>error detection </a:t>
            </a:r>
            <a:r>
              <a:rPr lang="en-IN" sz="2400" dirty="0">
                <a:latin typeface="Times New Roman" panose="02020603050405020304" pitchFamily="18" charset="0"/>
                <a:cs typeface="Times New Roman" panose="02020603050405020304" pitchFamily="18" charset="0"/>
              </a:rPr>
              <a:t>field. It can contain either a 2- or 4-byte. </a:t>
            </a:r>
          </a:p>
        </p:txBody>
      </p:sp>
    </p:spTree>
    <p:extLst>
      <p:ext uri="{BB962C8B-B14F-4D97-AF65-F5344CB8AC3E}">
        <p14:creationId xmlns:p14="http://schemas.microsoft.com/office/powerpoint/2010/main" val="40335135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4259" name="Text Box 3">
            <a:extLst>
              <a:ext uri="{FF2B5EF4-FFF2-40B4-BE49-F238E27FC236}">
                <a16:creationId xmlns:a16="http://schemas.microsoft.com/office/drawing/2014/main" id="{EBC00E12-0D96-B9A9-A1A3-B0F691322977}"/>
              </a:ext>
            </a:extLst>
          </p:cNvPr>
          <p:cNvSpPr txBox="1">
            <a:spLocks noChangeArrowheads="1"/>
          </p:cNvSpPr>
          <p:nvPr/>
        </p:nvSpPr>
        <p:spPr bwMode="auto">
          <a:xfrm>
            <a:off x="1752600" y="406400"/>
            <a:ext cx="562615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dirty="0">
                <a:solidFill>
                  <a:srgbClr val="0000FF"/>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POINT-TO-POINT PROTOCOL</a:t>
            </a:r>
          </a:p>
        </p:txBody>
      </p:sp>
      <p:sp>
        <p:nvSpPr>
          <p:cNvPr id="864260" name="Text Box 4">
            <a:extLst>
              <a:ext uri="{FF2B5EF4-FFF2-40B4-BE49-F238E27FC236}">
                <a16:creationId xmlns:a16="http://schemas.microsoft.com/office/drawing/2014/main" id="{1630E748-9C39-8D42-4C8A-F9857F6F6383}"/>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latin typeface="Times New Roman" panose="02020603050405020304" pitchFamily="18" charset="0"/>
            </a:endParaRPr>
          </a:p>
        </p:txBody>
      </p:sp>
      <p:sp>
        <p:nvSpPr>
          <p:cNvPr id="864261" name="Rectangle 5">
            <a:extLst>
              <a:ext uri="{FF2B5EF4-FFF2-40B4-BE49-F238E27FC236}">
                <a16:creationId xmlns:a16="http://schemas.microsoft.com/office/drawing/2014/main" id="{BEAF5EC5-4105-6AEA-9853-74752B0A9BEB}"/>
              </a:ext>
            </a:extLst>
          </p:cNvPr>
          <p:cNvSpPr>
            <a:spLocks noChangeArrowheads="1"/>
          </p:cNvSpPr>
          <p:nvPr/>
        </p:nvSpPr>
        <p:spPr bwMode="auto">
          <a:xfrm>
            <a:off x="508000" y="1158508"/>
            <a:ext cx="1092200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1" hangingPunct="1"/>
            <a:r>
              <a:rPr lang="en-US" altLang="en-US" sz="2800" i="1" dirty="0">
                <a:effectLst>
                  <a:outerShdw blurRad="38100" dist="38100" dir="2700000" algn="tl">
                    <a:srgbClr val="C0C0C0"/>
                  </a:outerShdw>
                </a:effectLst>
                <a:latin typeface="Times New Roman" panose="02020603050405020304" pitchFamily="18" charset="0"/>
              </a:rPr>
              <a:t>Although HDLC is a general protocol that can be used for both point-to-point and multipoint configurations, one of the most common protocols for point-to-point access is the </a:t>
            </a:r>
            <a:r>
              <a:rPr lang="en-US" altLang="en-US" sz="2800" i="1" dirty="0">
                <a:solidFill>
                  <a:schemeClr val="hlink"/>
                </a:solidFill>
                <a:effectLst>
                  <a:outerShdw blurRad="38100" dist="38100" dir="2700000" algn="tl">
                    <a:srgbClr val="C0C0C0"/>
                  </a:outerShdw>
                </a:effectLst>
                <a:latin typeface="Times New Roman" panose="02020603050405020304" pitchFamily="18" charset="0"/>
              </a:rPr>
              <a:t>Point-to-Point Protocol (PPP). </a:t>
            </a:r>
            <a:r>
              <a:rPr lang="en-US" altLang="en-US" sz="2800" i="1" dirty="0">
                <a:effectLst>
                  <a:outerShdw blurRad="38100" dist="38100" dir="2700000" algn="tl">
                    <a:srgbClr val="C0C0C0"/>
                  </a:outerShdw>
                </a:effectLst>
                <a:latin typeface="Times New Roman" panose="02020603050405020304" pitchFamily="18" charset="0"/>
              </a:rPr>
              <a:t>PPP is a </a:t>
            </a:r>
            <a:r>
              <a:rPr lang="en-US" altLang="en-US" sz="2800" i="1" dirty="0">
                <a:solidFill>
                  <a:schemeClr val="hlink"/>
                </a:solidFill>
                <a:effectLst>
                  <a:outerShdw blurRad="38100" dist="38100" dir="2700000" algn="tl">
                    <a:srgbClr val="C0C0C0"/>
                  </a:outerShdw>
                </a:effectLst>
                <a:latin typeface="Times New Roman" panose="02020603050405020304" pitchFamily="18" charset="0"/>
              </a:rPr>
              <a:t>byte-oriented</a:t>
            </a:r>
            <a:r>
              <a:rPr lang="en-US" altLang="en-US" sz="2800" i="1" dirty="0">
                <a:effectLst>
                  <a:outerShdw blurRad="38100" dist="38100" dir="2700000" algn="tl">
                    <a:srgbClr val="C0C0C0"/>
                  </a:outerShdw>
                </a:effectLst>
                <a:latin typeface="Times New Roman" panose="02020603050405020304" pitchFamily="18" charset="0"/>
              </a:rPr>
              <a:t> protocol.</a:t>
            </a:r>
          </a:p>
        </p:txBody>
      </p:sp>
      <p:pic>
        <p:nvPicPr>
          <p:cNvPr id="3" name="Picture 6">
            <a:extLst>
              <a:ext uri="{FF2B5EF4-FFF2-40B4-BE49-F238E27FC236}">
                <a16:creationId xmlns:a16="http://schemas.microsoft.com/office/drawing/2014/main" id="{B25C6D20-4A26-07B5-0648-331565AB83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0840" y="3429000"/>
            <a:ext cx="8437563" cy="122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6">
            <a:extLst>
              <a:ext uri="{FF2B5EF4-FFF2-40B4-BE49-F238E27FC236}">
                <a16:creationId xmlns:a16="http://schemas.microsoft.com/office/drawing/2014/main" id="{1B572F32-6EA3-DA68-21B7-24B0F049DE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7782" y="895816"/>
            <a:ext cx="5614218" cy="4235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a:extLst>
              <a:ext uri="{FF2B5EF4-FFF2-40B4-BE49-F238E27FC236}">
                <a16:creationId xmlns:a16="http://schemas.microsoft.com/office/drawing/2014/main" id="{9DF2AD63-155F-816A-8B28-212DCF574926}"/>
              </a:ext>
            </a:extLst>
          </p:cNvPr>
          <p:cNvSpPr txBox="1"/>
          <p:nvPr/>
        </p:nvSpPr>
        <p:spPr>
          <a:xfrm>
            <a:off x="111760" y="675422"/>
            <a:ext cx="6333942" cy="4524315"/>
          </a:xfrm>
          <a:prstGeom prst="rect">
            <a:avLst/>
          </a:prstGeom>
          <a:noFill/>
        </p:spPr>
        <p:txBody>
          <a:bodyPr wrap="square">
            <a:spAutoFit/>
          </a:bodyPr>
          <a:lstStyle/>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Dead: </a:t>
            </a:r>
            <a:r>
              <a:rPr lang="en-US" sz="2400" dirty="0">
                <a:latin typeface="Times New Roman" panose="02020603050405020304" pitchFamily="18" charset="0"/>
                <a:cs typeface="Times New Roman" panose="02020603050405020304" pitchFamily="18" charset="0"/>
              </a:rPr>
              <a:t>There is </a:t>
            </a:r>
            <a:r>
              <a:rPr lang="en-US" sz="2400" dirty="0">
                <a:solidFill>
                  <a:srgbClr val="FF0000"/>
                </a:solidFill>
                <a:latin typeface="Times New Roman" panose="02020603050405020304" pitchFamily="18" charset="0"/>
                <a:cs typeface="Times New Roman" panose="02020603050405020304" pitchFamily="18" charset="0"/>
              </a:rPr>
              <a:t>no active carrier </a:t>
            </a:r>
            <a:r>
              <a:rPr lang="en-US" sz="2400" dirty="0">
                <a:latin typeface="Times New Roman" panose="02020603050405020304" pitchFamily="18" charset="0"/>
                <a:cs typeface="Times New Roman" panose="02020603050405020304" pitchFamily="18" charset="0"/>
              </a:rPr>
              <a:t>(at the physical layer) and the line is quiet. </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Establish: </a:t>
            </a:r>
            <a:r>
              <a:rPr lang="en-US" sz="2400" dirty="0">
                <a:latin typeface="Times New Roman" panose="02020603050405020304" pitchFamily="18" charset="0"/>
                <a:cs typeface="Times New Roman" panose="02020603050405020304" pitchFamily="18" charset="0"/>
              </a:rPr>
              <a:t>When one of the two nodes </a:t>
            </a:r>
            <a:r>
              <a:rPr lang="en-US" sz="2400" dirty="0">
                <a:solidFill>
                  <a:srgbClr val="FF0000"/>
                </a:solidFill>
                <a:latin typeface="Times New Roman" panose="02020603050405020304" pitchFamily="18" charset="0"/>
                <a:cs typeface="Times New Roman" panose="02020603050405020304" pitchFamily="18" charset="0"/>
              </a:rPr>
              <a:t>starts the communication</a:t>
            </a:r>
            <a:r>
              <a:rPr lang="en-US" sz="2400" dirty="0">
                <a:latin typeface="Times New Roman" panose="02020603050405020304" pitchFamily="18" charset="0"/>
                <a:cs typeface="Times New Roman" panose="02020603050405020304" pitchFamily="18" charset="0"/>
              </a:rPr>
              <a:t>. In this state, options are negotiated between the two parties. If the two parties agree that they </a:t>
            </a:r>
            <a:r>
              <a:rPr lang="en-US" sz="2400" dirty="0">
                <a:solidFill>
                  <a:srgbClr val="FF0000"/>
                </a:solidFill>
                <a:latin typeface="Times New Roman" panose="02020603050405020304" pitchFamily="18" charset="0"/>
                <a:cs typeface="Times New Roman" panose="02020603050405020304" pitchFamily="18" charset="0"/>
              </a:rPr>
              <a:t>need authentication</a:t>
            </a:r>
            <a:r>
              <a:rPr lang="en-US" sz="2400" dirty="0">
                <a:latin typeface="Times New Roman" panose="02020603050405020304" pitchFamily="18" charset="0"/>
                <a:cs typeface="Times New Roman" panose="02020603050405020304" pitchFamily="18" charset="0"/>
              </a:rPr>
              <a:t>, then the system needs to do authentication (an extra step); otherwise, the parties can simply start communication. </a:t>
            </a:r>
          </a:p>
          <a:p>
            <a:pPr marL="342900" indent="-342900">
              <a:buFont typeface="Wingdings" panose="05000000000000000000" pitchFamily="2" charset="2"/>
              <a:buChar char="Ø"/>
            </a:pPr>
            <a:r>
              <a:rPr lang="en-US" sz="2400" dirty="0">
                <a:solidFill>
                  <a:srgbClr val="00B050"/>
                </a:solidFill>
                <a:latin typeface="Times New Roman" panose="02020603050405020304" pitchFamily="18" charset="0"/>
                <a:cs typeface="Times New Roman" panose="02020603050405020304" pitchFamily="18" charset="0"/>
              </a:rPr>
              <a:t>Data transfer takes place in the open state</a:t>
            </a:r>
            <a:r>
              <a:rPr lang="en-US" sz="2400" dirty="0">
                <a:latin typeface="Times New Roman" panose="02020603050405020304" pitchFamily="18" charset="0"/>
                <a:cs typeface="Times New Roman" panose="02020603050405020304" pitchFamily="18" charset="0"/>
              </a:rPr>
              <a:t>. When a connection reaches this state, the exchange of data packets can be started. </a:t>
            </a:r>
          </a:p>
        </p:txBody>
      </p:sp>
      <p:sp>
        <p:nvSpPr>
          <p:cNvPr id="15" name="TextBox 14">
            <a:extLst>
              <a:ext uri="{FF2B5EF4-FFF2-40B4-BE49-F238E27FC236}">
                <a16:creationId xmlns:a16="http://schemas.microsoft.com/office/drawing/2014/main" id="{763F71ED-2DCA-28F0-E138-7C9F194B0D43}"/>
              </a:ext>
            </a:extLst>
          </p:cNvPr>
          <p:cNvSpPr txBox="1"/>
          <p:nvPr/>
        </p:nvSpPr>
        <p:spPr>
          <a:xfrm>
            <a:off x="111760" y="5351580"/>
            <a:ext cx="12157258" cy="1200329"/>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The connection remains in this state until one of the endpoints wants to terminate the connection. In this case, the system goes to the terminate state. The system remains in this state until the carrier (physical-layer signal) is dropped, which moves the system to the dead state again.</a:t>
            </a:r>
          </a:p>
        </p:txBody>
      </p:sp>
      <p:sp>
        <p:nvSpPr>
          <p:cNvPr id="16" name="Text Box 3">
            <a:extLst>
              <a:ext uri="{FF2B5EF4-FFF2-40B4-BE49-F238E27FC236}">
                <a16:creationId xmlns:a16="http://schemas.microsoft.com/office/drawing/2014/main" id="{D0D3BDE9-8587-B476-9FB5-367EE8E1A6FC}"/>
              </a:ext>
            </a:extLst>
          </p:cNvPr>
          <p:cNvSpPr txBox="1">
            <a:spLocks noChangeArrowheads="1"/>
          </p:cNvSpPr>
          <p:nvPr/>
        </p:nvSpPr>
        <p:spPr bwMode="auto">
          <a:xfrm>
            <a:off x="2860040" y="90647"/>
            <a:ext cx="562615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dirty="0">
                <a:solidFill>
                  <a:srgbClr val="0000FF"/>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POINT-TO-POINT PROTOCOL</a:t>
            </a:r>
          </a:p>
        </p:txBody>
      </p:sp>
    </p:spTree>
    <p:extLst>
      <p:ext uri="{BB962C8B-B14F-4D97-AF65-F5344CB8AC3E}">
        <p14:creationId xmlns:p14="http://schemas.microsoft.com/office/powerpoint/2010/main" val="8133941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0928F-B30D-834D-70BD-842EC75CC26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267B3D4-03E6-06B6-8886-62D14D9D6EA2}"/>
              </a:ext>
            </a:extLst>
          </p:cNvPr>
          <p:cNvSpPr txBox="1"/>
          <p:nvPr/>
        </p:nvSpPr>
        <p:spPr>
          <a:xfrm>
            <a:off x="309880" y="2730945"/>
            <a:ext cx="11572240" cy="1015663"/>
          </a:xfrm>
          <a:prstGeom prst="rect">
            <a:avLst/>
          </a:prstGeom>
          <a:noFill/>
        </p:spPr>
        <p:txBody>
          <a:bodyPr wrap="square" rtlCol="0">
            <a:spAutoFit/>
          </a:bodyPr>
          <a:lstStyle/>
          <a:p>
            <a:pPr algn="ctr"/>
            <a:r>
              <a:rPr lang="en-US" sz="6000" dirty="0">
                <a:solidFill>
                  <a:srgbClr val="3333B3"/>
                </a:solidFill>
                <a:latin typeface="Times New Roman" panose="02020603050405020304" pitchFamily="18" charset="0"/>
                <a:cs typeface="Times New Roman" panose="02020603050405020304" pitchFamily="18" charset="0"/>
              </a:rPr>
              <a:t>Media Access Control (MAC)</a:t>
            </a:r>
            <a:endParaRPr lang="en-IN" sz="6000" b="1"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52132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1827A-CABB-C6C9-80C0-E7DD6B75B919}"/>
              </a:ext>
            </a:extLst>
          </p:cNvPr>
          <p:cNvSpPr>
            <a:spLocks noGrp="1"/>
          </p:cNvSpPr>
          <p:nvPr>
            <p:ph type="title"/>
          </p:nvPr>
        </p:nvSpPr>
        <p:spPr>
          <a:xfrm>
            <a:off x="2936239" y="0"/>
            <a:ext cx="7325361" cy="801384"/>
          </a:xfrm>
        </p:spPr>
        <p:txBody>
          <a:bodyPr>
            <a:normAutofit/>
          </a:bodyPr>
          <a:lstStyle/>
          <a:p>
            <a:r>
              <a:rPr lang="en-US" dirty="0">
                <a:solidFill>
                  <a:srgbClr val="3333B3"/>
                </a:solidFill>
                <a:latin typeface="Times New Roman" panose="02020603050405020304" pitchFamily="18" charset="0"/>
                <a:cs typeface="Times New Roman" panose="02020603050405020304" pitchFamily="18" charset="0"/>
              </a:rPr>
              <a:t>Media Access Control (MAC)</a:t>
            </a:r>
            <a:endParaRPr lang="en-IN" dirty="0"/>
          </a:p>
        </p:txBody>
      </p:sp>
      <p:sp>
        <p:nvSpPr>
          <p:cNvPr id="3" name="Content Placeholder 2">
            <a:extLst>
              <a:ext uri="{FF2B5EF4-FFF2-40B4-BE49-F238E27FC236}">
                <a16:creationId xmlns:a16="http://schemas.microsoft.com/office/drawing/2014/main" id="{83D490ED-F9CC-FED8-BD61-9D343981A413}"/>
              </a:ext>
            </a:extLst>
          </p:cNvPr>
          <p:cNvSpPr>
            <a:spLocks noGrp="1"/>
          </p:cNvSpPr>
          <p:nvPr>
            <p:ph idx="1"/>
          </p:nvPr>
        </p:nvSpPr>
        <p:spPr>
          <a:xfrm>
            <a:off x="390418" y="889000"/>
            <a:ext cx="11411164" cy="2621343"/>
          </a:xfrm>
        </p:spPr>
        <p:txBody>
          <a:bodyPr>
            <a:normAutofit/>
          </a:bodyPr>
          <a:lstStyle/>
          <a:p>
            <a:r>
              <a:rPr lang="en-US" dirty="0">
                <a:latin typeface="Times New Roman" panose="02020603050405020304" pitchFamily="18" charset="0"/>
                <a:cs typeface="Times New Roman" panose="02020603050405020304" pitchFamily="18" charset="0"/>
              </a:rPr>
              <a:t>Many nodes or stations are connected and use a common link.</a:t>
            </a:r>
          </a:p>
          <a:p>
            <a:r>
              <a:rPr lang="en-US" dirty="0">
                <a:latin typeface="Times New Roman" panose="02020603050405020304" pitchFamily="18" charset="0"/>
                <a:cs typeface="Times New Roman" panose="02020603050405020304" pitchFamily="18" charset="0"/>
              </a:rPr>
              <a:t>Many protocols have been devised to handle access to a shared link. </a:t>
            </a:r>
          </a:p>
          <a:p>
            <a:r>
              <a:rPr lang="en-US" dirty="0">
                <a:latin typeface="Times New Roman" panose="02020603050405020304" pitchFamily="18" charset="0"/>
                <a:cs typeface="Times New Roman" panose="02020603050405020304" pitchFamily="18" charset="0"/>
              </a:rPr>
              <a:t>All of these protocols belong to a sublayer in the data-link layer called media access control (MAC).</a:t>
            </a:r>
          </a:p>
        </p:txBody>
      </p:sp>
      <p:pic>
        <p:nvPicPr>
          <p:cNvPr id="4" name="Picture 7">
            <a:extLst>
              <a:ext uri="{FF2B5EF4-FFF2-40B4-BE49-F238E27FC236}">
                <a16:creationId xmlns:a16="http://schemas.microsoft.com/office/drawing/2014/main" id="{EFCA5E63-E612-E0BC-FB29-FB03F21A3A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7486" y="3217863"/>
            <a:ext cx="6554788" cy="3284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636214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1" name="Text Box 3">
            <a:extLst>
              <a:ext uri="{FF2B5EF4-FFF2-40B4-BE49-F238E27FC236}">
                <a16:creationId xmlns:a16="http://schemas.microsoft.com/office/drawing/2014/main" id="{0CEAF9DB-1D0E-2842-77CA-8D3FF161AB1F}"/>
              </a:ext>
            </a:extLst>
          </p:cNvPr>
          <p:cNvSpPr txBox="1">
            <a:spLocks noChangeArrowheads="1"/>
          </p:cNvSpPr>
          <p:nvPr/>
        </p:nvSpPr>
        <p:spPr bwMode="auto">
          <a:xfrm>
            <a:off x="3713480" y="219430"/>
            <a:ext cx="364054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dirty="0">
                <a:solidFill>
                  <a:srgbClr val="0000FF"/>
                </a:solidFill>
                <a:effectLst>
                  <a:outerShdw blurRad="38100" dist="38100" dir="2700000" algn="tl">
                    <a:srgbClr val="C0C0C0"/>
                  </a:outerShdw>
                </a:effectLst>
                <a:latin typeface="Times" panose="02020603050405020304" pitchFamily="18" charset="0"/>
              </a:rPr>
              <a:t>RANDOM ACCESS</a:t>
            </a:r>
          </a:p>
        </p:txBody>
      </p:sp>
      <p:sp>
        <p:nvSpPr>
          <p:cNvPr id="565252" name="Text Box 4">
            <a:extLst>
              <a:ext uri="{FF2B5EF4-FFF2-40B4-BE49-F238E27FC236}">
                <a16:creationId xmlns:a16="http://schemas.microsoft.com/office/drawing/2014/main" id="{364EBB08-17C4-7776-A78C-70B5EEB4316F}"/>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p>
        </p:txBody>
      </p:sp>
      <p:sp>
        <p:nvSpPr>
          <p:cNvPr id="565277" name="Rectangle 29">
            <a:extLst>
              <a:ext uri="{FF2B5EF4-FFF2-40B4-BE49-F238E27FC236}">
                <a16:creationId xmlns:a16="http://schemas.microsoft.com/office/drawing/2014/main" id="{F96C3656-162C-01DA-C036-C8ED66C87BF1}"/>
              </a:ext>
            </a:extLst>
          </p:cNvPr>
          <p:cNvSpPr>
            <a:spLocks noChangeArrowheads="1"/>
          </p:cNvSpPr>
          <p:nvPr/>
        </p:nvSpPr>
        <p:spPr bwMode="auto">
          <a:xfrm>
            <a:off x="365760" y="3816010"/>
            <a:ext cx="79248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anose="05000000000000000000" pitchFamily="2" charset="2"/>
              <a:buNone/>
            </a:pPr>
            <a:r>
              <a:rPr lang="en-US" altLang="en-US" sz="2400" dirty="0">
                <a:solidFill>
                  <a:srgbClr val="0033CC"/>
                </a:solidFill>
              </a:rPr>
              <a:t>ALOHA</a:t>
            </a:r>
            <a:br>
              <a:rPr lang="fr-FR" altLang="en-US" sz="2400" dirty="0">
                <a:solidFill>
                  <a:srgbClr val="0033CC"/>
                </a:solidFill>
              </a:rPr>
            </a:br>
            <a:r>
              <a:rPr lang="en-US" altLang="en-US" sz="2400" dirty="0">
                <a:solidFill>
                  <a:srgbClr val="0033CC"/>
                </a:solidFill>
              </a:rPr>
              <a:t>Carrier Sense Multiple Access</a:t>
            </a:r>
          </a:p>
          <a:p>
            <a:pPr>
              <a:buClr>
                <a:schemeClr val="tx1"/>
              </a:buClr>
              <a:buSzPct val="117000"/>
              <a:buFont typeface="Wingdings" panose="05000000000000000000" pitchFamily="2" charset="2"/>
              <a:buNone/>
            </a:pPr>
            <a:r>
              <a:rPr lang="en-US" altLang="en-US" sz="2400" dirty="0">
                <a:solidFill>
                  <a:srgbClr val="0033CC"/>
                </a:solidFill>
              </a:rPr>
              <a:t>Carrier Sense Multiple Access with Collision Detection</a:t>
            </a:r>
          </a:p>
          <a:p>
            <a:pPr>
              <a:buClr>
                <a:schemeClr val="tx1"/>
              </a:buClr>
              <a:buSzPct val="117000"/>
              <a:buFont typeface="Wingdings" panose="05000000000000000000" pitchFamily="2" charset="2"/>
              <a:buNone/>
            </a:pPr>
            <a:r>
              <a:rPr lang="en-US" altLang="en-US" sz="2400" dirty="0">
                <a:solidFill>
                  <a:srgbClr val="0033CC"/>
                </a:solidFill>
              </a:rPr>
              <a:t>Carrier Sense Multiple Access with Collision Avoidance</a:t>
            </a:r>
          </a:p>
        </p:txBody>
      </p:sp>
      <p:sp>
        <p:nvSpPr>
          <p:cNvPr id="5" name="TextBox 4">
            <a:extLst>
              <a:ext uri="{FF2B5EF4-FFF2-40B4-BE49-F238E27FC236}">
                <a16:creationId xmlns:a16="http://schemas.microsoft.com/office/drawing/2014/main" id="{117DF935-CBE5-4BE3-22F8-16601C89AA10}"/>
              </a:ext>
            </a:extLst>
          </p:cNvPr>
          <p:cNvSpPr txBox="1"/>
          <p:nvPr/>
        </p:nvSpPr>
        <p:spPr>
          <a:xfrm>
            <a:off x="365760" y="1032063"/>
            <a:ext cx="10789920" cy="2246769"/>
          </a:xfrm>
          <a:prstGeom prst="rect">
            <a:avLst/>
          </a:prstGeom>
          <a:noFill/>
        </p:spPr>
        <p:txBody>
          <a:bodyPr wrap="square">
            <a:spAutoFit/>
          </a:bodyPr>
          <a:lstStyle/>
          <a:p>
            <a:pPr algn="just" eaLnBrk="1" hangingPunct="1"/>
            <a:r>
              <a:rPr lang="en-US" altLang="en-US" sz="2800" baseline="0" dirty="0">
                <a:effectLst>
                  <a:outerShdw blurRad="38100" dist="38100" dir="2700000" algn="tl">
                    <a:srgbClr val="C0C0C0"/>
                  </a:outerShdw>
                </a:effectLst>
                <a:latin typeface="Times New Roman" panose="02020603050405020304" pitchFamily="18" charset="0"/>
                <a:cs typeface="Times New Roman" panose="02020603050405020304" pitchFamily="18" charset="0"/>
              </a:rPr>
              <a:t>In </a:t>
            </a:r>
            <a:r>
              <a:rPr lang="en-US" altLang="en-US" sz="2800" baseline="0" dirty="0">
                <a:solidFill>
                  <a:srgbClr val="FF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random access </a:t>
            </a:r>
            <a:r>
              <a:rPr lang="en-US" altLang="en-US" sz="2800" baseline="0" dirty="0">
                <a:effectLst>
                  <a:outerShdw blurRad="38100" dist="38100" dir="2700000" algn="tl">
                    <a:srgbClr val="C0C0C0"/>
                  </a:outerShdw>
                </a:effectLst>
                <a:latin typeface="Times New Roman" panose="02020603050405020304" pitchFamily="18" charset="0"/>
                <a:cs typeface="Times New Roman" panose="02020603050405020304" pitchFamily="18" charset="0"/>
              </a:rPr>
              <a:t>or </a:t>
            </a:r>
            <a:r>
              <a:rPr lang="en-US" altLang="en-US" sz="2800" baseline="0" dirty="0">
                <a:solidFill>
                  <a:srgbClr val="FF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contention</a:t>
            </a:r>
            <a:r>
              <a:rPr lang="en-US" altLang="en-US" sz="2800" baseline="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methods, no station is superior to another station and none is assigned the control over another. No station permits, or does not permit, another station to send.</a:t>
            </a:r>
          </a:p>
          <a:p>
            <a:pPr algn="just" eaLnBrk="1" hangingPunct="1"/>
            <a:r>
              <a:rPr lang="en-US" altLang="en-US" sz="2800" baseline="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each instance, a station that has data to send uses a procedure defined by the protocol to make a decision on whether or not to send.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1827A-CABB-C6C9-80C0-E7DD6B75B919}"/>
              </a:ext>
            </a:extLst>
          </p:cNvPr>
          <p:cNvSpPr>
            <a:spLocks noGrp="1"/>
          </p:cNvSpPr>
          <p:nvPr>
            <p:ph type="title"/>
          </p:nvPr>
        </p:nvSpPr>
        <p:spPr>
          <a:xfrm>
            <a:off x="4246879" y="91440"/>
            <a:ext cx="3322321" cy="801384"/>
          </a:xfrm>
        </p:spPr>
        <p:txBody>
          <a:bodyPr>
            <a:normAutofit/>
          </a:bodyPr>
          <a:lstStyle/>
          <a:p>
            <a:r>
              <a:rPr lang="en-US" sz="4000" dirty="0">
                <a:solidFill>
                  <a:srgbClr val="0000FF"/>
                </a:solidFill>
                <a:latin typeface="Times New Roman" panose="02020603050405020304" pitchFamily="18" charset="0"/>
                <a:cs typeface="Times New Roman" panose="02020603050405020304" pitchFamily="18" charset="0"/>
              </a:rPr>
              <a:t>Pure ALOHA</a:t>
            </a:r>
            <a:endParaRPr lang="en-IN" sz="4000" dirty="0">
              <a:solidFill>
                <a:srgbClr val="0000FF"/>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3D490ED-F9CC-FED8-BD61-9D343981A413}"/>
                  </a:ext>
                </a:extLst>
              </p:cNvPr>
              <p:cNvSpPr>
                <a:spLocks noGrp="1"/>
              </p:cNvSpPr>
              <p:nvPr>
                <p:ph idx="1"/>
              </p:nvPr>
            </p:nvSpPr>
            <p:spPr>
              <a:xfrm>
                <a:off x="390418" y="729464"/>
                <a:ext cx="11411164" cy="2621343"/>
              </a:xfrm>
            </p:spPr>
            <p:txBody>
              <a:bodyPr>
                <a:normAutofit/>
              </a:bodyPr>
              <a:lstStyle/>
              <a:p>
                <a:r>
                  <a:rPr lang="en-US" dirty="0">
                    <a:latin typeface="Times New Roman" panose="02020603050405020304" pitchFamily="18" charset="0"/>
                    <a:cs typeface="Times New Roman" panose="02020603050405020304" pitchFamily="18" charset="0"/>
                  </a:rPr>
                  <a:t>The pure ALOHA protocol relies on acknowledgments from the receiver.</a:t>
                </a:r>
              </a:p>
              <a:p>
                <a:r>
                  <a:rPr lang="en-US" dirty="0">
                    <a:latin typeface="Times New Roman" panose="02020603050405020304" pitchFamily="18" charset="0"/>
                    <a:cs typeface="Times New Roman" panose="02020603050405020304" pitchFamily="18" charset="0"/>
                  </a:rPr>
                  <a:t>Backoff time </a:t>
                </a:r>
                <a14:m>
                  <m:oMath xmlns:m="http://schemas.openxmlformats.org/officeDocument/2006/math">
                    <m:sSub>
                      <m:sSubPr>
                        <m:ctrlPr>
                          <a:rPr lang="en-US"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𝑇</m:t>
                        </m:r>
                      </m:e>
                      <m:sub>
                        <m:r>
                          <a:rPr lang="en-US" b="0" i="1" smtClean="0">
                            <a:latin typeface="Cambria Math" panose="02040503050406030204" pitchFamily="18" charset="0"/>
                            <a:cs typeface="Times New Roman" panose="02020603050405020304" pitchFamily="18" charset="0"/>
                          </a:rPr>
                          <m:t>𝐵</m:t>
                        </m:r>
                      </m:sub>
                    </m:sSub>
                  </m:oMath>
                </a14:m>
                <a:r>
                  <a:rPr lang="en-US" dirty="0">
                    <a:latin typeface="Times New Roman" panose="02020603050405020304" pitchFamily="18" charset="0"/>
                    <a:cs typeface="Times New Roman" panose="02020603050405020304" pitchFamily="18" charset="0"/>
                  </a:rPr>
                  <a:t>: Each station waits a random amount of time before resending its frame.</a:t>
                </a:r>
              </a:p>
              <a:p>
                <a:r>
                  <a:rPr lang="en-US" dirty="0">
                    <a:latin typeface="Times New Roman" panose="02020603050405020304" pitchFamily="18" charset="0"/>
                    <a:cs typeface="Times New Roman" panose="02020603050405020304" pitchFamily="18" charset="0"/>
                  </a:rPr>
                  <a:t>After a maximum number of retransmission attempts </a:t>
                </a:r>
                <a14:m>
                  <m:oMath xmlns:m="http://schemas.openxmlformats.org/officeDocument/2006/math">
                    <m:sSub>
                      <m:sSubPr>
                        <m:ctrlPr>
                          <a:rPr lang="en-US"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𝐾</m:t>
                        </m:r>
                      </m:e>
                      <m:sub>
                        <m:r>
                          <a:rPr lang="en-US" b="0" i="1" smtClean="0">
                            <a:latin typeface="Cambria Math" panose="02040503050406030204" pitchFamily="18" charset="0"/>
                            <a:cs typeface="Times New Roman" panose="02020603050405020304" pitchFamily="18" charset="0"/>
                          </a:rPr>
                          <m:t>𝑚𝑎𝑥</m:t>
                        </m:r>
                      </m:sub>
                    </m:sSub>
                  </m:oMath>
                </a14:m>
                <a:r>
                  <a:rPr lang="en-US" dirty="0">
                    <a:latin typeface="Times New Roman" panose="02020603050405020304" pitchFamily="18" charset="0"/>
                    <a:cs typeface="Times New Roman" panose="02020603050405020304" pitchFamily="18" charset="0"/>
                  </a:rPr>
                  <a:t>, a station must give up and try later.</a:t>
                </a:r>
              </a:p>
            </p:txBody>
          </p:sp>
        </mc:Choice>
        <mc:Fallback xmlns="">
          <p:sp>
            <p:nvSpPr>
              <p:cNvPr id="3" name="Content Placeholder 2">
                <a:extLst>
                  <a:ext uri="{FF2B5EF4-FFF2-40B4-BE49-F238E27FC236}">
                    <a16:creationId xmlns:a16="http://schemas.microsoft.com/office/drawing/2014/main" id="{83D490ED-F9CC-FED8-BD61-9D343981A413}"/>
                  </a:ext>
                </a:extLst>
              </p:cNvPr>
              <p:cNvSpPr>
                <a:spLocks noGrp="1" noRot="1" noChangeAspect="1" noMove="1" noResize="1" noEditPoints="1" noAdjustHandles="1" noChangeArrowheads="1" noChangeShapeType="1" noTextEdit="1"/>
              </p:cNvSpPr>
              <p:nvPr>
                <p:ph idx="1"/>
              </p:nvPr>
            </p:nvSpPr>
            <p:spPr>
              <a:xfrm>
                <a:off x="390418" y="729464"/>
                <a:ext cx="11411164" cy="2621343"/>
              </a:xfrm>
              <a:blipFill>
                <a:blip r:embed="rId2"/>
                <a:stretch>
                  <a:fillRect l="-962" t="-4186"/>
                </a:stretch>
              </a:blipFill>
            </p:spPr>
            <p:txBody>
              <a:bodyPr/>
              <a:lstStyle/>
              <a:p>
                <a:r>
                  <a:rPr lang="en-IN">
                    <a:noFill/>
                  </a:rPr>
                  <a:t> </a:t>
                </a:r>
              </a:p>
            </p:txBody>
          </p:sp>
        </mc:Fallback>
      </mc:AlternateContent>
      <p:pic>
        <p:nvPicPr>
          <p:cNvPr id="4" name="Picture 7">
            <a:extLst>
              <a:ext uri="{FF2B5EF4-FFF2-40B4-BE49-F238E27FC236}">
                <a16:creationId xmlns:a16="http://schemas.microsoft.com/office/drawing/2014/main" id="{F279C9FD-20A4-4616-EAD2-586A68AC5B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4160" y="3164841"/>
            <a:ext cx="7477760" cy="3522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9756241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3D490ED-F9CC-FED8-BD61-9D343981A413}"/>
                  </a:ext>
                </a:extLst>
              </p:cNvPr>
              <p:cNvSpPr>
                <a:spLocks noGrp="1"/>
              </p:cNvSpPr>
              <p:nvPr>
                <p:ph idx="1"/>
              </p:nvPr>
            </p:nvSpPr>
            <p:spPr>
              <a:xfrm>
                <a:off x="390418" y="729464"/>
                <a:ext cx="11411164" cy="1900720"/>
              </a:xfrm>
            </p:spPr>
            <p:txBody>
              <a:bodyPr>
                <a:normAutofit/>
              </a:bodyPr>
              <a:lstStyle/>
              <a:p>
                <a:r>
                  <a:rPr lang="en-US" sz="2400" b="1" dirty="0">
                    <a:latin typeface="Times New Roman" panose="02020603050405020304" pitchFamily="18" charset="0"/>
                    <a:cs typeface="Times New Roman" panose="02020603050405020304" pitchFamily="18" charset="0"/>
                  </a:rPr>
                  <a:t>Vulnerable time</a:t>
                </a:r>
                <a:r>
                  <a:rPr lang="en-US" sz="2400" dirty="0">
                    <a:latin typeface="Times New Roman" panose="02020603050405020304" pitchFamily="18" charset="0"/>
                    <a:cs typeface="Times New Roman" panose="02020603050405020304" pitchFamily="18" charset="0"/>
                  </a:rPr>
                  <a:t>: the length of time in which there is a possibility of collision.</a:t>
                </a:r>
              </a:p>
              <a:p>
                <a:r>
                  <a:rPr lang="en-US" sz="2400" dirty="0">
                    <a:latin typeface="Times New Roman" panose="02020603050405020304" pitchFamily="18" charset="0"/>
                    <a:cs typeface="Times New Roman" panose="02020603050405020304" pitchFamily="18" charset="0"/>
                  </a:rPr>
                  <a:t>Let us call </a:t>
                </a:r>
                <a14:m>
                  <m:oMath xmlns:m="http://schemas.openxmlformats.org/officeDocument/2006/math">
                    <m:r>
                      <a:rPr lang="en-US" sz="2400" i="1" dirty="0" smtClean="0">
                        <a:latin typeface="Cambria Math" panose="02040503050406030204" pitchFamily="18" charset="0"/>
                        <a:cs typeface="Times New Roman" panose="02020603050405020304" pitchFamily="18" charset="0"/>
                      </a:rPr>
                      <m:t>𝐺</m:t>
                    </m:r>
                  </m:oMath>
                </a14:m>
                <a:r>
                  <a:rPr lang="en-US" sz="2400" dirty="0">
                    <a:latin typeface="Times New Roman" panose="02020603050405020304" pitchFamily="18" charset="0"/>
                    <a:cs typeface="Times New Roman" panose="02020603050405020304" pitchFamily="18" charset="0"/>
                  </a:rPr>
                  <a:t> the average number of frames generated by the system during one frame transmission time. The throughput for pure ALOHA is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𝑆</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𝐺</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𝑒</m:t>
                        </m:r>
                      </m:e>
                      <m:sup>
                        <m:r>
                          <a:rPr lang="en-US" sz="2400" b="0" i="1" smtClean="0">
                            <a:latin typeface="Cambria Math" panose="02040503050406030204" pitchFamily="18" charset="0"/>
                            <a:ea typeface="Cambria Math" panose="02040503050406030204" pitchFamily="18" charset="0"/>
                            <a:cs typeface="Times New Roman" panose="02020603050405020304" pitchFamily="18" charset="0"/>
                          </a:rPr>
                          <m:t>−2</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𝐺</m:t>
                        </m:r>
                      </m:sup>
                    </m:sSup>
                  </m:oMath>
                </a14:m>
                <a:endParaRPr lang="en-US" sz="24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83D490ED-F9CC-FED8-BD61-9D343981A413}"/>
                  </a:ext>
                </a:extLst>
              </p:cNvPr>
              <p:cNvSpPr>
                <a:spLocks noGrp="1" noRot="1" noChangeAspect="1" noMove="1" noResize="1" noEditPoints="1" noAdjustHandles="1" noChangeArrowheads="1" noChangeShapeType="1" noTextEdit="1"/>
              </p:cNvSpPr>
              <p:nvPr>
                <p:ph idx="1"/>
              </p:nvPr>
            </p:nvSpPr>
            <p:spPr>
              <a:xfrm>
                <a:off x="390418" y="729464"/>
                <a:ext cx="11411164" cy="1900720"/>
              </a:xfrm>
              <a:blipFill>
                <a:blip r:embed="rId2"/>
                <a:stretch>
                  <a:fillRect l="-694" t="-4502"/>
                </a:stretch>
              </a:blipFill>
            </p:spPr>
            <p:txBody>
              <a:bodyPr/>
              <a:lstStyle/>
              <a:p>
                <a:r>
                  <a:rPr lang="en-IN">
                    <a:noFill/>
                  </a:rPr>
                  <a:t> </a:t>
                </a:r>
              </a:p>
            </p:txBody>
          </p:sp>
        </mc:Fallback>
      </mc:AlternateContent>
      <p:pic>
        <p:nvPicPr>
          <p:cNvPr id="4" name="Picture 8">
            <a:extLst>
              <a:ext uri="{FF2B5EF4-FFF2-40B4-BE49-F238E27FC236}">
                <a16:creationId xmlns:a16="http://schemas.microsoft.com/office/drawing/2014/main" id="{C766346A-34EC-F781-A06E-0BE5A9A894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8178" y="2179662"/>
            <a:ext cx="6670782" cy="4284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a:extLst>
              <a:ext uri="{FF2B5EF4-FFF2-40B4-BE49-F238E27FC236}">
                <a16:creationId xmlns:a16="http://schemas.microsoft.com/office/drawing/2014/main" id="{8BE3B027-F847-9AA8-A021-728A83E9A581}"/>
              </a:ext>
            </a:extLst>
          </p:cNvPr>
          <p:cNvSpPr txBox="1"/>
          <p:nvPr/>
        </p:nvSpPr>
        <p:spPr>
          <a:xfrm>
            <a:off x="85618" y="3246735"/>
            <a:ext cx="3972560" cy="1200329"/>
          </a:xfrm>
          <a:prstGeom prst="rect">
            <a:avLst/>
          </a:prstGeom>
          <a:noFill/>
        </p:spPr>
        <p:txBody>
          <a:bodyPr wrap="square">
            <a:spAutoFit/>
          </a:bodyPr>
          <a:lstStyle/>
          <a:p>
            <a:r>
              <a:rPr lang="en-US" sz="2400" b="0" i="1" dirty="0" err="1">
                <a:solidFill>
                  <a:srgbClr val="242021"/>
                </a:solidFill>
                <a:effectLst/>
                <a:latin typeface="Times-Italic"/>
              </a:rPr>
              <a:t>T</a:t>
            </a:r>
            <a:r>
              <a:rPr lang="en-US" sz="1400" b="0" i="1" dirty="0" err="1">
                <a:solidFill>
                  <a:srgbClr val="242021"/>
                </a:solidFill>
                <a:effectLst/>
                <a:latin typeface="Times-Italic"/>
              </a:rPr>
              <a:t>fr</a:t>
            </a:r>
            <a:r>
              <a:rPr lang="en-US" sz="1400" b="0" i="1" dirty="0">
                <a:solidFill>
                  <a:srgbClr val="242021"/>
                </a:solidFill>
                <a:effectLst/>
                <a:latin typeface="Times-Italic"/>
              </a:rPr>
              <a:t> </a:t>
            </a:r>
            <a:r>
              <a:rPr lang="en-US" sz="2400" dirty="0">
                <a:solidFill>
                  <a:srgbClr val="242021"/>
                </a:solidFill>
                <a:latin typeface="Times-Roman"/>
              </a:rPr>
              <a:t>=</a:t>
            </a:r>
            <a:r>
              <a:rPr lang="en-US" sz="2400" b="0" i="0" dirty="0">
                <a:solidFill>
                  <a:srgbClr val="242021"/>
                </a:solidFill>
                <a:effectLst/>
                <a:latin typeface="Times-Roman"/>
              </a:rPr>
              <a:t>the average time required to send out a frame</a:t>
            </a:r>
            <a:r>
              <a:rPr lang="en-US" sz="2400" dirty="0"/>
              <a:t> </a:t>
            </a:r>
            <a:br>
              <a:rPr lang="en-US" sz="2400" dirty="0"/>
            </a:br>
            <a:endParaRPr lang="en-IN" sz="2400" dirty="0"/>
          </a:p>
        </p:txBody>
      </p:sp>
      <p:sp>
        <p:nvSpPr>
          <p:cNvPr id="9" name="Title 1">
            <a:extLst>
              <a:ext uri="{FF2B5EF4-FFF2-40B4-BE49-F238E27FC236}">
                <a16:creationId xmlns:a16="http://schemas.microsoft.com/office/drawing/2014/main" id="{1F306554-2D90-3F7C-380B-A5697406FB10}"/>
              </a:ext>
            </a:extLst>
          </p:cNvPr>
          <p:cNvSpPr>
            <a:spLocks noGrp="1"/>
          </p:cNvSpPr>
          <p:nvPr>
            <p:ph type="title"/>
          </p:nvPr>
        </p:nvSpPr>
        <p:spPr>
          <a:xfrm>
            <a:off x="4246879" y="91440"/>
            <a:ext cx="3322321" cy="801384"/>
          </a:xfrm>
        </p:spPr>
        <p:txBody>
          <a:bodyPr>
            <a:normAutofit/>
          </a:bodyPr>
          <a:lstStyle/>
          <a:p>
            <a:r>
              <a:rPr lang="en-US" sz="4000" dirty="0">
                <a:solidFill>
                  <a:srgbClr val="0000FF"/>
                </a:solidFill>
                <a:latin typeface="Times New Roman" panose="02020603050405020304" pitchFamily="18" charset="0"/>
                <a:cs typeface="Times New Roman" panose="02020603050405020304" pitchFamily="18" charset="0"/>
              </a:rPr>
              <a:t>Pure ALOHA</a:t>
            </a:r>
            <a:endParaRPr lang="en-IN" sz="4000" dirty="0">
              <a:solidFill>
                <a:srgbClr val="0000FF"/>
              </a:solidFill>
            </a:endParaRPr>
          </a:p>
        </p:txBody>
      </p:sp>
    </p:spTree>
    <p:extLst>
      <p:ext uri="{BB962C8B-B14F-4D97-AF65-F5344CB8AC3E}">
        <p14:creationId xmlns:p14="http://schemas.microsoft.com/office/powerpoint/2010/main" val="41086983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1827A-CABB-C6C9-80C0-E7DD6B75B919}"/>
              </a:ext>
            </a:extLst>
          </p:cNvPr>
          <p:cNvSpPr>
            <a:spLocks noGrp="1"/>
          </p:cNvSpPr>
          <p:nvPr>
            <p:ph type="title"/>
          </p:nvPr>
        </p:nvSpPr>
        <p:spPr>
          <a:xfrm>
            <a:off x="4135119" y="0"/>
            <a:ext cx="3952241" cy="801384"/>
          </a:xfrm>
        </p:spPr>
        <p:txBody>
          <a:bodyPr>
            <a:normAutofit/>
          </a:bodyPr>
          <a:lstStyle/>
          <a:p>
            <a:r>
              <a:rPr lang="en-US" dirty="0">
                <a:solidFill>
                  <a:srgbClr val="0000FF"/>
                </a:solidFill>
                <a:latin typeface="Times New Roman" panose="02020603050405020304" pitchFamily="18" charset="0"/>
                <a:cs typeface="Times New Roman" panose="02020603050405020304" pitchFamily="18" charset="0"/>
              </a:rPr>
              <a:t>Slotted ALOHA</a:t>
            </a:r>
            <a:endParaRPr lang="en-IN" dirty="0">
              <a:solidFill>
                <a:srgbClr val="0000FF"/>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3D490ED-F9CC-FED8-BD61-9D343981A413}"/>
                  </a:ext>
                </a:extLst>
              </p:cNvPr>
              <p:cNvSpPr>
                <a:spLocks noGrp="1"/>
              </p:cNvSpPr>
              <p:nvPr>
                <p:ph idx="1"/>
              </p:nvPr>
            </p:nvSpPr>
            <p:spPr>
              <a:xfrm>
                <a:off x="390418" y="863754"/>
                <a:ext cx="11411164" cy="1900720"/>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In slotted ALOHA we divide the time into slots of </a:t>
                </a:r>
                <a14:m>
                  <m:oMath xmlns:m="http://schemas.openxmlformats.org/officeDocument/2006/math">
                    <m:sSub>
                      <m:sSubPr>
                        <m:ctrlPr>
                          <a:rPr lang="en-US"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𝑇</m:t>
                        </m:r>
                      </m:e>
                      <m:sub>
                        <m:r>
                          <a:rPr lang="en-US" b="0" i="1" smtClean="0">
                            <a:latin typeface="Cambria Math" panose="02040503050406030204" pitchFamily="18" charset="0"/>
                            <a:cs typeface="Times New Roman" panose="02020603050405020304" pitchFamily="18" charset="0"/>
                          </a:rPr>
                          <m:t>𝑓𝑟</m:t>
                        </m:r>
                      </m:sub>
                    </m:sSub>
                  </m:oMath>
                </a14:m>
                <a:r>
                  <a:rPr lang="en-US" dirty="0">
                    <a:latin typeface="Times New Roman" panose="02020603050405020304" pitchFamily="18" charset="0"/>
                    <a:cs typeface="Times New Roman" panose="02020603050405020304" pitchFamily="18" charset="0"/>
                  </a:rPr>
                  <a:t> seconds and force the station to send only at the beginning of the time slot.</a:t>
                </a:r>
              </a:p>
              <a:p>
                <a:r>
                  <a:rPr lang="en-US" dirty="0">
                    <a:latin typeface="Times New Roman" panose="02020603050405020304" pitchFamily="18" charset="0"/>
                    <a:cs typeface="Times New Roman" panose="02020603050405020304" pitchFamily="18" charset="0"/>
                  </a:rPr>
                  <a:t>Because a station is allowed to send only at the beginning of the synchronized timeslot, if a station misses this moment, it must wait until the beginning of the next time slot.</a:t>
                </a:r>
              </a:p>
            </p:txBody>
          </p:sp>
        </mc:Choice>
        <mc:Fallback xmlns="">
          <p:sp>
            <p:nvSpPr>
              <p:cNvPr id="3" name="Content Placeholder 2">
                <a:extLst>
                  <a:ext uri="{FF2B5EF4-FFF2-40B4-BE49-F238E27FC236}">
                    <a16:creationId xmlns:a16="http://schemas.microsoft.com/office/drawing/2014/main" id="{83D490ED-F9CC-FED8-BD61-9D343981A413}"/>
                  </a:ext>
                </a:extLst>
              </p:cNvPr>
              <p:cNvSpPr>
                <a:spLocks noGrp="1" noRot="1" noChangeAspect="1" noMove="1" noResize="1" noEditPoints="1" noAdjustHandles="1" noChangeArrowheads="1" noChangeShapeType="1" noTextEdit="1"/>
              </p:cNvSpPr>
              <p:nvPr>
                <p:ph idx="1"/>
              </p:nvPr>
            </p:nvSpPr>
            <p:spPr>
              <a:xfrm>
                <a:off x="390418" y="863754"/>
                <a:ext cx="11411164" cy="1900720"/>
              </a:xfrm>
              <a:blipFill>
                <a:blip r:embed="rId2"/>
                <a:stretch>
                  <a:fillRect l="-801" t="-6752" b="-4502"/>
                </a:stretch>
              </a:blipFill>
            </p:spPr>
            <p:txBody>
              <a:bodyPr/>
              <a:lstStyle/>
              <a:p>
                <a:r>
                  <a:rPr lang="en-IN">
                    <a:noFill/>
                  </a:rPr>
                  <a:t> </a:t>
                </a:r>
              </a:p>
            </p:txBody>
          </p:sp>
        </mc:Fallback>
      </mc:AlternateContent>
      <p:pic>
        <p:nvPicPr>
          <p:cNvPr id="4" name="Picture 7">
            <a:extLst>
              <a:ext uri="{FF2B5EF4-FFF2-40B4-BE49-F238E27FC236}">
                <a16:creationId xmlns:a16="http://schemas.microsoft.com/office/drawing/2014/main" id="{E2C79720-0EAB-87C5-7A2C-B0114A6F58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3519" y="2764474"/>
            <a:ext cx="7969091" cy="372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557349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3D490ED-F9CC-FED8-BD61-9D343981A413}"/>
                  </a:ext>
                </a:extLst>
              </p:cNvPr>
              <p:cNvSpPr>
                <a:spLocks noGrp="1"/>
              </p:cNvSpPr>
              <p:nvPr>
                <p:ph idx="1"/>
              </p:nvPr>
            </p:nvSpPr>
            <p:spPr>
              <a:xfrm>
                <a:off x="390418" y="729464"/>
                <a:ext cx="11411164" cy="1900720"/>
              </a:xfrm>
            </p:spPr>
            <p:txBody>
              <a:bodyPr>
                <a:normAutofit/>
              </a:bodyPr>
              <a:lstStyle/>
              <a:p>
                <a:r>
                  <a:rPr lang="en-US" dirty="0">
                    <a:latin typeface="Times New Roman" panose="02020603050405020304" pitchFamily="18" charset="0"/>
                    <a:cs typeface="Times New Roman" panose="02020603050405020304" pitchFamily="18" charset="0"/>
                  </a:rPr>
                  <a:t>Of course, there is still the possibility of collision if two stations try to send at the beginning of the same time slot.</a:t>
                </a:r>
              </a:p>
              <a:p>
                <a:r>
                  <a:rPr lang="en-US" dirty="0">
                    <a:latin typeface="Times New Roman" panose="02020603050405020304" pitchFamily="18" charset="0"/>
                    <a:cs typeface="Times New Roman" panose="02020603050405020304" pitchFamily="18" charset="0"/>
                  </a:rPr>
                  <a:t>However, the vulnerable time is now reduced to one-half.</a:t>
                </a:r>
              </a:p>
              <a:p>
                <a14:m>
                  <m:oMath xmlns:m="http://schemas.openxmlformats.org/officeDocument/2006/math">
                    <m:r>
                      <a:rPr lang="en-US" b="0" i="1" smtClean="0">
                        <a:latin typeface="Cambria Math" panose="02040503050406030204" pitchFamily="18" charset="0"/>
                        <a:cs typeface="Times New Roman" panose="02020603050405020304" pitchFamily="18" charset="0"/>
                      </a:rPr>
                      <m:t>𝑆</m:t>
                    </m:r>
                    <m:r>
                      <a:rPr lang="en-US" b="0" i="1" smtClean="0">
                        <a:latin typeface="Cambria Math" panose="02040503050406030204" pitchFamily="18" charset="0"/>
                        <a:cs typeface="Times New Roman" panose="02020603050405020304" pitchFamily="18" charset="0"/>
                      </a:rPr>
                      <m:t>=</m:t>
                    </m:r>
                    <m:r>
                      <a:rPr lang="en-US" b="0" i="1" smtClean="0">
                        <a:latin typeface="Cambria Math" panose="02040503050406030204" pitchFamily="18" charset="0"/>
                        <a:cs typeface="Times New Roman" panose="02020603050405020304" pitchFamily="18" charset="0"/>
                      </a:rPr>
                      <m:t>𝐺</m:t>
                    </m:r>
                    <m:r>
                      <a:rPr lang="en-US"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ea typeface="Cambria Math" panose="02040503050406030204" pitchFamily="18" charset="0"/>
                            <a:cs typeface="Times New Roman" panose="02020603050405020304" pitchFamily="18" charset="0"/>
                          </a:rPr>
                          <m:t>𝑒</m:t>
                        </m:r>
                      </m:e>
                      <m:sup>
                        <m:r>
                          <a:rPr lang="en-US" b="0" i="1" smtClean="0">
                            <a:latin typeface="Cambria Math" panose="02040503050406030204" pitchFamily="18" charset="0"/>
                            <a:ea typeface="Cambria Math" panose="02040503050406030204" pitchFamily="18" charset="0"/>
                            <a:cs typeface="Times New Roman" panose="02020603050405020304" pitchFamily="18" charset="0"/>
                          </a:rPr>
                          <m:t>−</m:t>
                        </m:r>
                        <m:r>
                          <a:rPr lang="en-US" b="0" i="1" smtClean="0">
                            <a:latin typeface="Cambria Math" panose="02040503050406030204" pitchFamily="18" charset="0"/>
                            <a:ea typeface="Cambria Math" panose="02040503050406030204" pitchFamily="18" charset="0"/>
                            <a:cs typeface="Times New Roman" panose="02020603050405020304" pitchFamily="18" charset="0"/>
                          </a:rPr>
                          <m:t>𝐺</m:t>
                        </m:r>
                      </m:sup>
                    </m:sSup>
                  </m:oMath>
                </a14:m>
                <a:r>
                  <a:rPr lang="en-US" dirty="0">
                    <a:latin typeface="Times New Roman" panose="02020603050405020304" pitchFamily="18" charset="0"/>
                    <a:cs typeface="Times New Roman" panose="02020603050405020304" pitchFamily="18" charset="0"/>
                  </a:rPr>
                  <a:t>. Increased.</a:t>
                </a:r>
              </a:p>
            </p:txBody>
          </p:sp>
        </mc:Choice>
        <mc:Fallback xmlns="">
          <p:sp>
            <p:nvSpPr>
              <p:cNvPr id="3" name="Content Placeholder 2">
                <a:extLst>
                  <a:ext uri="{FF2B5EF4-FFF2-40B4-BE49-F238E27FC236}">
                    <a16:creationId xmlns:a16="http://schemas.microsoft.com/office/drawing/2014/main" id="{83D490ED-F9CC-FED8-BD61-9D343981A413}"/>
                  </a:ext>
                </a:extLst>
              </p:cNvPr>
              <p:cNvSpPr>
                <a:spLocks noGrp="1" noRot="1" noChangeAspect="1" noMove="1" noResize="1" noEditPoints="1" noAdjustHandles="1" noChangeArrowheads="1" noChangeShapeType="1" noTextEdit="1"/>
              </p:cNvSpPr>
              <p:nvPr>
                <p:ph idx="1"/>
              </p:nvPr>
            </p:nvSpPr>
            <p:spPr>
              <a:xfrm>
                <a:off x="390418" y="729464"/>
                <a:ext cx="11411164" cy="1900720"/>
              </a:xfrm>
              <a:blipFill>
                <a:blip r:embed="rId2"/>
                <a:stretch>
                  <a:fillRect l="-962" t="-5788" b="-8360"/>
                </a:stretch>
              </a:blipFill>
            </p:spPr>
            <p:txBody>
              <a:bodyPr/>
              <a:lstStyle/>
              <a:p>
                <a:r>
                  <a:rPr lang="en-IN">
                    <a:noFill/>
                  </a:rPr>
                  <a:t> </a:t>
                </a:r>
              </a:p>
            </p:txBody>
          </p:sp>
        </mc:Fallback>
      </mc:AlternateContent>
      <p:pic>
        <p:nvPicPr>
          <p:cNvPr id="4" name="Picture 7">
            <a:extLst>
              <a:ext uri="{FF2B5EF4-FFF2-40B4-BE49-F238E27FC236}">
                <a16:creationId xmlns:a16="http://schemas.microsoft.com/office/drawing/2014/main" id="{8D3A8F29-739C-78A8-FDB0-908263405E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1040" y="2630184"/>
            <a:ext cx="6690360" cy="3822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itle 1">
            <a:extLst>
              <a:ext uri="{FF2B5EF4-FFF2-40B4-BE49-F238E27FC236}">
                <a16:creationId xmlns:a16="http://schemas.microsoft.com/office/drawing/2014/main" id="{6FB21C25-C9CE-83C8-7690-658D9702F2AE}"/>
              </a:ext>
            </a:extLst>
          </p:cNvPr>
          <p:cNvSpPr>
            <a:spLocks noGrp="1"/>
          </p:cNvSpPr>
          <p:nvPr>
            <p:ph type="title"/>
          </p:nvPr>
        </p:nvSpPr>
        <p:spPr>
          <a:xfrm>
            <a:off x="4135119" y="0"/>
            <a:ext cx="3952241" cy="801384"/>
          </a:xfrm>
        </p:spPr>
        <p:txBody>
          <a:bodyPr>
            <a:normAutofit/>
          </a:bodyPr>
          <a:lstStyle/>
          <a:p>
            <a:r>
              <a:rPr lang="en-US" dirty="0">
                <a:solidFill>
                  <a:srgbClr val="0000FF"/>
                </a:solidFill>
                <a:latin typeface="Times New Roman" panose="02020603050405020304" pitchFamily="18" charset="0"/>
                <a:cs typeface="Times New Roman" panose="02020603050405020304" pitchFamily="18" charset="0"/>
              </a:rPr>
              <a:t>Slotted ALOHA</a:t>
            </a:r>
            <a:endParaRPr lang="en-IN" dirty="0">
              <a:solidFill>
                <a:srgbClr val="0000FF"/>
              </a:solidFill>
            </a:endParaRPr>
          </a:p>
        </p:txBody>
      </p:sp>
    </p:spTree>
    <p:extLst>
      <p:ext uri="{BB962C8B-B14F-4D97-AF65-F5344CB8AC3E}">
        <p14:creationId xmlns:p14="http://schemas.microsoft.com/office/powerpoint/2010/main" val="312548115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1827A-CABB-C6C9-80C0-E7DD6B75B919}"/>
              </a:ext>
            </a:extLst>
          </p:cNvPr>
          <p:cNvSpPr>
            <a:spLocks noGrp="1"/>
          </p:cNvSpPr>
          <p:nvPr>
            <p:ph type="title"/>
          </p:nvPr>
        </p:nvSpPr>
        <p:spPr>
          <a:xfrm>
            <a:off x="1779586" y="71120"/>
            <a:ext cx="8991601" cy="801384"/>
          </a:xfrm>
        </p:spPr>
        <p:txBody>
          <a:bodyPr>
            <a:normAutofit fontScale="90000"/>
          </a:bodyPr>
          <a:lstStyle/>
          <a:p>
            <a:r>
              <a:rPr lang="en-US" dirty="0">
                <a:solidFill>
                  <a:srgbClr val="0000FF"/>
                </a:solidFill>
                <a:latin typeface="Times New Roman" panose="02020603050405020304" pitchFamily="18" charset="0"/>
                <a:cs typeface="Times New Roman" panose="02020603050405020304" pitchFamily="18" charset="0"/>
              </a:rPr>
              <a:t>Carrier Sense Multiple Access (CSMA)</a:t>
            </a:r>
            <a:endParaRPr lang="en-IN" dirty="0">
              <a:solidFill>
                <a:srgbClr val="0000FF"/>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3D490ED-F9CC-FED8-BD61-9D343981A413}"/>
                  </a:ext>
                </a:extLst>
              </p:cNvPr>
              <p:cNvSpPr>
                <a:spLocks noGrp="1"/>
              </p:cNvSpPr>
              <p:nvPr>
                <p:ph idx="1"/>
              </p:nvPr>
            </p:nvSpPr>
            <p:spPr>
              <a:xfrm>
                <a:off x="390418" y="729464"/>
                <a:ext cx="11411164" cy="2301412"/>
              </a:xfrm>
            </p:spPr>
            <p:txBody>
              <a:bodyPr>
                <a:normAutofit fontScale="85000" lnSpcReduction="20000"/>
              </a:bodyPr>
              <a:lstStyle/>
              <a:p>
                <a:pPr>
                  <a:lnSpc>
                    <a:spcPct val="120000"/>
                  </a:lnSpc>
                </a:pPr>
                <a:r>
                  <a:rPr lang="en-US" dirty="0">
                    <a:latin typeface="Times New Roman" panose="02020603050405020304" pitchFamily="18" charset="0"/>
                    <a:cs typeface="Times New Roman" panose="02020603050405020304" pitchFamily="18" charset="0"/>
                  </a:rPr>
                  <a:t>It is “sense before transmit” or “listen before talk.”</a:t>
                </a:r>
              </a:p>
              <a:p>
                <a:pPr>
                  <a:lnSpc>
                    <a:spcPct val="120000"/>
                  </a:lnSpc>
                </a:pPr>
                <a:r>
                  <a:rPr lang="en-US" dirty="0">
                    <a:latin typeface="Times New Roman" panose="02020603050405020304" pitchFamily="18" charset="0"/>
                    <a:cs typeface="Times New Roman" panose="02020603050405020304" pitchFamily="18" charset="0"/>
                  </a:rPr>
                  <a:t>At time </a:t>
                </a:r>
                <a14:m>
                  <m:oMath xmlns:m="http://schemas.openxmlformats.org/officeDocument/2006/math">
                    <m:sSub>
                      <m:sSubPr>
                        <m:ctrlPr>
                          <a:rPr lang="en-US"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𝑡</m:t>
                        </m:r>
                      </m:e>
                      <m:sub>
                        <m:r>
                          <a:rPr lang="en-US" b="0" i="1" smtClean="0">
                            <a:latin typeface="Cambria Math" panose="02040503050406030204" pitchFamily="18" charset="0"/>
                            <a:cs typeface="Times New Roman" panose="02020603050405020304" pitchFamily="18" charset="0"/>
                          </a:rPr>
                          <m:t>1</m:t>
                        </m:r>
                      </m:sub>
                    </m:sSub>
                  </m:oMath>
                </a14:m>
                <a:r>
                  <a:rPr lang="en-US" dirty="0">
                    <a:latin typeface="Times New Roman" panose="02020603050405020304" pitchFamily="18" charset="0"/>
                    <a:cs typeface="Times New Roman" panose="02020603050405020304" pitchFamily="18" charset="0"/>
                  </a:rPr>
                  <a:t>, station B senses the medium and finds it idle, so it sends a frame. </a:t>
                </a:r>
              </a:p>
              <a:p>
                <a:pPr>
                  <a:lnSpc>
                    <a:spcPct val="120000"/>
                  </a:lnSpc>
                </a:pPr>
                <a:r>
                  <a:rPr lang="en-US" dirty="0">
                    <a:latin typeface="Times New Roman" panose="02020603050405020304" pitchFamily="18" charset="0"/>
                    <a:cs typeface="Times New Roman" panose="02020603050405020304" pitchFamily="18" charset="0"/>
                  </a:rPr>
                  <a:t>At time </a:t>
                </a:r>
                <a14:m>
                  <m:oMath xmlns:m="http://schemas.openxmlformats.org/officeDocument/2006/math">
                    <m:sSub>
                      <m:sSubPr>
                        <m:ctrlPr>
                          <a:rPr lang="en-US" i="1" smtClean="0">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𝑡</m:t>
                        </m:r>
                      </m:e>
                      <m:sub>
                        <m:r>
                          <a:rPr lang="en-US" b="0" i="1" smtClean="0">
                            <a:latin typeface="Cambria Math" panose="02040503050406030204" pitchFamily="18" charset="0"/>
                            <a:cs typeface="Times New Roman" panose="02020603050405020304" pitchFamily="18" charset="0"/>
                          </a:rPr>
                          <m:t>2</m:t>
                        </m:r>
                      </m:sub>
                    </m:sSub>
                  </m:oMath>
                </a14:m>
                <a:r>
                  <a:rPr lang="en-US"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𝑡</m:t>
                        </m:r>
                      </m:e>
                      <m:sub>
                        <m:r>
                          <a:rPr lang="en-US" b="0" i="1" smtClean="0">
                            <a:latin typeface="Cambria Math" panose="02040503050406030204" pitchFamily="18" charset="0"/>
                            <a:cs typeface="Times New Roman" panose="02020603050405020304" pitchFamily="18" charset="0"/>
                          </a:rPr>
                          <m:t>2</m:t>
                        </m:r>
                      </m:sub>
                    </m:sSub>
                  </m:oMath>
                </a14:m>
                <a:r>
                  <a:rPr lang="en-US" dirty="0">
                    <a:latin typeface="Times New Roman" panose="02020603050405020304" pitchFamily="18" charset="0"/>
                    <a:cs typeface="Times New Roman" panose="02020603050405020304" pitchFamily="18" charset="0"/>
                  </a:rPr>
                  <a:t> &gt;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𝑡</m:t>
                        </m:r>
                      </m:e>
                      <m:sub>
                        <m:r>
                          <a:rPr lang="en-US" i="1">
                            <a:latin typeface="Cambria Math" panose="02040503050406030204" pitchFamily="18" charset="0"/>
                            <a:cs typeface="Times New Roman" panose="02020603050405020304" pitchFamily="18" charset="0"/>
                          </a:rPr>
                          <m:t>1</m:t>
                        </m:r>
                      </m:sub>
                    </m:sSub>
                  </m:oMath>
                </a14:m>
                <a:r>
                  <a:rPr lang="en-US" dirty="0">
                    <a:latin typeface="Times New Roman" panose="02020603050405020304" pitchFamily="18" charset="0"/>
                    <a:cs typeface="Times New Roman" panose="02020603050405020304" pitchFamily="18" charset="0"/>
                  </a:rPr>
                  <a:t>), station C senses the medium and finds it idle because, at this time, the first bits from station B have not reached station C. </a:t>
                </a:r>
              </a:p>
              <a:p>
                <a:pPr>
                  <a:lnSpc>
                    <a:spcPct val="120000"/>
                  </a:lnSpc>
                </a:pPr>
                <a:r>
                  <a:rPr lang="en-US" dirty="0">
                    <a:latin typeface="Times New Roman" panose="02020603050405020304" pitchFamily="18" charset="0"/>
                    <a:cs typeface="Times New Roman" panose="02020603050405020304" pitchFamily="18" charset="0"/>
                  </a:rPr>
                  <a:t>Station C also sends a frame. The two signals collide and both frames are destroyed.</a:t>
                </a:r>
              </a:p>
            </p:txBody>
          </p:sp>
        </mc:Choice>
        <mc:Fallback xmlns="">
          <p:sp>
            <p:nvSpPr>
              <p:cNvPr id="3" name="Content Placeholder 2">
                <a:extLst>
                  <a:ext uri="{FF2B5EF4-FFF2-40B4-BE49-F238E27FC236}">
                    <a16:creationId xmlns:a16="http://schemas.microsoft.com/office/drawing/2014/main" id="{83D490ED-F9CC-FED8-BD61-9D343981A413}"/>
                  </a:ext>
                </a:extLst>
              </p:cNvPr>
              <p:cNvSpPr>
                <a:spLocks noGrp="1" noRot="1" noChangeAspect="1" noMove="1" noResize="1" noEditPoints="1" noAdjustHandles="1" noChangeArrowheads="1" noChangeShapeType="1" noTextEdit="1"/>
              </p:cNvSpPr>
              <p:nvPr>
                <p:ph idx="1"/>
              </p:nvPr>
            </p:nvSpPr>
            <p:spPr>
              <a:xfrm>
                <a:off x="390418" y="729464"/>
                <a:ext cx="11411164" cy="2301412"/>
              </a:xfrm>
              <a:blipFill>
                <a:blip r:embed="rId2"/>
                <a:stretch>
                  <a:fillRect l="-694" t="-2122" b="-6366"/>
                </a:stretch>
              </a:blipFill>
            </p:spPr>
            <p:txBody>
              <a:bodyPr/>
              <a:lstStyle/>
              <a:p>
                <a:r>
                  <a:rPr lang="en-IN">
                    <a:noFill/>
                  </a:rPr>
                  <a:t> </a:t>
                </a:r>
              </a:p>
            </p:txBody>
          </p:sp>
        </mc:Fallback>
      </mc:AlternateContent>
      <p:pic>
        <p:nvPicPr>
          <p:cNvPr id="9" name="Picture 8">
            <a:extLst>
              <a:ext uri="{FF2B5EF4-FFF2-40B4-BE49-F238E27FC236}">
                <a16:creationId xmlns:a16="http://schemas.microsoft.com/office/drawing/2014/main" id="{CFE0B37C-E4D1-C000-A508-F74E9474110E}"/>
              </a:ext>
            </a:extLst>
          </p:cNvPr>
          <p:cNvPicPr>
            <a:picLocks noChangeAspect="1"/>
          </p:cNvPicPr>
          <p:nvPr/>
        </p:nvPicPr>
        <p:blipFill>
          <a:blip r:embed="rId3"/>
          <a:stretch>
            <a:fillRect/>
          </a:stretch>
        </p:blipFill>
        <p:spPr>
          <a:xfrm>
            <a:off x="2296160" y="3110231"/>
            <a:ext cx="7958454" cy="3560761"/>
          </a:xfrm>
          <a:prstGeom prst="rect">
            <a:avLst/>
          </a:prstGeom>
        </p:spPr>
      </p:pic>
    </p:spTree>
    <p:extLst>
      <p:ext uri="{BB962C8B-B14F-4D97-AF65-F5344CB8AC3E}">
        <p14:creationId xmlns:p14="http://schemas.microsoft.com/office/powerpoint/2010/main" val="149209290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3D490ED-F9CC-FED8-BD61-9D343981A413}"/>
                  </a:ext>
                </a:extLst>
              </p:cNvPr>
              <p:cNvSpPr>
                <a:spLocks noGrp="1"/>
              </p:cNvSpPr>
              <p:nvPr>
                <p:ph idx="1"/>
              </p:nvPr>
            </p:nvSpPr>
            <p:spPr>
              <a:xfrm>
                <a:off x="390417" y="886146"/>
                <a:ext cx="11411164" cy="801384"/>
              </a:xfrm>
            </p:spPr>
            <p:txBody>
              <a:bodyPr>
                <a:normAutofit/>
              </a:bodyPr>
              <a:lstStyle/>
              <a:p>
                <a:r>
                  <a:rPr lang="en-US" dirty="0">
                    <a:latin typeface="Times New Roman" panose="02020603050405020304" pitchFamily="18" charset="0"/>
                    <a:cs typeface="Times New Roman" panose="02020603050405020304" pitchFamily="18" charset="0"/>
                  </a:rPr>
                  <a:t>The vulnerable time for CSMA is the propagation time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b="0" i="1" smtClean="0">
                            <a:latin typeface="Cambria Math" panose="02040503050406030204" pitchFamily="18" charset="0"/>
                            <a:cs typeface="Times New Roman" panose="02020603050405020304" pitchFamily="18" charset="0"/>
                          </a:rPr>
                          <m:t>𝑇</m:t>
                        </m:r>
                      </m:e>
                      <m:sub>
                        <m:r>
                          <a:rPr lang="en-US" b="0" i="1" smtClean="0">
                            <a:latin typeface="Cambria Math" panose="02040503050406030204" pitchFamily="18" charset="0"/>
                            <a:cs typeface="Times New Roman" panose="02020603050405020304" pitchFamily="18" charset="0"/>
                          </a:rPr>
                          <m:t>𝑝</m:t>
                        </m:r>
                      </m:sub>
                    </m:sSub>
                  </m:oMath>
                </a14:m>
                <a:r>
                  <a:rPr lang="en-US" dirty="0">
                    <a:latin typeface="Times New Roman" panose="02020603050405020304" pitchFamily="18" charset="0"/>
                    <a:cs typeface="Times New Roman" panose="02020603050405020304" pitchFamily="18" charset="0"/>
                  </a:rPr>
                  <a:t>.</a:t>
                </a:r>
              </a:p>
            </p:txBody>
          </p:sp>
        </mc:Choice>
        <mc:Fallback xmlns="">
          <p:sp>
            <p:nvSpPr>
              <p:cNvPr id="3" name="Content Placeholder 2">
                <a:extLst>
                  <a:ext uri="{FF2B5EF4-FFF2-40B4-BE49-F238E27FC236}">
                    <a16:creationId xmlns:a16="http://schemas.microsoft.com/office/drawing/2014/main" id="{83D490ED-F9CC-FED8-BD61-9D343981A413}"/>
                  </a:ext>
                </a:extLst>
              </p:cNvPr>
              <p:cNvSpPr>
                <a:spLocks noGrp="1" noRot="1" noChangeAspect="1" noMove="1" noResize="1" noEditPoints="1" noAdjustHandles="1" noChangeArrowheads="1" noChangeShapeType="1" noTextEdit="1"/>
              </p:cNvSpPr>
              <p:nvPr>
                <p:ph idx="1"/>
              </p:nvPr>
            </p:nvSpPr>
            <p:spPr>
              <a:xfrm>
                <a:off x="390417" y="886146"/>
                <a:ext cx="11411164" cy="801384"/>
              </a:xfrm>
              <a:blipFill>
                <a:blip r:embed="rId2"/>
                <a:stretch>
                  <a:fillRect l="-962" t="-12121"/>
                </a:stretch>
              </a:blipFill>
            </p:spPr>
            <p:txBody>
              <a:bodyPr/>
              <a:lstStyle/>
              <a:p>
                <a:r>
                  <a:rPr lang="en-IN">
                    <a:noFill/>
                  </a:rPr>
                  <a:t> </a:t>
                </a:r>
              </a:p>
            </p:txBody>
          </p:sp>
        </mc:Fallback>
      </mc:AlternateContent>
      <p:pic>
        <p:nvPicPr>
          <p:cNvPr id="4" name="Picture 7">
            <a:extLst>
              <a:ext uri="{FF2B5EF4-FFF2-40B4-BE49-F238E27FC236}">
                <a16:creationId xmlns:a16="http://schemas.microsoft.com/office/drawing/2014/main" id="{CA7FFC9B-2125-FCB7-5AFF-5ECB2DADCB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399" y="1872615"/>
            <a:ext cx="8839200" cy="3298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itle 1">
            <a:extLst>
              <a:ext uri="{FF2B5EF4-FFF2-40B4-BE49-F238E27FC236}">
                <a16:creationId xmlns:a16="http://schemas.microsoft.com/office/drawing/2014/main" id="{18AFB85E-7D2B-E806-A528-9784CF79FEE8}"/>
              </a:ext>
            </a:extLst>
          </p:cNvPr>
          <p:cNvSpPr>
            <a:spLocks noGrp="1"/>
          </p:cNvSpPr>
          <p:nvPr>
            <p:ph type="title"/>
          </p:nvPr>
        </p:nvSpPr>
        <p:spPr>
          <a:xfrm>
            <a:off x="1779586" y="71120"/>
            <a:ext cx="8991601" cy="801384"/>
          </a:xfrm>
        </p:spPr>
        <p:txBody>
          <a:bodyPr>
            <a:normAutofit fontScale="90000"/>
          </a:bodyPr>
          <a:lstStyle/>
          <a:p>
            <a:r>
              <a:rPr lang="en-US" dirty="0">
                <a:solidFill>
                  <a:srgbClr val="0000FF"/>
                </a:solidFill>
                <a:latin typeface="Times New Roman" panose="02020603050405020304" pitchFamily="18" charset="0"/>
                <a:cs typeface="Times New Roman" panose="02020603050405020304" pitchFamily="18" charset="0"/>
              </a:rPr>
              <a:t>Carrier Sense Multiple Access (CSMA)</a:t>
            </a:r>
            <a:endParaRPr lang="en-IN" dirty="0">
              <a:solidFill>
                <a:srgbClr val="0000FF"/>
              </a:solidFill>
            </a:endParaRPr>
          </a:p>
        </p:txBody>
      </p:sp>
    </p:spTree>
    <p:extLst>
      <p:ext uri="{BB962C8B-B14F-4D97-AF65-F5344CB8AC3E}">
        <p14:creationId xmlns:p14="http://schemas.microsoft.com/office/powerpoint/2010/main" val="5812396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1827A-CABB-C6C9-80C0-E7DD6B75B919}"/>
              </a:ext>
            </a:extLst>
          </p:cNvPr>
          <p:cNvSpPr>
            <a:spLocks noGrp="1"/>
          </p:cNvSpPr>
          <p:nvPr>
            <p:ph type="title"/>
          </p:nvPr>
        </p:nvSpPr>
        <p:spPr>
          <a:xfrm>
            <a:off x="3505199" y="0"/>
            <a:ext cx="4866641" cy="801384"/>
          </a:xfrm>
        </p:spPr>
        <p:txBody>
          <a:bodyPr>
            <a:normAutofit/>
          </a:bodyPr>
          <a:lstStyle/>
          <a:p>
            <a:r>
              <a:rPr lang="en-US" dirty="0">
                <a:solidFill>
                  <a:srgbClr val="0000FF"/>
                </a:solidFill>
                <a:latin typeface="Times New Roman" panose="02020603050405020304" pitchFamily="18" charset="0"/>
                <a:cs typeface="Times New Roman" panose="02020603050405020304" pitchFamily="18" charset="0"/>
              </a:rPr>
              <a:t>Persistence Methods</a:t>
            </a:r>
            <a:endParaRPr lang="en-IN" dirty="0">
              <a:solidFill>
                <a:srgbClr val="0000FF"/>
              </a:solidFill>
            </a:endParaRPr>
          </a:p>
        </p:txBody>
      </p:sp>
      <p:sp>
        <p:nvSpPr>
          <p:cNvPr id="8" name="TextBox 7">
            <a:extLst>
              <a:ext uri="{FF2B5EF4-FFF2-40B4-BE49-F238E27FC236}">
                <a16:creationId xmlns:a16="http://schemas.microsoft.com/office/drawing/2014/main" id="{B6D83733-C454-6535-3AF8-268EEACE32A6}"/>
              </a:ext>
            </a:extLst>
          </p:cNvPr>
          <p:cNvSpPr txBox="1"/>
          <p:nvPr/>
        </p:nvSpPr>
        <p:spPr>
          <a:xfrm>
            <a:off x="5517222" y="2897312"/>
            <a:ext cx="65" cy="276999"/>
          </a:xfrm>
          <a:prstGeom prst="rect">
            <a:avLst/>
          </a:prstGeom>
          <a:noFill/>
        </p:spPr>
        <p:txBody>
          <a:bodyPr wrap="none" lIns="0" tIns="0" rIns="0" bIns="0" rtlCol="0">
            <a:spAutoFit/>
          </a:bodyPr>
          <a:lstStyle/>
          <a:p>
            <a:endParaRPr lang="en-IN" dirty="0"/>
          </a:p>
        </p:txBody>
      </p:sp>
      <p:pic>
        <p:nvPicPr>
          <p:cNvPr id="7" name="Picture 7">
            <a:extLst>
              <a:ext uri="{FF2B5EF4-FFF2-40B4-BE49-F238E27FC236}">
                <a16:creationId xmlns:a16="http://schemas.microsoft.com/office/drawing/2014/main" id="{F4A1350B-AC39-3813-3B45-EDC89A6BF0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3440" y="934295"/>
            <a:ext cx="4694281" cy="4989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Box 12">
            <a:extLst>
              <a:ext uri="{FF2B5EF4-FFF2-40B4-BE49-F238E27FC236}">
                <a16:creationId xmlns:a16="http://schemas.microsoft.com/office/drawing/2014/main" id="{EC88533C-58F3-3790-925E-0885DC28359E}"/>
              </a:ext>
            </a:extLst>
          </p:cNvPr>
          <p:cNvSpPr txBox="1"/>
          <p:nvPr/>
        </p:nvSpPr>
        <p:spPr>
          <a:xfrm>
            <a:off x="91078" y="494433"/>
            <a:ext cx="6624681" cy="1323439"/>
          </a:xfrm>
          <a:prstGeom prst="rect">
            <a:avLst/>
          </a:prstGeom>
          <a:noFill/>
        </p:spPr>
        <p:txBody>
          <a:bodyPr wrap="square">
            <a:spAutoFit/>
          </a:bodyPr>
          <a:lstStyle/>
          <a:p>
            <a:r>
              <a:rPr lang="en-US" sz="2000" b="1" i="1" dirty="0">
                <a:solidFill>
                  <a:srgbClr val="242021"/>
                </a:solidFill>
                <a:effectLst/>
                <a:latin typeface="Times New Roman" panose="02020603050405020304" pitchFamily="18" charset="0"/>
                <a:cs typeface="Times New Roman" panose="02020603050405020304" pitchFamily="18" charset="0"/>
              </a:rPr>
              <a:t>1-Persistent</a:t>
            </a:r>
            <a:br>
              <a:rPr lang="en-US" sz="2000" b="1" i="1" dirty="0">
                <a:solidFill>
                  <a:srgbClr val="242021"/>
                </a:solidFill>
                <a:effectLst/>
                <a:latin typeface="Times New Roman" panose="02020603050405020304" pitchFamily="18" charset="0"/>
                <a:cs typeface="Times New Roman" panose="02020603050405020304" pitchFamily="18" charset="0"/>
              </a:rPr>
            </a:br>
            <a:r>
              <a:rPr lang="en-US" sz="2000" b="0" i="0" dirty="0">
                <a:solidFill>
                  <a:srgbClr val="242021"/>
                </a:solidFill>
                <a:effectLst/>
                <a:latin typeface="Times New Roman" panose="02020603050405020304" pitchFamily="18" charset="0"/>
                <a:cs typeface="Times New Roman" panose="02020603050405020304" pitchFamily="18" charset="0"/>
              </a:rPr>
              <a:t>The </a:t>
            </a:r>
            <a:r>
              <a:rPr lang="en-US" sz="2000" b="0" i="1" dirty="0">
                <a:solidFill>
                  <a:srgbClr val="242021"/>
                </a:solidFill>
                <a:effectLst/>
                <a:latin typeface="Times New Roman" panose="02020603050405020304" pitchFamily="18" charset="0"/>
                <a:cs typeface="Times New Roman" panose="02020603050405020304" pitchFamily="18" charset="0"/>
              </a:rPr>
              <a:t>1-persistent method </a:t>
            </a:r>
            <a:r>
              <a:rPr lang="en-US" sz="2000" b="0" i="0" dirty="0">
                <a:solidFill>
                  <a:srgbClr val="242021"/>
                </a:solidFill>
                <a:effectLst/>
                <a:latin typeface="Times New Roman" panose="02020603050405020304" pitchFamily="18" charset="0"/>
                <a:cs typeface="Times New Roman" panose="02020603050405020304" pitchFamily="18" charset="0"/>
              </a:rPr>
              <a:t>is simple and straightforward. In this method, after the station finds the line idle, it sends its frame immediately (with probability 1).</a:t>
            </a:r>
            <a:endParaRPr lang="en-IN" dirty="0"/>
          </a:p>
        </p:txBody>
      </p:sp>
      <p:sp>
        <p:nvSpPr>
          <p:cNvPr id="15" name="TextBox 14">
            <a:extLst>
              <a:ext uri="{FF2B5EF4-FFF2-40B4-BE49-F238E27FC236}">
                <a16:creationId xmlns:a16="http://schemas.microsoft.com/office/drawing/2014/main" id="{911B955C-ECD2-9DC4-81E6-BA13F43E39A1}"/>
              </a:ext>
            </a:extLst>
          </p:cNvPr>
          <p:cNvSpPr txBox="1"/>
          <p:nvPr/>
        </p:nvSpPr>
        <p:spPr>
          <a:xfrm>
            <a:off x="142058" y="1884680"/>
            <a:ext cx="6726281" cy="1631216"/>
          </a:xfrm>
          <a:prstGeom prst="rect">
            <a:avLst/>
          </a:prstGeom>
          <a:noFill/>
        </p:spPr>
        <p:txBody>
          <a:bodyPr wrap="square">
            <a:spAutoFit/>
          </a:bodyPr>
          <a:lstStyle/>
          <a:p>
            <a:r>
              <a:rPr lang="en-US" sz="2000" b="1" i="1" dirty="0">
                <a:solidFill>
                  <a:srgbClr val="242021"/>
                </a:solidFill>
                <a:effectLst/>
                <a:latin typeface="Times New Roman" panose="02020603050405020304" pitchFamily="18" charset="0"/>
                <a:cs typeface="Times New Roman" panose="02020603050405020304" pitchFamily="18" charset="0"/>
              </a:rPr>
              <a:t>Nonpersistent</a:t>
            </a:r>
            <a:br>
              <a:rPr lang="en-US" sz="2000" b="1" i="1" dirty="0">
                <a:solidFill>
                  <a:srgbClr val="242021"/>
                </a:solidFill>
                <a:effectLst/>
                <a:latin typeface="Times New Roman" panose="02020603050405020304" pitchFamily="18" charset="0"/>
                <a:cs typeface="Times New Roman" panose="02020603050405020304" pitchFamily="18" charset="0"/>
              </a:rPr>
            </a:br>
            <a:r>
              <a:rPr lang="en-US" sz="2000" b="0" i="0" dirty="0">
                <a:solidFill>
                  <a:srgbClr val="242021"/>
                </a:solidFill>
                <a:effectLst/>
                <a:latin typeface="Times New Roman" panose="02020603050405020304" pitchFamily="18" charset="0"/>
                <a:cs typeface="Times New Roman" panose="02020603050405020304" pitchFamily="18" charset="0"/>
              </a:rPr>
              <a:t>In the </a:t>
            </a:r>
            <a:r>
              <a:rPr lang="en-US" sz="2000" b="0" i="1" dirty="0">
                <a:solidFill>
                  <a:srgbClr val="242021"/>
                </a:solidFill>
                <a:effectLst/>
                <a:latin typeface="Times New Roman" panose="02020603050405020304" pitchFamily="18" charset="0"/>
                <a:cs typeface="Times New Roman" panose="02020603050405020304" pitchFamily="18" charset="0"/>
              </a:rPr>
              <a:t>nonpersistent method, </a:t>
            </a:r>
            <a:r>
              <a:rPr lang="en-US" sz="2000" b="0" i="0" dirty="0">
                <a:solidFill>
                  <a:srgbClr val="242021"/>
                </a:solidFill>
                <a:effectLst/>
                <a:latin typeface="Times New Roman" panose="02020603050405020304" pitchFamily="18" charset="0"/>
                <a:cs typeface="Times New Roman" panose="02020603050405020304" pitchFamily="18" charset="0"/>
              </a:rPr>
              <a:t>a station that has a frame to send senses the line. If the line is idle, it sends immediately. If the line is not idle, it waits a random amount of time and then senses the line again.</a:t>
            </a:r>
            <a:r>
              <a:rPr lang="en-US" sz="2000" dirty="0">
                <a:latin typeface="Times New Roman" panose="02020603050405020304" pitchFamily="18" charset="0"/>
                <a:cs typeface="Times New Roman" panose="02020603050405020304" pitchFamily="18" charset="0"/>
              </a:rPr>
              <a:t> </a:t>
            </a:r>
            <a:endParaRPr lang="en-IN" dirty="0"/>
          </a:p>
        </p:txBody>
      </p:sp>
      <p:pic>
        <p:nvPicPr>
          <p:cNvPr id="4" name="Picture 3">
            <a:extLst>
              <a:ext uri="{FF2B5EF4-FFF2-40B4-BE49-F238E27FC236}">
                <a16:creationId xmlns:a16="http://schemas.microsoft.com/office/drawing/2014/main" id="{58E61037-170F-7FD8-FE9B-7F36F1881282}"/>
              </a:ext>
            </a:extLst>
          </p:cNvPr>
          <p:cNvPicPr>
            <a:picLocks noChangeAspect="1"/>
          </p:cNvPicPr>
          <p:nvPr/>
        </p:nvPicPr>
        <p:blipFill>
          <a:blip r:embed="rId3"/>
          <a:stretch>
            <a:fillRect/>
          </a:stretch>
        </p:blipFill>
        <p:spPr>
          <a:xfrm>
            <a:off x="315613" y="3837160"/>
            <a:ext cx="6887827" cy="2756700"/>
          </a:xfrm>
          <a:prstGeom prst="rect">
            <a:avLst/>
          </a:prstGeom>
        </p:spPr>
      </p:pic>
    </p:spTree>
    <p:extLst>
      <p:ext uri="{BB962C8B-B14F-4D97-AF65-F5344CB8AC3E}">
        <p14:creationId xmlns:p14="http://schemas.microsoft.com/office/powerpoint/2010/main" val="17320530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9733E092-1985-55BA-CC77-51CC6D49DF4C}"/>
              </a:ext>
            </a:extLst>
          </p:cNvPr>
          <p:cNvSpPr txBox="1"/>
          <p:nvPr/>
        </p:nvSpPr>
        <p:spPr>
          <a:xfrm>
            <a:off x="254000" y="643400"/>
            <a:ext cx="5100320" cy="5262979"/>
          </a:xfrm>
          <a:prstGeom prst="rect">
            <a:avLst/>
          </a:prstGeom>
          <a:noFill/>
        </p:spPr>
        <p:txBody>
          <a:bodyPr wrap="square">
            <a:spAutoFit/>
          </a:bodyPr>
          <a:lstStyle/>
          <a:p>
            <a:r>
              <a:rPr lang="en-US" sz="2400" b="1" i="0" dirty="0">
                <a:solidFill>
                  <a:srgbClr val="242021"/>
                </a:solidFill>
                <a:effectLst/>
                <a:latin typeface="Times New Roman" panose="02020603050405020304" pitchFamily="18" charset="0"/>
                <a:cs typeface="Times New Roman" panose="02020603050405020304" pitchFamily="18" charset="0"/>
              </a:rPr>
              <a:t>p</a:t>
            </a:r>
            <a:r>
              <a:rPr lang="en-US" sz="2400" b="1" i="1" dirty="0">
                <a:solidFill>
                  <a:srgbClr val="242021"/>
                </a:solidFill>
                <a:effectLst/>
                <a:latin typeface="Times New Roman" panose="02020603050405020304" pitchFamily="18" charset="0"/>
                <a:cs typeface="Times New Roman" panose="02020603050405020304" pitchFamily="18" charset="0"/>
              </a:rPr>
              <a:t>-Persistent</a:t>
            </a:r>
            <a:br>
              <a:rPr lang="en-US" sz="2400" b="1" i="1" dirty="0">
                <a:solidFill>
                  <a:srgbClr val="242021"/>
                </a:solidFill>
                <a:effectLst/>
                <a:latin typeface="Times New Roman" panose="02020603050405020304" pitchFamily="18" charset="0"/>
                <a:cs typeface="Times New Roman" panose="02020603050405020304" pitchFamily="18" charset="0"/>
              </a:rPr>
            </a:br>
            <a:r>
              <a:rPr lang="en-US" sz="2400" b="0" i="0" dirty="0">
                <a:solidFill>
                  <a:srgbClr val="242021"/>
                </a:solidFill>
                <a:effectLst/>
                <a:latin typeface="Times New Roman" panose="02020603050405020304" pitchFamily="18" charset="0"/>
                <a:cs typeface="Times New Roman" panose="02020603050405020304" pitchFamily="18" charset="0"/>
              </a:rPr>
              <a:t>The </a:t>
            </a:r>
            <a:r>
              <a:rPr lang="en-US" sz="2400" b="0" i="1" dirty="0">
                <a:solidFill>
                  <a:srgbClr val="242021"/>
                </a:solidFill>
                <a:effectLst/>
                <a:latin typeface="Times New Roman" panose="02020603050405020304" pitchFamily="18" charset="0"/>
                <a:cs typeface="Times New Roman" panose="02020603050405020304" pitchFamily="18" charset="0"/>
              </a:rPr>
              <a:t>p</a:t>
            </a:r>
            <a:r>
              <a:rPr lang="en-US" sz="2400" b="0" i="0" dirty="0">
                <a:solidFill>
                  <a:srgbClr val="242021"/>
                </a:solidFill>
                <a:effectLst/>
                <a:latin typeface="Times New Roman" panose="02020603050405020304" pitchFamily="18" charset="0"/>
                <a:cs typeface="Times New Roman" panose="02020603050405020304" pitchFamily="18" charset="0"/>
              </a:rPr>
              <a:t>-persistent approach combines the advantages of the other two strategies. In this method, after the station finds the line idle it follows these steps:</a:t>
            </a:r>
            <a:br>
              <a:rPr lang="en-US" sz="2400" b="0" i="0" dirty="0">
                <a:solidFill>
                  <a:srgbClr val="242021"/>
                </a:solidFill>
                <a:effectLst/>
                <a:latin typeface="Times New Roman" panose="02020603050405020304" pitchFamily="18" charset="0"/>
                <a:cs typeface="Times New Roman" panose="02020603050405020304" pitchFamily="18" charset="0"/>
              </a:rPr>
            </a:br>
            <a:r>
              <a:rPr lang="en-US" sz="2400" b="1" i="0" dirty="0">
                <a:solidFill>
                  <a:srgbClr val="00ADEE"/>
                </a:solidFill>
                <a:effectLst/>
                <a:latin typeface="Times New Roman" panose="02020603050405020304" pitchFamily="18" charset="0"/>
                <a:cs typeface="Times New Roman" panose="02020603050405020304" pitchFamily="18" charset="0"/>
              </a:rPr>
              <a:t>1. </a:t>
            </a:r>
            <a:r>
              <a:rPr lang="en-US" sz="2400" b="0" i="0" dirty="0">
                <a:solidFill>
                  <a:srgbClr val="242021"/>
                </a:solidFill>
                <a:effectLst/>
                <a:latin typeface="Times New Roman" panose="02020603050405020304" pitchFamily="18" charset="0"/>
                <a:cs typeface="Times New Roman" panose="02020603050405020304" pitchFamily="18" charset="0"/>
              </a:rPr>
              <a:t>With probability </a:t>
            </a:r>
            <a:r>
              <a:rPr lang="en-US" sz="2400" b="0" i="1" dirty="0">
                <a:solidFill>
                  <a:srgbClr val="242021"/>
                </a:solidFill>
                <a:effectLst/>
                <a:latin typeface="Times New Roman" panose="02020603050405020304" pitchFamily="18" charset="0"/>
                <a:cs typeface="Times New Roman" panose="02020603050405020304" pitchFamily="18" charset="0"/>
              </a:rPr>
              <a:t>p</a:t>
            </a:r>
            <a:r>
              <a:rPr lang="en-US" sz="2400" b="0" i="0" dirty="0">
                <a:solidFill>
                  <a:srgbClr val="242021"/>
                </a:solidFill>
                <a:effectLst/>
                <a:latin typeface="Times New Roman" panose="02020603050405020304" pitchFamily="18" charset="0"/>
                <a:cs typeface="Times New Roman" panose="02020603050405020304" pitchFamily="18" charset="0"/>
              </a:rPr>
              <a:t>, the station sends its frame.</a:t>
            </a:r>
            <a:r>
              <a:rPr lang="en-US" sz="2400" dirty="0">
                <a:latin typeface="Times New Roman" panose="02020603050405020304" pitchFamily="18" charset="0"/>
                <a:cs typeface="Times New Roman" panose="02020603050405020304" pitchFamily="18" charset="0"/>
              </a:rPr>
              <a:t> </a:t>
            </a:r>
            <a:br>
              <a:rPr lang="en-US" sz="2400" dirty="0">
                <a:latin typeface="Times New Roman" panose="02020603050405020304" pitchFamily="18" charset="0"/>
                <a:cs typeface="Times New Roman" panose="02020603050405020304" pitchFamily="18" charset="0"/>
              </a:rPr>
            </a:br>
            <a:r>
              <a:rPr lang="en-US" sz="2400" b="1" dirty="0">
                <a:solidFill>
                  <a:srgbClr val="00B0F0"/>
                </a:solidFill>
                <a:latin typeface="Times New Roman" panose="02020603050405020304" pitchFamily="18" charset="0"/>
                <a:cs typeface="Times New Roman" panose="02020603050405020304" pitchFamily="18" charset="0"/>
              </a:rPr>
              <a:t>2. </a:t>
            </a:r>
            <a:r>
              <a:rPr lang="en-US" sz="2400" dirty="0">
                <a:latin typeface="Times New Roman" panose="02020603050405020304" pitchFamily="18" charset="0"/>
                <a:cs typeface="Times New Roman" panose="02020603050405020304" pitchFamily="18" charset="0"/>
              </a:rPr>
              <a:t>With probability </a:t>
            </a:r>
            <a:r>
              <a:rPr lang="en-US" sz="2400" i="1" dirty="0">
                <a:latin typeface="Times New Roman" panose="02020603050405020304" pitchFamily="18" charset="0"/>
                <a:cs typeface="Times New Roman" panose="02020603050405020304" pitchFamily="18" charset="0"/>
              </a:rPr>
              <a:t>q </a:t>
            </a:r>
            <a:r>
              <a:rPr lang="en-US" sz="2400" dirty="0">
                <a:latin typeface="Times New Roman" panose="02020603050405020304" pitchFamily="18" charset="0"/>
                <a:cs typeface="Times New Roman" panose="02020603050405020304" pitchFamily="18" charset="0"/>
              </a:rPr>
              <a:t>= 1 - </a:t>
            </a:r>
            <a:r>
              <a:rPr lang="en-US" sz="2400" i="1" dirty="0">
                <a:latin typeface="Times New Roman" panose="02020603050405020304" pitchFamily="18" charset="0"/>
                <a:cs typeface="Times New Roman" panose="02020603050405020304" pitchFamily="18" charset="0"/>
              </a:rPr>
              <a:t>p</a:t>
            </a:r>
            <a:r>
              <a:rPr lang="en-US" sz="2400" dirty="0">
                <a:latin typeface="Times New Roman" panose="02020603050405020304" pitchFamily="18" charset="0"/>
                <a:cs typeface="Times New Roman" panose="02020603050405020304" pitchFamily="18" charset="0"/>
              </a:rPr>
              <a:t>, the station waits for the beginning of the next time slot and checks the line again.</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a. </a:t>
            </a:r>
            <a:r>
              <a:rPr lang="en-US" sz="2400" dirty="0">
                <a:latin typeface="Times New Roman" panose="02020603050405020304" pitchFamily="18" charset="0"/>
                <a:cs typeface="Times New Roman" panose="02020603050405020304" pitchFamily="18" charset="0"/>
              </a:rPr>
              <a:t>If the line is idle, it goes to step 1.</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b. </a:t>
            </a:r>
            <a:r>
              <a:rPr lang="en-US" sz="2400" dirty="0">
                <a:latin typeface="Times New Roman" panose="02020603050405020304" pitchFamily="18" charset="0"/>
                <a:cs typeface="Times New Roman" panose="02020603050405020304" pitchFamily="18" charset="0"/>
              </a:rPr>
              <a:t>If the line is busy, it acts as though a collision has occurred and uses the backoff procedure. </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44DFAC9-F2D4-0308-6EC1-D60E9579C336}"/>
              </a:ext>
            </a:extLst>
          </p:cNvPr>
          <p:cNvPicPr>
            <a:picLocks noChangeAspect="1"/>
          </p:cNvPicPr>
          <p:nvPr/>
        </p:nvPicPr>
        <p:blipFill>
          <a:blip r:embed="rId2"/>
          <a:stretch>
            <a:fillRect/>
          </a:stretch>
        </p:blipFill>
        <p:spPr>
          <a:xfrm>
            <a:off x="5242560" y="1144058"/>
            <a:ext cx="6421120" cy="4261661"/>
          </a:xfrm>
          <a:prstGeom prst="rect">
            <a:avLst/>
          </a:prstGeom>
        </p:spPr>
      </p:pic>
      <p:sp>
        <p:nvSpPr>
          <p:cNvPr id="6" name="Title 1">
            <a:extLst>
              <a:ext uri="{FF2B5EF4-FFF2-40B4-BE49-F238E27FC236}">
                <a16:creationId xmlns:a16="http://schemas.microsoft.com/office/drawing/2014/main" id="{E7249CAA-A845-B45E-DB60-B32EAF68CEE7}"/>
              </a:ext>
            </a:extLst>
          </p:cNvPr>
          <p:cNvSpPr>
            <a:spLocks noGrp="1"/>
          </p:cNvSpPr>
          <p:nvPr>
            <p:ph type="title"/>
          </p:nvPr>
        </p:nvSpPr>
        <p:spPr>
          <a:xfrm>
            <a:off x="3505199" y="0"/>
            <a:ext cx="4866641" cy="801384"/>
          </a:xfrm>
        </p:spPr>
        <p:txBody>
          <a:bodyPr>
            <a:normAutofit/>
          </a:bodyPr>
          <a:lstStyle/>
          <a:p>
            <a:r>
              <a:rPr lang="en-US" dirty="0">
                <a:solidFill>
                  <a:srgbClr val="0000FF"/>
                </a:solidFill>
                <a:latin typeface="Times New Roman" panose="02020603050405020304" pitchFamily="18" charset="0"/>
                <a:cs typeface="Times New Roman" panose="02020603050405020304" pitchFamily="18" charset="0"/>
              </a:rPr>
              <a:t>Persistence Methods</a:t>
            </a:r>
            <a:endParaRPr lang="en-IN" dirty="0">
              <a:solidFill>
                <a:srgbClr val="0000FF"/>
              </a:solidFill>
            </a:endParaRPr>
          </a:p>
        </p:txBody>
      </p:sp>
    </p:spTree>
    <p:extLst>
      <p:ext uri="{BB962C8B-B14F-4D97-AF65-F5344CB8AC3E}">
        <p14:creationId xmlns:p14="http://schemas.microsoft.com/office/powerpoint/2010/main" val="361869918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1827A-CABB-C6C9-80C0-E7DD6B75B919}"/>
              </a:ext>
            </a:extLst>
          </p:cNvPr>
          <p:cNvSpPr>
            <a:spLocks noGrp="1"/>
          </p:cNvSpPr>
          <p:nvPr>
            <p:ph type="title"/>
          </p:nvPr>
        </p:nvSpPr>
        <p:spPr>
          <a:xfrm>
            <a:off x="4216399" y="84761"/>
            <a:ext cx="2814321" cy="801384"/>
          </a:xfrm>
        </p:spPr>
        <p:txBody>
          <a:bodyPr>
            <a:normAutofit/>
          </a:bodyPr>
          <a:lstStyle/>
          <a:p>
            <a:r>
              <a:rPr lang="en-US" dirty="0">
                <a:solidFill>
                  <a:srgbClr val="0000FF"/>
                </a:solidFill>
                <a:latin typeface="Times New Roman" panose="02020603050405020304" pitchFamily="18" charset="0"/>
                <a:cs typeface="Times New Roman" panose="02020603050405020304" pitchFamily="18" charset="0"/>
              </a:rPr>
              <a:t>CSMA/CD</a:t>
            </a:r>
            <a:endParaRPr lang="en-IN" dirty="0">
              <a:solidFill>
                <a:srgbClr val="0000FF"/>
              </a:solidFill>
            </a:endParaRPr>
          </a:p>
        </p:txBody>
      </p:sp>
      <p:pic>
        <p:nvPicPr>
          <p:cNvPr id="7" name="Picture 7">
            <a:extLst>
              <a:ext uri="{FF2B5EF4-FFF2-40B4-BE49-F238E27FC236}">
                <a16:creationId xmlns:a16="http://schemas.microsoft.com/office/drawing/2014/main" id="{82DBBD63-B04C-6A2F-913E-80086E5292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6389" y="3604220"/>
            <a:ext cx="8034339" cy="2319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a:extLst>
              <a:ext uri="{FF2B5EF4-FFF2-40B4-BE49-F238E27FC236}">
                <a16:creationId xmlns:a16="http://schemas.microsoft.com/office/drawing/2014/main" id="{3B7CA92E-A1A8-A605-3CCB-E35F490DE620}"/>
              </a:ext>
            </a:extLst>
          </p:cNvPr>
          <p:cNvSpPr txBox="1"/>
          <p:nvPr/>
        </p:nvSpPr>
        <p:spPr>
          <a:xfrm>
            <a:off x="668858" y="945456"/>
            <a:ext cx="10854284" cy="1938992"/>
          </a:xfrm>
          <a:prstGeom prst="rect">
            <a:avLst/>
          </a:prstGeom>
          <a:noFill/>
        </p:spPr>
        <p:txBody>
          <a:bodyPr wrap="square">
            <a:spAutoFit/>
          </a:bodyPr>
          <a:lstStyle/>
          <a:p>
            <a:pPr eaLnBrk="0" fontAlgn="base" hangingPunct="0">
              <a:spcBef>
                <a:spcPct val="0"/>
              </a:spcBef>
              <a:spcAft>
                <a:spcPct val="0"/>
              </a:spcAft>
              <a:buFontTx/>
              <a:buChar char="•"/>
            </a:pPr>
            <a:r>
              <a:rPr lang="en-US" sz="2400" dirty="0">
                <a:latin typeface="Times New Roman" panose="02020603050405020304" pitchFamily="18" charset="0"/>
                <a:cs typeface="Times New Roman" panose="02020603050405020304" pitchFamily="18" charset="0"/>
              </a:rPr>
              <a:t>Carrier sense multiple access with collision detection (CSMA/CD) augments the algorithm to handle the collision. </a:t>
            </a:r>
          </a:p>
          <a:p>
            <a:pPr eaLnBrk="0" fontAlgn="base" hangingPunct="0">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CSMA/CD enables multiple devices to efficiently share a common communication channel by sensing the medium before transmission and detecting collisions during transmission. </a:t>
            </a:r>
            <a:r>
              <a:rPr lang="en-US" sz="2400" dirty="0">
                <a:latin typeface="Times New Roman" panose="02020603050405020304" pitchFamily="18" charset="0"/>
                <a:cs typeface="Times New Roman" panose="02020603050405020304" pitchFamily="18" charset="0"/>
              </a:rPr>
              <a:t>It aborts transmission and the frame is sent again.</a:t>
            </a:r>
          </a:p>
        </p:txBody>
      </p:sp>
    </p:spTree>
    <p:extLst>
      <p:ext uri="{BB962C8B-B14F-4D97-AF65-F5344CB8AC3E}">
        <p14:creationId xmlns:p14="http://schemas.microsoft.com/office/powerpoint/2010/main" val="272043705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6948" name="Text Box 4">
            <a:extLst>
              <a:ext uri="{FF2B5EF4-FFF2-40B4-BE49-F238E27FC236}">
                <a16:creationId xmlns:a16="http://schemas.microsoft.com/office/drawing/2014/main" id="{459C959B-A836-068F-064F-D0943DF5682F}"/>
              </a:ext>
            </a:extLst>
          </p:cNvPr>
          <p:cNvSpPr txBox="1">
            <a:spLocks noChangeArrowheads="1"/>
          </p:cNvSpPr>
          <p:nvPr/>
        </p:nvSpPr>
        <p:spPr bwMode="auto">
          <a:xfrm>
            <a:off x="3418857" y="0"/>
            <a:ext cx="600824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dirty="0">
                <a:solidFill>
                  <a:srgbClr val="0000FF"/>
                </a:solidFill>
              </a:rPr>
              <a:t>Flow diagram for the CSMA/CD</a:t>
            </a:r>
          </a:p>
        </p:txBody>
      </p:sp>
      <p:pic>
        <p:nvPicPr>
          <p:cNvPr id="1106951" name="Picture 7">
            <a:extLst>
              <a:ext uri="{FF2B5EF4-FFF2-40B4-BE49-F238E27FC236}">
                <a16:creationId xmlns:a16="http://schemas.microsoft.com/office/drawing/2014/main" id="{125CADD3-7770-6C93-E166-F65BECEFD9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7732" y="755711"/>
            <a:ext cx="7241663" cy="5845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a:extLst>
              <a:ext uri="{FF2B5EF4-FFF2-40B4-BE49-F238E27FC236}">
                <a16:creationId xmlns:a16="http://schemas.microsoft.com/office/drawing/2014/main" id="{A0D46EC5-45EE-CAE7-840A-536C5412547E}"/>
              </a:ext>
            </a:extLst>
          </p:cNvPr>
          <p:cNvSpPr txBox="1"/>
          <p:nvPr/>
        </p:nvSpPr>
        <p:spPr>
          <a:xfrm>
            <a:off x="0" y="1867106"/>
            <a:ext cx="4927600" cy="230832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a collision occurs, devices immediately stop transmitting, wait for a randomly determined backoff period, and retransmit, thereby reducing repeated collisions and improving network efficiency.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7">
            <a:extLst>
              <a:ext uri="{FF2B5EF4-FFF2-40B4-BE49-F238E27FC236}">
                <a16:creationId xmlns:a16="http://schemas.microsoft.com/office/drawing/2014/main" id="{40004266-ED0F-F948-5ED3-B7B924A94A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87140" y="223520"/>
            <a:ext cx="3998459" cy="6410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a:extLst>
              <a:ext uri="{FF2B5EF4-FFF2-40B4-BE49-F238E27FC236}">
                <a16:creationId xmlns:a16="http://schemas.microsoft.com/office/drawing/2014/main" id="{864490CF-5836-2B6F-C6E4-06C5CC15761A}"/>
              </a:ext>
            </a:extLst>
          </p:cNvPr>
          <p:cNvSpPr txBox="1"/>
          <p:nvPr/>
        </p:nvSpPr>
        <p:spPr>
          <a:xfrm>
            <a:off x="325120" y="886145"/>
            <a:ext cx="7462020" cy="3785652"/>
          </a:xfrm>
          <a:prstGeom prst="rect">
            <a:avLst/>
          </a:prstGeom>
          <a:noFill/>
        </p:spPr>
        <p:txBody>
          <a:bodyPr wrap="square">
            <a:spAutoFit/>
          </a:bodyPr>
          <a:lstStyle/>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Collisions are avoided through the use of CSMA/CA using three strategies: </a:t>
            </a:r>
            <a:r>
              <a:rPr lang="en-US" sz="2400" dirty="0">
                <a:solidFill>
                  <a:srgbClr val="FF0000"/>
                </a:solidFill>
                <a:latin typeface="Times New Roman" panose="02020603050405020304" pitchFamily="18" charset="0"/>
                <a:cs typeface="Times New Roman" panose="02020603050405020304" pitchFamily="18" charset="0"/>
              </a:rPr>
              <a:t>the interframe space, the contention window, and acknowledgments.</a:t>
            </a:r>
            <a:endParaRPr lang="en-US" altLang="en-US" sz="2400" dirty="0">
              <a:solidFill>
                <a:srgbClr val="FF0000"/>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When an idle channel is found, the station does not send</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immediately. It waits for a period of time called the </a:t>
            </a:r>
            <a:r>
              <a:rPr lang="en-US" sz="2400" b="1" i="1" dirty="0">
                <a:latin typeface="Times New Roman" panose="02020603050405020304" pitchFamily="18" charset="0"/>
                <a:cs typeface="Times New Roman" panose="02020603050405020304" pitchFamily="18" charset="0"/>
              </a:rPr>
              <a:t>interframe space </a:t>
            </a:r>
            <a:r>
              <a:rPr lang="en-US" sz="2400" dirty="0">
                <a:latin typeface="Times New Roman" panose="02020603050405020304" pitchFamily="18" charset="0"/>
                <a:cs typeface="Times New Roman" panose="02020603050405020304" pitchFamily="18" charset="0"/>
              </a:rPr>
              <a:t>or </a:t>
            </a:r>
            <a:r>
              <a:rPr lang="en-US" sz="2400" b="1" i="1" dirty="0">
                <a:latin typeface="Times New Roman" panose="02020603050405020304" pitchFamily="18" charset="0"/>
                <a:cs typeface="Times New Roman" panose="02020603050405020304" pitchFamily="18" charset="0"/>
              </a:rPr>
              <a:t>IFS</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T</a:t>
            </a:r>
            <a:r>
              <a:rPr lang="en-US" altLang="en-US" sz="2400" dirty="0">
                <a:latin typeface="Times New Roman" panose="02020603050405020304" pitchFamily="18" charset="0"/>
                <a:cs typeface="Times New Roman" panose="02020603050405020304" pitchFamily="18" charset="0"/>
              </a:rPr>
              <a:t>he IFS can also be used to define the priority of a station or a frame.</a:t>
            </a: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contention window </a:t>
            </a:r>
            <a:r>
              <a:rPr lang="en-US" sz="2400" dirty="0">
                <a:latin typeface="Times New Roman" panose="02020603050405020304" pitchFamily="18" charset="0"/>
                <a:cs typeface="Times New Roman" panose="02020603050405020304" pitchFamily="18" charset="0"/>
              </a:rPr>
              <a:t>is an amount of time divided into slots. A station that is ready to send chooses a random number of slots as its wait time. </a:t>
            </a:r>
            <a:endParaRPr lang="en-US" altLang="en-US" sz="2400" i="0" baseline="0" dirty="0">
              <a:latin typeface="Times New Roman" panose="02020603050405020304" pitchFamily="18" charset="0"/>
              <a:cs typeface="Times New Roman" panose="02020603050405020304" pitchFamily="18" charset="0"/>
            </a:endParaRPr>
          </a:p>
        </p:txBody>
      </p:sp>
      <p:pic>
        <p:nvPicPr>
          <p:cNvPr id="4" name="Picture 7">
            <a:extLst>
              <a:ext uri="{FF2B5EF4-FFF2-40B4-BE49-F238E27FC236}">
                <a16:creationId xmlns:a16="http://schemas.microsoft.com/office/drawing/2014/main" id="{9F184D07-860D-F763-636E-8B0853B711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873" y="4890701"/>
            <a:ext cx="7398067" cy="169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a:extLst>
              <a:ext uri="{FF2B5EF4-FFF2-40B4-BE49-F238E27FC236}">
                <a16:creationId xmlns:a16="http://schemas.microsoft.com/office/drawing/2014/main" id="{ECFF6860-E590-2077-8113-2CFEF9A739E9}"/>
              </a:ext>
            </a:extLst>
          </p:cNvPr>
          <p:cNvSpPr txBox="1">
            <a:spLocks/>
          </p:cNvSpPr>
          <p:nvPr/>
        </p:nvSpPr>
        <p:spPr>
          <a:xfrm>
            <a:off x="4216399" y="84761"/>
            <a:ext cx="2814321" cy="80138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rgbClr val="0000FF"/>
                </a:solidFill>
                <a:latin typeface="Times New Roman" panose="02020603050405020304" pitchFamily="18" charset="0"/>
                <a:cs typeface="Times New Roman" panose="02020603050405020304" pitchFamily="18" charset="0"/>
              </a:rPr>
              <a:t>CSMA/CA</a:t>
            </a:r>
            <a:endParaRPr lang="en-IN" dirty="0">
              <a:solidFill>
                <a:srgbClr val="0000FF"/>
              </a:solidFill>
            </a:endParaRPr>
          </a:p>
        </p:txBody>
      </p:sp>
    </p:spTree>
    <p:extLst>
      <p:ext uri="{BB962C8B-B14F-4D97-AF65-F5344CB8AC3E}">
        <p14:creationId xmlns:p14="http://schemas.microsoft.com/office/powerpoint/2010/main" val="327196996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45DEAB7-30D1-5CB0-067E-A08EC45E2E39}"/>
              </a:ext>
            </a:extLst>
          </p:cNvPr>
          <p:cNvSpPr>
            <a:spLocks noGrp="1"/>
          </p:cNvSpPr>
          <p:nvPr>
            <p:ph type="sldNum" sz="quarter" idx="10"/>
          </p:nvPr>
        </p:nvSpPr>
        <p:spPr/>
        <p:txBody>
          <a:bodyPr/>
          <a:lstStyle/>
          <a:p>
            <a:r>
              <a:rPr lang="en-US" altLang="en-US"/>
              <a:t>12.</a:t>
            </a:r>
            <a:fld id="{78579621-48A7-4641-9613-FC7AC039D1BD}" type="slidenum">
              <a:rPr lang="en-US" altLang="en-US"/>
              <a:pPr/>
              <a:t>70</a:t>
            </a:fld>
            <a:endParaRPr lang="en-US" altLang="en-US"/>
          </a:p>
        </p:txBody>
      </p:sp>
      <p:sp>
        <p:nvSpPr>
          <p:cNvPr id="1080323" name="Text Box 3">
            <a:extLst>
              <a:ext uri="{FF2B5EF4-FFF2-40B4-BE49-F238E27FC236}">
                <a16:creationId xmlns:a16="http://schemas.microsoft.com/office/drawing/2014/main" id="{930E9D40-948F-73EA-D664-0189CEE65535}"/>
              </a:ext>
            </a:extLst>
          </p:cNvPr>
          <p:cNvSpPr txBox="1">
            <a:spLocks noChangeArrowheads="1"/>
          </p:cNvSpPr>
          <p:nvPr/>
        </p:nvSpPr>
        <p:spPr bwMode="auto">
          <a:xfrm>
            <a:off x="3307080" y="438100"/>
            <a:ext cx="454945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dirty="0">
                <a:solidFill>
                  <a:srgbClr val="0000FF"/>
                </a:solidFill>
                <a:effectLst>
                  <a:outerShdw blurRad="38100" dist="38100" dir="2700000" algn="tl">
                    <a:srgbClr val="C0C0C0"/>
                  </a:outerShdw>
                </a:effectLst>
                <a:latin typeface="Times" panose="02020603050405020304" pitchFamily="18" charset="0"/>
              </a:rPr>
              <a:t>CONTROLLED ACCESS</a:t>
            </a:r>
          </a:p>
        </p:txBody>
      </p:sp>
      <p:sp>
        <p:nvSpPr>
          <p:cNvPr id="1080324" name="Text Box 4">
            <a:extLst>
              <a:ext uri="{FF2B5EF4-FFF2-40B4-BE49-F238E27FC236}">
                <a16:creationId xmlns:a16="http://schemas.microsoft.com/office/drawing/2014/main" id="{E40146C7-2CB9-3769-77C7-27D72F54F024}"/>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p>
        </p:txBody>
      </p:sp>
      <p:sp>
        <p:nvSpPr>
          <p:cNvPr id="1080325" name="Rectangle 5">
            <a:extLst>
              <a:ext uri="{FF2B5EF4-FFF2-40B4-BE49-F238E27FC236}">
                <a16:creationId xmlns:a16="http://schemas.microsoft.com/office/drawing/2014/main" id="{0BE05F6A-E0D7-2E82-BE61-82483270264E}"/>
              </a:ext>
            </a:extLst>
          </p:cNvPr>
          <p:cNvSpPr>
            <a:spLocks noChangeArrowheads="1"/>
          </p:cNvSpPr>
          <p:nvPr/>
        </p:nvSpPr>
        <p:spPr bwMode="auto">
          <a:xfrm>
            <a:off x="426720" y="1133826"/>
            <a:ext cx="111252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1" hangingPunct="1"/>
            <a:r>
              <a:rPr lang="en-US" alt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In </a:t>
            </a:r>
            <a:r>
              <a:rPr lang="en-US" altLang="en-US" sz="2800" dirty="0">
                <a:solidFill>
                  <a:srgbClr val="FF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controlled access</a:t>
            </a:r>
            <a:r>
              <a:rPr lang="en-US" alt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the stations consult one another to find which station has the right to send. A station cannot send unless it has been authorized by other stations. We discuss three popular controlled-access methods.</a:t>
            </a:r>
          </a:p>
        </p:txBody>
      </p:sp>
      <p:sp>
        <p:nvSpPr>
          <p:cNvPr id="1080326" name="Rectangle 6">
            <a:extLst>
              <a:ext uri="{FF2B5EF4-FFF2-40B4-BE49-F238E27FC236}">
                <a16:creationId xmlns:a16="http://schemas.microsoft.com/office/drawing/2014/main" id="{53B98387-8E7D-D1CC-FD3D-AB74D2214CAA}"/>
              </a:ext>
            </a:extLst>
          </p:cNvPr>
          <p:cNvSpPr>
            <a:spLocks noChangeArrowheads="1"/>
          </p:cNvSpPr>
          <p:nvPr/>
        </p:nvSpPr>
        <p:spPr bwMode="auto">
          <a:xfrm>
            <a:off x="513080" y="2954185"/>
            <a:ext cx="379476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buClr>
                <a:schemeClr val="tx1"/>
              </a:buClr>
              <a:buSzPct val="117000"/>
              <a:buFont typeface="Wingdings" panose="05000000000000000000" pitchFamily="2" charset="2"/>
              <a:buNone/>
            </a:pPr>
            <a:r>
              <a:rPr lang="en-US" altLang="en-US" sz="2800" dirty="0">
                <a:solidFill>
                  <a:srgbClr val="0033CC"/>
                </a:solidFill>
                <a:latin typeface="Times New Roman" panose="02020603050405020304" pitchFamily="18" charset="0"/>
                <a:cs typeface="Times New Roman" panose="02020603050405020304" pitchFamily="18" charset="0"/>
              </a:rPr>
              <a:t>Reservation</a:t>
            </a:r>
            <a:br>
              <a:rPr lang="fr-FR" altLang="en-US" sz="2800" dirty="0">
                <a:solidFill>
                  <a:srgbClr val="0033CC"/>
                </a:solidFill>
                <a:latin typeface="Times New Roman" panose="02020603050405020304" pitchFamily="18" charset="0"/>
                <a:cs typeface="Times New Roman" panose="02020603050405020304" pitchFamily="18" charset="0"/>
              </a:rPr>
            </a:br>
            <a:r>
              <a:rPr lang="fr-FR" altLang="en-US" sz="2800" dirty="0">
                <a:solidFill>
                  <a:srgbClr val="0033CC"/>
                </a:solidFill>
                <a:latin typeface="Times New Roman" panose="02020603050405020304" pitchFamily="18" charset="0"/>
                <a:cs typeface="Times New Roman" panose="02020603050405020304" pitchFamily="18" charset="0"/>
              </a:rPr>
              <a:t>Polling</a:t>
            </a:r>
            <a:br>
              <a:rPr lang="fr-FR" altLang="en-US" sz="2800" dirty="0">
                <a:solidFill>
                  <a:srgbClr val="0033CC"/>
                </a:solidFill>
                <a:latin typeface="Times New Roman" panose="02020603050405020304" pitchFamily="18" charset="0"/>
                <a:cs typeface="Times New Roman" panose="02020603050405020304" pitchFamily="18" charset="0"/>
              </a:rPr>
            </a:br>
            <a:r>
              <a:rPr lang="en-US" altLang="en-US" sz="2800" dirty="0">
                <a:solidFill>
                  <a:srgbClr val="0033CC"/>
                </a:solidFill>
                <a:latin typeface="Times New Roman" panose="02020603050405020304" pitchFamily="18" charset="0"/>
                <a:cs typeface="Times New Roman" panose="02020603050405020304" pitchFamily="18" charset="0"/>
              </a:rPr>
              <a:t>Token Passing</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1827A-CABB-C6C9-80C0-E7DD6B75B919}"/>
              </a:ext>
            </a:extLst>
          </p:cNvPr>
          <p:cNvSpPr>
            <a:spLocks noGrp="1"/>
          </p:cNvSpPr>
          <p:nvPr>
            <p:ph type="title"/>
          </p:nvPr>
        </p:nvSpPr>
        <p:spPr>
          <a:xfrm>
            <a:off x="4944039" y="344184"/>
            <a:ext cx="3641161" cy="509256"/>
          </a:xfrm>
        </p:spPr>
        <p:txBody>
          <a:bodyPr>
            <a:normAutofit fontScale="90000"/>
          </a:bodyPr>
          <a:lstStyle/>
          <a:p>
            <a:r>
              <a:rPr lang="en-US" dirty="0">
                <a:solidFill>
                  <a:srgbClr val="0000FF"/>
                </a:solidFill>
                <a:latin typeface="Times New Roman" panose="02020603050405020304" pitchFamily="18" charset="0"/>
                <a:cs typeface="Times New Roman" panose="02020603050405020304" pitchFamily="18" charset="0"/>
              </a:rPr>
              <a:t>Reservation</a:t>
            </a:r>
            <a:br>
              <a:rPr lang="en-US" dirty="0">
                <a:solidFill>
                  <a:srgbClr val="0000FF"/>
                </a:solidFill>
                <a:latin typeface="Times New Roman" panose="02020603050405020304" pitchFamily="18" charset="0"/>
                <a:cs typeface="Times New Roman" panose="02020603050405020304" pitchFamily="18" charset="0"/>
              </a:rPr>
            </a:br>
            <a:endParaRPr lang="en-IN" dirty="0">
              <a:solidFill>
                <a:srgbClr val="0000FF"/>
              </a:solidFill>
            </a:endParaRPr>
          </a:p>
        </p:txBody>
      </p:sp>
      <p:sp>
        <p:nvSpPr>
          <p:cNvPr id="3" name="Content Placeholder 2">
            <a:extLst>
              <a:ext uri="{FF2B5EF4-FFF2-40B4-BE49-F238E27FC236}">
                <a16:creationId xmlns:a16="http://schemas.microsoft.com/office/drawing/2014/main" id="{83D490ED-F9CC-FED8-BD61-9D343981A413}"/>
              </a:ext>
            </a:extLst>
          </p:cNvPr>
          <p:cNvSpPr>
            <a:spLocks noGrp="1"/>
          </p:cNvSpPr>
          <p:nvPr>
            <p:ph idx="1"/>
          </p:nvPr>
        </p:nvSpPr>
        <p:spPr>
          <a:xfrm>
            <a:off x="288818" y="598812"/>
            <a:ext cx="11547582" cy="3955552"/>
          </a:xfrm>
        </p:spPr>
        <p:txBody>
          <a:bodyPr>
            <a:normAutofit/>
          </a:bodyPr>
          <a:lstStyle/>
          <a:p>
            <a:endParaRPr lang="en-US"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 station needs to make a </a:t>
            </a:r>
            <a:r>
              <a:rPr lang="en-US" sz="2400" dirty="0">
                <a:solidFill>
                  <a:srgbClr val="FF0000"/>
                </a:solidFill>
                <a:latin typeface="Times New Roman" panose="02020603050405020304" pitchFamily="18" charset="0"/>
                <a:cs typeface="Times New Roman" panose="02020603050405020304" pitchFamily="18" charset="0"/>
              </a:rPr>
              <a:t>reservation before sending </a:t>
            </a:r>
            <a:r>
              <a:rPr lang="en-US" sz="2400" dirty="0">
                <a:latin typeface="Times New Roman" panose="02020603050405020304" pitchFamily="18" charset="0"/>
                <a:cs typeface="Times New Roman" panose="02020603050405020304" pitchFamily="18" charset="0"/>
              </a:rPr>
              <a:t>data.</a:t>
            </a:r>
          </a:p>
          <a:p>
            <a:r>
              <a:rPr lang="en-US" sz="2400" dirty="0">
                <a:latin typeface="Times New Roman" panose="02020603050405020304" pitchFamily="18" charset="0"/>
                <a:cs typeface="Times New Roman" panose="02020603050405020304" pitchFamily="18" charset="0"/>
              </a:rPr>
              <a:t>A reservation frame precedes the data frames sent in that interval.</a:t>
            </a:r>
          </a:p>
          <a:p>
            <a:r>
              <a:rPr lang="en-US" sz="2400" dirty="0">
                <a:latin typeface="Times New Roman" panose="02020603050405020304" pitchFamily="18" charset="0"/>
                <a:cs typeface="Times New Roman" panose="02020603050405020304" pitchFamily="18" charset="0"/>
              </a:rPr>
              <a:t>If there are N stations in the system, there are exactly N reservation mini slots in the reservation frame. Each mini slot belongs to a station. </a:t>
            </a:r>
          </a:p>
          <a:p>
            <a:r>
              <a:rPr lang="en-US" sz="2400" dirty="0">
                <a:latin typeface="Times New Roman" panose="02020603050405020304" pitchFamily="18" charset="0"/>
                <a:cs typeface="Times New Roman" panose="02020603050405020304" pitchFamily="18" charset="0"/>
              </a:rPr>
              <a:t>When a station needs to send a data frame, it makes a reservation in its own mini slot. </a:t>
            </a:r>
          </a:p>
          <a:p>
            <a:r>
              <a:rPr lang="en-US" sz="2400" dirty="0">
                <a:latin typeface="Times New Roman" panose="02020603050405020304" pitchFamily="18" charset="0"/>
                <a:cs typeface="Times New Roman" panose="02020603050405020304" pitchFamily="18" charset="0"/>
              </a:rPr>
              <a:t>The stations that have made reservations can send their data frames after the reservation frame.</a:t>
            </a:r>
          </a:p>
        </p:txBody>
      </p:sp>
      <p:pic>
        <p:nvPicPr>
          <p:cNvPr id="4" name="Picture 7">
            <a:extLst>
              <a:ext uri="{FF2B5EF4-FFF2-40B4-BE49-F238E27FC236}">
                <a16:creationId xmlns:a16="http://schemas.microsoft.com/office/drawing/2014/main" id="{7FAF2E54-2723-066C-71DD-95D957525C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2980" y="4166228"/>
            <a:ext cx="786130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955022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D490ED-F9CC-FED8-BD61-9D343981A413}"/>
              </a:ext>
            </a:extLst>
          </p:cNvPr>
          <p:cNvSpPr>
            <a:spLocks noGrp="1"/>
          </p:cNvSpPr>
          <p:nvPr>
            <p:ph idx="1"/>
          </p:nvPr>
        </p:nvSpPr>
        <p:spPr>
          <a:xfrm>
            <a:off x="278658" y="614680"/>
            <a:ext cx="11913342" cy="2406037"/>
          </a:xfrm>
        </p:spPr>
        <p:txBody>
          <a:bodyPr>
            <a:normAutofit/>
          </a:bodyPr>
          <a:lstStyle/>
          <a:p>
            <a:pPr>
              <a:lnSpc>
                <a:spcPct val="100000"/>
              </a:lnSpc>
              <a:spcBef>
                <a:spcPts val="600"/>
              </a:spcBef>
            </a:pPr>
            <a:r>
              <a:rPr lang="en-US" sz="2400" dirty="0">
                <a:latin typeface="Times New Roman" panose="02020603050405020304" pitchFamily="18" charset="0"/>
                <a:cs typeface="Times New Roman" panose="02020603050405020304" pitchFamily="18" charset="0"/>
              </a:rPr>
              <a:t>One device is designated as a </a:t>
            </a:r>
            <a:r>
              <a:rPr lang="en-US" sz="2400" b="1" dirty="0">
                <a:latin typeface="Times New Roman" panose="02020603050405020304" pitchFamily="18" charset="0"/>
                <a:cs typeface="Times New Roman" panose="02020603050405020304" pitchFamily="18" charset="0"/>
              </a:rPr>
              <a:t>primary station </a:t>
            </a:r>
            <a:r>
              <a:rPr lang="en-US" sz="2400" dirty="0">
                <a:latin typeface="Times New Roman" panose="02020603050405020304" pitchFamily="18" charset="0"/>
                <a:cs typeface="Times New Roman" panose="02020603050405020304" pitchFamily="18" charset="0"/>
              </a:rPr>
              <a:t>and the other devices are </a:t>
            </a:r>
            <a:r>
              <a:rPr lang="en-US" sz="2400" b="1" dirty="0">
                <a:latin typeface="Times New Roman" panose="02020603050405020304" pitchFamily="18" charset="0"/>
                <a:cs typeface="Times New Roman" panose="02020603050405020304" pitchFamily="18" charset="0"/>
              </a:rPr>
              <a:t>secondary stations</a:t>
            </a:r>
            <a:r>
              <a:rPr lang="en-US" sz="2400" dirty="0">
                <a:latin typeface="Times New Roman" panose="02020603050405020304" pitchFamily="18" charset="0"/>
                <a:cs typeface="Times New Roman" panose="02020603050405020304" pitchFamily="18" charset="0"/>
              </a:rPr>
              <a:t>. </a:t>
            </a:r>
          </a:p>
          <a:p>
            <a:pPr>
              <a:lnSpc>
                <a:spcPct val="100000"/>
              </a:lnSpc>
              <a:spcBef>
                <a:spcPts val="600"/>
              </a:spcBef>
            </a:pPr>
            <a:r>
              <a:rPr lang="en-US" sz="2400" dirty="0">
                <a:latin typeface="Times New Roman" panose="02020603050405020304" pitchFamily="18" charset="0"/>
                <a:cs typeface="Times New Roman" panose="02020603050405020304" pitchFamily="18" charset="0"/>
              </a:rPr>
              <a:t>All data exchanges must be made through the primary device even when the ultimate destination is a secondary device.</a:t>
            </a:r>
          </a:p>
          <a:p>
            <a:pPr>
              <a:lnSpc>
                <a:spcPct val="100000"/>
              </a:lnSpc>
              <a:spcBef>
                <a:spcPts val="600"/>
              </a:spcBef>
            </a:pPr>
            <a:r>
              <a:rPr lang="en-US" sz="2400" dirty="0">
                <a:latin typeface="Times New Roman" panose="02020603050405020304" pitchFamily="18" charset="0"/>
                <a:cs typeface="Times New Roman" panose="02020603050405020304" pitchFamily="18" charset="0"/>
              </a:rPr>
              <a:t>However, the drawback is if the primary station fails, the system goes down.</a:t>
            </a:r>
          </a:p>
          <a:p>
            <a:pPr>
              <a:lnSpc>
                <a:spcPct val="100000"/>
              </a:lnSpc>
              <a:spcBef>
                <a:spcPts val="600"/>
              </a:spcBef>
            </a:pPr>
            <a:r>
              <a:rPr lang="en-US" sz="2400" dirty="0">
                <a:latin typeface="Times New Roman" panose="02020603050405020304" pitchFamily="18" charset="0"/>
                <a:cs typeface="Times New Roman" panose="02020603050405020304" pitchFamily="18" charset="0"/>
              </a:rPr>
              <a:t>Before sending data, the primary creates and transmits a select (SEL) frame</a:t>
            </a:r>
          </a:p>
          <a:p>
            <a:pPr>
              <a:lnSpc>
                <a:spcPct val="100000"/>
              </a:lnSpc>
            </a:pPr>
            <a:endParaRPr lang="en-US"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C2CBA19-D9E6-2F3E-8D09-CCD84911B55C}"/>
              </a:ext>
            </a:extLst>
          </p:cNvPr>
          <p:cNvSpPr txBox="1"/>
          <p:nvPr/>
        </p:nvSpPr>
        <p:spPr>
          <a:xfrm>
            <a:off x="4226560" y="-35444"/>
            <a:ext cx="6096000" cy="707886"/>
          </a:xfrm>
          <a:prstGeom prst="rect">
            <a:avLst/>
          </a:prstGeom>
          <a:noFill/>
        </p:spPr>
        <p:txBody>
          <a:bodyPr wrap="square">
            <a:spAutoFit/>
          </a:bodyPr>
          <a:lstStyle/>
          <a:p>
            <a:pPr marL="0" indent="0">
              <a:buNone/>
            </a:pPr>
            <a:r>
              <a:rPr lang="en-US" sz="4000" dirty="0">
                <a:solidFill>
                  <a:srgbClr val="0000FF"/>
                </a:solidFill>
                <a:latin typeface="Times New Roman" panose="02020603050405020304" pitchFamily="18" charset="0"/>
                <a:cs typeface="Times New Roman" panose="02020603050405020304" pitchFamily="18" charset="0"/>
              </a:rPr>
              <a:t>Polling</a:t>
            </a:r>
          </a:p>
        </p:txBody>
      </p:sp>
      <p:pic>
        <p:nvPicPr>
          <p:cNvPr id="8" name="Picture 7">
            <a:extLst>
              <a:ext uri="{FF2B5EF4-FFF2-40B4-BE49-F238E27FC236}">
                <a16:creationId xmlns:a16="http://schemas.microsoft.com/office/drawing/2014/main" id="{CC884F5A-7015-6F90-76B7-5C1AE0053E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35564" y="2880360"/>
            <a:ext cx="7756436" cy="2814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a:extLst>
              <a:ext uri="{FF2B5EF4-FFF2-40B4-BE49-F238E27FC236}">
                <a16:creationId xmlns:a16="http://schemas.microsoft.com/office/drawing/2014/main" id="{BDCB269B-3EEA-5EE0-C941-0794D9704836}"/>
              </a:ext>
            </a:extLst>
          </p:cNvPr>
          <p:cNvSpPr txBox="1"/>
          <p:nvPr/>
        </p:nvSpPr>
        <p:spPr>
          <a:xfrm>
            <a:off x="107404" y="3098801"/>
            <a:ext cx="4328160" cy="2800767"/>
          </a:xfrm>
          <a:prstGeom prst="rect">
            <a:avLst/>
          </a:prstGeom>
          <a:noFill/>
        </p:spPr>
        <p:txBody>
          <a:bodyPr wrap="square">
            <a:spAutoFit/>
          </a:bodyPr>
          <a:lstStyle/>
          <a:p>
            <a:r>
              <a:rPr lang="en-US" sz="2200" dirty="0">
                <a:latin typeface="Times New Roman" panose="02020603050405020304" pitchFamily="18" charset="0"/>
                <a:cs typeface="Times New Roman" panose="02020603050405020304" pitchFamily="18" charset="0"/>
              </a:rPr>
              <a:t>The poll function is used by the primary device to solicit (ask for or try to obtain “data” from someone) transmissions from the secondary devices.</a:t>
            </a:r>
          </a:p>
          <a:p>
            <a:r>
              <a:rPr lang="en-US" sz="2200" dirty="0">
                <a:latin typeface="Times New Roman" panose="02020603050405020304" pitchFamily="18" charset="0"/>
                <a:cs typeface="Times New Roman" panose="02020603050405020304" pitchFamily="18" charset="0"/>
              </a:rPr>
              <a:t>Primary keep soliciting in round robin manner until it receives data from some secondary.</a:t>
            </a:r>
          </a:p>
        </p:txBody>
      </p:sp>
    </p:spTree>
    <p:extLst>
      <p:ext uri="{BB962C8B-B14F-4D97-AF65-F5344CB8AC3E}">
        <p14:creationId xmlns:p14="http://schemas.microsoft.com/office/powerpoint/2010/main" val="2133699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D490ED-F9CC-FED8-BD61-9D343981A413}"/>
              </a:ext>
            </a:extLst>
          </p:cNvPr>
          <p:cNvSpPr>
            <a:spLocks noGrp="1"/>
          </p:cNvSpPr>
          <p:nvPr>
            <p:ph idx="1"/>
          </p:nvPr>
        </p:nvSpPr>
        <p:spPr>
          <a:xfrm>
            <a:off x="260278" y="801383"/>
            <a:ext cx="11411164" cy="2712379"/>
          </a:xfrm>
        </p:spPr>
        <p:txBody>
          <a:bodyPr>
            <a:normAutofit/>
          </a:bodyPr>
          <a:lstStyle/>
          <a:p>
            <a:r>
              <a:rPr lang="en-US" sz="2400" dirty="0">
                <a:latin typeface="Times New Roman" panose="02020603050405020304" pitchFamily="18" charset="0"/>
                <a:cs typeface="Times New Roman" panose="02020603050405020304" pitchFamily="18" charset="0"/>
              </a:rPr>
              <a:t>In the </a:t>
            </a:r>
            <a:r>
              <a:rPr lang="en-US" sz="2400" b="1" dirty="0">
                <a:latin typeface="Times New Roman" panose="02020603050405020304" pitchFamily="18" charset="0"/>
                <a:cs typeface="Times New Roman" panose="02020603050405020304" pitchFamily="18" charset="0"/>
              </a:rPr>
              <a:t>token-passing </a:t>
            </a:r>
            <a:r>
              <a:rPr lang="en-US" sz="2400" dirty="0">
                <a:latin typeface="Times New Roman" panose="02020603050405020304" pitchFamily="18" charset="0"/>
                <a:cs typeface="Times New Roman" panose="02020603050405020304" pitchFamily="18" charset="0"/>
              </a:rPr>
              <a:t>method, the stations in a network are organized in a logical ring.</a:t>
            </a:r>
            <a:endParaRPr lang="en-US" sz="2400" dirty="0"/>
          </a:p>
          <a:p>
            <a:r>
              <a:rPr lang="en-US" sz="2400" dirty="0">
                <a:latin typeface="Times New Roman" panose="02020603050405020304" pitchFamily="18" charset="0"/>
                <a:cs typeface="Times New Roman" panose="02020603050405020304" pitchFamily="18" charset="0"/>
              </a:rPr>
              <a:t>For each </a:t>
            </a:r>
            <a:r>
              <a:rPr lang="en-US" sz="2400" i="1" dirty="0">
                <a:latin typeface="Times New Roman" panose="02020603050405020304" pitchFamily="18" charset="0"/>
                <a:cs typeface="Times New Roman" panose="02020603050405020304" pitchFamily="18" charset="0"/>
              </a:rPr>
              <a:t>current</a:t>
            </a:r>
            <a:r>
              <a:rPr lang="en-US" sz="2400" dirty="0">
                <a:latin typeface="Times New Roman" panose="02020603050405020304" pitchFamily="18" charset="0"/>
                <a:cs typeface="Times New Roman" panose="02020603050405020304" pitchFamily="18" charset="0"/>
              </a:rPr>
              <a:t> station, there is a </a:t>
            </a:r>
            <a:r>
              <a:rPr lang="en-US" sz="2400" i="1" dirty="0">
                <a:latin typeface="Times New Roman" panose="02020603050405020304" pitchFamily="18" charset="0"/>
                <a:cs typeface="Times New Roman" panose="02020603050405020304" pitchFamily="18" charset="0"/>
              </a:rPr>
              <a:t>predecessor</a:t>
            </a:r>
            <a:r>
              <a:rPr lang="en-US" sz="2400" dirty="0">
                <a:latin typeface="Times New Roman" panose="02020603050405020304" pitchFamily="18" charset="0"/>
                <a:cs typeface="Times New Roman" panose="02020603050405020304" pitchFamily="18" charset="0"/>
              </a:rPr>
              <a:t> and a </a:t>
            </a:r>
            <a:r>
              <a:rPr lang="en-US" sz="2400" i="1" dirty="0">
                <a:latin typeface="Times New Roman" panose="02020603050405020304" pitchFamily="18" charset="0"/>
                <a:cs typeface="Times New Roman" panose="02020603050405020304" pitchFamily="18" charset="0"/>
              </a:rPr>
              <a:t>successor</a:t>
            </a:r>
            <a:r>
              <a:rPr lang="en-US" sz="2400" dirty="0">
                <a:latin typeface="Times New Roman" panose="02020603050405020304" pitchFamily="18" charset="0"/>
                <a:cs typeface="Times New Roman" panose="02020603050405020304" pitchFamily="18" charset="0"/>
              </a:rPr>
              <a:t>. The predecessor is the station which is logically before the successor in the ring.</a:t>
            </a:r>
          </a:p>
          <a:p>
            <a:r>
              <a:rPr lang="en-US" sz="2400" dirty="0">
                <a:solidFill>
                  <a:srgbClr val="242021"/>
                </a:solidFill>
                <a:latin typeface="Times New Roman" panose="02020603050405020304" pitchFamily="18" charset="0"/>
                <a:cs typeface="Times New Roman" panose="02020603050405020304" pitchFamily="18" charset="0"/>
              </a:rPr>
              <a:t>In this method, a special packet called a </a:t>
            </a:r>
            <a:r>
              <a:rPr lang="en-US" sz="2400" b="1" i="1" dirty="0">
                <a:solidFill>
                  <a:srgbClr val="242021"/>
                </a:solidFill>
                <a:latin typeface="Times New Roman" panose="02020603050405020304" pitchFamily="18" charset="0"/>
                <a:cs typeface="Times New Roman" panose="02020603050405020304" pitchFamily="18" charset="0"/>
              </a:rPr>
              <a:t>token </a:t>
            </a:r>
            <a:r>
              <a:rPr lang="en-US" sz="2400" dirty="0">
                <a:solidFill>
                  <a:srgbClr val="242021"/>
                </a:solidFill>
                <a:latin typeface="Times New Roman" panose="02020603050405020304" pitchFamily="18" charset="0"/>
                <a:cs typeface="Times New Roman" panose="02020603050405020304" pitchFamily="18" charset="0"/>
              </a:rPr>
              <a:t>circulates through the ring. </a:t>
            </a:r>
          </a:p>
        </p:txBody>
      </p:sp>
      <p:sp>
        <p:nvSpPr>
          <p:cNvPr id="8" name="TextBox 7">
            <a:extLst>
              <a:ext uri="{FF2B5EF4-FFF2-40B4-BE49-F238E27FC236}">
                <a16:creationId xmlns:a16="http://schemas.microsoft.com/office/drawing/2014/main" id="{39DE37FD-EFED-E4A2-62E6-239D372A9B55}"/>
              </a:ext>
            </a:extLst>
          </p:cNvPr>
          <p:cNvSpPr txBox="1"/>
          <p:nvPr/>
        </p:nvSpPr>
        <p:spPr>
          <a:xfrm>
            <a:off x="3728720" y="0"/>
            <a:ext cx="6096000" cy="646331"/>
          </a:xfrm>
          <a:prstGeom prst="rect">
            <a:avLst/>
          </a:prstGeom>
          <a:noFill/>
        </p:spPr>
        <p:txBody>
          <a:bodyPr wrap="square">
            <a:spAutoFit/>
          </a:bodyPr>
          <a:lstStyle/>
          <a:p>
            <a:pPr marL="0" indent="0">
              <a:buNone/>
            </a:pPr>
            <a:r>
              <a:rPr lang="en-US" sz="3600" dirty="0">
                <a:solidFill>
                  <a:srgbClr val="0000FF"/>
                </a:solidFill>
                <a:latin typeface="Times New Roman" panose="02020603050405020304" pitchFamily="18" charset="0"/>
                <a:cs typeface="Times New Roman" panose="02020603050405020304" pitchFamily="18" charset="0"/>
              </a:rPr>
              <a:t>Token Passing</a:t>
            </a:r>
          </a:p>
        </p:txBody>
      </p:sp>
      <p:pic>
        <p:nvPicPr>
          <p:cNvPr id="9" name="Picture 7">
            <a:extLst>
              <a:ext uri="{FF2B5EF4-FFF2-40B4-BE49-F238E27FC236}">
                <a16:creationId xmlns:a16="http://schemas.microsoft.com/office/drawing/2014/main" id="{E623E323-46E1-27C4-53C9-0DD3F09701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8480" y="2772410"/>
            <a:ext cx="5634355" cy="3994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a:extLst>
              <a:ext uri="{FF2B5EF4-FFF2-40B4-BE49-F238E27FC236}">
                <a16:creationId xmlns:a16="http://schemas.microsoft.com/office/drawing/2014/main" id="{ED5F68EC-D420-67B5-6812-05F10BC19A3E}"/>
              </a:ext>
            </a:extLst>
          </p:cNvPr>
          <p:cNvSpPr txBox="1"/>
          <p:nvPr/>
        </p:nvSpPr>
        <p:spPr>
          <a:xfrm>
            <a:off x="260278" y="2772410"/>
            <a:ext cx="4577715" cy="1200329"/>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When a station has some data , it waits until it receives the token from its predecessor.</a:t>
            </a:r>
          </a:p>
        </p:txBody>
      </p:sp>
    </p:spTree>
    <p:extLst>
      <p:ext uri="{BB962C8B-B14F-4D97-AF65-F5344CB8AC3E}">
        <p14:creationId xmlns:p14="http://schemas.microsoft.com/office/powerpoint/2010/main" val="225780193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2371" name="Text Box 3">
            <a:extLst>
              <a:ext uri="{FF2B5EF4-FFF2-40B4-BE49-F238E27FC236}">
                <a16:creationId xmlns:a16="http://schemas.microsoft.com/office/drawing/2014/main" id="{6DCCEB01-1181-65ED-C4BF-668C2AD95D9E}"/>
              </a:ext>
            </a:extLst>
          </p:cNvPr>
          <p:cNvSpPr txBox="1">
            <a:spLocks noChangeArrowheads="1"/>
          </p:cNvSpPr>
          <p:nvPr/>
        </p:nvSpPr>
        <p:spPr bwMode="auto">
          <a:xfrm>
            <a:off x="4211320" y="284481"/>
            <a:ext cx="376199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dirty="0">
                <a:solidFill>
                  <a:srgbClr val="0000FF"/>
                </a:solidFill>
                <a:effectLst>
                  <a:outerShdw blurRad="38100" dist="38100" dir="2700000" algn="tl">
                    <a:srgbClr val="C0C0C0"/>
                  </a:outerShdw>
                </a:effectLst>
                <a:latin typeface="Times" panose="02020603050405020304" pitchFamily="18" charset="0"/>
              </a:rPr>
              <a:t>CHANNELIZATION</a:t>
            </a:r>
          </a:p>
        </p:txBody>
      </p:sp>
      <p:sp>
        <p:nvSpPr>
          <p:cNvPr id="1082372" name="Text Box 4">
            <a:extLst>
              <a:ext uri="{FF2B5EF4-FFF2-40B4-BE49-F238E27FC236}">
                <a16:creationId xmlns:a16="http://schemas.microsoft.com/office/drawing/2014/main" id="{C2946FF8-0C9D-F7F7-26DB-E69242AE6D95}"/>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p>
        </p:txBody>
      </p:sp>
      <p:sp>
        <p:nvSpPr>
          <p:cNvPr id="1082373" name="Rectangle 5">
            <a:extLst>
              <a:ext uri="{FF2B5EF4-FFF2-40B4-BE49-F238E27FC236}">
                <a16:creationId xmlns:a16="http://schemas.microsoft.com/office/drawing/2014/main" id="{C303E5FC-0202-D0E7-8F4E-7747B20A525D}"/>
              </a:ext>
            </a:extLst>
          </p:cNvPr>
          <p:cNvSpPr>
            <a:spLocks noChangeArrowheads="1"/>
          </p:cNvSpPr>
          <p:nvPr/>
        </p:nvSpPr>
        <p:spPr bwMode="auto">
          <a:xfrm>
            <a:off x="653032" y="1098095"/>
            <a:ext cx="10878568"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1" hangingPunct="1"/>
            <a:r>
              <a:rPr lang="en-US" altLang="en-US" sz="2800" dirty="0">
                <a:solidFill>
                  <a:srgbClr val="FF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Channelization</a:t>
            </a:r>
            <a:r>
              <a:rPr lang="en-US" altLang="en-US" sz="28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is a multiple-access method in which the available bandwidth of a link is shared in time, frequency, or through code, between different stations. In this section, we discuss three channelization protocols.</a:t>
            </a:r>
          </a:p>
        </p:txBody>
      </p:sp>
      <p:sp>
        <p:nvSpPr>
          <p:cNvPr id="1082374" name="Rectangle 6">
            <a:extLst>
              <a:ext uri="{FF2B5EF4-FFF2-40B4-BE49-F238E27FC236}">
                <a16:creationId xmlns:a16="http://schemas.microsoft.com/office/drawing/2014/main" id="{0F16C365-6D2D-0E8E-E31A-EDC98F1C9855}"/>
              </a:ext>
            </a:extLst>
          </p:cNvPr>
          <p:cNvSpPr>
            <a:spLocks noChangeArrowheads="1"/>
          </p:cNvSpPr>
          <p:nvPr/>
        </p:nvSpPr>
        <p:spPr bwMode="auto">
          <a:xfrm>
            <a:off x="457200" y="3575051"/>
            <a:ext cx="67056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anose="05000000000000000000" pitchFamily="2" charset="2"/>
              <a:buNone/>
            </a:pPr>
            <a:r>
              <a:rPr lang="en-US" altLang="en-US" sz="2400" dirty="0">
                <a:solidFill>
                  <a:srgbClr val="7030A0"/>
                </a:solidFill>
              </a:rPr>
              <a:t>Frequency-Division Multiple Access (FDMA)</a:t>
            </a:r>
            <a:br>
              <a:rPr lang="fr-FR" altLang="en-US" sz="2400" dirty="0">
                <a:solidFill>
                  <a:srgbClr val="7030A0"/>
                </a:solidFill>
              </a:rPr>
            </a:br>
            <a:r>
              <a:rPr lang="fr-FR" altLang="en-US" sz="2400" dirty="0">
                <a:solidFill>
                  <a:srgbClr val="7030A0"/>
                </a:solidFill>
              </a:rPr>
              <a:t>Time-Division Multiple Access (TDMA)</a:t>
            </a:r>
          </a:p>
          <a:p>
            <a:pPr>
              <a:buClr>
                <a:schemeClr val="tx1"/>
              </a:buClr>
              <a:buSzPct val="117000"/>
              <a:buFont typeface="Wingdings" panose="05000000000000000000" pitchFamily="2" charset="2"/>
              <a:buNone/>
            </a:pPr>
            <a:r>
              <a:rPr lang="fr-FR" altLang="en-US" sz="2400" dirty="0">
                <a:solidFill>
                  <a:srgbClr val="7030A0"/>
                </a:solidFill>
              </a:rPr>
              <a:t>Code-Division Multiple Access (CDMA)</a:t>
            </a:r>
            <a:endParaRPr lang="en-US" altLang="en-US" sz="2400" dirty="0">
              <a:solidFill>
                <a:srgbClr val="7030A0"/>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1827A-CABB-C6C9-80C0-E7DD6B75B919}"/>
              </a:ext>
            </a:extLst>
          </p:cNvPr>
          <p:cNvSpPr>
            <a:spLocks noGrp="1"/>
          </p:cNvSpPr>
          <p:nvPr>
            <p:ph type="title"/>
          </p:nvPr>
        </p:nvSpPr>
        <p:spPr>
          <a:xfrm>
            <a:off x="3809999" y="-1"/>
            <a:ext cx="2570481" cy="801384"/>
          </a:xfrm>
        </p:spPr>
        <p:txBody>
          <a:bodyPr>
            <a:normAutofit/>
          </a:bodyPr>
          <a:lstStyle/>
          <a:p>
            <a:r>
              <a:rPr lang="en-US" dirty="0">
                <a:solidFill>
                  <a:srgbClr val="0000FF"/>
                </a:solidFill>
                <a:latin typeface="Times New Roman" panose="02020603050405020304" pitchFamily="18" charset="0"/>
                <a:cs typeface="Times New Roman" panose="02020603050405020304" pitchFamily="18" charset="0"/>
              </a:rPr>
              <a:t>FDMA</a:t>
            </a:r>
            <a:endParaRPr lang="en-IN" dirty="0">
              <a:solidFill>
                <a:srgbClr val="0000FF"/>
              </a:solidFill>
            </a:endParaRPr>
          </a:p>
        </p:txBody>
      </p:sp>
      <p:sp>
        <p:nvSpPr>
          <p:cNvPr id="3" name="Content Placeholder 2">
            <a:extLst>
              <a:ext uri="{FF2B5EF4-FFF2-40B4-BE49-F238E27FC236}">
                <a16:creationId xmlns:a16="http://schemas.microsoft.com/office/drawing/2014/main" id="{83D490ED-F9CC-FED8-BD61-9D343981A413}"/>
              </a:ext>
            </a:extLst>
          </p:cNvPr>
          <p:cNvSpPr>
            <a:spLocks noGrp="1"/>
          </p:cNvSpPr>
          <p:nvPr>
            <p:ph idx="1"/>
          </p:nvPr>
        </p:nvSpPr>
        <p:spPr>
          <a:xfrm>
            <a:off x="260278" y="801383"/>
            <a:ext cx="11411164" cy="1808253"/>
          </a:xfrm>
        </p:spPr>
        <p:txBody>
          <a:bodyPr>
            <a:normAutofit/>
          </a:bodyPr>
          <a:lstStyle/>
          <a:p>
            <a:pPr marL="0" indent="0">
              <a:buNone/>
            </a:pPr>
            <a:r>
              <a:rPr lang="en-US" altLang="en-US" dirty="0">
                <a:latin typeface="Times New Roman" panose="02020603050405020304" pitchFamily="18" charset="0"/>
                <a:cs typeface="Times New Roman" panose="02020603050405020304" pitchFamily="18" charset="0"/>
              </a:rPr>
              <a:t>In FDMA, the available bandwidth of the common channel is divided into bands that are separated by guard bands.</a:t>
            </a:r>
          </a:p>
        </p:txBody>
      </p:sp>
      <p:pic>
        <p:nvPicPr>
          <p:cNvPr id="4" name="Picture 9">
            <a:extLst>
              <a:ext uri="{FF2B5EF4-FFF2-40B4-BE49-F238E27FC236}">
                <a16:creationId xmlns:a16="http://schemas.microsoft.com/office/drawing/2014/main" id="{35459DCD-3D4D-7364-385C-51AC8E6AC0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8040" y="1971925"/>
            <a:ext cx="6858000" cy="4552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5368107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1827A-CABB-C6C9-80C0-E7DD6B75B919}"/>
              </a:ext>
            </a:extLst>
          </p:cNvPr>
          <p:cNvSpPr>
            <a:spLocks noGrp="1"/>
          </p:cNvSpPr>
          <p:nvPr>
            <p:ph type="title"/>
          </p:nvPr>
        </p:nvSpPr>
        <p:spPr>
          <a:xfrm>
            <a:off x="4653279" y="162560"/>
            <a:ext cx="2346611" cy="801384"/>
          </a:xfrm>
        </p:spPr>
        <p:txBody>
          <a:bodyPr>
            <a:normAutofit fontScale="90000"/>
          </a:bodyPr>
          <a:lstStyle/>
          <a:p>
            <a:r>
              <a:rPr lang="en-US" dirty="0">
                <a:solidFill>
                  <a:srgbClr val="0000FF"/>
                </a:solidFill>
                <a:latin typeface="Times New Roman" panose="02020603050405020304" pitchFamily="18" charset="0"/>
                <a:cs typeface="Times New Roman" panose="02020603050405020304" pitchFamily="18" charset="0"/>
              </a:rPr>
              <a:t>TDMA</a:t>
            </a:r>
            <a:br>
              <a:rPr lang="en-US" dirty="0">
                <a:solidFill>
                  <a:schemeClr val="accent1"/>
                </a:solidFill>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83D490ED-F9CC-FED8-BD61-9D343981A413}"/>
              </a:ext>
            </a:extLst>
          </p:cNvPr>
          <p:cNvSpPr>
            <a:spLocks noGrp="1"/>
          </p:cNvSpPr>
          <p:nvPr>
            <p:ph idx="1"/>
          </p:nvPr>
        </p:nvSpPr>
        <p:spPr>
          <a:xfrm>
            <a:off x="260278" y="801383"/>
            <a:ext cx="11411164" cy="2054833"/>
          </a:xfrm>
        </p:spPr>
        <p:txBody>
          <a:bodyPr>
            <a:normAutofit/>
          </a:bodyPr>
          <a:lstStyle/>
          <a:p>
            <a:pPr marL="0" indent="0">
              <a:buNone/>
            </a:pPr>
            <a:r>
              <a:rPr lang="en-US" altLang="en-US" dirty="0">
                <a:latin typeface="Arial" panose="020B0604020202020204" pitchFamily="34" charset="0"/>
              </a:rPr>
              <a:t>In TDMA, the bandwidth is just one channel that is timeshared between different stations.</a:t>
            </a:r>
          </a:p>
        </p:txBody>
      </p:sp>
      <p:pic>
        <p:nvPicPr>
          <p:cNvPr id="4" name="Picture 7">
            <a:extLst>
              <a:ext uri="{FF2B5EF4-FFF2-40B4-BE49-F238E27FC236}">
                <a16:creationId xmlns:a16="http://schemas.microsoft.com/office/drawing/2014/main" id="{E23B5110-3F5E-C9F3-5E77-C04DB3BBA9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110" y="1828799"/>
            <a:ext cx="6855220" cy="4540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0568652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EEC8A54F-0A19-6DCD-E750-768164FB4056}"/>
              </a:ext>
            </a:extLst>
          </p:cNvPr>
          <p:cNvSpPr/>
          <p:nvPr/>
        </p:nvSpPr>
        <p:spPr>
          <a:xfrm>
            <a:off x="5221309" y="2671281"/>
            <a:ext cx="5042575" cy="87330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DCC356FF-9B65-14E9-9DE6-6087E7EF998B}"/>
              </a:ext>
            </a:extLst>
          </p:cNvPr>
          <p:cNvSpPr txBox="1"/>
          <p:nvPr/>
        </p:nvSpPr>
        <p:spPr>
          <a:xfrm>
            <a:off x="-440282" y="966039"/>
            <a:ext cx="8668376" cy="369332"/>
          </a:xfrm>
          <a:prstGeom prst="rect">
            <a:avLst/>
          </a:prstGeom>
          <a:noFill/>
        </p:spPr>
        <p:txBody>
          <a:bodyPr wrap="square">
            <a:spAutoFit/>
          </a:bodyPr>
          <a:lstStyle/>
          <a:p>
            <a:pPr algn="ctr"/>
            <a:r>
              <a:rPr lang="en-US" altLang="en-US" sz="1800" i="0" baseline="0" dirty="0">
                <a:latin typeface="Arial" panose="020B0604020202020204" pitchFamily="34" charset="0"/>
              </a:rPr>
              <a:t>In CDMA, one channel carries all transmissions simultaneously.</a:t>
            </a:r>
          </a:p>
        </p:txBody>
      </p:sp>
      <p:pic>
        <p:nvPicPr>
          <p:cNvPr id="9" name="Picture 7">
            <a:extLst>
              <a:ext uri="{FF2B5EF4-FFF2-40B4-BE49-F238E27FC236}">
                <a16:creationId xmlns:a16="http://schemas.microsoft.com/office/drawing/2014/main" id="{0A4D0416-A637-5B3C-474F-EEDBCA15D5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1400" y="1591424"/>
            <a:ext cx="7258050" cy="430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Content Placeholder 2">
            <a:extLst>
              <a:ext uri="{FF2B5EF4-FFF2-40B4-BE49-F238E27FC236}">
                <a16:creationId xmlns:a16="http://schemas.microsoft.com/office/drawing/2014/main" id="{8D646E94-039C-C339-1765-0205604E1220}"/>
              </a:ext>
            </a:extLst>
          </p:cNvPr>
          <p:cNvSpPr>
            <a:spLocks noGrp="1"/>
          </p:cNvSpPr>
          <p:nvPr>
            <p:ph idx="1"/>
          </p:nvPr>
        </p:nvSpPr>
        <p:spPr>
          <a:xfrm>
            <a:off x="2500002" y="197509"/>
            <a:ext cx="7070718" cy="843198"/>
          </a:xfrm>
        </p:spPr>
        <p:txBody>
          <a:bodyPr>
            <a:normAutofit/>
          </a:bodyPr>
          <a:lstStyle/>
          <a:p>
            <a:pPr marL="0" indent="0">
              <a:buNone/>
            </a:pPr>
            <a:r>
              <a:rPr lang="en-US" sz="3200" dirty="0">
                <a:solidFill>
                  <a:srgbClr val="0000FF"/>
                </a:solidFill>
                <a:latin typeface="Times New Roman" panose="02020603050405020304" pitchFamily="18" charset="0"/>
                <a:cs typeface="Times New Roman" panose="02020603050405020304" pitchFamily="18" charset="0"/>
              </a:rPr>
              <a:t>Code-Division Multiple Access (CDMA)</a:t>
            </a:r>
          </a:p>
        </p:txBody>
      </p:sp>
    </p:spTree>
    <p:extLst>
      <p:ext uri="{BB962C8B-B14F-4D97-AF65-F5344CB8AC3E}">
        <p14:creationId xmlns:p14="http://schemas.microsoft.com/office/powerpoint/2010/main" val="366605658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7">
            <a:extLst>
              <a:ext uri="{FF2B5EF4-FFF2-40B4-BE49-F238E27FC236}">
                <a16:creationId xmlns:a16="http://schemas.microsoft.com/office/drawing/2014/main" id="{33E7EFBA-95A0-64BD-BE88-024A191C3C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9628" y="990600"/>
            <a:ext cx="877570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7">
            <a:extLst>
              <a:ext uri="{FF2B5EF4-FFF2-40B4-BE49-F238E27FC236}">
                <a16:creationId xmlns:a16="http://schemas.microsoft.com/office/drawing/2014/main" id="{4A1389E2-E9E9-13FF-A2D3-81A26ABC4A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9628" y="2244090"/>
            <a:ext cx="8126412" cy="560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7">
            <a:extLst>
              <a:ext uri="{FF2B5EF4-FFF2-40B4-BE49-F238E27FC236}">
                <a16:creationId xmlns:a16="http://schemas.microsoft.com/office/drawing/2014/main" id="{DB9528AC-1F00-7D6D-D3AF-69E65C2479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0480" y="3119026"/>
            <a:ext cx="6609080" cy="3403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Content Placeholder 2">
            <a:extLst>
              <a:ext uri="{FF2B5EF4-FFF2-40B4-BE49-F238E27FC236}">
                <a16:creationId xmlns:a16="http://schemas.microsoft.com/office/drawing/2014/main" id="{5F739A09-E9E4-E8C5-5996-A141650DF9D4}"/>
              </a:ext>
            </a:extLst>
          </p:cNvPr>
          <p:cNvSpPr>
            <a:spLocks noGrp="1"/>
          </p:cNvSpPr>
          <p:nvPr>
            <p:ph idx="1"/>
          </p:nvPr>
        </p:nvSpPr>
        <p:spPr>
          <a:xfrm>
            <a:off x="2500002" y="197509"/>
            <a:ext cx="7070718" cy="843198"/>
          </a:xfrm>
        </p:spPr>
        <p:txBody>
          <a:bodyPr>
            <a:normAutofit/>
          </a:bodyPr>
          <a:lstStyle/>
          <a:p>
            <a:pPr marL="0" indent="0">
              <a:buNone/>
            </a:pPr>
            <a:r>
              <a:rPr lang="en-US" sz="3200" dirty="0">
                <a:solidFill>
                  <a:srgbClr val="0000FF"/>
                </a:solidFill>
                <a:latin typeface="Times New Roman" panose="02020603050405020304" pitchFamily="18" charset="0"/>
                <a:cs typeface="Times New Roman" panose="02020603050405020304" pitchFamily="18" charset="0"/>
              </a:rPr>
              <a:t>Code-Division Multiple Access (CDMA)</a:t>
            </a:r>
          </a:p>
        </p:txBody>
      </p:sp>
    </p:spTree>
    <p:extLst>
      <p:ext uri="{BB962C8B-B14F-4D97-AF65-F5344CB8AC3E}">
        <p14:creationId xmlns:p14="http://schemas.microsoft.com/office/powerpoint/2010/main" val="48714857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37668" name="Text Box 4">
            <a:extLst>
              <a:ext uri="{FF2B5EF4-FFF2-40B4-BE49-F238E27FC236}">
                <a16:creationId xmlns:a16="http://schemas.microsoft.com/office/drawing/2014/main" id="{B4DE86BA-A6D8-4E88-90A5-64A6E53BB040}"/>
              </a:ext>
            </a:extLst>
          </p:cNvPr>
          <p:cNvSpPr txBox="1">
            <a:spLocks noChangeArrowheads="1"/>
          </p:cNvSpPr>
          <p:nvPr/>
        </p:nvSpPr>
        <p:spPr bwMode="auto">
          <a:xfrm>
            <a:off x="1019474" y="165557"/>
            <a:ext cx="871668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dirty="0">
                <a:solidFill>
                  <a:srgbClr val="0000FF"/>
                </a:solidFill>
              </a:rPr>
              <a:t>General rule and examples of creating Walsh tables</a:t>
            </a:r>
          </a:p>
        </p:txBody>
      </p:sp>
      <p:pic>
        <p:nvPicPr>
          <p:cNvPr id="1137671" name="Picture 7">
            <a:extLst>
              <a:ext uri="{FF2B5EF4-FFF2-40B4-BE49-F238E27FC236}">
                <a16:creationId xmlns:a16="http://schemas.microsoft.com/office/drawing/2014/main" id="{610B558C-9CD2-9449-58F6-3EB9348BF9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3015" y="871379"/>
            <a:ext cx="5988050"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27DED2AE-0457-C3F0-C107-2C0892667462}"/>
              </a:ext>
            </a:extLst>
          </p:cNvPr>
          <p:cNvSpPr txBox="1"/>
          <p:nvPr/>
        </p:nvSpPr>
        <p:spPr>
          <a:xfrm>
            <a:off x="396240" y="6107668"/>
            <a:ext cx="10261600" cy="369332"/>
          </a:xfrm>
          <a:prstGeom prst="rect">
            <a:avLst/>
          </a:prstGeom>
          <a:noFill/>
        </p:spPr>
        <p:txBody>
          <a:bodyPr wrap="square">
            <a:spAutoFit/>
          </a:bodyPr>
          <a:lstStyle/>
          <a:p>
            <a:pPr algn="ctr"/>
            <a:r>
              <a:rPr lang="en-US" altLang="en-US" sz="1800" i="0" baseline="0" dirty="0">
                <a:solidFill>
                  <a:srgbClr val="FF0000"/>
                </a:solidFill>
                <a:latin typeface="Arial" panose="020B0604020202020204" pitchFamily="34" charset="0"/>
              </a:rPr>
              <a:t>The number of sequences in a Walsh table needs to be N = 2</a:t>
            </a:r>
            <a:r>
              <a:rPr lang="en-US" altLang="en-US" sz="1800" i="0" baseline="30000" dirty="0">
                <a:solidFill>
                  <a:srgbClr val="FF0000"/>
                </a:solidFill>
                <a:latin typeface="Arial" panose="020B0604020202020204" pitchFamily="34" charset="0"/>
              </a:rPr>
              <a:t>m</a:t>
            </a:r>
            <a:r>
              <a:rPr lang="en-US" altLang="en-US" sz="1800" i="0" baseline="0" dirty="0">
                <a:solidFill>
                  <a:srgbClr val="FF0000"/>
                </a:solidFill>
                <a:latin typeface="Arial" panose="020B0604020202020204" pitchFamily="34" charset="0"/>
              </a:rPr>
              <a:t>.</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D490ED-F9CC-FED8-BD61-9D343981A413}"/>
              </a:ext>
            </a:extLst>
          </p:cNvPr>
          <p:cNvSpPr>
            <a:spLocks noGrp="1"/>
          </p:cNvSpPr>
          <p:nvPr>
            <p:ph idx="1"/>
          </p:nvPr>
        </p:nvSpPr>
        <p:spPr>
          <a:xfrm>
            <a:off x="2500002" y="197509"/>
            <a:ext cx="7070718" cy="843198"/>
          </a:xfrm>
        </p:spPr>
        <p:txBody>
          <a:bodyPr>
            <a:normAutofit/>
          </a:bodyPr>
          <a:lstStyle/>
          <a:p>
            <a:pPr marL="0" indent="0">
              <a:buNone/>
            </a:pPr>
            <a:r>
              <a:rPr lang="en-US" sz="3200" dirty="0">
                <a:solidFill>
                  <a:srgbClr val="0000FF"/>
                </a:solidFill>
                <a:latin typeface="Times New Roman" panose="02020603050405020304" pitchFamily="18" charset="0"/>
                <a:cs typeface="Times New Roman" panose="02020603050405020304" pitchFamily="18" charset="0"/>
              </a:rPr>
              <a:t>Code-Division Multiple Access (CDMA)</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B005584-1960-1EA0-8F20-FF901DBB68EF}"/>
                  </a:ext>
                </a:extLst>
              </p:cNvPr>
              <p:cNvSpPr txBox="1"/>
              <p:nvPr/>
            </p:nvSpPr>
            <p:spPr>
              <a:xfrm>
                <a:off x="6685280" y="1256610"/>
                <a:ext cx="5972626" cy="4344779"/>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To recover </a:t>
                </a:r>
                <a14:m>
                  <m:oMath xmlns:m="http://schemas.openxmlformats.org/officeDocument/2006/math">
                    <m:sSub>
                      <m:sSubPr>
                        <m:ctrlPr>
                          <a:rPr lang="en-IN"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2</m:t>
                        </m:r>
                      </m:sub>
                    </m:sSub>
                    <m:r>
                      <a:rPr lang="en-US" b="0" i="1" smtClean="0">
                        <a:latin typeface="Cambria Math" panose="02040503050406030204" pitchFamily="18" charset="0"/>
                      </a:rPr>
                      <m:t> </m:t>
                    </m:r>
                  </m:oMath>
                </a14:m>
                <a:r>
                  <a:rPr lang="en-IN" dirty="0">
                    <a:latin typeface="Times New Roman" panose="02020603050405020304" pitchFamily="18" charset="0"/>
                    <a:cs typeface="Times New Roman" panose="02020603050405020304" pitchFamily="18" charset="0"/>
                  </a:rPr>
                  <a:t>at station 3</a:t>
                </a:r>
              </a:p>
              <a:p>
                <a:endParaRPr lang="en-IN"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2</m:t>
                          </m:r>
                        </m:sub>
                      </m:sSub>
                      <m:r>
                        <m:rPr>
                          <m:aln/>
                        </m:rP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𝑁</m:t>
                          </m:r>
                        </m:den>
                      </m:f>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𝐷𝑎𝑡𝑎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𝐶</m:t>
                              </m:r>
                            </m:e>
                            <m:sub>
                              <m:r>
                                <a:rPr lang="en-US" b="0" i="1" smtClean="0">
                                  <a:latin typeface="Cambria Math" panose="02040503050406030204" pitchFamily="18" charset="0"/>
                                </a:rPr>
                                <m:t>2</m:t>
                              </m:r>
                            </m:sub>
                          </m:sSub>
                        </m:e>
                      </m:d>
                    </m:oMath>
                    <m:oMath xmlns:m="http://schemas.openxmlformats.org/officeDocument/2006/math">
                      <m:r>
                        <m:rPr>
                          <m:aln/>
                        </m:rP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𝑁</m:t>
                          </m:r>
                        </m:den>
                      </m:f>
                      <m:d>
                        <m:dPr>
                          <m:ctrlPr>
                            <a:rPr lang="en-US" i="1">
                              <a:latin typeface="Cambria Math" panose="02040503050406030204" pitchFamily="18" charset="0"/>
                            </a:rPr>
                          </m:ctrlPr>
                        </m:dPr>
                        <m:e>
                          <m:sSup>
                            <m:sSupPr>
                              <m:ctrlPr>
                                <a:rPr lang="en-US" i="1" smtClean="0">
                                  <a:latin typeface="Cambria Math" panose="02040503050406030204" pitchFamily="18" charset="0"/>
                                </a:rPr>
                              </m:ctrlPr>
                            </m:sSupPr>
                            <m:e>
                              <m:r>
                                <a:rPr lang="en-US" i="1">
                                  <a:latin typeface="Cambria Math" panose="02040503050406030204" pitchFamily="18" charset="0"/>
                                </a:rPr>
                                <m:t>𝐷𝑎𝑡𝑎</m:t>
                              </m:r>
                            </m:e>
                            <m:sup>
                              <m:r>
                                <a:rPr lang="en-US" b="0" i="1" smtClean="0">
                                  <a:latin typeface="Cambria Math" panose="02040503050406030204" pitchFamily="18" charset="0"/>
                                </a:rPr>
                                <m:t>𝑇</m:t>
                              </m:r>
                            </m:sup>
                          </m:sSup>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2</m:t>
                              </m:r>
                            </m:sub>
                          </m:sSub>
                        </m:e>
                      </m:d>
                    </m:oMath>
                    <m:oMath xmlns:m="http://schemas.openxmlformats.org/officeDocument/2006/math">
                      <m:r>
                        <m:rPr>
                          <m:aln/>
                        </m:rP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den>
                      </m:f>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1</m:t>
                                    </m:r>
                                  </m:e>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1</m:t>
                                          </m:r>
                                        </m:e>
                                        <m:e>
                                          <m:r>
                                            <a:rPr lang="en-US" b="0" i="1" smtClean="0">
                                              <a:latin typeface="Cambria Math" panose="02040503050406030204" pitchFamily="18" charset="0"/>
                                            </a:rPr>
                                            <m:t>−3</m:t>
                                          </m:r>
                                        </m:e>
                                        <m:e>
                                          <m:r>
                                            <a:rPr lang="en-US" b="0" i="1" smtClean="0">
                                              <a:latin typeface="Cambria Math" panose="02040503050406030204" pitchFamily="18" charset="0"/>
                                            </a:rPr>
                                            <m:t>1</m:t>
                                          </m:r>
                                        </m:e>
                                      </m:mr>
                                    </m:m>
                                  </m:e>
                                </m:mr>
                              </m:m>
                            </m:e>
                          </m:d>
                          <m:d>
                            <m:dPr>
                              <m:begChr m:val="["/>
                              <m:endChr m:val="]"/>
                              <m:ctrlPr>
                                <a:rPr lang="en-US" b="0" i="1" smtClean="0">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eqArr>
                                      <m:eqArrPr>
                                        <m:ctrlPr>
                                          <a:rPr lang="en-US" i="1">
                                            <a:latin typeface="Cambria Math" panose="02040503050406030204" pitchFamily="18" charset="0"/>
                                          </a:rPr>
                                        </m:ctrlPr>
                                      </m:eqArrPr>
                                      <m:e>
                                        <m:r>
                                          <m:rPr>
                                            <m:brk m:alnAt="7"/>
                                          </m:rPr>
                                          <a:rPr lang="en-US" i="1">
                                            <a:latin typeface="Cambria Math" panose="02040503050406030204" pitchFamily="18" charset="0"/>
                                          </a:rPr>
                                          <m:t>1</m:t>
                                        </m:r>
                                      </m:e>
                                      <m:e>
                                        <m:r>
                                          <a:rPr lang="en-US" i="1">
                                            <a:latin typeface="Cambria Math" panose="02040503050406030204" pitchFamily="18" charset="0"/>
                                          </a:rPr>
                                          <m:t>−1</m:t>
                                        </m:r>
                                      </m:e>
                                    </m:eqArr>
                                  </m:e>
                                </m:mr>
                                <m:mr>
                                  <m:e>
                                    <m:eqArr>
                                      <m:eqArrPr>
                                        <m:ctrlPr>
                                          <a:rPr lang="en-US" i="1">
                                            <a:latin typeface="Cambria Math" panose="02040503050406030204" pitchFamily="18" charset="0"/>
                                          </a:rPr>
                                        </m:ctrlPr>
                                      </m:eqArrPr>
                                      <m:e>
                                        <m:r>
                                          <a:rPr lang="en-US" i="1">
                                            <a:latin typeface="Cambria Math" panose="02040503050406030204" pitchFamily="18" charset="0"/>
                                          </a:rPr>
                                          <m:t>1</m:t>
                                        </m:r>
                                      </m:e>
                                      <m:e>
                                        <m:r>
                                          <a:rPr lang="en-US" i="1">
                                            <a:latin typeface="Cambria Math" panose="02040503050406030204" pitchFamily="18" charset="0"/>
                                          </a:rPr>
                                          <m:t>−1</m:t>
                                        </m:r>
                                      </m:e>
                                    </m:eqArr>
                                  </m:e>
                                </m:mr>
                              </m:m>
                            </m:e>
                          </m:d>
                        </m:e>
                      </m:d>
                    </m:oMath>
                    <m:oMath xmlns:m="http://schemas.openxmlformats.org/officeDocument/2006/math">
                      <m:r>
                        <m:rPr>
                          <m:aln/>
                        </m:rPr>
                        <a:rPr lang="en-US" b="0" i="1" smtClean="0">
                          <a:latin typeface="Cambria Math" panose="02040503050406030204" pitchFamily="18" charset="0"/>
                        </a:rPr>
                        <m:t>=</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den>
                      </m:f>
                      <m:d>
                        <m:dPr>
                          <m:ctrlPr>
                            <a:rPr lang="en-US" b="0" i="1" smtClean="0">
                              <a:latin typeface="Cambria Math" panose="02040503050406030204" pitchFamily="18" charset="0"/>
                            </a:rPr>
                          </m:ctrlPr>
                        </m:dPr>
                        <m:e>
                          <m:r>
                            <a:rPr lang="en-US" b="0" i="1" smtClean="0">
                              <a:latin typeface="Cambria Math" panose="02040503050406030204" pitchFamily="18" charset="0"/>
                            </a:rPr>
                            <m:t>−4</m:t>
                          </m:r>
                        </m:e>
                      </m:d>
                    </m:oMath>
                    <m:oMath xmlns:m="http://schemas.openxmlformats.org/officeDocument/2006/math">
                      <m:r>
                        <m:rPr>
                          <m:aln/>
                        </m:rPr>
                        <a:rPr lang="en-US" b="0" i="1" smtClean="0">
                          <a:latin typeface="Cambria Math" panose="02040503050406030204" pitchFamily="18" charset="0"/>
                        </a:rPr>
                        <m:t>=</m:t>
                      </m:r>
                      <m:r>
                        <a:rPr lang="en-US" b="0" i="1" smtClean="0">
                          <a:latin typeface="Cambria Math" panose="02040503050406030204" pitchFamily="18" charset="0"/>
                        </a:rPr>
                        <m:t>−1</m:t>
                      </m:r>
                    </m:oMath>
                    <m:oMath xmlns:m="http://schemas.openxmlformats.org/officeDocument/2006/math">
                      <m:r>
                        <m:rPr>
                          <m:aln/>
                        </m:rP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0 </m:t>
                      </m:r>
                      <m:r>
                        <a:rPr lang="en-US" b="0" i="1" smtClean="0">
                          <a:latin typeface="Cambria Math" panose="02040503050406030204" pitchFamily="18" charset="0"/>
                          <a:ea typeface="Cambria Math" panose="02040503050406030204" pitchFamily="18" charset="0"/>
                        </a:rPr>
                        <m:t>𝐵𝑖𝑡</m:t>
                      </m:r>
                    </m:oMath>
                  </m:oMathPara>
                </a14:m>
                <a:endParaRPr lang="en-US" b="0" i="1" dirty="0">
                  <a:latin typeface="Cambria Math" panose="02040503050406030204" pitchFamily="18" charset="0"/>
                </a:endParaRPr>
              </a:p>
            </p:txBody>
          </p:sp>
        </mc:Choice>
        <mc:Fallback xmlns="">
          <p:sp>
            <p:nvSpPr>
              <p:cNvPr id="13" name="TextBox 12">
                <a:extLst>
                  <a:ext uri="{FF2B5EF4-FFF2-40B4-BE49-F238E27FC236}">
                    <a16:creationId xmlns:a16="http://schemas.microsoft.com/office/drawing/2014/main" id="{4B005584-1960-1EA0-8F20-FF901DBB68EF}"/>
                  </a:ext>
                </a:extLst>
              </p:cNvPr>
              <p:cNvSpPr txBox="1">
                <a:spLocks noRot="1" noChangeAspect="1" noMove="1" noResize="1" noEditPoints="1" noAdjustHandles="1" noChangeArrowheads="1" noChangeShapeType="1" noTextEdit="1"/>
              </p:cNvSpPr>
              <p:nvPr/>
            </p:nvSpPr>
            <p:spPr>
              <a:xfrm>
                <a:off x="6685280" y="1256610"/>
                <a:ext cx="5972626" cy="4344779"/>
              </a:xfrm>
              <a:prstGeom prst="rect">
                <a:avLst/>
              </a:prstGeom>
              <a:blipFill>
                <a:blip r:embed="rId2"/>
                <a:stretch>
                  <a:fillRect/>
                </a:stretch>
              </a:blipFill>
            </p:spPr>
            <p:txBody>
              <a:bodyPr/>
              <a:lstStyle/>
              <a:p>
                <a:r>
                  <a:rPr lang="en-IN">
                    <a:noFill/>
                  </a:rPr>
                  <a:t> </a:t>
                </a:r>
              </a:p>
            </p:txBody>
          </p:sp>
        </mc:Fallback>
      </mc:AlternateContent>
      <p:pic>
        <p:nvPicPr>
          <p:cNvPr id="10" name="Picture 7">
            <a:extLst>
              <a:ext uri="{FF2B5EF4-FFF2-40B4-BE49-F238E27FC236}">
                <a16:creationId xmlns:a16="http://schemas.microsoft.com/office/drawing/2014/main" id="{E97CC6CD-270B-9A88-E92B-1AF64FD939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496" y="2657807"/>
            <a:ext cx="6609080" cy="3403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BE1083B-EE06-7BF2-A6FB-C58855BFEF91}"/>
                  </a:ext>
                </a:extLst>
              </p:cNvPr>
              <p:cNvSpPr txBox="1"/>
              <p:nvPr/>
            </p:nvSpPr>
            <p:spPr>
              <a:xfrm>
                <a:off x="174816" y="1040707"/>
                <a:ext cx="6096000" cy="11128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1</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eqArr>
                                  <m:eqArrPr>
                                    <m:ctrlPr>
                                      <a:rPr lang="en-US" b="0" i="1" smtClean="0">
                                        <a:latin typeface="Cambria Math" panose="02040503050406030204" pitchFamily="18" charset="0"/>
                                      </a:rPr>
                                    </m:ctrlPr>
                                  </m:eqArrPr>
                                  <m:e>
                                    <m:r>
                                      <m:rPr>
                                        <m:brk m:alnAt="7"/>
                                      </m:rPr>
                                      <a:rPr lang="en-US" b="0" i="1" smtClean="0">
                                        <a:latin typeface="Cambria Math" panose="02040503050406030204" pitchFamily="18" charset="0"/>
                                      </a:rPr>
                                      <m:t>1</m:t>
                                    </m:r>
                                  </m:e>
                                  <m:e>
                                    <m:r>
                                      <a:rPr lang="en-US" b="0" i="1" smtClean="0">
                                        <a:latin typeface="Cambria Math" panose="02040503050406030204" pitchFamily="18" charset="0"/>
                                      </a:rPr>
                                      <m:t>1</m:t>
                                    </m:r>
                                  </m:e>
                                </m:eqArr>
                              </m:e>
                            </m:mr>
                            <m:m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1</m:t>
                                    </m:r>
                                  </m:e>
                                  <m:e>
                                    <m:r>
                                      <a:rPr lang="en-US" b="0" i="1" smtClean="0">
                                        <a:latin typeface="Cambria Math" panose="02040503050406030204" pitchFamily="18" charset="0"/>
                                      </a:rPr>
                                      <m:t>1</m:t>
                                    </m:r>
                                  </m:e>
                                </m:eqArr>
                              </m:e>
                            </m:mr>
                          </m:m>
                        </m:e>
                      </m:d>
                      <m:r>
                        <a:rPr lang="en-US" b="0" i="1" smtClean="0">
                          <a:latin typeface="Cambria Math" panose="02040503050406030204" pitchFamily="18" charset="0"/>
                        </a:rPr>
                        <m:t>,</m:t>
                      </m:r>
                      <m:sSub>
                        <m:sSubPr>
                          <m:ctrlPr>
                            <a:rPr lang="en-IN" i="1">
                              <a:latin typeface="Cambria Math" panose="02040503050406030204" pitchFamily="18" charset="0"/>
                            </a:rPr>
                          </m:ctrlPr>
                        </m:sSubPr>
                        <m:e>
                          <m:r>
                            <a:rPr lang="en-US" i="1">
                              <a:latin typeface="Cambria Math" panose="02040503050406030204" pitchFamily="18" charset="0"/>
                            </a:rPr>
                            <m:t>𝐶</m:t>
                          </m:r>
                        </m:e>
                        <m:sub>
                          <m:r>
                            <a:rPr lang="en-US" b="0" i="1" smtClean="0">
                              <a:latin typeface="Cambria Math" panose="02040503050406030204" pitchFamily="18" charset="0"/>
                            </a:rPr>
                            <m:t>2</m:t>
                          </m:r>
                        </m:sub>
                      </m:sSub>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eqArr>
                                  <m:eqArrPr>
                                    <m:ctrlPr>
                                      <a:rPr lang="en-US" i="1">
                                        <a:latin typeface="Cambria Math" panose="02040503050406030204" pitchFamily="18" charset="0"/>
                                      </a:rPr>
                                    </m:ctrlPr>
                                  </m:eqArrPr>
                                  <m:e>
                                    <m:r>
                                      <m:rPr>
                                        <m:brk m:alnAt="7"/>
                                      </m:rPr>
                                      <a:rPr lang="en-US" i="1">
                                        <a:latin typeface="Cambria Math" panose="02040503050406030204" pitchFamily="18" charset="0"/>
                                      </a:rPr>
                                      <m:t>1</m:t>
                                    </m:r>
                                  </m:e>
                                  <m:e>
                                    <m:r>
                                      <a:rPr lang="en-US" b="0" i="1" smtClean="0">
                                        <a:latin typeface="Cambria Math" panose="02040503050406030204" pitchFamily="18" charset="0"/>
                                      </a:rPr>
                                      <m:t>−</m:t>
                                    </m:r>
                                    <m:r>
                                      <a:rPr lang="en-US" i="1">
                                        <a:latin typeface="Cambria Math" panose="02040503050406030204" pitchFamily="18" charset="0"/>
                                      </a:rPr>
                                      <m:t>1</m:t>
                                    </m:r>
                                  </m:e>
                                </m:eqArr>
                              </m:e>
                            </m:mr>
                            <m:mr>
                              <m:e>
                                <m:eqArr>
                                  <m:eqArrPr>
                                    <m:ctrlPr>
                                      <a:rPr lang="en-US" i="1">
                                        <a:latin typeface="Cambria Math" panose="02040503050406030204" pitchFamily="18" charset="0"/>
                                      </a:rPr>
                                    </m:ctrlPr>
                                  </m:eqArrPr>
                                  <m:e>
                                    <m:r>
                                      <a:rPr lang="en-US" i="1">
                                        <a:latin typeface="Cambria Math" panose="02040503050406030204" pitchFamily="18" charset="0"/>
                                      </a:rPr>
                                      <m:t>1</m:t>
                                    </m:r>
                                  </m:e>
                                  <m:e>
                                    <m:r>
                                      <a:rPr lang="en-US" b="0" i="1" smtClean="0">
                                        <a:latin typeface="Cambria Math" panose="02040503050406030204" pitchFamily="18" charset="0"/>
                                      </a:rPr>
                                      <m:t>−</m:t>
                                    </m:r>
                                    <m:r>
                                      <a:rPr lang="en-US" i="1">
                                        <a:latin typeface="Cambria Math" panose="02040503050406030204" pitchFamily="18" charset="0"/>
                                      </a:rPr>
                                      <m:t>1</m:t>
                                    </m:r>
                                  </m:e>
                                </m:eqArr>
                              </m:e>
                            </m:mr>
                          </m:m>
                        </m:e>
                      </m:d>
                      <m:r>
                        <a:rPr lang="en-US" b="0" i="1" smtClean="0">
                          <a:latin typeface="Cambria Math" panose="02040503050406030204" pitchFamily="18" charset="0"/>
                        </a:rPr>
                        <m:t>,</m:t>
                      </m:r>
                      <m:sSub>
                        <m:sSubPr>
                          <m:ctrlPr>
                            <a:rPr lang="en-IN" i="1">
                              <a:latin typeface="Cambria Math" panose="02040503050406030204" pitchFamily="18" charset="0"/>
                            </a:rPr>
                          </m:ctrlPr>
                        </m:sSubPr>
                        <m:e>
                          <m:r>
                            <a:rPr lang="en-US" i="1">
                              <a:latin typeface="Cambria Math" panose="02040503050406030204" pitchFamily="18" charset="0"/>
                            </a:rPr>
                            <m:t>𝐶</m:t>
                          </m:r>
                        </m:e>
                        <m:sub>
                          <m:r>
                            <a:rPr lang="en-US" b="0" i="1" smtClean="0">
                              <a:latin typeface="Cambria Math" panose="02040503050406030204" pitchFamily="18" charset="0"/>
                            </a:rPr>
                            <m:t>3</m:t>
                          </m:r>
                        </m:sub>
                      </m:sSub>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eqArr>
                                  <m:eqArrPr>
                                    <m:ctrlPr>
                                      <a:rPr lang="en-US" i="1">
                                        <a:latin typeface="Cambria Math" panose="02040503050406030204" pitchFamily="18" charset="0"/>
                                      </a:rPr>
                                    </m:ctrlPr>
                                  </m:eqArrPr>
                                  <m:e>
                                    <m:r>
                                      <m:rPr>
                                        <m:brk m:alnAt="7"/>
                                      </m:rPr>
                                      <a:rPr lang="en-US" i="1">
                                        <a:latin typeface="Cambria Math" panose="02040503050406030204" pitchFamily="18" charset="0"/>
                                      </a:rPr>
                                      <m:t>1</m:t>
                                    </m:r>
                                  </m:e>
                                  <m:e>
                                    <m:r>
                                      <a:rPr lang="en-US" i="1">
                                        <a:latin typeface="Cambria Math" panose="02040503050406030204" pitchFamily="18" charset="0"/>
                                      </a:rPr>
                                      <m:t>1</m:t>
                                    </m:r>
                                  </m:e>
                                </m:eqArr>
                              </m:e>
                            </m:mr>
                            <m:mr>
                              <m:e>
                                <m:eqArr>
                                  <m:eqArrPr>
                                    <m:ctrlPr>
                                      <a:rPr lang="en-US" i="1">
                                        <a:latin typeface="Cambria Math" panose="02040503050406030204" pitchFamily="18" charset="0"/>
                                      </a:rPr>
                                    </m:ctrlPr>
                                  </m:eqArrPr>
                                  <m:e>
                                    <m:r>
                                      <a:rPr lang="en-US" b="0" i="1" smtClean="0">
                                        <a:latin typeface="Cambria Math" panose="02040503050406030204" pitchFamily="18" charset="0"/>
                                      </a:rPr>
                                      <m:t>−</m:t>
                                    </m:r>
                                    <m:r>
                                      <a:rPr lang="en-US" i="1">
                                        <a:latin typeface="Cambria Math" panose="02040503050406030204" pitchFamily="18" charset="0"/>
                                      </a:rPr>
                                      <m:t>1</m:t>
                                    </m:r>
                                  </m:e>
                                  <m:e>
                                    <m:r>
                                      <a:rPr lang="en-US" b="0" i="1" smtClean="0">
                                        <a:latin typeface="Cambria Math" panose="02040503050406030204" pitchFamily="18" charset="0"/>
                                      </a:rPr>
                                      <m:t>−</m:t>
                                    </m:r>
                                    <m:r>
                                      <a:rPr lang="en-US" i="1">
                                        <a:latin typeface="Cambria Math" panose="02040503050406030204" pitchFamily="18" charset="0"/>
                                      </a:rPr>
                                      <m:t>1</m:t>
                                    </m:r>
                                  </m:e>
                                </m:eqArr>
                              </m:e>
                            </m:mr>
                          </m:m>
                        </m:e>
                      </m:d>
                      <m:r>
                        <a:rPr lang="en-US" b="0" i="1" smtClean="0">
                          <a:latin typeface="Cambria Math" panose="02040503050406030204" pitchFamily="18" charset="0"/>
                        </a:rPr>
                        <m:t>,</m:t>
                      </m:r>
                      <m:sSub>
                        <m:sSubPr>
                          <m:ctrlPr>
                            <a:rPr lang="en-IN" i="1">
                              <a:latin typeface="Cambria Math" panose="02040503050406030204" pitchFamily="18" charset="0"/>
                            </a:rPr>
                          </m:ctrlPr>
                        </m:sSubPr>
                        <m:e>
                          <m:r>
                            <a:rPr lang="en-US" i="1">
                              <a:latin typeface="Cambria Math" panose="02040503050406030204" pitchFamily="18" charset="0"/>
                            </a:rPr>
                            <m:t>𝐶</m:t>
                          </m:r>
                        </m:e>
                        <m:sub>
                          <m:r>
                            <a:rPr lang="en-US" b="0" i="1" smtClean="0">
                              <a:latin typeface="Cambria Math" panose="02040503050406030204" pitchFamily="18" charset="0"/>
                            </a:rPr>
                            <m:t>4</m:t>
                          </m:r>
                        </m:sub>
                      </m:sSub>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eqArr>
                                  <m:eqArrPr>
                                    <m:ctrlPr>
                                      <a:rPr lang="en-US" i="1">
                                        <a:latin typeface="Cambria Math" panose="02040503050406030204" pitchFamily="18" charset="0"/>
                                      </a:rPr>
                                    </m:ctrlPr>
                                  </m:eqArrPr>
                                  <m:e>
                                    <m:r>
                                      <m:rPr>
                                        <m:brk m:alnAt="7"/>
                                      </m:rPr>
                                      <a:rPr lang="en-US" i="1">
                                        <a:latin typeface="Cambria Math" panose="02040503050406030204" pitchFamily="18" charset="0"/>
                                      </a:rPr>
                                      <m:t>1</m:t>
                                    </m:r>
                                  </m:e>
                                  <m:e>
                                    <m:r>
                                      <a:rPr lang="en-US" b="0" i="1" smtClean="0">
                                        <a:latin typeface="Cambria Math" panose="02040503050406030204" pitchFamily="18" charset="0"/>
                                      </a:rPr>
                                      <m:t>−</m:t>
                                    </m:r>
                                    <m:r>
                                      <a:rPr lang="en-US" i="1">
                                        <a:latin typeface="Cambria Math" panose="02040503050406030204" pitchFamily="18" charset="0"/>
                                      </a:rPr>
                                      <m:t>1</m:t>
                                    </m:r>
                                  </m:e>
                                </m:eqArr>
                              </m:e>
                            </m:mr>
                            <m:mr>
                              <m:e>
                                <m:eqArr>
                                  <m:eqArrPr>
                                    <m:ctrlPr>
                                      <a:rPr lang="en-US" i="1">
                                        <a:latin typeface="Cambria Math" panose="02040503050406030204" pitchFamily="18" charset="0"/>
                                      </a:rPr>
                                    </m:ctrlPr>
                                  </m:eqArrPr>
                                  <m:e>
                                    <m:r>
                                      <a:rPr lang="en-US" b="0" i="1" smtClean="0">
                                        <a:latin typeface="Cambria Math" panose="02040503050406030204" pitchFamily="18" charset="0"/>
                                      </a:rPr>
                                      <m:t>−</m:t>
                                    </m:r>
                                    <m:r>
                                      <a:rPr lang="en-US" i="1">
                                        <a:latin typeface="Cambria Math" panose="02040503050406030204" pitchFamily="18" charset="0"/>
                                      </a:rPr>
                                      <m:t>1</m:t>
                                    </m:r>
                                  </m:e>
                                  <m:e>
                                    <m:r>
                                      <a:rPr lang="en-US" i="1">
                                        <a:latin typeface="Cambria Math" panose="02040503050406030204" pitchFamily="18" charset="0"/>
                                      </a:rPr>
                                      <m:t>1</m:t>
                                    </m:r>
                                  </m:e>
                                </m:eqArr>
                              </m:e>
                            </m:mr>
                          </m:m>
                        </m:e>
                      </m:d>
                      <m:r>
                        <a:rPr lang="en-US" b="0" i="1" smtClean="0">
                          <a:latin typeface="Cambria Math" panose="02040503050406030204" pitchFamily="18" charset="0"/>
                        </a:rPr>
                        <m:t>,</m:t>
                      </m:r>
                      <m:r>
                        <a:rPr lang="en-IN" i="1" smtClean="0">
                          <a:latin typeface="Cambria Math" panose="02040503050406030204" pitchFamily="18" charset="0"/>
                        </a:rPr>
                        <m:t> </m:t>
                      </m:r>
                      <m:r>
                        <a:rPr lang="en-US" b="0" i="1" smtClean="0">
                          <a:latin typeface="Cambria Math" panose="02040503050406030204" pitchFamily="18" charset="0"/>
                        </a:rPr>
                        <m:t>𝐷𝑎𝑡𝑎</m:t>
                      </m:r>
                      <m:r>
                        <a:rPr lang="en-US" b="0" i="1" smtClean="0">
                          <a:latin typeface="Cambria Math" panose="02040503050406030204" pitchFamily="18" charset="0"/>
                        </a:rPr>
                        <m:t> =</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eqArr>
                                  <m:eqArrPr>
                                    <m:ctrlPr>
                                      <a:rPr lang="en-US" i="1">
                                        <a:latin typeface="Cambria Math" panose="02040503050406030204" pitchFamily="18" charset="0"/>
                                      </a:rPr>
                                    </m:ctrlPr>
                                  </m:eqArrPr>
                                  <m:e>
                                    <m:r>
                                      <m:rPr>
                                        <m:brk m:alnAt="7"/>
                                      </m:rPr>
                                      <a:rPr lang="en-US" i="1">
                                        <a:latin typeface="Cambria Math" panose="02040503050406030204" pitchFamily="18" charset="0"/>
                                      </a:rPr>
                                      <m:t>1</m:t>
                                    </m:r>
                                  </m:e>
                                  <m:e>
                                    <m:r>
                                      <a:rPr lang="en-US" i="1">
                                        <a:latin typeface="Cambria Math" panose="02040503050406030204" pitchFamily="18" charset="0"/>
                                      </a:rPr>
                                      <m:t>−1</m:t>
                                    </m:r>
                                  </m:e>
                                </m:eqArr>
                              </m:e>
                            </m:mr>
                            <m:mr>
                              <m:e>
                                <m:eqArr>
                                  <m:eqArrPr>
                                    <m:ctrlPr>
                                      <a:rPr lang="en-US" i="1">
                                        <a:latin typeface="Cambria Math" panose="02040503050406030204" pitchFamily="18" charset="0"/>
                                      </a:rPr>
                                    </m:ctrlPr>
                                  </m:eqArrPr>
                                  <m:e>
                                    <m:r>
                                      <a:rPr lang="en-US" i="1">
                                        <a:latin typeface="Cambria Math" panose="02040503050406030204" pitchFamily="18" charset="0"/>
                                      </a:rPr>
                                      <m:t>−</m:t>
                                    </m:r>
                                    <m:r>
                                      <a:rPr lang="en-US" b="0" i="1" smtClean="0">
                                        <a:latin typeface="Cambria Math" panose="02040503050406030204" pitchFamily="18" charset="0"/>
                                      </a:rPr>
                                      <m:t>3</m:t>
                                    </m:r>
                                  </m:e>
                                  <m:e>
                                    <m:r>
                                      <a:rPr lang="en-US" i="1">
                                        <a:latin typeface="Cambria Math" panose="02040503050406030204" pitchFamily="18" charset="0"/>
                                      </a:rPr>
                                      <m:t>1</m:t>
                                    </m:r>
                                  </m:e>
                                </m:eqArr>
                              </m:e>
                            </m:mr>
                          </m:m>
                        </m:e>
                      </m:d>
                    </m:oMath>
                  </m:oMathPara>
                </a14:m>
                <a:endParaRPr lang="en-IN" dirty="0"/>
              </a:p>
            </p:txBody>
          </p:sp>
        </mc:Choice>
        <mc:Fallback xmlns="">
          <p:sp>
            <p:nvSpPr>
              <p:cNvPr id="16" name="TextBox 15">
                <a:extLst>
                  <a:ext uri="{FF2B5EF4-FFF2-40B4-BE49-F238E27FC236}">
                    <a16:creationId xmlns:a16="http://schemas.microsoft.com/office/drawing/2014/main" id="{CBE1083B-EE06-7BF2-A6FB-C58855BFEF91}"/>
                  </a:ext>
                </a:extLst>
              </p:cNvPr>
              <p:cNvSpPr txBox="1">
                <a:spLocks noRot="1" noChangeAspect="1" noMove="1" noResize="1" noEditPoints="1" noAdjustHandles="1" noChangeArrowheads="1" noChangeShapeType="1" noTextEdit="1"/>
              </p:cNvSpPr>
              <p:nvPr/>
            </p:nvSpPr>
            <p:spPr>
              <a:xfrm>
                <a:off x="174816" y="1040707"/>
                <a:ext cx="6096000" cy="1112805"/>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28021902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1" name="Text Box 3">
            <a:extLst>
              <a:ext uri="{FF2B5EF4-FFF2-40B4-BE49-F238E27FC236}">
                <a16:creationId xmlns:a16="http://schemas.microsoft.com/office/drawing/2014/main" id="{90F890C5-9DF5-0CE0-9DFA-E290E83D1747}"/>
              </a:ext>
            </a:extLst>
          </p:cNvPr>
          <p:cNvSpPr txBox="1">
            <a:spLocks noChangeArrowheads="1"/>
          </p:cNvSpPr>
          <p:nvPr/>
        </p:nvSpPr>
        <p:spPr bwMode="auto">
          <a:xfrm>
            <a:off x="3911686" y="329744"/>
            <a:ext cx="403334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dirty="0">
                <a:solidFill>
                  <a:srgbClr val="0000FF"/>
                </a:solidFill>
                <a:effectLst>
                  <a:outerShdw blurRad="38100" dist="38100" dir="2700000" algn="tl">
                    <a:srgbClr val="C0C0C0"/>
                  </a:outerShdw>
                </a:effectLst>
                <a:latin typeface="Times" panose="02020603050405020304" pitchFamily="18" charset="0"/>
              </a:rPr>
              <a:t>IEEE STANDARDS</a:t>
            </a:r>
          </a:p>
        </p:txBody>
      </p:sp>
      <p:sp>
        <p:nvSpPr>
          <p:cNvPr id="565252" name="Text Box 4">
            <a:extLst>
              <a:ext uri="{FF2B5EF4-FFF2-40B4-BE49-F238E27FC236}">
                <a16:creationId xmlns:a16="http://schemas.microsoft.com/office/drawing/2014/main" id="{547EB3A7-F2C1-82D4-C182-CC3BF05A9EDD}"/>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latin typeface="Times New Roman" panose="02020603050405020304" pitchFamily="18" charset="0"/>
            </a:endParaRPr>
          </a:p>
        </p:txBody>
      </p:sp>
      <p:sp>
        <p:nvSpPr>
          <p:cNvPr id="565253" name="Rectangle 5">
            <a:extLst>
              <a:ext uri="{FF2B5EF4-FFF2-40B4-BE49-F238E27FC236}">
                <a16:creationId xmlns:a16="http://schemas.microsoft.com/office/drawing/2014/main" id="{E857C37C-2EF0-5370-C72A-6523D12AD295}"/>
              </a:ext>
            </a:extLst>
          </p:cNvPr>
          <p:cNvSpPr>
            <a:spLocks noChangeArrowheads="1"/>
          </p:cNvSpPr>
          <p:nvPr/>
        </p:nvSpPr>
        <p:spPr bwMode="auto">
          <a:xfrm>
            <a:off x="548640" y="1026725"/>
            <a:ext cx="1075944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just" eaLnBrk="1" hangingPunct="1"/>
            <a:r>
              <a:rPr lang="en-US" altLang="en-US" sz="2800" i="1" dirty="0">
                <a:effectLst>
                  <a:outerShdw blurRad="38100" dist="38100" dir="2700000" algn="tl">
                    <a:srgbClr val="C0C0C0"/>
                  </a:outerShdw>
                </a:effectLst>
                <a:latin typeface="Times New Roman" panose="02020603050405020304" pitchFamily="18" charset="0"/>
              </a:rPr>
              <a:t>In 1985, the Computer Society of the IEEE started a project, called Project 802, to set standards to enable intercommunication among equipment from a variety of manufacturers. Project 802 is a way of specifying functions of the physical layer and the data link layer of major LAN protocols.</a:t>
            </a:r>
          </a:p>
        </p:txBody>
      </p:sp>
      <p:pic>
        <p:nvPicPr>
          <p:cNvPr id="3" name="Picture 2">
            <a:extLst>
              <a:ext uri="{FF2B5EF4-FFF2-40B4-BE49-F238E27FC236}">
                <a16:creationId xmlns:a16="http://schemas.microsoft.com/office/drawing/2014/main" id="{A1CD76E3-D3DA-776E-D15C-49FF3B8A64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3175" y="3524487"/>
            <a:ext cx="7394575" cy="2357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6308" name="Text Box 4">
            <a:extLst>
              <a:ext uri="{FF2B5EF4-FFF2-40B4-BE49-F238E27FC236}">
                <a16:creationId xmlns:a16="http://schemas.microsoft.com/office/drawing/2014/main" id="{97EAA82F-81EC-A7DC-E093-94AA485D43D3}"/>
              </a:ext>
            </a:extLst>
          </p:cNvPr>
          <p:cNvSpPr txBox="1">
            <a:spLocks noChangeArrowheads="1"/>
          </p:cNvSpPr>
          <p:nvPr/>
        </p:nvSpPr>
        <p:spPr bwMode="auto">
          <a:xfrm>
            <a:off x="4429760" y="191395"/>
            <a:ext cx="350608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i="1" dirty="0">
                <a:solidFill>
                  <a:srgbClr val="0000FF"/>
                </a:solidFill>
                <a:latin typeface="Times New Roman" panose="02020603050405020304" pitchFamily="18" charset="0"/>
              </a:rPr>
              <a:t>802.3 MAC frame</a:t>
            </a:r>
          </a:p>
        </p:txBody>
      </p:sp>
      <p:pic>
        <p:nvPicPr>
          <p:cNvPr id="866310" name="Picture 6">
            <a:extLst>
              <a:ext uri="{FF2B5EF4-FFF2-40B4-BE49-F238E27FC236}">
                <a16:creationId xmlns:a16="http://schemas.microsoft.com/office/drawing/2014/main" id="{20068769-30E6-5218-CE09-9E3DF647DB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8264" y="990284"/>
            <a:ext cx="8821737" cy="258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a:extLst>
              <a:ext uri="{FF2B5EF4-FFF2-40B4-BE49-F238E27FC236}">
                <a16:creationId xmlns:a16="http://schemas.microsoft.com/office/drawing/2014/main" id="{C8D62C50-3821-1B45-D8C2-D8FC80FC9E79}"/>
              </a:ext>
            </a:extLst>
          </p:cNvPr>
          <p:cNvSpPr txBox="1"/>
          <p:nvPr/>
        </p:nvSpPr>
        <p:spPr>
          <a:xfrm>
            <a:off x="447484" y="3576321"/>
            <a:ext cx="11104436" cy="2862322"/>
          </a:xfrm>
          <a:prstGeom prst="rect">
            <a:avLst/>
          </a:prstGeom>
          <a:noFill/>
        </p:spPr>
        <p:txBody>
          <a:bodyPr wrap="square">
            <a:spAutoFit/>
          </a:bodyPr>
          <a:lstStyle/>
          <a:p>
            <a:r>
              <a:rPr lang="en-IN" sz="2000" b="1" i="1" dirty="0">
                <a:latin typeface="Times New Roman" panose="02020603050405020304" pitchFamily="18" charset="0"/>
                <a:cs typeface="Times New Roman" panose="02020603050405020304" pitchFamily="18" charset="0"/>
              </a:rPr>
              <a:t>Preamble</a:t>
            </a:r>
            <a:r>
              <a:rPr lang="en-IN" sz="2000" dirty="0">
                <a:latin typeface="Times New Roman" panose="02020603050405020304" pitchFamily="18" charset="0"/>
                <a:cs typeface="Times New Roman" panose="02020603050405020304" pitchFamily="18" charset="0"/>
              </a:rPr>
              <a:t> : </a:t>
            </a:r>
            <a:r>
              <a:rPr lang="en-US" sz="2000" dirty="0">
                <a:solidFill>
                  <a:srgbClr val="242021"/>
                </a:solidFill>
                <a:latin typeface="Times New Roman" panose="02020603050405020304" pitchFamily="18" charset="0"/>
                <a:cs typeface="Times New Roman" panose="02020603050405020304" pitchFamily="18" charset="0"/>
              </a:rPr>
              <a:t>The pattern provides only an alert and a timing pulse.</a:t>
            </a:r>
            <a:r>
              <a:rPr lang="en-US" sz="2000" dirty="0">
                <a:latin typeface="Times New Roman" panose="02020603050405020304" pitchFamily="18" charset="0"/>
                <a:cs typeface="Times New Roman" panose="02020603050405020304" pitchFamily="18" charset="0"/>
              </a:rPr>
              <a:t> </a:t>
            </a:r>
            <a:endParaRPr lang="en-US" sz="2000" b="1" i="1" dirty="0">
              <a:solidFill>
                <a:srgbClr val="242021"/>
              </a:solidFill>
              <a:effectLst/>
              <a:latin typeface="Times New Roman" panose="02020603050405020304" pitchFamily="18" charset="0"/>
              <a:cs typeface="Times New Roman" panose="02020603050405020304" pitchFamily="18" charset="0"/>
            </a:endParaRPr>
          </a:p>
          <a:p>
            <a:r>
              <a:rPr lang="en-US" sz="2000" b="1" i="1" dirty="0">
                <a:solidFill>
                  <a:srgbClr val="242021"/>
                </a:solidFill>
                <a:effectLst/>
                <a:latin typeface="Times New Roman" panose="02020603050405020304" pitchFamily="18" charset="0"/>
                <a:cs typeface="Times New Roman" panose="02020603050405020304" pitchFamily="18" charset="0"/>
              </a:rPr>
              <a:t>Start frame delimiter (SFD). </a:t>
            </a:r>
            <a:r>
              <a:rPr lang="en-US" sz="2000" b="0" i="0" dirty="0">
                <a:solidFill>
                  <a:srgbClr val="242021"/>
                </a:solidFill>
                <a:effectLst/>
                <a:latin typeface="Times New Roman" panose="02020603050405020304" pitchFamily="18" charset="0"/>
                <a:cs typeface="Times New Roman" panose="02020603050405020304" pitchFamily="18" charset="0"/>
              </a:rPr>
              <a:t>The SFD warns the station or stations that this is the last chance for synchronization.</a:t>
            </a:r>
          </a:p>
          <a:p>
            <a:r>
              <a:rPr lang="en-US" sz="2000" b="1" i="1" dirty="0">
                <a:latin typeface="Times New Roman" panose="02020603050405020304" pitchFamily="18" charset="0"/>
                <a:cs typeface="Times New Roman" panose="02020603050405020304" pitchFamily="18" charset="0"/>
              </a:rPr>
              <a:t>Destination address (DA). </a:t>
            </a:r>
            <a:r>
              <a:rPr lang="en-US" sz="2000" dirty="0">
                <a:latin typeface="Times New Roman" panose="02020603050405020304" pitchFamily="18" charset="0"/>
                <a:cs typeface="Times New Roman" panose="02020603050405020304" pitchFamily="18" charset="0"/>
              </a:rPr>
              <a:t>This field is six bytes (48 bits) and contains the link layer address of the destination station or stations to receive the packet. </a:t>
            </a:r>
            <a:br>
              <a:rPr lang="en-US" sz="2000" dirty="0">
                <a:latin typeface="Times New Roman" panose="02020603050405020304" pitchFamily="18" charset="0"/>
                <a:cs typeface="Times New Roman" panose="02020603050405020304" pitchFamily="18" charset="0"/>
              </a:rPr>
            </a:br>
            <a:r>
              <a:rPr lang="en-US" sz="2000" b="0" i="0" dirty="0">
                <a:solidFill>
                  <a:srgbClr val="242021"/>
                </a:solidFill>
                <a:effectLst/>
                <a:latin typeface="Times New Roman" panose="02020603050405020304" pitchFamily="18" charset="0"/>
                <a:cs typeface="Times New Roman" panose="02020603050405020304" pitchFamily="18" charset="0"/>
              </a:rPr>
              <a:t> </a:t>
            </a:r>
            <a:r>
              <a:rPr lang="en-US" sz="2000" b="1" i="1" dirty="0">
                <a:latin typeface="Times New Roman" panose="02020603050405020304" pitchFamily="18" charset="0"/>
                <a:cs typeface="Times New Roman" panose="02020603050405020304" pitchFamily="18" charset="0"/>
              </a:rPr>
              <a:t>Source address (SA). </a:t>
            </a:r>
            <a:r>
              <a:rPr lang="en-US" sz="2000" dirty="0">
                <a:latin typeface="Times New Roman" panose="02020603050405020304" pitchFamily="18" charset="0"/>
                <a:cs typeface="Times New Roman" panose="02020603050405020304" pitchFamily="18" charset="0"/>
              </a:rPr>
              <a:t>This field is also six bytes and contains the link-layer address of the sender of the packet. </a:t>
            </a:r>
          </a:p>
          <a:p>
            <a:r>
              <a:rPr lang="en-US" sz="2000" b="1" i="1" dirty="0">
                <a:latin typeface="Times New Roman" panose="02020603050405020304" pitchFamily="18" charset="0"/>
                <a:cs typeface="Times New Roman" panose="02020603050405020304" pitchFamily="18" charset="0"/>
              </a:rPr>
              <a:t>Data. </a:t>
            </a:r>
            <a:r>
              <a:rPr lang="en-US" sz="2000" dirty="0">
                <a:latin typeface="Times New Roman" panose="02020603050405020304" pitchFamily="18" charset="0"/>
                <a:cs typeface="Times New Roman" panose="02020603050405020304" pitchFamily="18" charset="0"/>
              </a:rPr>
              <a:t>This field carries data encapsulated from the upper-layer protocols. It is a minimum of 46 and a maximum of 1500 bytes. </a:t>
            </a:r>
            <a:endParaRPr lang="en-IN"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B6C828-8CB8-0164-E8CB-ED90A1A3A9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9920" y="952918"/>
            <a:ext cx="7893844" cy="2459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072CEE69-E96B-FA44-5C80-0433AFADBCBA}"/>
              </a:ext>
            </a:extLst>
          </p:cNvPr>
          <p:cNvPicPr>
            <a:picLocks noChangeAspect="1"/>
          </p:cNvPicPr>
          <p:nvPr/>
        </p:nvPicPr>
        <p:blipFill>
          <a:blip r:embed="rId3"/>
          <a:stretch>
            <a:fillRect/>
          </a:stretch>
        </p:blipFill>
        <p:spPr>
          <a:xfrm>
            <a:off x="2525871" y="3610996"/>
            <a:ext cx="7140257" cy="1742187"/>
          </a:xfrm>
          <a:prstGeom prst="rect">
            <a:avLst/>
          </a:prstGeom>
        </p:spPr>
      </p:pic>
      <p:sp>
        <p:nvSpPr>
          <p:cNvPr id="6" name="TextBox 5">
            <a:extLst>
              <a:ext uri="{FF2B5EF4-FFF2-40B4-BE49-F238E27FC236}">
                <a16:creationId xmlns:a16="http://schemas.microsoft.com/office/drawing/2014/main" id="{FB3221D3-22E2-74F9-DA07-365989422F18}"/>
              </a:ext>
            </a:extLst>
          </p:cNvPr>
          <p:cNvSpPr txBox="1"/>
          <p:nvPr/>
        </p:nvSpPr>
        <p:spPr>
          <a:xfrm>
            <a:off x="1046480" y="5464016"/>
            <a:ext cx="11145520" cy="1384995"/>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If the least significant bit of the first byte in a destination address is 0, the address is unicast; otherwise, it is multicast</a:t>
            </a:r>
            <a:r>
              <a:rPr lang="en-US" dirty="0"/>
              <a:t>.</a:t>
            </a:r>
            <a:r>
              <a:rPr lang="en-US" sz="2400" dirty="0"/>
              <a:t> </a:t>
            </a:r>
            <a:br>
              <a:rPr lang="en-US" sz="2400" dirty="0"/>
            </a:br>
            <a:br>
              <a:rPr lang="en-US" dirty="0"/>
            </a:br>
            <a:endParaRPr lang="en-IN" dirty="0"/>
          </a:p>
        </p:txBody>
      </p:sp>
      <p:sp>
        <p:nvSpPr>
          <p:cNvPr id="7" name="Text Box 4">
            <a:extLst>
              <a:ext uri="{FF2B5EF4-FFF2-40B4-BE49-F238E27FC236}">
                <a16:creationId xmlns:a16="http://schemas.microsoft.com/office/drawing/2014/main" id="{2CAA90D0-69C0-384D-CD2C-0E1E54875120}"/>
              </a:ext>
            </a:extLst>
          </p:cNvPr>
          <p:cNvSpPr txBox="1">
            <a:spLocks noChangeArrowheads="1"/>
          </p:cNvSpPr>
          <p:nvPr/>
        </p:nvSpPr>
        <p:spPr bwMode="auto">
          <a:xfrm>
            <a:off x="4429760" y="191395"/>
            <a:ext cx="350608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i="1" dirty="0">
                <a:solidFill>
                  <a:srgbClr val="0000FF"/>
                </a:solidFill>
                <a:latin typeface="Times New Roman" panose="02020603050405020304" pitchFamily="18" charset="0"/>
              </a:rPr>
              <a:t>802.3 MAC frame</a:t>
            </a:r>
          </a:p>
        </p:txBody>
      </p:sp>
    </p:spTree>
    <p:extLst>
      <p:ext uri="{BB962C8B-B14F-4D97-AF65-F5344CB8AC3E}">
        <p14:creationId xmlns:p14="http://schemas.microsoft.com/office/powerpoint/2010/main" val="354922156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8B711D9-C937-AD91-2E18-09BE078C08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527" y="720149"/>
            <a:ext cx="6220677" cy="3262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4692DA30-F040-5213-89C1-2056041EE133}"/>
              </a:ext>
            </a:extLst>
          </p:cNvPr>
          <p:cNvSpPr txBox="1"/>
          <p:nvPr/>
        </p:nvSpPr>
        <p:spPr>
          <a:xfrm>
            <a:off x="3180080" y="135374"/>
            <a:ext cx="6096000" cy="584775"/>
          </a:xfrm>
          <a:prstGeom prst="rect">
            <a:avLst/>
          </a:prstGeom>
          <a:noFill/>
        </p:spPr>
        <p:txBody>
          <a:bodyPr wrap="square">
            <a:spAutoFit/>
          </a:bodyPr>
          <a:lstStyle/>
          <a:p>
            <a:r>
              <a:rPr lang="en-US" altLang="en-US" sz="3200" i="1" dirty="0">
                <a:solidFill>
                  <a:srgbClr val="0000FF"/>
                </a:solidFill>
                <a:latin typeface="Times New Roman" panose="02020603050405020304" pitchFamily="18" charset="0"/>
              </a:rPr>
              <a:t>Categories of Standard Ethernet</a:t>
            </a:r>
            <a:endParaRPr lang="en-IN" sz="3200" dirty="0">
              <a:solidFill>
                <a:srgbClr val="0000FF"/>
              </a:solidFill>
            </a:endParaRPr>
          </a:p>
        </p:txBody>
      </p:sp>
      <p:pic>
        <p:nvPicPr>
          <p:cNvPr id="7" name="Picture 6">
            <a:extLst>
              <a:ext uri="{FF2B5EF4-FFF2-40B4-BE49-F238E27FC236}">
                <a16:creationId xmlns:a16="http://schemas.microsoft.com/office/drawing/2014/main" id="{725225E9-8476-5F03-BF13-A95417306220}"/>
              </a:ext>
            </a:extLst>
          </p:cNvPr>
          <p:cNvPicPr>
            <a:picLocks noChangeAspect="1"/>
          </p:cNvPicPr>
          <p:nvPr/>
        </p:nvPicPr>
        <p:blipFill>
          <a:blip r:embed="rId3"/>
          <a:stretch>
            <a:fillRect/>
          </a:stretch>
        </p:blipFill>
        <p:spPr>
          <a:xfrm>
            <a:off x="1966912" y="4251901"/>
            <a:ext cx="8258175" cy="1885950"/>
          </a:xfrm>
          <a:prstGeom prst="rect">
            <a:avLst/>
          </a:prstGeom>
        </p:spPr>
      </p:pic>
    </p:spTree>
    <p:extLst>
      <p:ext uri="{BB962C8B-B14F-4D97-AF65-F5344CB8AC3E}">
        <p14:creationId xmlns:p14="http://schemas.microsoft.com/office/powerpoint/2010/main" val="143164987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8D879A-953F-9BF0-949A-4BC59882F8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3457" y="1592262"/>
            <a:ext cx="7797800" cy="183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01651A2A-8559-86F1-344D-BB0FE05C603E}"/>
              </a:ext>
            </a:extLst>
          </p:cNvPr>
          <p:cNvPicPr>
            <a:picLocks noChangeAspect="1"/>
          </p:cNvPicPr>
          <p:nvPr/>
        </p:nvPicPr>
        <p:blipFill>
          <a:blip r:embed="rId3"/>
          <a:stretch>
            <a:fillRect/>
          </a:stretch>
        </p:blipFill>
        <p:spPr>
          <a:xfrm>
            <a:off x="8983345" y="3999930"/>
            <a:ext cx="2466975" cy="1647825"/>
          </a:xfrm>
          <a:prstGeom prst="rect">
            <a:avLst/>
          </a:prstGeom>
        </p:spPr>
      </p:pic>
      <p:pic>
        <p:nvPicPr>
          <p:cNvPr id="6" name="Picture 5">
            <a:extLst>
              <a:ext uri="{FF2B5EF4-FFF2-40B4-BE49-F238E27FC236}">
                <a16:creationId xmlns:a16="http://schemas.microsoft.com/office/drawing/2014/main" id="{6AD24B08-437B-492E-88BB-ED6D8A16F5AD}"/>
              </a:ext>
            </a:extLst>
          </p:cNvPr>
          <p:cNvPicPr>
            <a:picLocks noChangeAspect="1"/>
          </p:cNvPicPr>
          <p:nvPr/>
        </p:nvPicPr>
        <p:blipFill>
          <a:blip r:embed="rId4"/>
          <a:stretch>
            <a:fillRect/>
          </a:stretch>
        </p:blipFill>
        <p:spPr>
          <a:xfrm>
            <a:off x="9146223" y="1558604"/>
            <a:ext cx="2962275" cy="1647825"/>
          </a:xfrm>
          <a:prstGeom prst="rect">
            <a:avLst/>
          </a:prstGeom>
        </p:spPr>
      </p:pic>
      <p:pic>
        <p:nvPicPr>
          <p:cNvPr id="8" name="Picture 7">
            <a:extLst>
              <a:ext uri="{FF2B5EF4-FFF2-40B4-BE49-F238E27FC236}">
                <a16:creationId xmlns:a16="http://schemas.microsoft.com/office/drawing/2014/main" id="{5FA359D7-3258-8516-EC15-3F22BE3D9406}"/>
              </a:ext>
            </a:extLst>
          </p:cNvPr>
          <p:cNvPicPr>
            <a:picLocks noChangeAspect="1"/>
          </p:cNvPicPr>
          <p:nvPr/>
        </p:nvPicPr>
        <p:blipFill>
          <a:blip r:embed="rId5"/>
          <a:stretch>
            <a:fillRect/>
          </a:stretch>
        </p:blipFill>
        <p:spPr>
          <a:xfrm>
            <a:off x="6000750" y="3718947"/>
            <a:ext cx="2533650" cy="1743075"/>
          </a:xfrm>
          <a:prstGeom prst="rect">
            <a:avLst/>
          </a:prstGeom>
        </p:spPr>
      </p:pic>
      <p:pic>
        <p:nvPicPr>
          <p:cNvPr id="9" name="Picture 8">
            <a:extLst>
              <a:ext uri="{FF2B5EF4-FFF2-40B4-BE49-F238E27FC236}">
                <a16:creationId xmlns:a16="http://schemas.microsoft.com/office/drawing/2014/main" id="{5B25D71F-D1AD-29E9-069B-909E18FCE47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3457" y="3803795"/>
            <a:ext cx="4589474" cy="2040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a:extLst>
              <a:ext uri="{FF2B5EF4-FFF2-40B4-BE49-F238E27FC236}">
                <a16:creationId xmlns:a16="http://schemas.microsoft.com/office/drawing/2014/main" id="{653946BF-E09D-1ABB-ED05-0756410C1851}"/>
              </a:ext>
            </a:extLst>
          </p:cNvPr>
          <p:cNvSpPr txBox="1"/>
          <p:nvPr/>
        </p:nvSpPr>
        <p:spPr>
          <a:xfrm>
            <a:off x="3050223" y="429334"/>
            <a:ext cx="6096000" cy="584775"/>
          </a:xfrm>
          <a:prstGeom prst="rect">
            <a:avLst/>
          </a:prstGeom>
          <a:noFill/>
        </p:spPr>
        <p:txBody>
          <a:bodyPr wrap="square">
            <a:spAutoFit/>
          </a:bodyPr>
          <a:lstStyle/>
          <a:p>
            <a:r>
              <a:rPr lang="en-US" altLang="en-US" sz="3200" i="1" dirty="0">
                <a:solidFill>
                  <a:srgbClr val="0000FF"/>
                </a:solidFill>
                <a:latin typeface="Times New Roman" panose="02020603050405020304" pitchFamily="18" charset="0"/>
              </a:rPr>
              <a:t>Categories of Standard Ethernet</a:t>
            </a:r>
            <a:endParaRPr lang="en-IN" sz="3200" dirty="0">
              <a:solidFill>
                <a:srgbClr val="0000FF"/>
              </a:solidFill>
            </a:endParaRPr>
          </a:p>
        </p:txBody>
      </p:sp>
    </p:spTree>
    <p:extLst>
      <p:ext uri="{BB962C8B-B14F-4D97-AF65-F5344CB8AC3E}">
        <p14:creationId xmlns:p14="http://schemas.microsoft.com/office/powerpoint/2010/main" val="78723647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1" name="Text Box 3">
            <a:extLst>
              <a:ext uri="{FF2B5EF4-FFF2-40B4-BE49-F238E27FC236}">
                <a16:creationId xmlns:a16="http://schemas.microsoft.com/office/drawing/2014/main" id="{6F02411D-DFC7-191E-C2D6-2DB39562C66D}"/>
              </a:ext>
            </a:extLst>
          </p:cNvPr>
          <p:cNvSpPr txBox="1">
            <a:spLocks noChangeArrowheads="1"/>
          </p:cNvSpPr>
          <p:nvPr/>
        </p:nvSpPr>
        <p:spPr bwMode="auto">
          <a:xfrm>
            <a:off x="4546601" y="44520"/>
            <a:ext cx="22869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dirty="0">
                <a:solidFill>
                  <a:srgbClr val="0000FF"/>
                </a:solidFill>
                <a:effectLst>
                  <a:outerShdw blurRad="38100" dist="38100" dir="2700000" algn="tl">
                    <a:srgbClr val="C0C0C0"/>
                  </a:outerShdw>
                </a:effectLst>
                <a:latin typeface="Times" panose="02020603050405020304" pitchFamily="18" charset="0"/>
              </a:rPr>
              <a:t>IEEE 802.11</a:t>
            </a:r>
          </a:p>
        </p:txBody>
      </p:sp>
      <p:sp>
        <p:nvSpPr>
          <p:cNvPr id="565252" name="Text Box 4">
            <a:extLst>
              <a:ext uri="{FF2B5EF4-FFF2-40B4-BE49-F238E27FC236}">
                <a16:creationId xmlns:a16="http://schemas.microsoft.com/office/drawing/2014/main" id="{3B1AFC64-2766-12FF-099F-6910F5D1BAC2}"/>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latin typeface="Times New Roman" panose="02020603050405020304" pitchFamily="18" charset="0"/>
            </a:endParaRPr>
          </a:p>
        </p:txBody>
      </p:sp>
      <p:sp>
        <p:nvSpPr>
          <p:cNvPr id="565253" name="Rectangle 5">
            <a:extLst>
              <a:ext uri="{FF2B5EF4-FFF2-40B4-BE49-F238E27FC236}">
                <a16:creationId xmlns:a16="http://schemas.microsoft.com/office/drawing/2014/main" id="{02749B38-A53D-5A4D-B151-DB9EE6DDCFB8}"/>
              </a:ext>
            </a:extLst>
          </p:cNvPr>
          <p:cNvSpPr>
            <a:spLocks noChangeArrowheads="1"/>
          </p:cNvSpPr>
          <p:nvPr/>
        </p:nvSpPr>
        <p:spPr bwMode="auto">
          <a:xfrm>
            <a:off x="335280" y="629295"/>
            <a:ext cx="1152144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US" sz="2400" dirty="0">
                <a:solidFill>
                  <a:srgbClr val="242021"/>
                </a:solidFill>
                <a:latin typeface="Times New Roman" panose="02020603050405020304" pitchFamily="18" charset="0"/>
                <a:cs typeface="Times New Roman" panose="02020603050405020304" pitchFamily="18" charset="0"/>
              </a:rPr>
              <a:t>IEEE 802.11 defines the </a:t>
            </a:r>
            <a:r>
              <a:rPr lang="en-US" sz="2400" b="1" dirty="0">
                <a:solidFill>
                  <a:srgbClr val="242021"/>
                </a:solidFill>
                <a:latin typeface="Times New Roman" panose="02020603050405020304" pitchFamily="18" charset="0"/>
                <a:cs typeface="Times New Roman" panose="02020603050405020304" pitchFamily="18" charset="0"/>
              </a:rPr>
              <a:t>basic service set (BSS) </a:t>
            </a:r>
            <a:r>
              <a:rPr lang="en-US" sz="2400" dirty="0">
                <a:solidFill>
                  <a:srgbClr val="242021"/>
                </a:solidFill>
                <a:latin typeface="Times New Roman" panose="02020603050405020304" pitchFamily="18" charset="0"/>
                <a:cs typeface="Times New Roman" panose="02020603050405020304" pitchFamily="18" charset="0"/>
              </a:rPr>
              <a:t>as the building blocks of a wireless LAN. A basic service set is made of stationary or mobile wireless stations and an optional central base station, known as the </a:t>
            </a:r>
            <a:r>
              <a:rPr lang="en-US" sz="2400" i="1" dirty="0">
                <a:solidFill>
                  <a:srgbClr val="242021"/>
                </a:solidFill>
                <a:latin typeface="Times New Roman" panose="02020603050405020304" pitchFamily="18" charset="0"/>
                <a:cs typeface="Times New Roman" panose="02020603050405020304" pitchFamily="18" charset="0"/>
              </a:rPr>
              <a:t>access point (AP)</a:t>
            </a:r>
            <a:r>
              <a:rPr lang="en-US" sz="2400" dirty="0">
                <a:solidFill>
                  <a:srgbClr val="242021"/>
                </a:solidFill>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br>
              <a:rPr lang="en-US"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C9CB2EEE-CB0D-8230-FD40-2E00AA60A851}"/>
              </a:ext>
            </a:extLst>
          </p:cNvPr>
          <p:cNvSpPr>
            <a:spLocks noChangeArrowheads="1"/>
          </p:cNvSpPr>
          <p:nvPr/>
        </p:nvSpPr>
        <p:spPr bwMode="auto">
          <a:xfrm>
            <a:off x="436880" y="2084388"/>
            <a:ext cx="3017520" cy="353943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5pPr>
            <a:lvl6pPr marL="2286000" algn="l" defTabSz="914400" rtl="0" eaLnBrk="1" latinLnBrk="0" hangingPunct="1">
              <a:defRPr sz="3200" b="1" kern="1200">
                <a:solidFill>
                  <a:schemeClr val="tx1"/>
                </a:solidFill>
                <a:latin typeface="Arial" panose="020B0604020202020204" pitchFamily="34" charset="0"/>
                <a:ea typeface="+mn-ea"/>
                <a:cs typeface="+mn-cs"/>
              </a:defRPr>
            </a:lvl6pPr>
            <a:lvl7pPr marL="2743200" algn="l" defTabSz="914400" rtl="0" eaLnBrk="1" latinLnBrk="0" hangingPunct="1">
              <a:defRPr sz="3200" b="1" kern="1200">
                <a:solidFill>
                  <a:schemeClr val="tx1"/>
                </a:solidFill>
                <a:latin typeface="Arial" panose="020B0604020202020204" pitchFamily="34" charset="0"/>
                <a:ea typeface="+mn-ea"/>
                <a:cs typeface="+mn-cs"/>
              </a:defRPr>
            </a:lvl7pPr>
            <a:lvl8pPr marL="3200400" algn="l" defTabSz="914400" rtl="0" eaLnBrk="1" latinLnBrk="0" hangingPunct="1">
              <a:defRPr sz="3200" b="1" kern="1200">
                <a:solidFill>
                  <a:schemeClr val="tx1"/>
                </a:solidFill>
                <a:latin typeface="Arial" panose="020B0604020202020204" pitchFamily="34" charset="0"/>
                <a:ea typeface="+mn-ea"/>
                <a:cs typeface="+mn-cs"/>
              </a:defRPr>
            </a:lvl8pPr>
            <a:lvl9pPr marL="3657600" algn="l" defTabSz="914400" rtl="0" eaLnBrk="1" latinLnBrk="0" hangingPunct="1">
              <a:defRPr sz="3200" b="1" kern="1200">
                <a:solidFill>
                  <a:schemeClr val="tx1"/>
                </a:solidFill>
                <a:latin typeface="Arial" panose="020B0604020202020204" pitchFamily="34" charset="0"/>
                <a:ea typeface="+mn-ea"/>
                <a:cs typeface="+mn-cs"/>
              </a:defRPr>
            </a:lvl9pPr>
          </a:lstStyle>
          <a:p>
            <a:pPr algn="ctr"/>
            <a:r>
              <a:rPr lang="en-US" altLang="en-US" sz="2800" dirty="0"/>
              <a:t>A BSS without an AP is called an ad</a:t>
            </a:r>
            <a:r>
              <a:rPr lang="en-US" altLang="en-US" sz="2800" dirty="0">
                <a:solidFill>
                  <a:schemeClr val="hlink"/>
                </a:solidFill>
              </a:rPr>
              <a:t> hoc</a:t>
            </a:r>
            <a:r>
              <a:rPr lang="en-US" altLang="en-US" sz="2800" dirty="0"/>
              <a:t> network;</a:t>
            </a:r>
          </a:p>
          <a:p>
            <a:pPr algn="ctr"/>
            <a:r>
              <a:rPr lang="en-US" altLang="en-US" sz="2800" dirty="0"/>
              <a:t>a BSS with an AP is called an</a:t>
            </a:r>
            <a:r>
              <a:rPr lang="en-US" altLang="en-US" sz="2800" dirty="0">
                <a:solidFill>
                  <a:schemeClr val="hlink"/>
                </a:solidFill>
              </a:rPr>
              <a:t> infrastructure</a:t>
            </a:r>
            <a:r>
              <a:rPr lang="en-US" altLang="en-US" sz="2800" dirty="0"/>
              <a:t> network.</a:t>
            </a:r>
          </a:p>
        </p:txBody>
      </p:sp>
      <p:pic>
        <p:nvPicPr>
          <p:cNvPr id="4" name="Picture 3">
            <a:extLst>
              <a:ext uri="{FF2B5EF4-FFF2-40B4-BE49-F238E27FC236}">
                <a16:creationId xmlns:a16="http://schemas.microsoft.com/office/drawing/2014/main" id="{79FFC23C-20EB-DB43-E0E6-818A711B79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8263" y="2198955"/>
            <a:ext cx="8029257" cy="3550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9140" name="Text Box 4">
            <a:extLst>
              <a:ext uri="{FF2B5EF4-FFF2-40B4-BE49-F238E27FC236}">
                <a16:creationId xmlns:a16="http://schemas.microsoft.com/office/drawing/2014/main" id="{6BE0A4A3-F939-CBA4-3CF8-A7297BE228CF}"/>
              </a:ext>
            </a:extLst>
          </p:cNvPr>
          <p:cNvSpPr txBox="1">
            <a:spLocks noChangeArrowheads="1"/>
          </p:cNvSpPr>
          <p:nvPr/>
        </p:nvSpPr>
        <p:spPr bwMode="auto">
          <a:xfrm>
            <a:off x="3242270" y="475676"/>
            <a:ext cx="489589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i="1" dirty="0">
                <a:solidFill>
                  <a:srgbClr val="0000FF"/>
                </a:solidFill>
                <a:latin typeface="Times New Roman" panose="02020603050405020304" pitchFamily="18" charset="0"/>
              </a:rPr>
              <a:t>Extended service sets (ESSs)</a:t>
            </a:r>
          </a:p>
        </p:txBody>
      </p:sp>
      <p:pic>
        <p:nvPicPr>
          <p:cNvPr id="859142" name="Picture 6">
            <a:extLst>
              <a:ext uri="{FF2B5EF4-FFF2-40B4-BE49-F238E27FC236}">
                <a16:creationId xmlns:a16="http://schemas.microsoft.com/office/drawing/2014/main" id="{75731299-5AC9-C8B9-3E02-7A6664C1BB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7512" y="1598929"/>
            <a:ext cx="6032500" cy="427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DF827B1B-4BA0-1312-EA76-2706243185AB}"/>
              </a:ext>
            </a:extLst>
          </p:cNvPr>
          <p:cNvSpPr txBox="1"/>
          <p:nvPr/>
        </p:nvSpPr>
        <p:spPr>
          <a:xfrm>
            <a:off x="213360" y="1764773"/>
            <a:ext cx="4895892" cy="3785652"/>
          </a:xfrm>
          <a:prstGeom prst="rect">
            <a:avLst/>
          </a:prstGeom>
          <a:noFill/>
        </p:spPr>
        <p:txBody>
          <a:bodyPr wrap="square">
            <a:spAutoFit/>
          </a:bodyPr>
          <a:lstStyle/>
          <a:p>
            <a:pPr marL="342900" indent="-342900">
              <a:buFont typeface="Wingdings" panose="05000000000000000000" pitchFamily="2" charset="2"/>
              <a:buChar char="Ø"/>
            </a:pPr>
            <a:r>
              <a:rPr lang="en-US" sz="2400" b="0" i="0" dirty="0">
                <a:solidFill>
                  <a:srgbClr val="242021"/>
                </a:solidFill>
                <a:effectLst/>
                <a:latin typeface="Times New Roman" panose="02020603050405020304" pitchFamily="18" charset="0"/>
                <a:cs typeface="Times New Roman" panose="02020603050405020304" pitchFamily="18" charset="0"/>
              </a:rPr>
              <a:t>An </a:t>
            </a:r>
            <a:r>
              <a:rPr lang="en-US" sz="2400" b="1" i="0" dirty="0">
                <a:solidFill>
                  <a:srgbClr val="242021"/>
                </a:solidFill>
                <a:effectLst/>
                <a:latin typeface="Times New Roman" panose="02020603050405020304" pitchFamily="18" charset="0"/>
                <a:cs typeface="Times New Roman" panose="02020603050405020304" pitchFamily="18" charset="0"/>
              </a:rPr>
              <a:t>extended service set (ESS) </a:t>
            </a:r>
            <a:r>
              <a:rPr lang="en-US" sz="2400" b="0" i="0" dirty="0">
                <a:solidFill>
                  <a:srgbClr val="242021"/>
                </a:solidFill>
                <a:effectLst/>
                <a:latin typeface="Times New Roman" panose="02020603050405020304" pitchFamily="18" charset="0"/>
                <a:cs typeface="Times New Roman" panose="02020603050405020304" pitchFamily="18" charset="0"/>
              </a:rPr>
              <a:t>is made up of two or more BSSs with APs. </a:t>
            </a:r>
          </a:p>
          <a:p>
            <a:pPr marL="342900" indent="-342900">
              <a:buFont typeface="Wingdings" panose="05000000000000000000" pitchFamily="2" charset="2"/>
              <a:buChar char="Ø"/>
            </a:pPr>
            <a:r>
              <a:rPr lang="en-US" sz="2400" b="0" i="0" dirty="0">
                <a:solidFill>
                  <a:srgbClr val="242021"/>
                </a:solidFill>
                <a:effectLst/>
                <a:latin typeface="Times New Roman" panose="02020603050405020304" pitchFamily="18" charset="0"/>
                <a:cs typeface="Times New Roman" panose="02020603050405020304" pitchFamily="18" charset="0"/>
              </a:rPr>
              <a:t>In this case, the BSSs are connected through a </a:t>
            </a:r>
            <a:r>
              <a:rPr lang="en-US" sz="2400" b="0" i="1" dirty="0">
                <a:solidFill>
                  <a:srgbClr val="242021"/>
                </a:solidFill>
                <a:effectLst/>
                <a:latin typeface="Times New Roman" panose="02020603050405020304" pitchFamily="18" charset="0"/>
                <a:cs typeface="Times New Roman" panose="02020603050405020304" pitchFamily="18" charset="0"/>
              </a:rPr>
              <a:t>distribution system, </a:t>
            </a:r>
            <a:r>
              <a:rPr lang="en-US" sz="2400" b="0" i="0" dirty="0">
                <a:solidFill>
                  <a:srgbClr val="242021"/>
                </a:solidFill>
                <a:effectLst/>
                <a:latin typeface="Times New Roman" panose="02020603050405020304" pitchFamily="18" charset="0"/>
                <a:cs typeface="Times New Roman" panose="02020603050405020304" pitchFamily="18" charset="0"/>
              </a:rPr>
              <a:t>which is a wired or a wireless network. </a:t>
            </a:r>
          </a:p>
          <a:p>
            <a:pPr marL="342900" indent="-342900">
              <a:buFont typeface="Wingdings" panose="05000000000000000000" pitchFamily="2" charset="2"/>
              <a:buChar char="Ø"/>
            </a:pPr>
            <a:r>
              <a:rPr lang="en-US" sz="2400" b="0" i="0" dirty="0">
                <a:solidFill>
                  <a:srgbClr val="242021"/>
                </a:solidFill>
                <a:effectLst/>
                <a:latin typeface="Times New Roman" panose="02020603050405020304" pitchFamily="18" charset="0"/>
                <a:cs typeface="Times New Roman" panose="02020603050405020304" pitchFamily="18" charset="0"/>
              </a:rPr>
              <a:t>The distribution system connects the APs in the BSSs.</a:t>
            </a:r>
            <a:r>
              <a:rPr lang="en-US" sz="2400" dirty="0">
                <a:latin typeface="Times New Roman" panose="02020603050405020304" pitchFamily="18" charset="0"/>
                <a:cs typeface="Times New Roman" panose="02020603050405020304" pitchFamily="18" charset="0"/>
              </a:rPr>
              <a:t> </a:t>
            </a:r>
            <a:br>
              <a:rPr lang="en-US"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57091" name="Text Box 3">
            <a:extLst>
              <a:ext uri="{FF2B5EF4-FFF2-40B4-BE49-F238E27FC236}">
                <a16:creationId xmlns:a16="http://schemas.microsoft.com/office/drawing/2014/main" id="{68869E57-9ECB-321C-9464-4BCDF602BE6B}"/>
              </a:ext>
            </a:extLst>
          </p:cNvPr>
          <p:cNvSpPr txBox="1">
            <a:spLocks noChangeArrowheads="1"/>
          </p:cNvSpPr>
          <p:nvPr/>
        </p:nvSpPr>
        <p:spPr bwMode="auto">
          <a:xfrm>
            <a:off x="4445000" y="190956"/>
            <a:ext cx="263783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dirty="0">
                <a:solidFill>
                  <a:srgbClr val="0000FF"/>
                </a:solidFill>
                <a:effectLst>
                  <a:outerShdw blurRad="38100" dist="38100" dir="2700000" algn="tl">
                    <a:srgbClr val="C0C0C0"/>
                  </a:outerShdw>
                </a:effectLst>
                <a:latin typeface="Times" panose="02020603050405020304" pitchFamily="18" charset="0"/>
              </a:rPr>
              <a:t>BLUETOOTH</a:t>
            </a:r>
          </a:p>
        </p:txBody>
      </p:sp>
      <p:sp>
        <p:nvSpPr>
          <p:cNvPr id="857092" name="Text Box 4">
            <a:extLst>
              <a:ext uri="{FF2B5EF4-FFF2-40B4-BE49-F238E27FC236}">
                <a16:creationId xmlns:a16="http://schemas.microsoft.com/office/drawing/2014/main" id="{567A2187-1776-101B-5F20-9D5E16FC3805}"/>
              </a:ext>
            </a:extLst>
          </p:cNvPr>
          <p:cNvSpPr txBox="1">
            <a:spLocks noChangeArrowheads="1"/>
          </p:cNvSpPr>
          <p:nvPr/>
        </p:nvSpPr>
        <p:spPr bwMode="auto">
          <a:xfrm>
            <a:off x="9753600" y="6400801"/>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latin typeface="Times New Roman" panose="02020603050405020304" pitchFamily="18" charset="0"/>
            </a:endParaRPr>
          </a:p>
        </p:txBody>
      </p:sp>
      <p:sp>
        <p:nvSpPr>
          <p:cNvPr id="857093" name="Rectangle 5">
            <a:extLst>
              <a:ext uri="{FF2B5EF4-FFF2-40B4-BE49-F238E27FC236}">
                <a16:creationId xmlns:a16="http://schemas.microsoft.com/office/drawing/2014/main" id="{91C28780-0895-AC3B-0ADF-C69E7D49092B}"/>
              </a:ext>
            </a:extLst>
          </p:cNvPr>
          <p:cNvSpPr>
            <a:spLocks noChangeArrowheads="1"/>
          </p:cNvSpPr>
          <p:nvPr/>
        </p:nvSpPr>
        <p:spPr bwMode="auto">
          <a:xfrm>
            <a:off x="138944" y="878556"/>
            <a:ext cx="1169745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342900" indent="-342900" algn="just" eaLnBrk="1" hangingPunct="1">
              <a:buFont typeface="Wingdings" panose="05000000000000000000" pitchFamily="2" charset="2"/>
              <a:buChar char="Ø"/>
            </a:pPr>
            <a:r>
              <a:rPr lang="en-US" altLang="en-US" sz="2400" dirty="0">
                <a:solidFill>
                  <a:schemeClr val="hlink"/>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Bluetooth</a:t>
            </a:r>
            <a:r>
              <a:rPr lang="en-US" alt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 is a wireless LAN technology designed to connect devices of different functions such as telephones, notebooks, computers, cameras, printers, coffee makers, and so on. </a:t>
            </a:r>
          </a:p>
          <a:p>
            <a:pPr marL="342900" indent="-342900" algn="just" eaLnBrk="1" hangingPunct="1">
              <a:buFont typeface="Wingdings" panose="05000000000000000000" pitchFamily="2" charset="2"/>
              <a:buChar char="Ø"/>
            </a:pPr>
            <a:r>
              <a:rPr lang="en-US" altLang="en-US" sz="24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A Bluetooth LAN is an ad hoc network, which means that the network is formed spontaneously. </a:t>
            </a: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Piconets can be combined to form what is called a </a:t>
            </a:r>
            <a:r>
              <a:rPr lang="en-US" sz="2400" b="1" dirty="0">
                <a:latin typeface="Times New Roman" panose="02020603050405020304" pitchFamily="18" charset="0"/>
                <a:cs typeface="Times New Roman" panose="02020603050405020304" pitchFamily="18" charset="0"/>
              </a:rPr>
              <a:t>scatternet. </a:t>
            </a:r>
            <a:r>
              <a:rPr lang="en-US" sz="2400" dirty="0">
                <a:latin typeface="Times New Roman" panose="02020603050405020304" pitchFamily="18" charset="0"/>
                <a:cs typeface="Times New Roman" panose="02020603050405020304" pitchFamily="18" charset="0"/>
              </a:rPr>
              <a:t>A secondary station in one piconet can be the primary in another piconet. </a:t>
            </a:r>
            <a:br>
              <a:rPr lang="en-US" sz="2400" dirty="0"/>
            </a:br>
            <a:endParaRPr lang="en-US" altLang="en-US" sz="2400" i="1" dirty="0">
              <a:effectLst>
                <a:outerShdw blurRad="38100" dist="38100" dir="2700000" algn="tl">
                  <a:srgbClr val="C0C0C0"/>
                </a:outerShdw>
              </a:effectLst>
              <a:latin typeface="Times New Roman" panose="02020603050405020304" pitchFamily="18" charset="0"/>
            </a:endParaRPr>
          </a:p>
        </p:txBody>
      </p:sp>
      <p:grpSp>
        <p:nvGrpSpPr>
          <p:cNvPr id="8" name="Group 7">
            <a:extLst>
              <a:ext uri="{FF2B5EF4-FFF2-40B4-BE49-F238E27FC236}">
                <a16:creationId xmlns:a16="http://schemas.microsoft.com/office/drawing/2014/main" id="{39F1873C-F70F-69A7-D058-29D4F2409AAE}"/>
              </a:ext>
            </a:extLst>
          </p:cNvPr>
          <p:cNvGrpSpPr/>
          <p:nvPr/>
        </p:nvGrpSpPr>
        <p:grpSpPr>
          <a:xfrm>
            <a:off x="545350" y="3313048"/>
            <a:ext cx="11291049" cy="3330917"/>
            <a:chOff x="240551" y="3561843"/>
            <a:chExt cx="11780050" cy="3606635"/>
          </a:xfrm>
        </p:grpSpPr>
        <p:pic>
          <p:nvPicPr>
            <p:cNvPr id="6" name="Picture 6">
              <a:extLst>
                <a:ext uri="{FF2B5EF4-FFF2-40B4-BE49-F238E27FC236}">
                  <a16:creationId xmlns:a16="http://schemas.microsoft.com/office/drawing/2014/main" id="{DF0BF690-8427-3BA6-F006-7694A7AB4A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4403" y="3704718"/>
              <a:ext cx="6026198" cy="3463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91E4E8A2-FE43-8DD2-A559-1CE410913B8E}"/>
                </a:ext>
              </a:extLst>
            </p:cNvPr>
            <p:cNvPicPr>
              <a:picLocks noChangeAspect="1"/>
            </p:cNvPicPr>
            <p:nvPr/>
          </p:nvPicPr>
          <p:blipFill>
            <a:blip r:embed="rId4"/>
            <a:stretch>
              <a:fillRect/>
            </a:stretch>
          </p:blipFill>
          <p:spPr>
            <a:xfrm>
              <a:off x="240551" y="3564732"/>
              <a:ext cx="5524500" cy="3019425"/>
            </a:xfrm>
            <a:prstGeom prst="rect">
              <a:avLst/>
            </a:prstGeom>
          </p:spPr>
        </p:pic>
        <p:pic>
          <p:nvPicPr>
            <p:cNvPr id="7" name="Picture 6">
              <a:extLst>
                <a:ext uri="{FF2B5EF4-FFF2-40B4-BE49-F238E27FC236}">
                  <a16:creationId xmlns:a16="http://schemas.microsoft.com/office/drawing/2014/main" id="{3327F787-8D0B-729F-7050-651215E03FAA}"/>
                </a:ext>
              </a:extLst>
            </p:cNvPr>
            <p:cNvPicPr>
              <a:picLocks noChangeAspect="1"/>
            </p:cNvPicPr>
            <p:nvPr/>
          </p:nvPicPr>
          <p:blipFill>
            <a:blip r:embed="rId5"/>
            <a:stretch>
              <a:fillRect/>
            </a:stretch>
          </p:blipFill>
          <p:spPr>
            <a:xfrm>
              <a:off x="8113715" y="3561843"/>
              <a:ext cx="1285875" cy="285750"/>
            </a:xfrm>
            <a:prstGeom prst="rect">
              <a:avLst/>
            </a:prstGeom>
          </p:spPr>
        </p:pic>
      </p:gr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F1114F-B514-F4EA-15E2-31A0224C3386}"/>
              </a:ext>
            </a:extLst>
          </p:cNvPr>
          <p:cNvPicPr>
            <a:picLocks noChangeAspect="1"/>
          </p:cNvPicPr>
          <p:nvPr/>
        </p:nvPicPr>
        <p:blipFill>
          <a:blip r:embed="rId2"/>
          <a:stretch>
            <a:fillRect/>
          </a:stretch>
        </p:blipFill>
        <p:spPr>
          <a:xfrm>
            <a:off x="905435" y="1017905"/>
            <a:ext cx="10381129" cy="5147310"/>
          </a:xfrm>
          <a:prstGeom prst="rect">
            <a:avLst/>
          </a:prstGeom>
        </p:spPr>
      </p:pic>
      <p:sp>
        <p:nvSpPr>
          <p:cNvPr id="4" name="Text Box 3">
            <a:extLst>
              <a:ext uri="{FF2B5EF4-FFF2-40B4-BE49-F238E27FC236}">
                <a16:creationId xmlns:a16="http://schemas.microsoft.com/office/drawing/2014/main" id="{4C2B98E3-F57A-739A-E5D2-A69A5F9C72B0}"/>
              </a:ext>
            </a:extLst>
          </p:cNvPr>
          <p:cNvSpPr txBox="1">
            <a:spLocks noChangeArrowheads="1"/>
          </p:cNvSpPr>
          <p:nvPr/>
        </p:nvSpPr>
        <p:spPr bwMode="auto">
          <a:xfrm>
            <a:off x="4445000" y="190956"/>
            <a:ext cx="263783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dirty="0">
                <a:solidFill>
                  <a:srgbClr val="0000FF"/>
                </a:solidFill>
                <a:effectLst>
                  <a:outerShdw blurRad="38100" dist="38100" dir="2700000" algn="tl">
                    <a:srgbClr val="C0C0C0"/>
                  </a:outerShdw>
                </a:effectLst>
                <a:latin typeface="Times" panose="02020603050405020304" pitchFamily="18" charset="0"/>
              </a:rPr>
              <a:t>BLUETOOTH</a:t>
            </a:r>
          </a:p>
        </p:txBody>
      </p:sp>
    </p:spTree>
    <p:extLst>
      <p:ext uri="{BB962C8B-B14F-4D97-AF65-F5344CB8AC3E}">
        <p14:creationId xmlns:p14="http://schemas.microsoft.com/office/powerpoint/2010/main" val="34516341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2107</TotalTime>
  <Words>5304</Words>
  <Application>Microsoft Office PowerPoint</Application>
  <PresentationFormat>Widescreen</PresentationFormat>
  <Paragraphs>492</Paragraphs>
  <Slides>89</Slides>
  <Notes>32</Notes>
  <HiddenSlides>5</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89</vt:i4>
      </vt:variant>
    </vt:vector>
  </HeadingPairs>
  <TitlesOfParts>
    <vt:vector size="101" baseType="lpstr">
      <vt:lpstr>Accord SF</vt:lpstr>
      <vt:lpstr>Times-Italic</vt:lpstr>
      <vt:lpstr>Times-Roman</vt:lpstr>
      <vt:lpstr>Arial</vt:lpstr>
      <vt:lpstr>Calibri</vt:lpstr>
      <vt:lpstr>Calibri Light</vt:lpstr>
      <vt:lpstr>Cambria Math</vt:lpstr>
      <vt:lpstr>Courier New</vt:lpstr>
      <vt:lpstr>Times</vt:lpstr>
      <vt:lpstr>Times New Roman</vt:lpstr>
      <vt:lpstr>Wingdings</vt:lpstr>
      <vt:lpstr>Office Theme</vt:lpstr>
      <vt:lpstr>Unit 3  Data Link Layer </vt:lpstr>
      <vt:lpstr>Syllabus</vt:lpstr>
      <vt:lpstr>Error Detection and Correction</vt:lpstr>
      <vt:lpstr>PowerPoint Presentation</vt:lpstr>
      <vt:lpstr>Single-Bit Error</vt:lpstr>
      <vt:lpstr>Burst Error</vt:lpstr>
      <vt:lpstr>Block Coding</vt:lpstr>
      <vt:lpstr>Process of error detection in block coding</vt:lpstr>
      <vt:lpstr>Block Coding</vt:lpstr>
      <vt:lpstr>PowerPoint Presentation</vt:lpstr>
      <vt:lpstr>PowerPoint Presentation</vt:lpstr>
      <vt:lpstr>PowerPoint Presentation</vt:lpstr>
      <vt:lpstr>PowerPoint Presentation</vt:lpstr>
      <vt:lpstr>PowerPoint Presentation</vt:lpstr>
      <vt:lpstr>PowerPoint Presentation</vt:lpstr>
      <vt:lpstr>Single Parity Check Code</vt:lpstr>
      <vt:lpstr>PowerPoint Presentation</vt:lpstr>
      <vt:lpstr>PowerPoint Presentation</vt:lpstr>
      <vt:lpstr>PowerPoint Presentation</vt:lpstr>
      <vt:lpstr>PowerPoint Presentation</vt:lpstr>
      <vt:lpstr>Cyclic Codes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Flow and Error Control</vt:lpstr>
      <vt:lpstr>PowerPoint Presentation</vt:lpstr>
      <vt:lpstr>   NOISLESS CHANNELS</vt:lpstr>
      <vt:lpstr>Simplest Protocol</vt:lpstr>
      <vt:lpstr>Stop-and-Wait Protocol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Normal Response Mode(NRM)</vt:lpstr>
      <vt:lpstr>Asynchronous Balanced Mode (ABM)</vt:lpstr>
      <vt:lpstr>HDLC Frames</vt:lpstr>
      <vt:lpstr>HDLC Frame Format</vt:lpstr>
      <vt:lpstr>Fields</vt:lpstr>
      <vt:lpstr>PowerPoint Presentation</vt:lpstr>
      <vt:lpstr>PowerPoint Presentation</vt:lpstr>
      <vt:lpstr>PowerPoint Presentation</vt:lpstr>
      <vt:lpstr>Media Access Control (MAC)</vt:lpstr>
      <vt:lpstr>PowerPoint Presentation</vt:lpstr>
      <vt:lpstr>Pure ALOHA</vt:lpstr>
      <vt:lpstr>Pure ALOHA</vt:lpstr>
      <vt:lpstr>Slotted ALOHA</vt:lpstr>
      <vt:lpstr>Slotted ALOHA</vt:lpstr>
      <vt:lpstr>Carrier Sense Multiple Access (CSMA)</vt:lpstr>
      <vt:lpstr>Carrier Sense Multiple Access (CSMA)</vt:lpstr>
      <vt:lpstr>Persistence Methods</vt:lpstr>
      <vt:lpstr>Persistence Methods</vt:lpstr>
      <vt:lpstr>CSMA/CD</vt:lpstr>
      <vt:lpstr>PowerPoint Presentation</vt:lpstr>
      <vt:lpstr>PowerPoint Presentation</vt:lpstr>
      <vt:lpstr>PowerPoint Presentation</vt:lpstr>
      <vt:lpstr>Reservation </vt:lpstr>
      <vt:lpstr>PowerPoint Presentation</vt:lpstr>
      <vt:lpstr>PowerPoint Presentation</vt:lpstr>
      <vt:lpstr>PowerPoint Presentation</vt:lpstr>
      <vt:lpstr>FDMA</vt:lpstr>
      <vt:lpstr>TDMA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Santosh Kumar Sahu</dc:creator>
  <cp:lastModifiedBy>Jyoti Prasanna Patra</cp:lastModifiedBy>
  <cp:revision>428</cp:revision>
  <cp:lastPrinted>2026-09-09T09:36:26Z</cp:lastPrinted>
  <dcterms:created xsi:type="dcterms:W3CDTF">2024-09-16T10:01:53Z</dcterms:created>
  <dcterms:modified xsi:type="dcterms:W3CDTF">2026-09-09T09:43:13Z</dcterms:modified>
</cp:coreProperties>
</file>