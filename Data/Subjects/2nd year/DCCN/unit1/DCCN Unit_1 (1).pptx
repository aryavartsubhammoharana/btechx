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108"/>
  </p:notesMasterIdLst>
  <p:handoutMasterIdLst>
    <p:handoutMasterId r:id="rId109"/>
  </p:handoutMasterIdLst>
  <p:sldIdLst>
    <p:sldId id="257" r:id="rId2"/>
    <p:sldId id="284" r:id="rId3"/>
    <p:sldId id="285" r:id="rId4"/>
    <p:sldId id="832" r:id="rId5"/>
    <p:sldId id="882" r:id="rId6"/>
    <p:sldId id="362" r:id="rId7"/>
    <p:sldId id="763" r:id="rId8"/>
    <p:sldId id="535" r:id="rId9"/>
    <p:sldId id="310" r:id="rId10"/>
    <p:sldId id="749" r:id="rId11"/>
    <p:sldId id="380" r:id="rId12"/>
    <p:sldId id="770" r:id="rId13"/>
    <p:sldId id="772" r:id="rId14"/>
    <p:sldId id="773" r:id="rId15"/>
    <p:sldId id="774" r:id="rId16"/>
    <p:sldId id="746" r:id="rId17"/>
    <p:sldId id="834" r:id="rId18"/>
    <p:sldId id="751" r:id="rId19"/>
    <p:sldId id="778" r:id="rId20"/>
    <p:sldId id="273" r:id="rId21"/>
    <p:sldId id="274" r:id="rId22"/>
    <p:sldId id="275" r:id="rId23"/>
    <p:sldId id="885" r:id="rId24"/>
    <p:sldId id="757" r:id="rId25"/>
    <p:sldId id="398" r:id="rId26"/>
    <p:sldId id="835" r:id="rId27"/>
    <p:sldId id="400" r:id="rId28"/>
    <p:sldId id="837" r:id="rId29"/>
    <p:sldId id="912" r:id="rId30"/>
    <p:sldId id="403" r:id="rId31"/>
    <p:sldId id="876" r:id="rId32"/>
    <p:sldId id="404" r:id="rId33"/>
    <p:sldId id="406" r:id="rId34"/>
    <p:sldId id="408" r:id="rId35"/>
    <p:sldId id="409" r:id="rId36"/>
    <p:sldId id="634" r:id="rId37"/>
    <p:sldId id="783" r:id="rId38"/>
    <p:sldId id="588" r:id="rId39"/>
    <p:sldId id="780" r:id="rId40"/>
    <p:sldId id="781" r:id="rId41"/>
    <p:sldId id="782" r:id="rId42"/>
    <p:sldId id="590" r:id="rId43"/>
    <p:sldId id="633" r:id="rId44"/>
    <p:sldId id="591" r:id="rId45"/>
    <p:sldId id="592" r:id="rId46"/>
    <p:sldId id="594" r:id="rId47"/>
    <p:sldId id="596" r:id="rId48"/>
    <p:sldId id="635" r:id="rId49"/>
    <p:sldId id="598" r:id="rId50"/>
    <p:sldId id="599" r:id="rId51"/>
    <p:sldId id="600" r:id="rId52"/>
    <p:sldId id="894" r:id="rId53"/>
    <p:sldId id="636" r:id="rId54"/>
    <p:sldId id="637" r:id="rId55"/>
    <p:sldId id="638" r:id="rId56"/>
    <p:sldId id="785" r:id="rId57"/>
    <p:sldId id="640" r:id="rId58"/>
    <p:sldId id="641" r:id="rId59"/>
    <p:sldId id="642" r:id="rId60"/>
    <p:sldId id="603" r:id="rId61"/>
    <p:sldId id="893" r:id="rId62"/>
    <p:sldId id="259" r:id="rId63"/>
    <p:sldId id="887" r:id="rId64"/>
    <p:sldId id="889" r:id="rId65"/>
    <p:sldId id="888" r:id="rId66"/>
    <p:sldId id="886" r:id="rId67"/>
    <p:sldId id="890" r:id="rId68"/>
    <p:sldId id="891" r:id="rId69"/>
    <p:sldId id="897" r:id="rId70"/>
    <p:sldId id="299" r:id="rId71"/>
    <p:sldId id="300" r:id="rId72"/>
    <p:sldId id="910" r:id="rId73"/>
    <p:sldId id="911" r:id="rId74"/>
    <p:sldId id="779" r:id="rId75"/>
    <p:sldId id="288" r:id="rId76"/>
    <p:sldId id="293" r:id="rId77"/>
    <p:sldId id="294" r:id="rId78"/>
    <p:sldId id="908" r:id="rId79"/>
    <p:sldId id="296" r:id="rId80"/>
    <p:sldId id="297" r:id="rId81"/>
    <p:sldId id="771" r:id="rId82"/>
    <p:sldId id="645" r:id="rId83"/>
    <p:sldId id="646" r:id="rId84"/>
    <p:sldId id="647" r:id="rId85"/>
    <p:sldId id="648" r:id="rId86"/>
    <p:sldId id="649" r:id="rId87"/>
    <p:sldId id="840" r:id="rId88"/>
    <p:sldId id="827" r:id="rId89"/>
    <p:sldId id="904" r:id="rId90"/>
    <p:sldId id="803" r:id="rId91"/>
    <p:sldId id="831" r:id="rId92"/>
    <p:sldId id="843" r:id="rId93"/>
    <p:sldId id="844" r:id="rId94"/>
    <p:sldId id="855" r:id="rId95"/>
    <p:sldId id="906" r:id="rId96"/>
    <p:sldId id="817" r:id="rId97"/>
    <p:sldId id="818" r:id="rId98"/>
    <p:sldId id="769" r:id="rId99"/>
    <p:sldId id="907" r:id="rId100"/>
    <p:sldId id="809" r:id="rId101"/>
    <p:sldId id="859" r:id="rId102"/>
    <p:sldId id="860" r:id="rId103"/>
    <p:sldId id="861" r:id="rId104"/>
    <p:sldId id="862" r:id="rId105"/>
    <p:sldId id="863" r:id="rId106"/>
    <p:sldId id="905" r:id="rId107"/>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33CC"/>
    <a:srgbClr val="660066"/>
    <a:srgbClr val="00CC00"/>
    <a:srgbClr val="996633"/>
    <a:srgbClr val="6666FF"/>
    <a:srgbClr val="CCFF99"/>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94680" autoAdjust="0"/>
  </p:normalViewPr>
  <p:slideViewPr>
    <p:cSldViewPr>
      <p:cViewPr varScale="1">
        <p:scale>
          <a:sx n="75" d="100"/>
          <a:sy n="75" d="100"/>
        </p:scale>
        <p:origin x="172" y="5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0098" name="Rectangle 2">
            <a:extLst>
              <a:ext uri="{FF2B5EF4-FFF2-40B4-BE49-F238E27FC236}">
                <a16:creationId xmlns:a16="http://schemas.microsoft.com/office/drawing/2014/main" id="{F002BB6F-31D5-4E6F-224C-74887FEA364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a:latin typeface="Times New Roman" pitchFamily="18" charset="0"/>
              </a:defRPr>
            </a:lvl1pPr>
          </a:lstStyle>
          <a:p>
            <a:pPr>
              <a:defRPr/>
            </a:pPr>
            <a:endParaRPr lang="en-US"/>
          </a:p>
        </p:txBody>
      </p:sp>
      <p:sp>
        <p:nvSpPr>
          <p:cNvPr id="900099" name="Rectangle 3">
            <a:extLst>
              <a:ext uri="{FF2B5EF4-FFF2-40B4-BE49-F238E27FC236}">
                <a16:creationId xmlns:a16="http://schemas.microsoft.com/office/drawing/2014/main" id="{A9917A82-ABF5-F3AD-2068-9B9210063840}"/>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a:latin typeface="Times New Roman" pitchFamily="18" charset="0"/>
              </a:defRPr>
            </a:lvl1pPr>
          </a:lstStyle>
          <a:p>
            <a:pPr>
              <a:defRPr/>
            </a:pPr>
            <a:endParaRPr lang="en-US"/>
          </a:p>
        </p:txBody>
      </p:sp>
      <p:sp>
        <p:nvSpPr>
          <p:cNvPr id="900100" name="Rectangle 4">
            <a:extLst>
              <a:ext uri="{FF2B5EF4-FFF2-40B4-BE49-F238E27FC236}">
                <a16:creationId xmlns:a16="http://schemas.microsoft.com/office/drawing/2014/main" id="{63D6AFAE-8E83-825C-2D4C-7A34451F2DE3}"/>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a:latin typeface="Times New Roman" pitchFamily="18" charset="0"/>
              </a:defRPr>
            </a:lvl1pPr>
          </a:lstStyle>
          <a:p>
            <a:pPr>
              <a:defRPr/>
            </a:pPr>
            <a:r>
              <a:rPr lang="en-US"/>
              <a:t>1.#</a:t>
            </a:r>
          </a:p>
        </p:txBody>
      </p:sp>
      <p:sp>
        <p:nvSpPr>
          <p:cNvPr id="900101" name="Rectangle 5">
            <a:extLst>
              <a:ext uri="{FF2B5EF4-FFF2-40B4-BE49-F238E27FC236}">
                <a16:creationId xmlns:a16="http://schemas.microsoft.com/office/drawing/2014/main" id="{B719158C-4E79-097D-8E3A-0FB710EC0AA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fld id="{74DFAEED-121B-4057-B003-614A88E4954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8594" name="Rectangle 2">
            <a:extLst>
              <a:ext uri="{FF2B5EF4-FFF2-40B4-BE49-F238E27FC236}">
                <a16:creationId xmlns:a16="http://schemas.microsoft.com/office/drawing/2014/main" id="{B4681F90-8E4E-1388-40BD-1B6337324D4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a:latin typeface="Times New Roman" pitchFamily="18" charset="0"/>
              </a:defRPr>
            </a:lvl1pPr>
          </a:lstStyle>
          <a:p>
            <a:pPr>
              <a:defRPr/>
            </a:pPr>
            <a:endParaRPr lang="en-US"/>
          </a:p>
        </p:txBody>
      </p:sp>
      <p:sp>
        <p:nvSpPr>
          <p:cNvPr id="878595" name="Rectangle 3">
            <a:extLst>
              <a:ext uri="{FF2B5EF4-FFF2-40B4-BE49-F238E27FC236}">
                <a16:creationId xmlns:a16="http://schemas.microsoft.com/office/drawing/2014/main" id="{D9836CE9-F4C7-E11E-8CCF-9B1B513E232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a:latin typeface="Times New Roman" pitchFamily="18" charset="0"/>
              </a:defRPr>
            </a:lvl1pPr>
          </a:lstStyle>
          <a:p>
            <a:pPr>
              <a:defRPr/>
            </a:pPr>
            <a:endParaRPr lang="en-US"/>
          </a:p>
        </p:txBody>
      </p:sp>
      <p:sp>
        <p:nvSpPr>
          <p:cNvPr id="4100" name="Rectangle 4">
            <a:extLst>
              <a:ext uri="{FF2B5EF4-FFF2-40B4-BE49-F238E27FC236}">
                <a16:creationId xmlns:a16="http://schemas.microsoft.com/office/drawing/2014/main" id="{BB8EEEBA-1814-B388-F17D-33F34E8E5FCE}"/>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8597" name="Rectangle 5">
            <a:extLst>
              <a:ext uri="{FF2B5EF4-FFF2-40B4-BE49-F238E27FC236}">
                <a16:creationId xmlns:a16="http://schemas.microsoft.com/office/drawing/2014/main" id="{39F6397A-5EA4-2E05-037C-641AD96548C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78598" name="Rectangle 6">
            <a:extLst>
              <a:ext uri="{FF2B5EF4-FFF2-40B4-BE49-F238E27FC236}">
                <a16:creationId xmlns:a16="http://schemas.microsoft.com/office/drawing/2014/main" id="{0744421B-ABAF-7A08-1A3A-3F116B1DD39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a:latin typeface="Times New Roman" pitchFamily="18" charset="0"/>
              </a:defRPr>
            </a:lvl1pPr>
          </a:lstStyle>
          <a:p>
            <a:pPr>
              <a:defRPr/>
            </a:pPr>
            <a:r>
              <a:rPr lang="en-US"/>
              <a:t>1.#</a:t>
            </a:r>
          </a:p>
        </p:txBody>
      </p:sp>
      <p:sp>
        <p:nvSpPr>
          <p:cNvPr id="878599" name="Rectangle 7">
            <a:extLst>
              <a:ext uri="{FF2B5EF4-FFF2-40B4-BE49-F238E27FC236}">
                <a16:creationId xmlns:a16="http://schemas.microsoft.com/office/drawing/2014/main" id="{BF94DFD4-61D6-93B0-2221-143E770A669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a:latin typeface="Times New Roman" panose="02020603050405020304" pitchFamily="18" charset="0"/>
              </a:defRPr>
            </a:lvl1pPr>
          </a:lstStyle>
          <a:p>
            <a:pPr>
              <a:defRPr/>
            </a:pPr>
            <a:fld id="{9C5C79EB-6DF3-4B8F-A503-33B6CBF5830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7FC5FE7E-4EEB-5950-7B39-6CA83DE26D86}"/>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D6CA0C9D-6D7D-A5FF-3E6E-4E64E4BB7C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20484" name="Footer Placeholder 3">
            <a:extLst>
              <a:ext uri="{FF2B5EF4-FFF2-40B4-BE49-F238E27FC236}">
                <a16:creationId xmlns:a16="http://schemas.microsoft.com/office/drawing/2014/main" id="{3A40A6E7-855A-B3E1-4004-843E8C8D667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20485" name="Slide Number Placeholder 4">
            <a:extLst>
              <a:ext uri="{FF2B5EF4-FFF2-40B4-BE49-F238E27FC236}">
                <a16:creationId xmlns:a16="http://schemas.microsoft.com/office/drawing/2014/main" id="{6F5360BD-08AA-B343-3DFF-A9C5F9CBBD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E1B5EF1-D502-4795-8EA1-77AE6B94B4EC}" type="slidenum">
              <a:rPr lang="en-US" altLang="en-US" smtClean="0">
                <a:latin typeface="Times New Roman" panose="02020603050405020304" pitchFamily="18" charset="0"/>
              </a:rPr>
              <a:pPr fontAlgn="base">
                <a:spcBef>
                  <a:spcPct val="0"/>
                </a:spcBef>
                <a:spcAft>
                  <a:spcPct val="0"/>
                </a:spcAft>
              </a:pPr>
              <a:t>5</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679D9B87-4A77-76EC-F693-2C5FBE4681D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24579" name="Rectangle 2">
            <a:extLst>
              <a:ext uri="{FF2B5EF4-FFF2-40B4-BE49-F238E27FC236}">
                <a16:creationId xmlns:a16="http://schemas.microsoft.com/office/drawing/2014/main" id="{EE84BBEC-7C4F-0FCF-AAAE-F6A4C2F19B6D}"/>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9C648F8E-5C78-2C56-57ED-BE3AC4BBE5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10E2F4F2-B5A6-2642-7228-36CCB26604B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26627" name="Rectangle 2">
            <a:extLst>
              <a:ext uri="{FF2B5EF4-FFF2-40B4-BE49-F238E27FC236}">
                <a16:creationId xmlns:a16="http://schemas.microsoft.com/office/drawing/2014/main" id="{EC866C27-EA42-716B-7993-D2F398EA3C1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3B59CE6B-CD4D-B4F0-8CE4-85665A7F63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1F36FC33-140A-FB95-BAFC-3C8F88CC6356}"/>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9D64E501-0A44-8E25-A009-4EB5EECBBF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28676" name="Footer Placeholder 3">
            <a:extLst>
              <a:ext uri="{FF2B5EF4-FFF2-40B4-BE49-F238E27FC236}">
                <a16:creationId xmlns:a16="http://schemas.microsoft.com/office/drawing/2014/main" id="{041A7ECB-EC51-408D-CEAC-64EF8416006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28677" name="Slide Number Placeholder 4">
            <a:extLst>
              <a:ext uri="{FF2B5EF4-FFF2-40B4-BE49-F238E27FC236}">
                <a16:creationId xmlns:a16="http://schemas.microsoft.com/office/drawing/2014/main" id="{2143A991-21CB-A292-178D-746039C112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C9EFA8F-E51F-438B-9F5C-8EC10E65A4D5}" type="slidenum">
              <a:rPr lang="en-US" altLang="en-US" smtClean="0">
                <a:latin typeface="Times New Roman" panose="02020603050405020304" pitchFamily="18" charset="0"/>
              </a:rPr>
              <a:pPr fontAlgn="base">
                <a:spcBef>
                  <a:spcPct val="0"/>
                </a:spcBef>
                <a:spcAft>
                  <a:spcPct val="0"/>
                </a:spcAft>
              </a:pPr>
              <a:t>9</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35211E2F-AB0F-26E8-0F80-6D7B3521F5D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30723" name="Rectangle 2">
            <a:extLst>
              <a:ext uri="{FF2B5EF4-FFF2-40B4-BE49-F238E27FC236}">
                <a16:creationId xmlns:a16="http://schemas.microsoft.com/office/drawing/2014/main" id="{96E09A0B-D2E7-5303-A689-E6BF26A626F4}"/>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E7B9922C-89E2-318C-9E32-BFB440B115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a:extLst>
              <a:ext uri="{FF2B5EF4-FFF2-40B4-BE49-F238E27FC236}">
                <a16:creationId xmlns:a16="http://schemas.microsoft.com/office/drawing/2014/main" id="{4E5B3669-8AFE-04FB-9120-BD3F61040C7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37891" name="Rectangle 2">
            <a:extLst>
              <a:ext uri="{FF2B5EF4-FFF2-40B4-BE49-F238E27FC236}">
                <a16:creationId xmlns:a16="http://schemas.microsoft.com/office/drawing/2014/main" id="{37B39D9F-17F9-55FD-B233-C65C54CE4110}"/>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4340DBD6-440E-863C-0E04-D6CA09246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a:extLst>
              <a:ext uri="{FF2B5EF4-FFF2-40B4-BE49-F238E27FC236}">
                <a16:creationId xmlns:a16="http://schemas.microsoft.com/office/drawing/2014/main" id="{F19E9EA6-90C7-589D-1C0E-F3E330C116B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39939" name="Rectangle 2">
            <a:extLst>
              <a:ext uri="{FF2B5EF4-FFF2-40B4-BE49-F238E27FC236}">
                <a16:creationId xmlns:a16="http://schemas.microsoft.com/office/drawing/2014/main" id="{E5E9FF2C-C0EC-56AE-AD47-9419E3B9E0C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3D5B92D7-3E7A-E6C3-B58C-4B219D8F3E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E9E97201-0129-0C0F-A3CA-DB40855A0A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41987" name="Rectangle 2">
            <a:extLst>
              <a:ext uri="{FF2B5EF4-FFF2-40B4-BE49-F238E27FC236}">
                <a16:creationId xmlns:a16="http://schemas.microsoft.com/office/drawing/2014/main" id="{5845189C-0837-4252-30AF-9DDDF6EB2B7E}"/>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4B01928D-97BD-625A-9F07-30AFBDDEC4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Google Shape;238;p18:notes">
            <a:extLst>
              <a:ext uri="{FF2B5EF4-FFF2-40B4-BE49-F238E27FC236}">
                <a16:creationId xmlns:a16="http://schemas.microsoft.com/office/drawing/2014/main" id="{36B65799-710E-D3B6-2577-E8E73EFCDC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
        <p:nvSpPr>
          <p:cNvPr id="45059" name="Google Shape;239;p18:notes">
            <a:extLst>
              <a:ext uri="{FF2B5EF4-FFF2-40B4-BE49-F238E27FC236}">
                <a16:creationId xmlns:a16="http://schemas.microsoft.com/office/drawing/2014/main" id="{2E18EC80-0060-2287-C68B-B7934318969E}"/>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Google Shape;245;p19:notes">
            <a:extLst>
              <a:ext uri="{FF2B5EF4-FFF2-40B4-BE49-F238E27FC236}">
                <a16:creationId xmlns:a16="http://schemas.microsoft.com/office/drawing/2014/main" id="{85167E4B-EBE1-BF51-2455-BDCB560555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
        <p:nvSpPr>
          <p:cNvPr id="47107" name="Google Shape;246;p19:notes">
            <a:extLst>
              <a:ext uri="{FF2B5EF4-FFF2-40B4-BE49-F238E27FC236}">
                <a16:creationId xmlns:a16="http://schemas.microsoft.com/office/drawing/2014/main" id="{9B659BF2-BB2F-621E-65D5-DAE2AB5D528C}"/>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Google Shape;252;p20:notes">
            <a:extLst>
              <a:ext uri="{FF2B5EF4-FFF2-40B4-BE49-F238E27FC236}">
                <a16:creationId xmlns:a16="http://schemas.microsoft.com/office/drawing/2014/main" id="{0A217120-9882-40E4-CBE1-01DA50AAF2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
        <p:nvSpPr>
          <p:cNvPr id="49155" name="Google Shape;253;p20:notes">
            <a:extLst>
              <a:ext uri="{FF2B5EF4-FFF2-40B4-BE49-F238E27FC236}">
                <a16:creationId xmlns:a16="http://schemas.microsoft.com/office/drawing/2014/main" id="{30EA9B2B-3199-4FD0-3C9C-9EE51F54AB6E}"/>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a:extLst>
              <a:ext uri="{FF2B5EF4-FFF2-40B4-BE49-F238E27FC236}">
                <a16:creationId xmlns:a16="http://schemas.microsoft.com/office/drawing/2014/main" id="{2231C0BB-452D-D520-DBFF-E710A859CCA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52227" name="Rectangle 2">
            <a:extLst>
              <a:ext uri="{FF2B5EF4-FFF2-40B4-BE49-F238E27FC236}">
                <a16:creationId xmlns:a16="http://schemas.microsoft.com/office/drawing/2014/main" id="{71F7A978-38C4-B8D3-2159-76DDB69D421B}"/>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926ECA61-5293-3F82-B7E2-B11FE9DD6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1BD41ABD-CC94-13BB-52ED-5B7A0266DC7E}"/>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3081AD64-E739-F0BA-E2BC-3159DA54EE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60420" name="Footer Placeholder 3">
            <a:extLst>
              <a:ext uri="{FF2B5EF4-FFF2-40B4-BE49-F238E27FC236}">
                <a16:creationId xmlns:a16="http://schemas.microsoft.com/office/drawing/2014/main" id="{2843F8A7-9936-D07E-994F-BB9E668604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rPr>
              <a:t>1.#</a:t>
            </a:r>
          </a:p>
        </p:txBody>
      </p:sp>
      <p:sp>
        <p:nvSpPr>
          <p:cNvPr id="60421" name="Slide Number Placeholder 4">
            <a:extLst>
              <a:ext uri="{FF2B5EF4-FFF2-40B4-BE49-F238E27FC236}">
                <a16:creationId xmlns:a16="http://schemas.microsoft.com/office/drawing/2014/main" id="{417D28CF-2A8A-7AB6-B9E3-CCB6B9BBDD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4A49FF1-EEDB-406A-98C5-0CFC0B46B38A}" type="slidenum">
              <a:rPr lang="en-US" altLang="en-US" smtClean="0">
                <a:latin typeface="Times New Roman" panose="02020603050405020304" pitchFamily="18" charset="0"/>
              </a:rPr>
              <a:pPr fontAlgn="base">
                <a:spcBef>
                  <a:spcPct val="0"/>
                </a:spcBef>
                <a:spcAft>
                  <a:spcPct val="0"/>
                </a:spcAft>
              </a:pPr>
              <a:t>32</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22991AA-F0BB-0DFB-F519-D3A15FF25D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6954D47-CF3D-4F94-AF78-58659C2597F8}" type="slidenum">
              <a:rPr lang="en-US" altLang="en-US" smtClean="0">
                <a:latin typeface="Times New Roman" panose="02020603050405020304" pitchFamily="18" charset="0"/>
              </a:rPr>
              <a:pPr fontAlgn="base">
                <a:spcBef>
                  <a:spcPct val="0"/>
                </a:spcBef>
                <a:spcAft>
                  <a:spcPct val="0"/>
                </a:spcAft>
              </a:pPr>
              <a:t>37</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5EEE9FE0-0B12-5541-E7A7-5292CA982CB0}"/>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0DDB9906-3AF7-5502-D1F3-AAA79DBDC1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BC36E3C-16FA-E7EE-7048-96CFA9BCF6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F480A7F-592C-46AD-A69D-FD45A251DF5A}" type="slidenum">
              <a:rPr lang="en-US" altLang="en-US" smtClean="0">
                <a:latin typeface="Times New Roman" panose="02020603050405020304" pitchFamily="18" charset="0"/>
              </a:rPr>
              <a:pPr fontAlgn="base">
                <a:spcBef>
                  <a:spcPct val="0"/>
                </a:spcBef>
                <a:spcAft>
                  <a:spcPct val="0"/>
                </a:spcAft>
              </a:pPr>
              <a:t>39</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C95590E2-0747-8CE5-7B82-09FEEA65AF4E}"/>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294A9D8F-1F97-5CA0-3D95-1B8590E438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A920FB0-9582-9734-BE4A-EF859756A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65E09A5-CE29-41BE-B21A-44B83DB2F2F4}" type="slidenum">
              <a:rPr lang="en-US" altLang="en-US" smtClean="0">
                <a:latin typeface="Times New Roman" panose="02020603050405020304" pitchFamily="18" charset="0"/>
              </a:rPr>
              <a:pPr fontAlgn="base">
                <a:spcBef>
                  <a:spcPct val="0"/>
                </a:spcBef>
                <a:spcAft>
                  <a:spcPct val="0"/>
                </a:spcAft>
              </a:pPr>
              <a:t>40</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C98C9A69-D5A2-6792-2F14-CD7DAD500D16}"/>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7053282B-B631-22FB-6078-8B5D6344D2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D3CFA82-CCF0-EB03-7EB6-E44FA65D94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854EA2E-97C6-46B6-997C-ED845D59DFFE}" type="slidenum">
              <a:rPr lang="en-US" altLang="en-US" smtClean="0">
                <a:latin typeface="Times New Roman" panose="02020603050405020304" pitchFamily="18" charset="0"/>
              </a:rPr>
              <a:pPr fontAlgn="base">
                <a:spcBef>
                  <a:spcPct val="0"/>
                </a:spcBef>
                <a:spcAft>
                  <a:spcPct val="0"/>
                </a:spcAft>
              </a:pPr>
              <a:t>41</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8F2496E2-D945-3415-7171-AC990CED15A7}"/>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2F9A6D41-608D-E82C-83C7-3F1D931EB0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62506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3CCA69F6-17AB-B83B-7BBB-4C6A7F3034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2B992F2-066F-4802-8B20-29F7D868B6EF}" type="slidenum">
              <a:rPr lang="en-US" altLang="en-US" smtClean="0">
                <a:latin typeface="Times New Roman" panose="02020603050405020304" pitchFamily="18" charset="0"/>
              </a:rPr>
              <a:pPr fontAlgn="base">
                <a:spcBef>
                  <a:spcPct val="0"/>
                </a:spcBef>
                <a:spcAft>
                  <a:spcPct val="0"/>
                </a:spcAft>
              </a:pPr>
              <a:t>42</a:t>
            </a:fld>
            <a:endParaRPr lang="en-US" altLang="en-US">
              <a:latin typeface="Times New Roman" panose="02020603050405020304" pitchFamily="18" charset="0"/>
            </a:endParaRPr>
          </a:p>
        </p:txBody>
      </p:sp>
      <p:sp>
        <p:nvSpPr>
          <p:cNvPr id="76803" name="Rectangle 2">
            <a:extLst>
              <a:ext uri="{FF2B5EF4-FFF2-40B4-BE49-F238E27FC236}">
                <a16:creationId xmlns:a16="http://schemas.microsoft.com/office/drawing/2014/main" id="{7EF7EF38-F609-70D5-FF7E-CD06E271CF8E}"/>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7213AD83-4CB5-B1C3-79F4-0E1DE8A4A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08803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16BCA1D-1FC8-60DB-7E7C-B9FF6B097D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EA99D99-D95B-4040-ADB3-D161D1F931EA}" type="slidenum">
              <a:rPr lang="en-US" altLang="en-US" smtClean="0">
                <a:latin typeface="Times New Roman" panose="02020603050405020304" pitchFamily="18" charset="0"/>
              </a:rPr>
              <a:pPr fontAlgn="base">
                <a:spcBef>
                  <a:spcPct val="0"/>
                </a:spcBef>
                <a:spcAft>
                  <a:spcPct val="0"/>
                </a:spcAft>
              </a:pPr>
              <a:t>43</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EF0DEBF5-3688-C003-0117-37301B42B96D}"/>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05D1A14A-86AA-16D4-D934-99FAFD52AD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17E77D74-0A14-D54A-E344-B15302DEFC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2444E67-3F00-43EA-93C4-490862E80699}" type="slidenum">
              <a:rPr lang="en-US" altLang="en-US" smtClean="0">
                <a:latin typeface="Times New Roman" panose="02020603050405020304" pitchFamily="18" charset="0"/>
              </a:rPr>
              <a:pPr fontAlgn="base">
                <a:spcBef>
                  <a:spcPct val="0"/>
                </a:spcBef>
                <a:spcAft>
                  <a:spcPct val="0"/>
                </a:spcAft>
              </a:pPr>
              <a:t>44</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E42460C6-40DC-1FED-F84C-180A948378AB}"/>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12BBA3BB-5510-1B46-5A06-56480CCFCE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EBECF55-B707-C46D-4603-6431D697E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8212A35-8430-4220-B9D7-E449BBB76573}" type="slidenum">
              <a:rPr lang="en-US" altLang="en-US" smtClean="0">
                <a:latin typeface="Times New Roman" panose="02020603050405020304" pitchFamily="18" charset="0"/>
              </a:rPr>
              <a:pPr fontAlgn="base">
                <a:spcBef>
                  <a:spcPct val="0"/>
                </a:spcBef>
                <a:spcAft>
                  <a:spcPct val="0"/>
                </a:spcAft>
              </a:pPr>
              <a:t>45</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597C8C98-07C9-9704-55DB-3EF5FBEFC804}"/>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672B623-8B0F-6A2D-F5AB-C794F6DF5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7006A6A6-4FC7-C93D-C246-6BF8D929F1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145FE9E-99DA-4A08-B1E2-16443A7A8D14}" type="slidenum">
              <a:rPr lang="en-US" altLang="en-US" smtClean="0">
                <a:latin typeface="Times New Roman" panose="02020603050405020304" pitchFamily="18" charset="0"/>
              </a:rPr>
              <a:pPr fontAlgn="base">
                <a:spcBef>
                  <a:spcPct val="0"/>
                </a:spcBef>
                <a:spcAft>
                  <a:spcPct val="0"/>
                </a:spcAft>
              </a:pPr>
              <a:t>46</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9E30A77D-B09B-030C-307C-0A4495664FC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C5A607B4-E835-424E-A1FF-9B71A64DFE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B889EE4D-059D-99E5-F88E-85DCE404CA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6749EBB-5ABD-489D-B853-1BE201E485E3}" type="slidenum">
              <a:rPr lang="en-US" altLang="en-US" smtClean="0">
                <a:latin typeface="Times New Roman" panose="02020603050405020304" pitchFamily="18" charset="0"/>
              </a:rPr>
              <a:pPr fontAlgn="base">
                <a:spcBef>
                  <a:spcPct val="0"/>
                </a:spcBef>
                <a:spcAft>
                  <a:spcPct val="0"/>
                </a:spcAft>
              </a:pPr>
              <a:t>47</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E8A17D77-41AF-A5FA-24D3-88816F513CAB}"/>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EC8BB731-CAE1-89FC-1CE0-FCDD1A032C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12A2049E-4A21-A05F-E625-11158A8D0B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55293BB-6C65-4B39-B66E-8357511ED276}" type="slidenum">
              <a:rPr lang="en-US" altLang="en-US" smtClean="0">
                <a:latin typeface="Times New Roman" panose="02020603050405020304" pitchFamily="18" charset="0"/>
              </a:rPr>
              <a:pPr fontAlgn="base">
                <a:spcBef>
                  <a:spcPct val="0"/>
                </a:spcBef>
                <a:spcAft>
                  <a:spcPct val="0"/>
                </a:spcAft>
              </a:pPr>
              <a:t>49</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E17DCDFA-0387-9AF2-64C1-E8CFA604923C}"/>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FB00E401-5493-0B3D-AAF8-D2B7CCEF9C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ABC8A843-C32F-5384-CF34-CAD8858BA3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83BAAF9-5904-4DB0-BD75-AD3755B3A50F}" type="slidenum">
              <a:rPr lang="en-US" altLang="en-US" smtClean="0">
                <a:latin typeface="Times New Roman" panose="02020603050405020304" pitchFamily="18" charset="0"/>
              </a:rPr>
              <a:pPr fontAlgn="base">
                <a:spcBef>
                  <a:spcPct val="0"/>
                </a:spcBef>
                <a:spcAft>
                  <a:spcPct val="0"/>
                </a:spcAft>
              </a:pPr>
              <a:t>50</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316B52F9-BC2E-D23F-F731-2B6E368A46FB}"/>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F570E22B-E2D5-875C-B2EC-FFA7385AFD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07B60EB-5D98-3574-6BC1-A1D0D4E7B0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C5794711-BA19-4514-A380-1269B011CD2F}" type="slidenum">
              <a:rPr lang="en-US" altLang="en-US" smtClean="0">
                <a:latin typeface="Times New Roman" panose="02020603050405020304" pitchFamily="18" charset="0"/>
              </a:rPr>
              <a:pPr fontAlgn="base">
                <a:spcBef>
                  <a:spcPct val="0"/>
                </a:spcBef>
                <a:spcAft>
                  <a:spcPct val="0"/>
                </a:spcAft>
              </a:pPr>
              <a:t>51</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CB4538BD-CBDC-9761-C43D-845FC88950EA}"/>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3C0B8B87-822C-C8B7-1ECC-0C55F8689E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D9725EA-A02F-18F3-4779-59F5726227ED}"/>
              </a:ext>
            </a:extLst>
          </p:cNvPr>
          <p:cNvSpPr>
            <a:spLocks noGrp="1" noChangeArrowheads="1"/>
          </p:cNvSpPr>
          <p:nvPr>
            <p:ph type="sldNum" sz="quarter" idx="5"/>
          </p:nvPr>
        </p:nvSpPr>
        <p:spPr>
          <a:ln/>
        </p:spPr>
        <p:txBody>
          <a:bodyPr/>
          <a:lstStyle/>
          <a:p>
            <a:fld id="{05721D2C-4638-4BDE-AD75-7EF5F2FF02E5}" type="slidenum">
              <a:rPr lang="en-US" altLang="en-US"/>
              <a:pPr/>
              <a:t>60</a:t>
            </a:fld>
            <a:endParaRPr lang="en-US" altLang="en-US"/>
          </a:p>
        </p:txBody>
      </p:sp>
      <p:sp>
        <p:nvSpPr>
          <p:cNvPr id="718850" name="Rectangle 2">
            <a:extLst>
              <a:ext uri="{FF2B5EF4-FFF2-40B4-BE49-F238E27FC236}">
                <a16:creationId xmlns:a16="http://schemas.microsoft.com/office/drawing/2014/main" id="{2F3A24E9-68A2-186B-FE23-71EB701368DA}"/>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F493DCBA-854A-8718-4333-AD8E4319E68E}"/>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579292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A829A81-DD48-6FCB-3F40-EE9191B4F09A}"/>
              </a:ext>
            </a:extLst>
          </p:cNvPr>
          <p:cNvSpPr>
            <a:spLocks noGrp="1" noChangeArrowheads="1"/>
          </p:cNvSpPr>
          <p:nvPr>
            <p:ph type="sldNum" sz="quarter" idx="5"/>
          </p:nvPr>
        </p:nvSpPr>
        <p:spPr>
          <a:ln/>
        </p:spPr>
        <p:txBody>
          <a:bodyPr/>
          <a:lstStyle/>
          <a:p>
            <a:fld id="{10ABAFF1-82B4-42A9-8E74-E158EA44E29E}" type="slidenum">
              <a:rPr lang="en-US" altLang="en-US"/>
              <a:pPr/>
              <a:t>72</a:t>
            </a:fld>
            <a:endParaRPr lang="en-US" altLang="en-US"/>
          </a:p>
        </p:txBody>
      </p:sp>
      <p:sp>
        <p:nvSpPr>
          <p:cNvPr id="949250" name="Rectangle 2">
            <a:extLst>
              <a:ext uri="{FF2B5EF4-FFF2-40B4-BE49-F238E27FC236}">
                <a16:creationId xmlns:a16="http://schemas.microsoft.com/office/drawing/2014/main" id="{C3887D35-6C7C-739A-7FC9-B1A24A444637}"/>
              </a:ext>
            </a:extLst>
          </p:cNvPr>
          <p:cNvSpPr>
            <a:spLocks noGrp="1" noRot="1" noChangeAspect="1" noChangeArrowheads="1" noTextEdit="1"/>
          </p:cNvSpPr>
          <p:nvPr>
            <p:ph type="sldImg"/>
          </p:nvPr>
        </p:nvSpPr>
        <p:spPr>
          <a:ln/>
        </p:spPr>
      </p:sp>
      <p:sp>
        <p:nvSpPr>
          <p:cNvPr id="949251" name="Rectangle 3">
            <a:extLst>
              <a:ext uri="{FF2B5EF4-FFF2-40B4-BE49-F238E27FC236}">
                <a16:creationId xmlns:a16="http://schemas.microsoft.com/office/drawing/2014/main" id="{6CA32872-01B8-24AD-15C6-770D15AF0B0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490845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D7DE9AC-4C21-A594-4F49-E423919BAAC1}"/>
              </a:ext>
            </a:extLst>
          </p:cNvPr>
          <p:cNvSpPr>
            <a:spLocks noGrp="1" noChangeArrowheads="1"/>
          </p:cNvSpPr>
          <p:nvPr>
            <p:ph type="sldNum" sz="quarter" idx="5"/>
          </p:nvPr>
        </p:nvSpPr>
        <p:spPr>
          <a:ln/>
        </p:spPr>
        <p:txBody>
          <a:bodyPr/>
          <a:lstStyle/>
          <a:p>
            <a:fld id="{440AF382-61EA-4208-B74D-2CD8E34EA656}" type="slidenum">
              <a:rPr lang="en-US" altLang="en-US"/>
              <a:pPr/>
              <a:t>73</a:t>
            </a:fld>
            <a:endParaRPr lang="en-US" altLang="en-US"/>
          </a:p>
        </p:txBody>
      </p:sp>
      <p:sp>
        <p:nvSpPr>
          <p:cNvPr id="951298" name="Rectangle 2">
            <a:extLst>
              <a:ext uri="{FF2B5EF4-FFF2-40B4-BE49-F238E27FC236}">
                <a16:creationId xmlns:a16="http://schemas.microsoft.com/office/drawing/2014/main" id="{E67A9C16-BC1F-C30A-5D3B-F530849624F6}"/>
              </a:ext>
            </a:extLst>
          </p:cNvPr>
          <p:cNvSpPr>
            <a:spLocks noGrp="1" noRot="1" noChangeAspect="1" noChangeArrowheads="1" noTextEdit="1"/>
          </p:cNvSpPr>
          <p:nvPr>
            <p:ph type="sldImg"/>
          </p:nvPr>
        </p:nvSpPr>
        <p:spPr>
          <a:ln/>
        </p:spPr>
      </p:sp>
      <p:sp>
        <p:nvSpPr>
          <p:cNvPr id="951299" name="Rectangle 3">
            <a:extLst>
              <a:ext uri="{FF2B5EF4-FFF2-40B4-BE49-F238E27FC236}">
                <a16:creationId xmlns:a16="http://schemas.microsoft.com/office/drawing/2014/main" id="{6D9D427B-CC48-2C2A-7769-3AAB9D32375E}"/>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34645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9EAAFC-80CF-4771-D2C4-792AC10E2B3B}"/>
              </a:ext>
            </a:extLst>
          </p:cNvPr>
          <p:cNvSpPr>
            <a:spLocks noGrp="1" noChangeArrowheads="1"/>
          </p:cNvSpPr>
          <p:nvPr>
            <p:ph type="sldNum" sz="quarter" idx="5"/>
          </p:nvPr>
        </p:nvSpPr>
        <p:spPr>
          <a:ln/>
        </p:spPr>
        <p:txBody>
          <a:bodyPr/>
          <a:lstStyle/>
          <a:p>
            <a:fld id="{2D14B89E-7096-41FF-9028-36645636774B}" type="slidenum">
              <a:rPr lang="en-US" altLang="en-US"/>
              <a:pPr/>
              <a:t>74</a:t>
            </a:fld>
            <a:endParaRPr lang="en-US" altLang="en-US"/>
          </a:p>
        </p:txBody>
      </p:sp>
      <p:sp>
        <p:nvSpPr>
          <p:cNvPr id="952322" name="Rectangle 2">
            <a:extLst>
              <a:ext uri="{FF2B5EF4-FFF2-40B4-BE49-F238E27FC236}">
                <a16:creationId xmlns:a16="http://schemas.microsoft.com/office/drawing/2014/main" id="{776BDF72-B05E-5E9B-D9D6-AD989314AAF1}"/>
              </a:ext>
            </a:extLst>
          </p:cNvPr>
          <p:cNvSpPr>
            <a:spLocks noGrp="1" noRot="1" noChangeAspect="1" noChangeArrowheads="1" noTextEdit="1"/>
          </p:cNvSpPr>
          <p:nvPr>
            <p:ph type="sldImg"/>
          </p:nvPr>
        </p:nvSpPr>
        <p:spPr>
          <a:ln/>
        </p:spPr>
      </p:sp>
      <p:sp>
        <p:nvSpPr>
          <p:cNvPr id="952323" name="Rectangle 3">
            <a:extLst>
              <a:ext uri="{FF2B5EF4-FFF2-40B4-BE49-F238E27FC236}">
                <a16:creationId xmlns:a16="http://schemas.microsoft.com/office/drawing/2014/main" id="{A7459DEF-D266-6C46-A06F-C462547818B2}"/>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24729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E4D0F3-1FD2-7328-B177-DFFF0F1FCDC2}"/>
              </a:ext>
            </a:extLst>
          </p:cNvPr>
          <p:cNvSpPr>
            <a:spLocks noGrp="1" noChangeArrowheads="1"/>
          </p:cNvSpPr>
          <p:nvPr>
            <p:ph type="sldNum" sz="quarter" idx="5"/>
          </p:nvPr>
        </p:nvSpPr>
        <p:spPr>
          <a:ln/>
        </p:spPr>
        <p:txBody>
          <a:bodyPr/>
          <a:lstStyle/>
          <a:p>
            <a:fld id="{E583CBA4-C139-4D7D-B740-018E37315515}" type="slidenum">
              <a:rPr lang="en-US" altLang="en-US"/>
              <a:pPr/>
              <a:t>81</a:t>
            </a:fld>
            <a:endParaRPr lang="en-US" altLang="en-US"/>
          </a:p>
        </p:txBody>
      </p:sp>
      <p:sp>
        <p:nvSpPr>
          <p:cNvPr id="941058" name="Rectangle 2">
            <a:extLst>
              <a:ext uri="{FF2B5EF4-FFF2-40B4-BE49-F238E27FC236}">
                <a16:creationId xmlns:a16="http://schemas.microsoft.com/office/drawing/2014/main" id="{9D1107AE-C2AA-C824-07D5-011D79B104DC}"/>
              </a:ext>
            </a:extLst>
          </p:cNvPr>
          <p:cNvSpPr>
            <a:spLocks noGrp="1" noRot="1" noChangeAspect="1" noChangeArrowheads="1" noTextEdit="1"/>
          </p:cNvSpPr>
          <p:nvPr>
            <p:ph type="sldImg"/>
          </p:nvPr>
        </p:nvSpPr>
        <p:spPr>
          <a:ln/>
        </p:spPr>
      </p:sp>
      <p:sp>
        <p:nvSpPr>
          <p:cNvPr id="941059" name="Rectangle 3">
            <a:extLst>
              <a:ext uri="{FF2B5EF4-FFF2-40B4-BE49-F238E27FC236}">
                <a16:creationId xmlns:a16="http://schemas.microsoft.com/office/drawing/2014/main" id="{AC4B3082-2B39-0688-6B85-B218BD7D78E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A89C9A4A-10F6-E490-A2C7-7A36F82528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90C8422-ED61-4CB4-9977-077B5BD04592}" type="slidenum">
              <a:rPr lang="en-US" altLang="en-US" smtClean="0">
                <a:latin typeface="Times New Roman" panose="02020603050405020304" pitchFamily="18" charset="0"/>
              </a:rPr>
              <a:pPr fontAlgn="base">
                <a:spcBef>
                  <a:spcPct val="0"/>
                </a:spcBef>
                <a:spcAft>
                  <a:spcPct val="0"/>
                </a:spcAft>
              </a:pPr>
              <a:t>87</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56220919-15F5-96E6-ACC7-2DBD010EB01C}"/>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28B50269-BAE5-0BFC-7008-385EDB3BBC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7268583-55A1-E41D-1C27-EC1E0CCDAD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86E5A47-64DC-48AE-96F1-9E13889622AA}" type="slidenum">
              <a:rPr lang="en-US" altLang="en-US" smtClean="0">
                <a:latin typeface="Times New Roman" panose="02020603050405020304" pitchFamily="18" charset="0"/>
              </a:rPr>
              <a:pPr fontAlgn="base">
                <a:spcBef>
                  <a:spcPct val="0"/>
                </a:spcBef>
                <a:spcAft>
                  <a:spcPct val="0"/>
                </a:spcAft>
              </a:pPr>
              <a:t>88</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1194DE-FB5D-D1BD-680E-704DE1634522}"/>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44E26277-E189-DE6B-95B5-1A2C3F1092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ED4D3388-7468-77A2-A36B-DC9D89CD51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7CCEFF9-ACDB-4D78-934E-F22E60B23B3F}" type="slidenum">
              <a:rPr lang="en-US" altLang="en-US" smtClean="0">
                <a:latin typeface="Times New Roman" panose="02020603050405020304" pitchFamily="18" charset="0"/>
              </a:rPr>
              <a:pPr fontAlgn="base">
                <a:spcBef>
                  <a:spcPct val="0"/>
                </a:spcBef>
                <a:spcAft>
                  <a:spcPct val="0"/>
                </a:spcAft>
              </a:pPr>
              <a:t>90</a:t>
            </a:fld>
            <a:endParaRPr lang="en-US" altLang="en-US">
              <a:latin typeface="Times New Roman" panose="02020603050405020304" pitchFamily="18" charset="0"/>
            </a:endParaRPr>
          </a:p>
        </p:txBody>
      </p:sp>
      <p:sp>
        <p:nvSpPr>
          <p:cNvPr id="121859" name="Rectangle 2">
            <a:extLst>
              <a:ext uri="{FF2B5EF4-FFF2-40B4-BE49-F238E27FC236}">
                <a16:creationId xmlns:a16="http://schemas.microsoft.com/office/drawing/2014/main" id="{6B28BF95-5413-8497-CF68-EC7F5AF81F34}"/>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4597EC94-BBAD-652F-4452-C688DBD741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308947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DC04F0CB-E6D4-EE2C-0410-1412032C35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6A18FFC-E644-4A10-9494-8ED8A993C579}" type="slidenum">
              <a:rPr lang="en-US" altLang="en-US" smtClean="0">
                <a:latin typeface="Times New Roman" panose="02020603050405020304" pitchFamily="18" charset="0"/>
              </a:rPr>
              <a:pPr fontAlgn="base">
                <a:spcBef>
                  <a:spcPct val="0"/>
                </a:spcBef>
                <a:spcAft>
                  <a:spcPct val="0"/>
                </a:spcAft>
              </a:pPr>
              <a:t>91</a:t>
            </a:fld>
            <a:endParaRPr lang="en-US" altLang="en-US">
              <a:latin typeface="Times New Roman" panose="02020603050405020304" pitchFamily="18" charset="0"/>
            </a:endParaRPr>
          </a:p>
        </p:txBody>
      </p:sp>
      <p:sp>
        <p:nvSpPr>
          <p:cNvPr id="123907" name="Rectangle 2">
            <a:extLst>
              <a:ext uri="{FF2B5EF4-FFF2-40B4-BE49-F238E27FC236}">
                <a16:creationId xmlns:a16="http://schemas.microsoft.com/office/drawing/2014/main" id="{D390E553-68FF-3215-A704-FBB496C731AA}"/>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0CB72C54-500E-E51C-B91A-751F2B90AF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924569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3190B49C-AF67-ED69-CFA0-E7E88D2459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D4A7BBB-1F3D-429D-A4C0-4FBB595C45C0}" type="slidenum">
              <a:rPr lang="en-US" altLang="en-US" smtClean="0">
                <a:latin typeface="Times New Roman" panose="02020603050405020304" pitchFamily="18" charset="0"/>
              </a:rPr>
              <a:pPr fontAlgn="base">
                <a:spcBef>
                  <a:spcPct val="0"/>
                </a:spcBef>
                <a:spcAft>
                  <a:spcPct val="0"/>
                </a:spcAft>
              </a:pPr>
              <a:t>92</a:t>
            </a:fld>
            <a:endParaRPr lang="en-US" altLang="en-US">
              <a:latin typeface="Times New Roman" panose="02020603050405020304" pitchFamily="18" charset="0"/>
            </a:endParaRPr>
          </a:p>
        </p:txBody>
      </p:sp>
      <p:sp>
        <p:nvSpPr>
          <p:cNvPr id="128003" name="Rectangle 2">
            <a:extLst>
              <a:ext uri="{FF2B5EF4-FFF2-40B4-BE49-F238E27FC236}">
                <a16:creationId xmlns:a16="http://schemas.microsoft.com/office/drawing/2014/main" id="{217B9453-1A18-E452-B2A0-A0A7EDC859E1}"/>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9111CB62-5E3E-3972-C30F-87830212E8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488650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829A947C-F639-FFFD-24E0-D5F555F597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1D0E35C-F4D7-4B09-BA13-33B14344592E}" type="slidenum">
              <a:rPr lang="en-US" altLang="en-US" smtClean="0">
                <a:latin typeface="Times New Roman" panose="02020603050405020304" pitchFamily="18" charset="0"/>
              </a:rPr>
              <a:pPr fontAlgn="base">
                <a:spcBef>
                  <a:spcPct val="0"/>
                </a:spcBef>
                <a:spcAft>
                  <a:spcPct val="0"/>
                </a:spcAft>
              </a:pPr>
              <a:t>93</a:t>
            </a:fld>
            <a:endParaRPr lang="en-US" altLang="en-US">
              <a:latin typeface="Times New Roman" panose="02020603050405020304" pitchFamily="18" charset="0"/>
            </a:endParaRPr>
          </a:p>
        </p:txBody>
      </p:sp>
      <p:sp>
        <p:nvSpPr>
          <p:cNvPr id="134147" name="Rectangle 2">
            <a:extLst>
              <a:ext uri="{FF2B5EF4-FFF2-40B4-BE49-F238E27FC236}">
                <a16:creationId xmlns:a16="http://schemas.microsoft.com/office/drawing/2014/main" id="{3DD0F531-BA1B-23A7-B8DA-C41F383FCAFE}"/>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C198CAFC-5E00-DD88-2138-EA4E90EFC8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69335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CC98D20-83C0-E2A7-05F0-529DE4295D60}"/>
              </a:ext>
            </a:extLst>
          </p:cNvPr>
          <p:cNvSpPr>
            <a:spLocks noGrp="1" noChangeArrowheads="1"/>
          </p:cNvSpPr>
          <p:nvPr>
            <p:ph type="sldNum" sz="quarter" idx="5"/>
          </p:nvPr>
        </p:nvSpPr>
        <p:spPr>
          <a:ln/>
        </p:spPr>
        <p:txBody>
          <a:bodyPr/>
          <a:lstStyle/>
          <a:p>
            <a:fld id="{9ECE59C0-284E-4A39-B441-DD2AC4AFECC8}" type="slidenum">
              <a:rPr lang="en-US" altLang="en-US"/>
              <a:pPr/>
              <a:t>95</a:t>
            </a:fld>
            <a:endParaRPr lang="en-US" altLang="en-US"/>
          </a:p>
        </p:txBody>
      </p:sp>
      <p:sp>
        <p:nvSpPr>
          <p:cNvPr id="971778" name="Rectangle 2">
            <a:extLst>
              <a:ext uri="{FF2B5EF4-FFF2-40B4-BE49-F238E27FC236}">
                <a16:creationId xmlns:a16="http://schemas.microsoft.com/office/drawing/2014/main" id="{DC09BD94-96EC-9F06-6755-0EDB90E04A69}"/>
              </a:ext>
            </a:extLst>
          </p:cNvPr>
          <p:cNvSpPr>
            <a:spLocks noGrp="1" noRot="1" noChangeAspect="1" noChangeArrowheads="1" noTextEdit="1"/>
          </p:cNvSpPr>
          <p:nvPr>
            <p:ph type="sldImg"/>
          </p:nvPr>
        </p:nvSpPr>
        <p:spPr>
          <a:ln/>
        </p:spPr>
      </p:sp>
      <p:sp>
        <p:nvSpPr>
          <p:cNvPr id="971779" name="Rectangle 3">
            <a:extLst>
              <a:ext uri="{FF2B5EF4-FFF2-40B4-BE49-F238E27FC236}">
                <a16:creationId xmlns:a16="http://schemas.microsoft.com/office/drawing/2014/main" id="{C03534CA-DD42-24BB-FA3B-865A926DCBB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B1B04BA-01B0-14E2-5B6B-C885203FB144}"/>
              </a:ext>
            </a:extLst>
          </p:cNvPr>
          <p:cNvSpPr>
            <a:spLocks noGrp="1" noChangeArrowheads="1"/>
          </p:cNvSpPr>
          <p:nvPr>
            <p:ph type="sldNum" sz="quarter" idx="5"/>
          </p:nvPr>
        </p:nvSpPr>
        <p:spPr>
          <a:ln/>
        </p:spPr>
        <p:txBody>
          <a:bodyPr/>
          <a:lstStyle/>
          <a:p>
            <a:fld id="{E4C02815-BCCB-4A46-BBE8-8F9D20D4FBE0}" type="slidenum">
              <a:rPr lang="en-US" altLang="en-US"/>
              <a:pPr/>
              <a:t>98</a:t>
            </a:fld>
            <a:endParaRPr lang="en-US" altLang="en-US"/>
          </a:p>
        </p:txBody>
      </p:sp>
      <p:sp>
        <p:nvSpPr>
          <p:cNvPr id="973826" name="Rectangle 2">
            <a:extLst>
              <a:ext uri="{FF2B5EF4-FFF2-40B4-BE49-F238E27FC236}">
                <a16:creationId xmlns:a16="http://schemas.microsoft.com/office/drawing/2014/main" id="{79A3B29B-DA0F-5B78-EE88-6634F559E722}"/>
              </a:ext>
            </a:extLst>
          </p:cNvPr>
          <p:cNvSpPr>
            <a:spLocks noGrp="1" noRot="1" noChangeAspect="1" noChangeArrowheads="1" noTextEdit="1"/>
          </p:cNvSpPr>
          <p:nvPr>
            <p:ph type="sldImg"/>
          </p:nvPr>
        </p:nvSpPr>
        <p:spPr>
          <a:ln/>
        </p:spPr>
      </p:sp>
      <p:sp>
        <p:nvSpPr>
          <p:cNvPr id="973827" name="Rectangle 3">
            <a:extLst>
              <a:ext uri="{FF2B5EF4-FFF2-40B4-BE49-F238E27FC236}">
                <a16:creationId xmlns:a16="http://schemas.microsoft.com/office/drawing/2014/main" id="{072C4733-D304-06AB-D021-4BC1A63E998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121771A-528D-6B22-E09B-61F3AFF1E5AE}"/>
              </a:ext>
            </a:extLst>
          </p:cNvPr>
          <p:cNvSpPr>
            <a:spLocks noGrp="1" noChangeArrowheads="1"/>
          </p:cNvSpPr>
          <p:nvPr>
            <p:ph type="sldNum" sz="quarter" idx="5"/>
          </p:nvPr>
        </p:nvSpPr>
        <p:spPr>
          <a:ln/>
        </p:spPr>
        <p:txBody>
          <a:bodyPr/>
          <a:lstStyle/>
          <a:p>
            <a:fld id="{9B4DD58C-8423-4132-91D3-BB2329BCD18C}" type="slidenum">
              <a:rPr lang="en-US" altLang="en-US"/>
              <a:pPr/>
              <a:t>100</a:t>
            </a:fld>
            <a:endParaRPr lang="en-US" altLang="en-US"/>
          </a:p>
        </p:txBody>
      </p:sp>
      <p:sp>
        <p:nvSpPr>
          <p:cNvPr id="983042" name="Rectangle 2">
            <a:extLst>
              <a:ext uri="{FF2B5EF4-FFF2-40B4-BE49-F238E27FC236}">
                <a16:creationId xmlns:a16="http://schemas.microsoft.com/office/drawing/2014/main" id="{0E081393-88D2-39EB-8BAC-114832B2C63B}"/>
              </a:ext>
            </a:extLst>
          </p:cNvPr>
          <p:cNvSpPr>
            <a:spLocks noGrp="1" noRot="1" noChangeAspect="1" noChangeArrowheads="1" noTextEdit="1"/>
          </p:cNvSpPr>
          <p:nvPr>
            <p:ph type="sldImg"/>
          </p:nvPr>
        </p:nvSpPr>
        <p:spPr>
          <a:ln/>
        </p:spPr>
      </p:sp>
      <p:sp>
        <p:nvSpPr>
          <p:cNvPr id="983043" name="Rectangle 3">
            <a:extLst>
              <a:ext uri="{FF2B5EF4-FFF2-40B4-BE49-F238E27FC236}">
                <a16:creationId xmlns:a16="http://schemas.microsoft.com/office/drawing/2014/main" id="{3634134E-DCBF-78D4-880C-160CE8327034}"/>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 Box 17">
            <a:extLst>
              <a:ext uri="{FF2B5EF4-FFF2-40B4-BE49-F238E27FC236}">
                <a16:creationId xmlns:a16="http://schemas.microsoft.com/office/drawing/2014/main" id="{A1567F24-F2DA-D8BA-CA97-B942B7E7D721}"/>
              </a:ext>
            </a:extLst>
          </p:cNvPr>
          <p:cNvSpPr txBox="1">
            <a:spLocks noChangeArrowheads="1"/>
          </p:cNvSpPr>
          <p:nvPr userDrawn="1"/>
        </p:nvSpPr>
        <p:spPr bwMode="auto">
          <a:xfrm>
            <a:off x="0" y="6553200"/>
            <a:ext cx="2946400" cy="304800"/>
          </a:xfrm>
          <a:prstGeom prst="rect">
            <a:avLst/>
          </a:prstGeom>
          <a:noFill/>
          <a:ln>
            <a:noFill/>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fontAlgn="auto" hangingPunct="1">
              <a:spcBef>
                <a:spcPct val="50000"/>
              </a:spcBef>
              <a:spcAft>
                <a:spcPts val="0"/>
              </a:spcAft>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5" name="Text Box 18">
            <a:extLst>
              <a:ext uri="{FF2B5EF4-FFF2-40B4-BE49-F238E27FC236}">
                <a16:creationId xmlns:a16="http://schemas.microsoft.com/office/drawing/2014/main" id="{08031DC9-C6E2-015D-3282-55914188CD14}"/>
              </a:ext>
            </a:extLst>
          </p:cNvPr>
          <p:cNvSpPr txBox="1">
            <a:spLocks noChangeArrowheads="1"/>
          </p:cNvSpPr>
          <p:nvPr userDrawn="1"/>
        </p:nvSpPr>
        <p:spPr bwMode="auto">
          <a:xfrm>
            <a:off x="6096000" y="6553200"/>
            <a:ext cx="6096000" cy="304800"/>
          </a:xfrm>
          <a:prstGeom prst="rect">
            <a:avLst/>
          </a:prstGeom>
          <a:noFill/>
          <a:ln>
            <a:noFill/>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fontAlgn="auto" hangingPunct="1">
              <a:spcBef>
                <a:spcPct val="50000"/>
              </a:spcBef>
              <a:spcAft>
                <a:spcPts val="0"/>
              </a:spcAft>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48A3B5F8-F57C-B960-54AD-EC9195A6D654}"/>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D772ECD5-54B2-1555-BB00-03B42BE7017D}"/>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E4B1D67A-851C-6D9A-2B25-1D2F7A0821B2}"/>
              </a:ext>
            </a:extLst>
          </p:cNvPr>
          <p:cNvSpPr>
            <a:spLocks noGrp="1"/>
          </p:cNvSpPr>
          <p:nvPr>
            <p:ph type="sldNum" sz="quarter" idx="12"/>
          </p:nvPr>
        </p:nvSpPr>
        <p:spPr/>
        <p:txBody>
          <a:bodyPr/>
          <a:lstStyle>
            <a:lvl1pPr>
              <a:defRPr/>
            </a:lvl1pPr>
          </a:lstStyle>
          <a:p>
            <a:pPr>
              <a:defRPr/>
            </a:pPr>
            <a:fld id="{758EF35F-2E7E-43FC-AB55-C62258BFC653}" type="slidenum">
              <a:rPr lang="en-US" altLang="en-US"/>
              <a:pPr>
                <a:defRPr/>
              </a:pPr>
              <a:t>‹#›</a:t>
            </a:fld>
            <a:endParaRPr lang="en-US" altLang="en-US"/>
          </a:p>
        </p:txBody>
      </p:sp>
    </p:spTree>
    <p:extLst>
      <p:ext uri="{BB962C8B-B14F-4D97-AF65-F5344CB8AC3E}">
        <p14:creationId xmlns:p14="http://schemas.microsoft.com/office/powerpoint/2010/main" val="133955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663F251-A265-AF84-3BB7-DDDE1A7939A4}"/>
              </a:ext>
            </a:extLst>
          </p:cNvPr>
          <p:cNvSpPr>
            <a:spLocks noGrp="1"/>
          </p:cNvSpPr>
          <p:nvPr>
            <p:ph type="dt" sz="half" idx="10"/>
          </p:nvPr>
        </p:nvSpPr>
        <p:spPr/>
        <p:txBody>
          <a:bodyPr/>
          <a:lstStyle>
            <a:lvl1pPr>
              <a:defRPr/>
            </a:lvl1pPr>
          </a:lstStyle>
          <a:p>
            <a:pPr>
              <a:defRPr/>
            </a:pPr>
            <a:fld id="{5188C718-E7C1-4C9C-96AE-36322C1FB71E}" type="datetimeFigureOut">
              <a:rPr lang="en-IN"/>
              <a:pPr>
                <a:defRPr/>
              </a:pPr>
              <a:t>23-07-2026</a:t>
            </a:fld>
            <a:endParaRPr lang="en-IN"/>
          </a:p>
        </p:txBody>
      </p:sp>
      <p:sp>
        <p:nvSpPr>
          <p:cNvPr id="5" name="Footer Placeholder 4">
            <a:extLst>
              <a:ext uri="{FF2B5EF4-FFF2-40B4-BE49-F238E27FC236}">
                <a16:creationId xmlns:a16="http://schemas.microsoft.com/office/drawing/2014/main" id="{C4A6A299-E93D-8079-D433-836FB7438191}"/>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EF10C17-1F73-3EC2-C3C0-069F9E865E53}"/>
              </a:ext>
            </a:extLst>
          </p:cNvPr>
          <p:cNvSpPr>
            <a:spLocks noGrp="1"/>
          </p:cNvSpPr>
          <p:nvPr>
            <p:ph type="sldNum" sz="quarter" idx="12"/>
          </p:nvPr>
        </p:nvSpPr>
        <p:spPr/>
        <p:txBody>
          <a:bodyPr/>
          <a:lstStyle>
            <a:lvl1pPr>
              <a:defRPr/>
            </a:lvl1pPr>
          </a:lstStyle>
          <a:p>
            <a:pPr>
              <a:defRPr/>
            </a:pPr>
            <a:r>
              <a:rPr lang="en-US" altLang="en-US"/>
              <a:t>1.</a:t>
            </a:r>
            <a:fld id="{02B82DCB-B3A4-48AA-BF22-24BB65F3C522}" type="slidenum">
              <a:rPr lang="en-US" altLang="en-US" smtClean="0"/>
              <a:pPr>
                <a:defRPr/>
              </a:pPr>
              <a:t>‹#›</a:t>
            </a:fld>
            <a:endParaRPr lang="en-US" altLang="en-US"/>
          </a:p>
        </p:txBody>
      </p:sp>
    </p:spTree>
    <p:extLst>
      <p:ext uri="{BB962C8B-B14F-4D97-AF65-F5344CB8AC3E}">
        <p14:creationId xmlns:p14="http://schemas.microsoft.com/office/powerpoint/2010/main" val="316166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E334C1-B349-962A-A4A4-5A672D6F5515}"/>
              </a:ext>
            </a:extLst>
          </p:cNvPr>
          <p:cNvSpPr>
            <a:spLocks noGrp="1"/>
          </p:cNvSpPr>
          <p:nvPr>
            <p:ph type="dt" sz="half" idx="10"/>
          </p:nvPr>
        </p:nvSpPr>
        <p:spPr/>
        <p:txBody>
          <a:bodyPr/>
          <a:lstStyle>
            <a:lvl1pPr>
              <a:defRPr/>
            </a:lvl1pPr>
          </a:lstStyle>
          <a:p>
            <a:pPr>
              <a:defRPr/>
            </a:pPr>
            <a:fld id="{FEF0D31D-1D36-49BF-91B3-C4D80F548E30}" type="datetimeFigureOut">
              <a:rPr lang="en-IN"/>
              <a:pPr>
                <a:defRPr/>
              </a:pPr>
              <a:t>23-07-2026</a:t>
            </a:fld>
            <a:endParaRPr lang="en-IN"/>
          </a:p>
        </p:txBody>
      </p:sp>
      <p:sp>
        <p:nvSpPr>
          <p:cNvPr id="5" name="Footer Placeholder 4">
            <a:extLst>
              <a:ext uri="{FF2B5EF4-FFF2-40B4-BE49-F238E27FC236}">
                <a16:creationId xmlns:a16="http://schemas.microsoft.com/office/drawing/2014/main" id="{CF7AF87D-1056-69C0-253B-F736FA12736C}"/>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57D63DD-7AD4-1C82-9364-DA5B9B2575F8}"/>
              </a:ext>
            </a:extLst>
          </p:cNvPr>
          <p:cNvSpPr>
            <a:spLocks noGrp="1"/>
          </p:cNvSpPr>
          <p:nvPr>
            <p:ph type="sldNum" sz="quarter" idx="12"/>
          </p:nvPr>
        </p:nvSpPr>
        <p:spPr/>
        <p:txBody>
          <a:bodyPr/>
          <a:lstStyle>
            <a:lvl1pPr>
              <a:defRPr/>
            </a:lvl1pPr>
          </a:lstStyle>
          <a:p>
            <a:pPr>
              <a:defRPr/>
            </a:pPr>
            <a:r>
              <a:rPr lang="en-US" altLang="en-US"/>
              <a:t>1.</a:t>
            </a:r>
            <a:fld id="{9BEB6F11-58A8-49D4-9E44-BE0046D9EC89}" type="slidenum">
              <a:rPr lang="en-US" altLang="en-US" smtClean="0"/>
              <a:pPr>
                <a:defRPr/>
              </a:pPr>
              <a:t>‹#›</a:t>
            </a:fld>
            <a:endParaRPr lang="en-US" altLang="en-US"/>
          </a:p>
        </p:txBody>
      </p:sp>
    </p:spTree>
    <p:extLst>
      <p:ext uri="{BB962C8B-B14F-4D97-AF65-F5344CB8AC3E}">
        <p14:creationId xmlns:p14="http://schemas.microsoft.com/office/powerpoint/2010/main" val="829738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B7CC7EA-2B39-76D6-98F8-928A2915BF45}"/>
              </a:ext>
            </a:extLst>
          </p:cNvPr>
          <p:cNvSpPr>
            <a:spLocks noGrp="1"/>
          </p:cNvSpPr>
          <p:nvPr>
            <p:ph type="dt" sz="half" idx="10"/>
          </p:nvPr>
        </p:nvSpPr>
        <p:spPr/>
        <p:txBody>
          <a:bodyPr/>
          <a:lstStyle>
            <a:lvl1pPr>
              <a:defRPr/>
            </a:lvl1pPr>
          </a:lstStyle>
          <a:p>
            <a:pPr>
              <a:defRPr/>
            </a:pPr>
            <a:fld id="{FD271882-6EA1-49B5-8321-28C453BA00C6}" type="datetimeFigureOut">
              <a:rPr lang="en-IN"/>
              <a:pPr>
                <a:defRPr/>
              </a:pPr>
              <a:t>23-07-2026</a:t>
            </a:fld>
            <a:endParaRPr lang="en-IN"/>
          </a:p>
        </p:txBody>
      </p:sp>
      <p:sp>
        <p:nvSpPr>
          <p:cNvPr id="6" name="Footer Placeholder 4">
            <a:extLst>
              <a:ext uri="{FF2B5EF4-FFF2-40B4-BE49-F238E27FC236}">
                <a16:creationId xmlns:a16="http://schemas.microsoft.com/office/drawing/2014/main" id="{013B0701-BD48-92DE-D039-FAB0C1041346}"/>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D247664-1534-3A38-945A-412551DBE7B2}"/>
              </a:ext>
            </a:extLst>
          </p:cNvPr>
          <p:cNvSpPr>
            <a:spLocks noGrp="1"/>
          </p:cNvSpPr>
          <p:nvPr>
            <p:ph type="sldNum" sz="quarter" idx="12"/>
          </p:nvPr>
        </p:nvSpPr>
        <p:spPr/>
        <p:txBody>
          <a:bodyPr/>
          <a:lstStyle>
            <a:lvl1pPr>
              <a:defRPr/>
            </a:lvl1pPr>
          </a:lstStyle>
          <a:p>
            <a:pPr>
              <a:defRPr/>
            </a:pPr>
            <a:r>
              <a:rPr lang="en-US" altLang="en-US"/>
              <a:t>1.</a:t>
            </a:r>
            <a:fld id="{C395A789-B7B0-4164-A1AA-DF122205AFC3}" type="slidenum">
              <a:rPr lang="en-US" altLang="en-US" smtClean="0"/>
              <a:pPr>
                <a:defRPr/>
              </a:pPr>
              <a:t>‹#›</a:t>
            </a:fld>
            <a:endParaRPr lang="en-US" altLang="en-US"/>
          </a:p>
        </p:txBody>
      </p:sp>
    </p:spTree>
    <p:extLst>
      <p:ext uri="{BB962C8B-B14F-4D97-AF65-F5344CB8AC3E}">
        <p14:creationId xmlns:p14="http://schemas.microsoft.com/office/powerpoint/2010/main" val="333408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E0013E6B-E6E5-62D0-F2A0-017510FE5AB1}"/>
              </a:ext>
            </a:extLst>
          </p:cNvPr>
          <p:cNvSpPr>
            <a:spLocks noGrp="1"/>
          </p:cNvSpPr>
          <p:nvPr>
            <p:ph type="dt" sz="half" idx="10"/>
          </p:nvPr>
        </p:nvSpPr>
        <p:spPr/>
        <p:txBody>
          <a:bodyPr/>
          <a:lstStyle>
            <a:lvl1pPr>
              <a:defRPr/>
            </a:lvl1pPr>
          </a:lstStyle>
          <a:p>
            <a:pPr>
              <a:defRPr/>
            </a:pPr>
            <a:fld id="{E0299754-8E1E-4E1E-9FF7-2C68ADF453B8}" type="datetimeFigureOut">
              <a:rPr lang="en-IN"/>
              <a:pPr>
                <a:defRPr/>
              </a:pPr>
              <a:t>23-07-2026</a:t>
            </a:fld>
            <a:endParaRPr lang="en-IN"/>
          </a:p>
        </p:txBody>
      </p:sp>
      <p:sp>
        <p:nvSpPr>
          <p:cNvPr id="8" name="Footer Placeholder 4">
            <a:extLst>
              <a:ext uri="{FF2B5EF4-FFF2-40B4-BE49-F238E27FC236}">
                <a16:creationId xmlns:a16="http://schemas.microsoft.com/office/drawing/2014/main" id="{628E1E34-560A-C229-332A-2025D8822AF5}"/>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761905B7-9027-071E-2897-6AA009CF0E56}"/>
              </a:ext>
            </a:extLst>
          </p:cNvPr>
          <p:cNvSpPr>
            <a:spLocks noGrp="1"/>
          </p:cNvSpPr>
          <p:nvPr>
            <p:ph type="sldNum" sz="quarter" idx="12"/>
          </p:nvPr>
        </p:nvSpPr>
        <p:spPr/>
        <p:txBody>
          <a:bodyPr/>
          <a:lstStyle>
            <a:lvl1pPr>
              <a:defRPr/>
            </a:lvl1pPr>
          </a:lstStyle>
          <a:p>
            <a:pPr>
              <a:defRPr/>
            </a:pPr>
            <a:r>
              <a:rPr lang="en-US" altLang="en-US"/>
              <a:t>1.</a:t>
            </a:r>
            <a:fld id="{AF9B74E7-5A74-48F8-9BBB-A7E8A92EAD37}" type="slidenum">
              <a:rPr lang="en-US" altLang="en-US" smtClean="0"/>
              <a:pPr>
                <a:defRPr/>
              </a:pPr>
              <a:t>‹#›</a:t>
            </a:fld>
            <a:endParaRPr lang="en-US" altLang="en-US"/>
          </a:p>
        </p:txBody>
      </p:sp>
    </p:spTree>
    <p:extLst>
      <p:ext uri="{BB962C8B-B14F-4D97-AF65-F5344CB8AC3E}">
        <p14:creationId xmlns:p14="http://schemas.microsoft.com/office/powerpoint/2010/main" val="500971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B7F08084-602D-161D-01E2-D96CE78DA233}"/>
              </a:ext>
            </a:extLst>
          </p:cNvPr>
          <p:cNvSpPr>
            <a:spLocks noGrp="1"/>
          </p:cNvSpPr>
          <p:nvPr>
            <p:ph type="dt" sz="half" idx="10"/>
          </p:nvPr>
        </p:nvSpPr>
        <p:spPr/>
        <p:txBody>
          <a:bodyPr/>
          <a:lstStyle>
            <a:lvl1pPr>
              <a:defRPr/>
            </a:lvl1pPr>
          </a:lstStyle>
          <a:p>
            <a:pPr>
              <a:defRPr/>
            </a:pPr>
            <a:fld id="{EB96D830-32B5-4E43-BF3B-75A0F1B46272}" type="datetimeFigureOut">
              <a:rPr lang="en-IN"/>
              <a:pPr>
                <a:defRPr/>
              </a:pPr>
              <a:t>23-07-2026</a:t>
            </a:fld>
            <a:endParaRPr lang="en-IN"/>
          </a:p>
        </p:txBody>
      </p:sp>
      <p:sp>
        <p:nvSpPr>
          <p:cNvPr id="4" name="Footer Placeholder 4">
            <a:extLst>
              <a:ext uri="{FF2B5EF4-FFF2-40B4-BE49-F238E27FC236}">
                <a16:creationId xmlns:a16="http://schemas.microsoft.com/office/drawing/2014/main" id="{42E3E4AF-C48F-80BD-BBA2-E3DDF908E42B}"/>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51289EEB-36A6-1005-3069-691AAF1BCE85}"/>
              </a:ext>
            </a:extLst>
          </p:cNvPr>
          <p:cNvSpPr>
            <a:spLocks noGrp="1"/>
          </p:cNvSpPr>
          <p:nvPr>
            <p:ph type="sldNum" sz="quarter" idx="12"/>
          </p:nvPr>
        </p:nvSpPr>
        <p:spPr/>
        <p:txBody>
          <a:bodyPr/>
          <a:lstStyle>
            <a:lvl1pPr>
              <a:defRPr/>
            </a:lvl1pPr>
          </a:lstStyle>
          <a:p>
            <a:pPr>
              <a:defRPr/>
            </a:pPr>
            <a:r>
              <a:rPr lang="en-US" altLang="en-US"/>
              <a:t>1.</a:t>
            </a:r>
            <a:fld id="{B03512A2-6B2F-4826-9601-59E6391C8D42}" type="slidenum">
              <a:rPr lang="en-US" altLang="en-US" smtClean="0"/>
              <a:pPr>
                <a:defRPr/>
              </a:pPr>
              <a:t>‹#›</a:t>
            </a:fld>
            <a:endParaRPr lang="en-US" altLang="en-US"/>
          </a:p>
        </p:txBody>
      </p:sp>
    </p:spTree>
    <p:extLst>
      <p:ext uri="{BB962C8B-B14F-4D97-AF65-F5344CB8AC3E}">
        <p14:creationId xmlns:p14="http://schemas.microsoft.com/office/powerpoint/2010/main" val="39041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6E52CD1-CBC9-941D-CC92-CB1B5A063B74}"/>
              </a:ext>
            </a:extLst>
          </p:cNvPr>
          <p:cNvSpPr>
            <a:spLocks noGrp="1"/>
          </p:cNvSpPr>
          <p:nvPr>
            <p:ph type="dt" sz="half" idx="10"/>
          </p:nvPr>
        </p:nvSpPr>
        <p:spPr/>
        <p:txBody>
          <a:bodyPr/>
          <a:lstStyle>
            <a:lvl1pPr>
              <a:defRPr/>
            </a:lvl1pPr>
          </a:lstStyle>
          <a:p>
            <a:pPr>
              <a:defRPr/>
            </a:pPr>
            <a:fld id="{D5E4AEDD-2692-4610-8915-CE890BE24DC4}" type="datetimeFigureOut">
              <a:rPr lang="en-IN"/>
              <a:pPr>
                <a:defRPr/>
              </a:pPr>
              <a:t>23-07-2026</a:t>
            </a:fld>
            <a:endParaRPr lang="en-IN"/>
          </a:p>
        </p:txBody>
      </p:sp>
      <p:sp>
        <p:nvSpPr>
          <p:cNvPr id="3" name="Footer Placeholder 4">
            <a:extLst>
              <a:ext uri="{FF2B5EF4-FFF2-40B4-BE49-F238E27FC236}">
                <a16:creationId xmlns:a16="http://schemas.microsoft.com/office/drawing/2014/main" id="{B488014B-843C-FA90-1292-10859A1DF8B0}"/>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5EDF577A-42D4-ADA9-571B-62094CE3B9A5}"/>
              </a:ext>
            </a:extLst>
          </p:cNvPr>
          <p:cNvSpPr>
            <a:spLocks noGrp="1"/>
          </p:cNvSpPr>
          <p:nvPr>
            <p:ph type="sldNum" sz="quarter" idx="12"/>
          </p:nvPr>
        </p:nvSpPr>
        <p:spPr/>
        <p:txBody>
          <a:bodyPr/>
          <a:lstStyle>
            <a:lvl1pPr>
              <a:defRPr/>
            </a:lvl1pPr>
          </a:lstStyle>
          <a:p>
            <a:pPr>
              <a:defRPr/>
            </a:pPr>
            <a:r>
              <a:rPr lang="en-US" altLang="en-US"/>
              <a:t>1.</a:t>
            </a:r>
            <a:fld id="{D0F3D252-46FB-4F3E-A60A-83427126AEB1}" type="slidenum">
              <a:rPr lang="en-US" altLang="en-US" smtClean="0"/>
              <a:pPr>
                <a:defRPr/>
              </a:pPr>
              <a:t>‹#›</a:t>
            </a:fld>
            <a:endParaRPr lang="en-US" altLang="en-US"/>
          </a:p>
        </p:txBody>
      </p:sp>
    </p:spTree>
    <p:extLst>
      <p:ext uri="{BB962C8B-B14F-4D97-AF65-F5344CB8AC3E}">
        <p14:creationId xmlns:p14="http://schemas.microsoft.com/office/powerpoint/2010/main" val="4224252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6A74915-D624-4F1B-EFEC-51C29776D8EA}"/>
              </a:ext>
            </a:extLst>
          </p:cNvPr>
          <p:cNvSpPr>
            <a:spLocks noGrp="1"/>
          </p:cNvSpPr>
          <p:nvPr>
            <p:ph type="dt" sz="half" idx="10"/>
          </p:nvPr>
        </p:nvSpPr>
        <p:spPr/>
        <p:txBody>
          <a:bodyPr/>
          <a:lstStyle>
            <a:lvl1pPr>
              <a:defRPr/>
            </a:lvl1pPr>
          </a:lstStyle>
          <a:p>
            <a:pPr>
              <a:defRPr/>
            </a:pPr>
            <a:fld id="{7A3EDA45-83AF-4E28-B6A7-20F0C4BF1A4E}" type="datetimeFigureOut">
              <a:rPr lang="en-IN"/>
              <a:pPr>
                <a:defRPr/>
              </a:pPr>
              <a:t>23-07-2026</a:t>
            </a:fld>
            <a:endParaRPr lang="en-IN"/>
          </a:p>
        </p:txBody>
      </p:sp>
      <p:sp>
        <p:nvSpPr>
          <p:cNvPr id="6" name="Footer Placeholder 4">
            <a:extLst>
              <a:ext uri="{FF2B5EF4-FFF2-40B4-BE49-F238E27FC236}">
                <a16:creationId xmlns:a16="http://schemas.microsoft.com/office/drawing/2014/main" id="{2F1B33D7-0224-3193-DA97-15A59064BFAE}"/>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8D578CC-E50E-9640-FD2C-5AD57319F8DB}"/>
              </a:ext>
            </a:extLst>
          </p:cNvPr>
          <p:cNvSpPr>
            <a:spLocks noGrp="1"/>
          </p:cNvSpPr>
          <p:nvPr>
            <p:ph type="sldNum" sz="quarter" idx="12"/>
          </p:nvPr>
        </p:nvSpPr>
        <p:spPr/>
        <p:txBody>
          <a:bodyPr/>
          <a:lstStyle>
            <a:lvl1pPr>
              <a:defRPr/>
            </a:lvl1pPr>
          </a:lstStyle>
          <a:p>
            <a:pPr>
              <a:defRPr/>
            </a:pPr>
            <a:r>
              <a:rPr lang="en-US" altLang="en-US"/>
              <a:t>1.</a:t>
            </a:r>
            <a:fld id="{7A1F786B-2F1A-497B-9962-CC0EE27E0DF5}" type="slidenum">
              <a:rPr lang="en-US" altLang="en-US" smtClean="0"/>
              <a:pPr>
                <a:defRPr/>
              </a:pPr>
              <a:t>‹#›</a:t>
            </a:fld>
            <a:endParaRPr lang="en-US" altLang="en-US"/>
          </a:p>
        </p:txBody>
      </p:sp>
    </p:spTree>
    <p:extLst>
      <p:ext uri="{BB962C8B-B14F-4D97-AF65-F5344CB8AC3E}">
        <p14:creationId xmlns:p14="http://schemas.microsoft.com/office/powerpoint/2010/main" val="1354232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8058849D-CE71-CB19-A7E6-5BC0956F55AA}"/>
              </a:ext>
            </a:extLst>
          </p:cNvPr>
          <p:cNvSpPr>
            <a:spLocks noGrp="1"/>
          </p:cNvSpPr>
          <p:nvPr>
            <p:ph type="dt" sz="half" idx="10"/>
          </p:nvPr>
        </p:nvSpPr>
        <p:spPr/>
        <p:txBody>
          <a:bodyPr/>
          <a:lstStyle>
            <a:lvl1pPr>
              <a:defRPr/>
            </a:lvl1pPr>
          </a:lstStyle>
          <a:p>
            <a:pPr>
              <a:defRPr/>
            </a:pPr>
            <a:fld id="{73905F07-7A80-4993-AC69-1DCAD1CAC2ED}" type="datetimeFigureOut">
              <a:rPr lang="en-IN"/>
              <a:pPr>
                <a:defRPr/>
              </a:pPr>
              <a:t>23-07-2026</a:t>
            </a:fld>
            <a:endParaRPr lang="en-IN"/>
          </a:p>
        </p:txBody>
      </p:sp>
      <p:sp>
        <p:nvSpPr>
          <p:cNvPr id="6" name="Footer Placeholder 4">
            <a:extLst>
              <a:ext uri="{FF2B5EF4-FFF2-40B4-BE49-F238E27FC236}">
                <a16:creationId xmlns:a16="http://schemas.microsoft.com/office/drawing/2014/main" id="{B4CFD825-5979-690F-FD67-6185ABD510F6}"/>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2C62E6C-4301-4C4C-F7A8-AEC4D76B79AE}"/>
              </a:ext>
            </a:extLst>
          </p:cNvPr>
          <p:cNvSpPr>
            <a:spLocks noGrp="1"/>
          </p:cNvSpPr>
          <p:nvPr>
            <p:ph type="sldNum" sz="quarter" idx="12"/>
          </p:nvPr>
        </p:nvSpPr>
        <p:spPr/>
        <p:txBody>
          <a:bodyPr/>
          <a:lstStyle>
            <a:lvl1pPr>
              <a:defRPr/>
            </a:lvl1pPr>
          </a:lstStyle>
          <a:p>
            <a:pPr>
              <a:defRPr/>
            </a:pPr>
            <a:r>
              <a:rPr lang="en-US" altLang="en-US"/>
              <a:t>1.</a:t>
            </a:r>
            <a:fld id="{0F49B48C-81CE-41F3-946F-C23F639F17B6}" type="slidenum">
              <a:rPr lang="en-US" altLang="en-US" smtClean="0"/>
              <a:pPr>
                <a:defRPr/>
              </a:pPr>
              <a:t>‹#›</a:t>
            </a:fld>
            <a:endParaRPr lang="en-US" altLang="en-US"/>
          </a:p>
        </p:txBody>
      </p:sp>
    </p:spTree>
    <p:extLst>
      <p:ext uri="{BB962C8B-B14F-4D97-AF65-F5344CB8AC3E}">
        <p14:creationId xmlns:p14="http://schemas.microsoft.com/office/powerpoint/2010/main" val="2163244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92CEDCC-60C9-F22F-436E-133867314C42}"/>
              </a:ext>
            </a:extLst>
          </p:cNvPr>
          <p:cNvSpPr>
            <a:spLocks noGrp="1"/>
          </p:cNvSpPr>
          <p:nvPr>
            <p:ph type="dt" sz="half" idx="10"/>
          </p:nvPr>
        </p:nvSpPr>
        <p:spPr/>
        <p:txBody>
          <a:bodyPr/>
          <a:lstStyle>
            <a:lvl1pPr>
              <a:defRPr/>
            </a:lvl1pPr>
          </a:lstStyle>
          <a:p>
            <a:pPr>
              <a:defRPr/>
            </a:pPr>
            <a:fld id="{B0FC385A-AEF8-4092-9FE1-CACFEDF66EB9}" type="datetimeFigureOut">
              <a:rPr lang="en-IN"/>
              <a:pPr>
                <a:defRPr/>
              </a:pPr>
              <a:t>23-07-2026</a:t>
            </a:fld>
            <a:endParaRPr lang="en-IN"/>
          </a:p>
        </p:txBody>
      </p:sp>
      <p:sp>
        <p:nvSpPr>
          <p:cNvPr id="5" name="Footer Placeholder 4">
            <a:extLst>
              <a:ext uri="{FF2B5EF4-FFF2-40B4-BE49-F238E27FC236}">
                <a16:creationId xmlns:a16="http://schemas.microsoft.com/office/drawing/2014/main" id="{0F06DE39-8D2B-0AD0-DBE4-07CF5C48FD9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41A0677-182A-BE65-E3DD-959C1F756E78}"/>
              </a:ext>
            </a:extLst>
          </p:cNvPr>
          <p:cNvSpPr>
            <a:spLocks noGrp="1"/>
          </p:cNvSpPr>
          <p:nvPr>
            <p:ph type="sldNum" sz="quarter" idx="12"/>
          </p:nvPr>
        </p:nvSpPr>
        <p:spPr/>
        <p:txBody>
          <a:bodyPr/>
          <a:lstStyle>
            <a:lvl1pPr>
              <a:defRPr/>
            </a:lvl1pPr>
          </a:lstStyle>
          <a:p>
            <a:pPr>
              <a:defRPr/>
            </a:pPr>
            <a:r>
              <a:rPr lang="en-US" altLang="en-US"/>
              <a:t>1.</a:t>
            </a:r>
            <a:fld id="{44BC80E3-6499-495F-B328-2F0E468AD1F0}" type="slidenum">
              <a:rPr lang="en-US" altLang="en-US" smtClean="0"/>
              <a:pPr>
                <a:defRPr/>
              </a:pPr>
              <a:t>‹#›</a:t>
            </a:fld>
            <a:endParaRPr lang="en-US" altLang="en-US"/>
          </a:p>
        </p:txBody>
      </p:sp>
    </p:spTree>
    <p:extLst>
      <p:ext uri="{BB962C8B-B14F-4D97-AF65-F5344CB8AC3E}">
        <p14:creationId xmlns:p14="http://schemas.microsoft.com/office/powerpoint/2010/main" val="280975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AE9FABB-B2D2-B03F-2542-D7140639D618}"/>
              </a:ext>
            </a:extLst>
          </p:cNvPr>
          <p:cNvSpPr>
            <a:spLocks noGrp="1"/>
          </p:cNvSpPr>
          <p:nvPr>
            <p:ph type="dt" sz="half" idx="10"/>
          </p:nvPr>
        </p:nvSpPr>
        <p:spPr/>
        <p:txBody>
          <a:bodyPr/>
          <a:lstStyle>
            <a:lvl1pPr>
              <a:defRPr/>
            </a:lvl1pPr>
          </a:lstStyle>
          <a:p>
            <a:pPr>
              <a:defRPr/>
            </a:pPr>
            <a:fld id="{0B14C16D-88F5-4F9B-8117-0DD8396B6968}" type="datetimeFigureOut">
              <a:rPr lang="en-IN"/>
              <a:pPr>
                <a:defRPr/>
              </a:pPr>
              <a:t>23-07-2026</a:t>
            </a:fld>
            <a:endParaRPr lang="en-IN"/>
          </a:p>
        </p:txBody>
      </p:sp>
      <p:sp>
        <p:nvSpPr>
          <p:cNvPr id="5" name="Footer Placeholder 4">
            <a:extLst>
              <a:ext uri="{FF2B5EF4-FFF2-40B4-BE49-F238E27FC236}">
                <a16:creationId xmlns:a16="http://schemas.microsoft.com/office/drawing/2014/main" id="{F9485C64-624E-8826-79BD-E6F05B57528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F10DCD16-4C7C-1878-C9DA-48075FA575A3}"/>
              </a:ext>
            </a:extLst>
          </p:cNvPr>
          <p:cNvSpPr>
            <a:spLocks noGrp="1"/>
          </p:cNvSpPr>
          <p:nvPr>
            <p:ph type="sldNum" sz="quarter" idx="12"/>
          </p:nvPr>
        </p:nvSpPr>
        <p:spPr/>
        <p:txBody>
          <a:bodyPr/>
          <a:lstStyle>
            <a:lvl1pPr>
              <a:defRPr/>
            </a:lvl1pPr>
          </a:lstStyle>
          <a:p>
            <a:pPr>
              <a:defRPr/>
            </a:pPr>
            <a:r>
              <a:rPr lang="en-US" altLang="en-US"/>
              <a:t>1.</a:t>
            </a:r>
            <a:fld id="{FBFDBE87-A83E-48F8-A8FD-594E37C69C54}" type="slidenum">
              <a:rPr lang="en-US" altLang="en-US" smtClean="0"/>
              <a:pPr>
                <a:defRPr/>
              </a:pPr>
              <a:t>‹#›</a:t>
            </a:fld>
            <a:endParaRPr lang="en-US" altLang="en-US"/>
          </a:p>
        </p:txBody>
      </p:sp>
    </p:spTree>
    <p:extLst>
      <p:ext uri="{BB962C8B-B14F-4D97-AF65-F5344CB8AC3E}">
        <p14:creationId xmlns:p14="http://schemas.microsoft.com/office/powerpoint/2010/main" val="2121085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3">
            <a:extLst>
              <a:ext uri="{FF2B5EF4-FFF2-40B4-BE49-F238E27FC236}">
                <a16:creationId xmlns:a16="http://schemas.microsoft.com/office/drawing/2014/main" id="{81AF250A-CADF-A0FB-9C37-A308546253EA}"/>
              </a:ext>
            </a:extLst>
          </p:cNvPr>
          <p:cNvSpPr>
            <a:spLocks noGrp="1" noChangeArrowheads="1"/>
          </p:cNvSpPr>
          <p:nvPr>
            <p:ph type="sldNum" sz="quarter" idx="10"/>
          </p:nvPr>
        </p:nvSpPr>
        <p:spPr/>
        <p:txBody>
          <a:bodyPr/>
          <a:lstStyle>
            <a:lvl1pPr>
              <a:defRPr/>
            </a:lvl1pPr>
          </a:lstStyle>
          <a:p>
            <a:pPr>
              <a:defRPr/>
            </a:pPr>
            <a:r>
              <a:rPr lang="en-US" altLang="en-US"/>
              <a:t>1.</a:t>
            </a:r>
            <a:fld id="{72EE671D-C89B-4161-A44F-82F634DD8529}" type="slidenum">
              <a:rPr lang="en-US" altLang="en-US" smtClean="0"/>
              <a:pPr>
                <a:defRPr/>
              </a:pPr>
              <a:t>‹#›</a:t>
            </a:fld>
            <a:endParaRPr lang="en-US" altLang="en-US"/>
          </a:p>
        </p:txBody>
      </p:sp>
    </p:spTree>
    <p:extLst>
      <p:ext uri="{BB962C8B-B14F-4D97-AF65-F5344CB8AC3E}">
        <p14:creationId xmlns:p14="http://schemas.microsoft.com/office/powerpoint/2010/main" val="2748440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1426508-3544-2173-BE24-11AE6B1604A6}"/>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62CC45F-478F-1654-4F47-26770335E950}"/>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7DBA11B-25F2-D34E-84DE-26D1696927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D9947CD6-FDBA-4E13-A0DA-2C39C5A31EDE}" type="datetimeFigureOut">
              <a:rPr lang="en-IN"/>
              <a:pPr>
                <a:defRPr/>
              </a:pPr>
              <a:t>23-07-2026</a:t>
            </a:fld>
            <a:endParaRPr lang="en-IN"/>
          </a:p>
        </p:txBody>
      </p:sp>
      <p:sp>
        <p:nvSpPr>
          <p:cNvPr id="5" name="Footer Placeholder 4">
            <a:extLst>
              <a:ext uri="{FF2B5EF4-FFF2-40B4-BE49-F238E27FC236}">
                <a16:creationId xmlns:a16="http://schemas.microsoft.com/office/drawing/2014/main" id="{C6D96F29-0132-D017-A7BD-4DEADE6E40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2A408D20-E9CA-D5EE-7838-1B206F58BA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r>
              <a:rPr lang="en-US" altLang="en-US"/>
              <a:t>1.</a:t>
            </a:r>
            <a:fld id="{B4435E16-12F2-4582-8DBE-D7028B3B344B}"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96"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7" r:id="rId12"/>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www.classcentral.com/course/swayam-computer-networks-13951" TargetMode="External"/><Relationship Id="rId3" Type="http://schemas.openxmlformats.org/officeDocument/2006/relationships/hyperlink" Target="https://www.youtube.com/watch?v=sG6WGvzmVaw" TargetMode="External"/><Relationship Id="rId7" Type="http://schemas.openxmlformats.org/officeDocument/2006/relationships/hyperlink" Target="https://nptel.ac.in/courses/106/105/10610508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tutorialspoint.com/computer_fundamentals/computer_networking.htm" TargetMode="External"/><Relationship Id="rId5" Type="http://schemas.openxmlformats.org/officeDocument/2006/relationships/hyperlink" Target="https://www.geeksforgeeks.org/basics-computer-networking/" TargetMode="External"/><Relationship Id="rId4" Type="http://schemas.openxmlformats.org/officeDocument/2006/relationships/hyperlink" Target="https://www.javatpoint.com/computer-network-introduction" TargetMode="External"/><Relationship Id="rId9" Type="http://schemas.openxmlformats.org/officeDocument/2006/relationships/hyperlink" Target="https://www.coursera.org/courses?query=computer%20networ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en.wikipedia.org/wiki/Discrete_variable"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www.ques10.com/p/5423/what-is-transmission-impairments-explain-each-br-1/#:~:text=Transmission%20impairments%3A%20In%20any%20communication%20system%2C%20the%20received,deteriorate%20due%20to%20transmission%20impairments%20as%20given%20above."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bject 2">
            <a:extLst>
              <a:ext uri="{FF2B5EF4-FFF2-40B4-BE49-F238E27FC236}">
                <a16:creationId xmlns:a16="http://schemas.microsoft.com/office/drawing/2014/main" id="{D26F020A-60D4-7339-EA4D-DED3A5CBE87C}"/>
              </a:ext>
            </a:extLst>
          </p:cNvPr>
          <p:cNvSpPr>
            <a:spLocks noGrp="1" noChangeArrowheads="1"/>
          </p:cNvSpPr>
          <p:nvPr>
            <p:ph type="title"/>
          </p:nvPr>
        </p:nvSpPr>
        <p:spPr>
          <a:xfrm>
            <a:off x="685800" y="1073150"/>
            <a:ext cx="10923588" cy="1285875"/>
          </a:xfrm>
        </p:spPr>
        <p:txBody>
          <a:bodyPr lIns="0" tIns="66675" rIns="0" bIns="0">
            <a:spAutoFit/>
          </a:bodyPr>
          <a:lstStyle/>
          <a:p>
            <a:pPr algn="ctr" eaLnBrk="1" hangingPunct="1">
              <a:spcBef>
                <a:spcPts val="600"/>
              </a:spcBef>
            </a:pPr>
            <a:r>
              <a:rPr lang="en-US" altLang="en-US" b="1" dirty="0">
                <a:latin typeface="Times New Roman" panose="02020603050405020304" pitchFamily="18" charset="0"/>
                <a:ea typeface="Verdana" panose="020B0604030504040204" pitchFamily="34" charset="0"/>
                <a:cs typeface="Times New Roman" panose="02020603050405020304" pitchFamily="18" charset="0"/>
              </a:rPr>
              <a:t>DATA COMMUNICATION &amp; COMPUTER NETWORK (DCCN)</a:t>
            </a:r>
            <a:endParaRPr lang="en-US" altLang="en-US" sz="3600" dirty="0">
              <a:latin typeface="Calibri" panose="020F0502020204030204" pitchFamily="34" charset="0"/>
              <a:ea typeface="Verdana" panose="020B0604030504040204" pitchFamily="34" charset="0"/>
              <a:cs typeface="Calibri" panose="020F0502020204030204" pitchFamily="34" charset="0"/>
            </a:endParaRPr>
          </a:p>
        </p:txBody>
      </p:sp>
      <p:sp>
        <p:nvSpPr>
          <p:cNvPr id="10" name="Slide Number Placeholder 9">
            <a:extLst>
              <a:ext uri="{FF2B5EF4-FFF2-40B4-BE49-F238E27FC236}">
                <a16:creationId xmlns:a16="http://schemas.microsoft.com/office/drawing/2014/main" id="{5E873F7C-6A27-6EB3-9B54-871F653D391D}"/>
              </a:ext>
            </a:extLst>
          </p:cNvPr>
          <p:cNvSpPr>
            <a:spLocks noGrp="1"/>
          </p:cNvSpPr>
          <p:nvPr>
            <p:ph type="sldNum" sz="quarter" idx="12"/>
          </p:nvPr>
        </p:nvSpPr>
        <p:spPr>
          <a:xfrm>
            <a:off x="5713413" y="6559550"/>
            <a:ext cx="307975" cy="254000"/>
          </a:xfrm>
        </p:spPr>
        <p:txBody>
          <a:bodyPr/>
          <a:lstStyle/>
          <a:p>
            <a:pPr marL="38100">
              <a:lnSpc>
                <a:spcPts val="1810"/>
              </a:lnSpc>
              <a:defRPr/>
            </a:pPr>
            <a:fld id="{5B3C9B9E-9F98-4A3F-A73D-F08015DEC5C1}" type="slidenum">
              <a:rPr lang="en-US" smtClean="0"/>
              <a:pPr marL="38100">
                <a:lnSpc>
                  <a:spcPts val="1810"/>
                </a:lnSpc>
                <a:defRPr/>
              </a:pPr>
              <a:t>1</a:t>
            </a:fld>
            <a:endParaRPr lang="en-US" dirty="0"/>
          </a:p>
        </p:txBody>
      </p:sp>
      <p:sp>
        <p:nvSpPr>
          <p:cNvPr id="6148" name="TextBox 3">
            <a:extLst>
              <a:ext uri="{FF2B5EF4-FFF2-40B4-BE49-F238E27FC236}">
                <a16:creationId xmlns:a16="http://schemas.microsoft.com/office/drawing/2014/main" id="{FA24D39B-BE66-8989-8B74-693422461335}"/>
              </a:ext>
            </a:extLst>
          </p:cNvPr>
          <p:cNvSpPr txBox="1">
            <a:spLocks noChangeArrowheads="1"/>
          </p:cNvSpPr>
          <p:nvPr/>
        </p:nvSpPr>
        <p:spPr bwMode="auto">
          <a:xfrm>
            <a:off x="2973388" y="2359025"/>
            <a:ext cx="609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800">
                <a:solidFill>
                  <a:srgbClr val="C55A11"/>
                </a:solidFill>
                <a:latin typeface="Arial Black" panose="020B0A04020102020204" pitchFamily="34" charset="0"/>
                <a:ea typeface="Verdana" panose="020B0604030504040204" pitchFamily="34" charset="0"/>
                <a:cs typeface="Verdana" panose="020B0604030504040204" pitchFamily="34" charset="0"/>
              </a:rPr>
              <a:t>[CS221] [Cr:3]</a:t>
            </a:r>
            <a:endParaRPr lang="en-IN" altLang="en-US" sz="1800">
              <a:solidFill>
                <a:srgbClr val="C55A11"/>
              </a:solidFill>
              <a:latin typeface="Arial Black" panose="020B0A04020102020204" pitchFamily="34" charset="0"/>
              <a:ea typeface="Verdana" panose="020B0604030504040204" pitchFamily="34" charset="0"/>
              <a:cs typeface="Verdana" panose="020B0604030504040204" pitchFamily="34" charset="0"/>
            </a:endParaRPr>
          </a:p>
        </p:txBody>
      </p:sp>
      <p:pic>
        <p:nvPicPr>
          <p:cNvPr id="6149" name="Picture 2" descr="C. V. RAMAN Global University – Best Private University In India For  Technical Education">
            <a:extLst>
              <a:ext uri="{FF2B5EF4-FFF2-40B4-BE49-F238E27FC236}">
                <a16:creationId xmlns:a16="http://schemas.microsoft.com/office/drawing/2014/main" id="{21777038-B08D-BC52-DDF1-DC88D3D40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28588"/>
            <a:ext cx="35639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Subtitle 2">
            <a:extLst>
              <a:ext uri="{FF2B5EF4-FFF2-40B4-BE49-F238E27FC236}">
                <a16:creationId xmlns:a16="http://schemas.microsoft.com/office/drawing/2014/main" id="{98FE5763-2E6B-CA21-8E35-246AEC4BF86C}"/>
              </a:ext>
            </a:extLst>
          </p:cNvPr>
          <p:cNvSpPr txBox="1">
            <a:spLocks noChangeArrowheads="1"/>
          </p:cNvSpPr>
          <p:nvPr/>
        </p:nvSpPr>
        <p:spPr bwMode="auto">
          <a:xfrm>
            <a:off x="1627188" y="4752975"/>
            <a:ext cx="91440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defTabSz="914400" eaLnBrk="1" hangingPunct="1">
              <a:buFont typeface="Arial" panose="020B0604020202020204" pitchFamily="34" charset="0"/>
              <a:buNone/>
            </a:pPr>
            <a:endParaRPr lang="en-IN" altLang="en-US">
              <a:latin typeface="Times New Roman" panose="02020603050405020304" pitchFamily="18" charset="0"/>
              <a:cs typeface="Times New Roman" panose="02020603050405020304" pitchFamily="18" charset="0"/>
            </a:endParaRPr>
          </a:p>
        </p:txBody>
      </p:sp>
      <p:pic>
        <p:nvPicPr>
          <p:cNvPr id="6151" name="Picture 5">
            <a:extLst>
              <a:ext uri="{FF2B5EF4-FFF2-40B4-BE49-F238E27FC236}">
                <a16:creationId xmlns:a16="http://schemas.microsoft.com/office/drawing/2014/main" id="{E4DC193A-C2B4-3ABE-EAEB-7045605F8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0" y="2884488"/>
            <a:ext cx="1601788"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TextBox 1">
            <a:extLst>
              <a:ext uri="{FF2B5EF4-FFF2-40B4-BE49-F238E27FC236}">
                <a16:creationId xmlns:a16="http://schemas.microsoft.com/office/drawing/2014/main" id="{399C9446-AA28-7FD7-2E25-154298F067AE}"/>
              </a:ext>
            </a:extLst>
          </p:cNvPr>
          <p:cNvSpPr txBox="1">
            <a:spLocks noChangeArrowheads="1"/>
          </p:cNvSpPr>
          <p:nvPr/>
        </p:nvSpPr>
        <p:spPr bwMode="auto">
          <a:xfrm>
            <a:off x="4276725" y="5011738"/>
            <a:ext cx="50196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IN" altLang="en-US" sz="2200" b="1">
                <a:latin typeface="Times New Roman" panose="02020603050405020304" pitchFamily="18" charset="0"/>
                <a:cs typeface="Times New Roman" panose="02020603050405020304" pitchFamily="18" charset="0"/>
              </a:rPr>
              <a:t>Dr. Jyoti Prasanna Patra</a:t>
            </a:r>
          </a:p>
          <a:p>
            <a:pPr algn="ctr">
              <a:lnSpc>
                <a:spcPct val="100000"/>
              </a:lnSpc>
              <a:spcBef>
                <a:spcPct val="0"/>
              </a:spcBef>
              <a:buFontTx/>
              <a:buNone/>
            </a:pPr>
            <a:endParaRPr lang="en-IN" altLang="en-US" sz="2200" b="1">
              <a:latin typeface="Times New Roman" panose="02020603050405020304" pitchFamily="18" charset="0"/>
              <a:cs typeface="Times New Roman" panose="02020603050405020304" pitchFamily="18" charset="0"/>
            </a:endParaRPr>
          </a:p>
          <a:p>
            <a:pPr algn="ctr">
              <a:lnSpc>
                <a:spcPct val="100000"/>
              </a:lnSpc>
              <a:spcBef>
                <a:spcPct val="0"/>
              </a:spcBef>
              <a:buFontTx/>
              <a:buNone/>
            </a:pPr>
            <a:r>
              <a:rPr lang="en-IN" altLang="en-US" sz="2200" b="1">
                <a:latin typeface="Times New Roman" panose="02020603050405020304" pitchFamily="18" charset="0"/>
                <a:cs typeface="Times New Roman" panose="02020603050405020304" pitchFamily="18" charset="0"/>
              </a:rPr>
              <a:t>Jyotiprasanna.patra@cgu-odisha.ac.in</a:t>
            </a:r>
          </a:p>
        </p:txBody>
      </p:sp>
      <p:pic>
        <p:nvPicPr>
          <p:cNvPr id="6153" name="Picture 2">
            <a:extLst>
              <a:ext uri="{FF2B5EF4-FFF2-40B4-BE49-F238E27FC236}">
                <a16:creationId xmlns:a16="http://schemas.microsoft.com/office/drawing/2014/main" id="{25ED9A84-695F-4658-F176-B0EC4C0750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4484" t="29712" r="23647" b="32640"/>
          <a:stretch>
            <a:fillRect/>
          </a:stretch>
        </p:blipFill>
        <p:spPr bwMode="auto">
          <a:xfrm>
            <a:off x="3914775" y="5827713"/>
            <a:ext cx="3619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ED5C938-BBE4-B300-54FD-D99103BFE67F}"/>
              </a:ext>
            </a:extLst>
          </p:cNvPr>
          <p:cNvSpPr>
            <a:spLocks noGrp="1" noChangeArrowheads="1"/>
          </p:cNvSpPr>
          <p:nvPr>
            <p:ph type="title"/>
          </p:nvPr>
        </p:nvSpPr>
        <p:spPr>
          <a:xfrm>
            <a:off x="4495800" y="173038"/>
            <a:ext cx="2532063" cy="936625"/>
          </a:xfrm>
        </p:spPr>
        <p:txBody>
          <a:bodyPr/>
          <a:lstStyle/>
          <a:p>
            <a:pPr eaLnBrk="1" hangingPunct="1"/>
            <a:r>
              <a:rPr lang="en-US" altLang="en-US" b="1">
                <a:solidFill>
                  <a:srgbClr val="3366FF"/>
                </a:solidFill>
                <a:latin typeface="Accord SF"/>
              </a:rPr>
              <a:t>Syllabus</a:t>
            </a:r>
            <a:endParaRPr lang="en-IN" altLang="en-US" b="1">
              <a:solidFill>
                <a:srgbClr val="3366FF"/>
              </a:solidFill>
              <a:latin typeface="Accord SF"/>
            </a:endParaRPr>
          </a:p>
        </p:txBody>
      </p:sp>
      <p:sp>
        <p:nvSpPr>
          <p:cNvPr id="16387" name="Content Placeholder 2">
            <a:extLst>
              <a:ext uri="{FF2B5EF4-FFF2-40B4-BE49-F238E27FC236}">
                <a16:creationId xmlns:a16="http://schemas.microsoft.com/office/drawing/2014/main" id="{B251BC4F-D1FE-5D94-6407-F38BB7490C02}"/>
              </a:ext>
            </a:extLst>
          </p:cNvPr>
          <p:cNvSpPr>
            <a:spLocks noGrp="1" noChangeArrowheads="1"/>
          </p:cNvSpPr>
          <p:nvPr>
            <p:ph idx="1"/>
          </p:nvPr>
        </p:nvSpPr>
        <p:spPr>
          <a:xfrm>
            <a:off x="277813" y="1212850"/>
            <a:ext cx="8713787" cy="5003800"/>
          </a:xfrm>
        </p:spPr>
        <p:txBody>
          <a:bodyPr/>
          <a:lstStyle/>
          <a:p>
            <a:pPr marL="0" indent="0" eaLnBrk="1" hangingPunct="1">
              <a:lnSpc>
                <a:spcPct val="107000"/>
              </a:lnSpc>
              <a:spcAft>
                <a:spcPts val="800"/>
              </a:spcAft>
              <a:buFont typeface="Arial" panose="020B0604020202020204" pitchFamily="34" charset="0"/>
              <a:buNone/>
            </a:pPr>
            <a:r>
              <a:rPr lang="en-IN" altLang="en-US" sz="2000" b="1" dirty="0">
                <a:latin typeface="Times New Roman" panose="02020603050405020304" pitchFamily="18" charset="0"/>
                <a:ea typeface="Calibri" panose="020F0502020204030204" pitchFamily="34" charset="0"/>
                <a:cs typeface="Times New Roman" panose="02020603050405020304" pitchFamily="18" charset="0"/>
              </a:rPr>
              <a:t>Unit-1:   </a:t>
            </a:r>
            <a:r>
              <a:rPr lang="en-IN" altLang="en-US" sz="2000" b="1" u="sng" dirty="0">
                <a:latin typeface="Times New Roman" panose="02020603050405020304" pitchFamily="18" charset="0"/>
                <a:ea typeface="Calibri" panose="020F0502020204030204" pitchFamily="34" charset="0"/>
                <a:cs typeface="Times New Roman" panose="02020603050405020304" pitchFamily="18" charset="0"/>
              </a:rPr>
              <a:t>Data Communication Fundamentals</a:t>
            </a:r>
            <a:r>
              <a:rPr lang="en-IN" altLang="en-US" sz="2000" b="1" dirty="0">
                <a:latin typeface="Times New Roman" panose="02020603050405020304" pitchFamily="18" charset="0"/>
                <a:ea typeface="Calibri" panose="020F0502020204030204" pitchFamily="34" charset="0"/>
                <a:cs typeface="Times New Roman" panose="02020603050405020304" pitchFamily="18" charset="0"/>
              </a:rPr>
              <a:t>                                  [8 Hrs]</a:t>
            </a:r>
            <a:endParaRPr lang="en-IN" altLang="en-US" sz="2000" dirty="0">
              <a:ea typeface="Calibri" panose="020F0502020204030204" pitchFamily="34" charset="0"/>
              <a:cs typeface="Times New Roman" panose="02020603050405020304" pitchFamily="18" charset="0"/>
            </a:endParaRPr>
          </a:p>
          <a:p>
            <a:pPr marL="0" indent="0" eaLnBrk="1" hangingPunct="1">
              <a:lnSpc>
                <a:spcPct val="120000"/>
              </a:lnSpc>
              <a:spcBef>
                <a:spcPct val="0"/>
              </a:spcBef>
              <a:buFont typeface="Arial" panose="020B0604020202020204" pitchFamily="34" charset="0"/>
              <a:buNone/>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Overview of Data Communications, Fundamentals of Network, Network Topologies, Services, Standardization, Reference Models:  OSI Model, TCP/IP Model.</a:t>
            </a:r>
          </a:p>
          <a:p>
            <a:pPr marL="0" indent="0" eaLnBrk="1" hangingPunct="1">
              <a:lnSpc>
                <a:spcPct val="120000"/>
              </a:lnSpc>
              <a:spcBef>
                <a:spcPct val="0"/>
              </a:spcBef>
              <a:buFont typeface="Arial" panose="020B0604020202020204" pitchFamily="34" charset="0"/>
              <a:buNone/>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 Physical Layer: Analog and Digital Signals, Data Rate Limits, Transmission Impairment, More about signals. </a:t>
            </a: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Digital Transmission: Line coding, Sampling, Transmission modes. </a:t>
            </a:r>
            <a:r>
              <a:rPr lang="en-US" alt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IN"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eaLnBrk="1" hangingPunct="1">
              <a:lnSpc>
                <a:spcPct val="107000"/>
              </a:lnSpc>
              <a:spcAft>
                <a:spcPts val="800"/>
              </a:spcAft>
              <a:buFont typeface="Arial" panose="020B0604020202020204" pitchFamily="34" charset="0"/>
              <a:buNone/>
            </a:pPr>
            <a:r>
              <a:rPr lang="en-IN" altLang="en-US" sz="2000" b="1" dirty="0">
                <a:latin typeface="Times New Roman" panose="02020603050405020304" pitchFamily="18" charset="0"/>
                <a:ea typeface="Calibri" panose="020F0502020204030204" pitchFamily="34" charset="0"/>
                <a:cs typeface="Times New Roman" panose="02020603050405020304" pitchFamily="18" charset="0"/>
              </a:rPr>
              <a:t>Unit-2:  </a:t>
            </a:r>
            <a:r>
              <a:rPr lang="en-IN" altLang="en-US" sz="2000" b="1" u="sng" dirty="0">
                <a:latin typeface="Times New Roman" panose="02020603050405020304" pitchFamily="18" charset="0"/>
                <a:ea typeface="Calibri" panose="020F0502020204030204" pitchFamily="34" charset="0"/>
                <a:cs typeface="Times New Roman" panose="02020603050405020304" pitchFamily="18" charset="0"/>
              </a:rPr>
              <a:t>Modulation and Switching Techniques</a:t>
            </a:r>
            <a:r>
              <a:rPr lang="en-IN" altLang="en-US" sz="2000" b="1" dirty="0">
                <a:latin typeface="Times New Roman" panose="02020603050405020304" pitchFamily="18" charset="0"/>
                <a:ea typeface="Calibri" panose="020F0502020204030204" pitchFamily="34" charset="0"/>
                <a:cs typeface="Times New Roman" panose="02020603050405020304" pitchFamily="18" charset="0"/>
              </a:rPr>
              <a:t>                                 [8 Hrs]</a:t>
            </a:r>
          </a:p>
          <a:p>
            <a:pPr marL="0" indent="0" eaLnBrk="1" hangingPunct="1">
              <a:lnSpc>
                <a:spcPct val="107000"/>
              </a:lnSpc>
              <a:spcAft>
                <a:spcPts val="800"/>
              </a:spcAft>
              <a:buFont typeface="Arial" panose="020B0604020202020204" pitchFamily="34" charset="0"/>
              <a:buNone/>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Analog Transmission: Modulation of Digital Data, Modulation of Analog signals. Multiplexing: FDM, WDM, TDM, Transmission Media: Guided Media, Unguided Media, Circuit Switching and Packet Switching.</a:t>
            </a:r>
            <a:endParaRPr lang="en-IN"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endParaRPr lang="en-IN" altLang="en-US" sz="18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endParaRPr lang="en-IN" altLang="en-US" sz="18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pic>
        <p:nvPicPr>
          <p:cNvPr id="16388" name="Picture 4">
            <a:extLst>
              <a:ext uri="{FF2B5EF4-FFF2-40B4-BE49-F238E27FC236}">
                <a16:creationId xmlns:a16="http://schemas.microsoft.com/office/drawing/2014/main" id="{E75C21EF-3C71-53B2-233E-68BC026F1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600" y="1109663"/>
            <a:ext cx="31273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68D49364-D96A-789F-CE17-300456DF0FEC}"/>
              </a:ext>
            </a:extLst>
          </p:cNvPr>
          <p:cNvSpPr>
            <a:spLocks noGrp="1" noChangeArrowheads="1"/>
          </p:cNvSpPr>
          <p:nvPr>
            <p:ph idx="1"/>
          </p:nvPr>
        </p:nvSpPr>
        <p:spPr>
          <a:xfrm>
            <a:off x="457200" y="914400"/>
            <a:ext cx="11087100" cy="5648325"/>
          </a:xfrm>
        </p:spPr>
        <p:txBody>
          <a:bodyPr/>
          <a:lstStyle/>
          <a:p>
            <a:pPr marL="0" indent="0" eaLnBrk="1" hangingPunct="1">
              <a:spcBef>
                <a:spcPts val="200"/>
              </a:spcBef>
              <a:spcAft>
                <a:spcPts val="200"/>
              </a:spcAft>
              <a:buFont typeface="Arial" panose="020B0604020202020204" pitchFamily="34" charset="0"/>
              <a:buNone/>
            </a:pPr>
            <a:r>
              <a:rPr lang="en-US" altLang="en-US" sz="2000" b="1" dirty="0">
                <a:solidFill>
                  <a:srgbClr val="000000"/>
                </a:solidFill>
                <a:latin typeface="Times New Roman" panose="02020603050405020304" pitchFamily="18" charset="0"/>
                <a:cs typeface="Times New Roman" panose="02020603050405020304" pitchFamily="18" charset="0"/>
              </a:rPr>
              <a:t>Unit-3:  </a:t>
            </a:r>
            <a:r>
              <a:rPr lang="en-US" altLang="en-US" sz="2000" b="1" u="sng" dirty="0">
                <a:solidFill>
                  <a:srgbClr val="000000"/>
                </a:solidFill>
                <a:latin typeface="Times New Roman" panose="02020603050405020304" pitchFamily="18" charset="0"/>
                <a:cs typeface="Times New Roman" panose="02020603050405020304" pitchFamily="18" charset="0"/>
              </a:rPr>
              <a:t>Data Link Layer</a:t>
            </a:r>
            <a:r>
              <a:rPr lang="en-US" altLang="en-US" sz="2000" b="1" dirty="0">
                <a:solidFill>
                  <a:srgbClr val="000000"/>
                </a:solidFill>
                <a:latin typeface="Times New Roman" panose="02020603050405020304" pitchFamily="18" charset="0"/>
                <a:cs typeface="Times New Roman" panose="02020603050405020304" pitchFamily="18" charset="0"/>
              </a:rPr>
              <a:t>                                                                                                      [8 </a:t>
            </a:r>
            <a:r>
              <a:rPr lang="en-US" altLang="en-US" sz="2000" b="1" dirty="0" err="1">
                <a:solidFill>
                  <a:srgbClr val="000000"/>
                </a:solidFill>
                <a:latin typeface="Times New Roman" panose="02020603050405020304" pitchFamily="18" charset="0"/>
                <a:cs typeface="Times New Roman" panose="02020603050405020304" pitchFamily="18" charset="0"/>
              </a:rPr>
              <a:t>Hrs</a:t>
            </a:r>
            <a:r>
              <a:rPr lang="en-US" altLang="en-US" sz="2000" b="1" dirty="0">
                <a:solidFill>
                  <a:srgbClr val="000000"/>
                </a:solidFill>
                <a:latin typeface="Times New Roman" panose="02020603050405020304" pitchFamily="18" charset="0"/>
                <a:cs typeface="Times New Roman" panose="02020603050405020304" pitchFamily="18" charset="0"/>
              </a:rPr>
              <a:t>]</a:t>
            </a:r>
          </a:p>
          <a:p>
            <a:pPr marL="0" indent="0" eaLnBrk="1" hangingPunct="1">
              <a:spcBef>
                <a:spcPts val="200"/>
              </a:spcBef>
              <a:spcAft>
                <a:spcPts val="200"/>
              </a:spcAft>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Error Detection and Correction: Types of Errors, Detection, Error Correction. </a:t>
            </a:r>
            <a:r>
              <a:rPr lang="en-IN" altLang="en-US" sz="2000" dirty="0">
                <a:solidFill>
                  <a:srgbClr val="000000"/>
                </a:solidFill>
                <a:latin typeface="Times New Roman" panose="02020603050405020304" pitchFamily="18" charset="0"/>
                <a:cs typeface="Times New Roman" panose="02020603050405020304" pitchFamily="18" charset="0"/>
              </a:rPr>
              <a:t> </a:t>
            </a:r>
          </a:p>
          <a:p>
            <a:pPr marL="0" indent="0" algn="just" eaLnBrk="1" hangingPunct="1">
              <a:spcBef>
                <a:spcPts val="200"/>
              </a:spcBef>
              <a:spcAft>
                <a:spcPts val="200"/>
              </a:spcAft>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Data Link Control and Protocols: Flow and Error Control, Stop-and-wait ARQ, Go-Back-N ARQ, Selective Repeat ARQ, HDLC, PPP. </a:t>
            </a:r>
          </a:p>
          <a:p>
            <a:pPr marL="0" indent="0" algn="just" eaLnBrk="1" hangingPunct="1">
              <a:spcBef>
                <a:spcPts val="200"/>
              </a:spcBef>
              <a:spcAft>
                <a:spcPts val="200"/>
              </a:spcAft>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Multiple Accesses: Random Access, Controlled Access, Channelization. </a:t>
            </a:r>
            <a:r>
              <a:rPr lang="en-IN" altLang="en-US" sz="2000" dirty="0">
                <a:solidFill>
                  <a:srgbClr val="000000"/>
                </a:solidFill>
                <a:latin typeface="Times New Roman" panose="02020603050405020304" pitchFamily="18" charset="0"/>
                <a:cs typeface="Times New Roman" panose="02020603050405020304" pitchFamily="18" charset="0"/>
              </a:rPr>
              <a:t> </a:t>
            </a:r>
            <a:r>
              <a:rPr lang="en-US" altLang="en-US" sz="2000" dirty="0">
                <a:solidFill>
                  <a:srgbClr val="000000"/>
                </a:solidFill>
                <a:latin typeface="Times New Roman" panose="02020603050405020304" pitchFamily="18" charset="0"/>
                <a:cs typeface="Times New Roman" panose="02020603050405020304" pitchFamily="18" charset="0"/>
              </a:rPr>
              <a:t>Local area Network: Standard Ethernet, Wireless LANs: IEEE 802.11.</a:t>
            </a:r>
            <a:endParaRPr lang="en-IN" altLang="en-US" sz="2000"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endParaRPr lang="en-US" altLang="en-US" sz="1800" b="1"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r>
              <a:rPr lang="en-US" altLang="en-US" sz="2000" b="1" dirty="0">
                <a:solidFill>
                  <a:srgbClr val="000000"/>
                </a:solidFill>
                <a:latin typeface="Times New Roman" panose="02020603050405020304" pitchFamily="18" charset="0"/>
                <a:cs typeface="Times New Roman" panose="02020603050405020304" pitchFamily="18" charset="0"/>
              </a:rPr>
              <a:t>Unit-4:  </a:t>
            </a:r>
            <a:r>
              <a:rPr lang="en-US" altLang="en-US" sz="2000" b="1" u="sng" dirty="0">
                <a:solidFill>
                  <a:srgbClr val="000000"/>
                </a:solidFill>
                <a:latin typeface="Times New Roman" panose="02020603050405020304" pitchFamily="18" charset="0"/>
                <a:cs typeface="Times New Roman" panose="02020603050405020304" pitchFamily="18" charset="0"/>
              </a:rPr>
              <a:t>Network and Transport Layer:</a:t>
            </a:r>
            <a:r>
              <a:rPr lang="en-US" altLang="en-US" sz="1800" b="1" dirty="0">
                <a:solidFill>
                  <a:srgbClr val="000000"/>
                </a:solidFill>
                <a:latin typeface="Times New Roman" panose="02020603050405020304" pitchFamily="18" charset="0"/>
                <a:cs typeface="Times New Roman" panose="02020603050405020304" pitchFamily="18" charset="0"/>
              </a:rPr>
              <a:t>                                                                                                      [6 </a:t>
            </a:r>
            <a:r>
              <a:rPr lang="en-US" altLang="en-US" sz="1800" b="1" dirty="0" err="1">
                <a:solidFill>
                  <a:srgbClr val="000000"/>
                </a:solidFill>
                <a:latin typeface="Times New Roman" panose="02020603050405020304" pitchFamily="18" charset="0"/>
                <a:cs typeface="Times New Roman" panose="02020603050405020304" pitchFamily="18" charset="0"/>
              </a:rPr>
              <a:t>Hrs</a:t>
            </a:r>
            <a:r>
              <a:rPr lang="en-US" altLang="en-US" sz="1800" b="1" dirty="0">
                <a:solidFill>
                  <a:srgbClr val="000000"/>
                </a:solidFill>
                <a:latin typeface="Times New Roman" panose="02020603050405020304" pitchFamily="18" charset="0"/>
                <a:cs typeface="Times New Roman" panose="02020603050405020304" pitchFamily="18" charset="0"/>
              </a:rPr>
              <a:t>]</a:t>
            </a:r>
            <a:endParaRPr lang="en-IN" altLang="en-US" sz="1800"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Host to Host Delivery: Internetworking, Addressing and Routing, Network Layer Protocols: ARP, IPV4, ICMP, IPV6</a:t>
            </a:r>
            <a:r>
              <a:rPr lang="en-US" altLang="en-US" sz="2000">
                <a:solidFill>
                  <a:srgbClr val="000000"/>
                </a:solidFill>
                <a:latin typeface="Times New Roman" panose="02020603050405020304" pitchFamily="18" charset="0"/>
                <a:cs typeface="Times New Roman" panose="02020603050405020304" pitchFamily="18" charset="0"/>
              </a:rPr>
              <a:t>, </a:t>
            </a:r>
          </a:p>
          <a:p>
            <a:pPr marL="0" indent="0" algn="just" eaLnBrk="1" hangingPunct="1">
              <a:spcBef>
                <a:spcPts val="200"/>
              </a:spcBef>
              <a:spcAft>
                <a:spcPts val="200"/>
              </a:spcAft>
              <a:buFont typeface="Arial" panose="020B0604020202020204" pitchFamily="34" charset="0"/>
              <a:buNone/>
            </a:pPr>
            <a:r>
              <a:rPr lang="en-US" altLang="en-US" sz="2000">
                <a:solidFill>
                  <a:srgbClr val="000000"/>
                </a:solidFill>
                <a:latin typeface="Times New Roman" panose="02020603050405020304" pitchFamily="18" charset="0"/>
                <a:cs typeface="Times New Roman" panose="02020603050405020304" pitchFamily="18" charset="0"/>
              </a:rPr>
              <a:t>Transport Layer: Process to Process Delivery: UDP, TCP, Congestion Control. Routing Protocols: AODV, DSDV, DSR.</a:t>
            </a:r>
            <a:endParaRPr lang="en-IN" altLang="en-US" sz="200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endParaRPr lang="en-IN" altLang="en-US" sz="1800"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endParaRPr lang="en-IN" altLang="en-US" sz="1800"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r>
              <a:rPr lang="en-US" altLang="en-US" sz="2000" b="1" dirty="0">
                <a:solidFill>
                  <a:srgbClr val="000000"/>
                </a:solidFill>
                <a:latin typeface="Times New Roman" panose="02020603050405020304" pitchFamily="18" charset="0"/>
                <a:cs typeface="Times New Roman" panose="02020603050405020304" pitchFamily="18" charset="0"/>
              </a:rPr>
              <a:t>Unit-5: </a:t>
            </a:r>
            <a:r>
              <a:rPr lang="en-US" altLang="en-US" sz="2000" b="1" u="sng" dirty="0">
                <a:solidFill>
                  <a:srgbClr val="000000"/>
                </a:solidFill>
                <a:latin typeface="Times New Roman" panose="02020603050405020304" pitchFamily="18" charset="0"/>
                <a:cs typeface="Times New Roman" panose="02020603050405020304" pitchFamily="18" charset="0"/>
              </a:rPr>
              <a:t>Application Layer</a:t>
            </a:r>
            <a:r>
              <a:rPr lang="en-US" altLang="en-US" sz="2000" b="1" dirty="0">
                <a:solidFill>
                  <a:srgbClr val="000000"/>
                </a:solidFill>
                <a:latin typeface="Times New Roman" panose="02020603050405020304" pitchFamily="18" charset="0"/>
                <a:cs typeface="Times New Roman" panose="02020603050405020304" pitchFamily="18" charset="0"/>
              </a:rPr>
              <a:t>:  </a:t>
            </a:r>
            <a:r>
              <a:rPr lang="en-US" altLang="en-US" sz="1800" b="1" dirty="0">
                <a:solidFill>
                  <a:srgbClr val="000000"/>
                </a:solidFill>
                <a:latin typeface="Times New Roman" panose="02020603050405020304" pitchFamily="18" charset="0"/>
                <a:cs typeface="Times New Roman" panose="02020603050405020304" pitchFamily="18" charset="0"/>
              </a:rPr>
              <a:t>                                                                                                                            [6 </a:t>
            </a:r>
            <a:r>
              <a:rPr lang="en-US" altLang="en-US" sz="1800" b="1" dirty="0" err="1">
                <a:solidFill>
                  <a:srgbClr val="000000"/>
                </a:solidFill>
                <a:latin typeface="Times New Roman" panose="02020603050405020304" pitchFamily="18" charset="0"/>
                <a:cs typeface="Times New Roman" panose="02020603050405020304" pitchFamily="18" charset="0"/>
              </a:rPr>
              <a:t>Hrs</a:t>
            </a:r>
            <a:r>
              <a:rPr lang="en-US" altLang="en-US" sz="1800" b="1" dirty="0">
                <a:solidFill>
                  <a:srgbClr val="000000"/>
                </a:solidFill>
                <a:latin typeface="Times New Roman" panose="02020603050405020304" pitchFamily="18" charset="0"/>
                <a:cs typeface="Times New Roman" panose="02020603050405020304" pitchFamily="18" charset="0"/>
              </a:rPr>
              <a:t>]</a:t>
            </a:r>
            <a:endParaRPr lang="en-IN" altLang="en-US" sz="1800" dirty="0">
              <a:solidFill>
                <a:srgbClr val="000000"/>
              </a:solidFill>
              <a:latin typeface="Times New Roman" panose="02020603050405020304" pitchFamily="18" charset="0"/>
              <a:cs typeface="Times New Roman" panose="02020603050405020304" pitchFamily="18" charset="0"/>
            </a:endParaRPr>
          </a:p>
          <a:p>
            <a:pPr marL="0" indent="0" algn="just" eaLnBrk="1" hangingPunct="1">
              <a:spcBef>
                <a:spcPts val="200"/>
              </a:spcBef>
              <a:spcAft>
                <a:spcPts val="200"/>
              </a:spcAft>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Client Server Model, Socket Interface, Domain Name System (DNS): Electronic Mail (SMTP), File Transfer (FTP), POP, Remote Logging, HTTP and WWW.</a:t>
            </a:r>
            <a:endParaRPr lang="en-IN" altLang="en-US" sz="2000" dirty="0">
              <a:solidFill>
                <a:srgbClr val="000000"/>
              </a:solidFill>
              <a:latin typeface="Times New Roman" panose="02020603050405020304" pitchFamily="18" charset="0"/>
              <a:cs typeface="Times New Roman" panose="02020603050405020304" pitchFamily="18" charset="0"/>
            </a:endParaRPr>
          </a:p>
          <a:p>
            <a:pPr marL="0" indent="0" eaLnBrk="1" hangingPunct="1"/>
            <a:endParaRPr lang="en-IN" altLang="en-US" dirty="0"/>
          </a:p>
        </p:txBody>
      </p:sp>
      <p:sp>
        <p:nvSpPr>
          <p:cNvPr id="17411" name="Title 1">
            <a:extLst>
              <a:ext uri="{FF2B5EF4-FFF2-40B4-BE49-F238E27FC236}">
                <a16:creationId xmlns:a16="http://schemas.microsoft.com/office/drawing/2014/main" id="{74D9D88D-A4EB-3441-D424-7958A44F02DB}"/>
              </a:ext>
            </a:extLst>
          </p:cNvPr>
          <p:cNvSpPr>
            <a:spLocks noGrp="1" noChangeArrowheads="1"/>
          </p:cNvSpPr>
          <p:nvPr>
            <p:ph type="title"/>
          </p:nvPr>
        </p:nvSpPr>
        <p:spPr>
          <a:xfrm>
            <a:off x="4495800" y="173038"/>
            <a:ext cx="2532063" cy="936625"/>
          </a:xfrm>
        </p:spPr>
        <p:txBody>
          <a:bodyPr/>
          <a:lstStyle/>
          <a:p>
            <a:pPr eaLnBrk="1" hangingPunct="1"/>
            <a:r>
              <a:rPr lang="en-US" altLang="en-US" b="1">
                <a:solidFill>
                  <a:srgbClr val="3366FF"/>
                </a:solidFill>
                <a:latin typeface="Accord SF"/>
              </a:rPr>
              <a:t>Syllabus</a:t>
            </a:r>
            <a:endParaRPr lang="en-IN" altLang="en-US" b="1">
              <a:solidFill>
                <a:srgbClr val="3366FF"/>
              </a:solidFill>
              <a:latin typeface="Accord SF"/>
            </a:endParaRPr>
          </a:p>
        </p:txBody>
      </p:sp>
      <p:sp>
        <p:nvSpPr>
          <p:cNvPr id="3" name="TextBox 2">
            <a:extLst>
              <a:ext uri="{FF2B5EF4-FFF2-40B4-BE49-F238E27FC236}">
                <a16:creationId xmlns:a16="http://schemas.microsoft.com/office/drawing/2014/main" id="{7DA51B99-0B2B-6108-E506-1FD18CDBCE37}"/>
              </a:ext>
            </a:extLst>
          </p:cNvPr>
          <p:cNvSpPr txBox="1"/>
          <p:nvPr/>
        </p:nvSpPr>
        <p:spPr>
          <a:xfrm>
            <a:off x="3048000" y="3244334"/>
            <a:ext cx="6096000" cy="369332"/>
          </a:xfrm>
          <a:prstGeom prst="rect">
            <a:avLst/>
          </a:prstGeom>
          <a:noFill/>
        </p:spPr>
        <p:txBody>
          <a:bodyPr wrap="square">
            <a:spAutoFit/>
          </a:bodyPr>
          <a:lstStyle/>
          <a:p>
            <a:pPr marL="0" indent="0" algn="just" eaLnBrk="1" hangingPunct="1">
              <a:spcBef>
                <a:spcPts val="200"/>
              </a:spcBef>
              <a:spcAft>
                <a:spcPts val="200"/>
              </a:spcAft>
              <a:buFont typeface="Arial" panose="020B0604020202020204" pitchFamily="34" charset="0"/>
              <a:buNone/>
            </a:pPr>
            <a:endParaRPr lang="en-US" altLang="en-US"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4493F01-3AFB-DEDA-2B05-391959AE48AC}"/>
              </a:ext>
            </a:extLst>
          </p:cNvPr>
          <p:cNvSpPr>
            <a:spLocks noGrp="1" noChangeArrowheads="1"/>
          </p:cNvSpPr>
          <p:nvPr>
            <p:ph type="title"/>
          </p:nvPr>
        </p:nvSpPr>
        <p:spPr>
          <a:xfrm>
            <a:off x="3124200" y="-187325"/>
            <a:ext cx="10515600" cy="1325563"/>
          </a:xfrm>
        </p:spPr>
        <p:txBody>
          <a:bodyPr/>
          <a:lstStyle/>
          <a:p>
            <a:pPr eaLnBrk="1" hangingPunct="1"/>
            <a:r>
              <a:rPr lang="en-US" altLang="en-US" b="1">
                <a:solidFill>
                  <a:srgbClr val="3366FF"/>
                </a:solidFill>
              </a:rPr>
              <a:t>Text / References Book</a:t>
            </a:r>
            <a:endParaRPr lang="en-IN" altLang="en-US" b="1">
              <a:solidFill>
                <a:srgbClr val="3366FF"/>
              </a:solidFill>
            </a:endParaRPr>
          </a:p>
        </p:txBody>
      </p:sp>
      <p:sp>
        <p:nvSpPr>
          <p:cNvPr id="4" name="Slide Number Placeholder 3">
            <a:extLst>
              <a:ext uri="{FF2B5EF4-FFF2-40B4-BE49-F238E27FC236}">
                <a16:creationId xmlns:a16="http://schemas.microsoft.com/office/drawing/2014/main" id="{CED495FC-FBD2-4D1C-AB8E-D14D519E4CB9}"/>
              </a:ext>
            </a:extLst>
          </p:cNvPr>
          <p:cNvSpPr>
            <a:spLocks noGrp="1"/>
          </p:cNvSpPr>
          <p:nvPr>
            <p:ph type="sldNum" sz="quarter" idx="12"/>
          </p:nvPr>
        </p:nvSpPr>
        <p:spPr/>
        <p:txBody>
          <a:bodyPr/>
          <a:lstStyle/>
          <a:p>
            <a:pPr>
              <a:defRPr/>
            </a:pPr>
            <a:r>
              <a:rPr lang="en-US" altLang="en-US"/>
              <a:t>1.</a:t>
            </a:r>
            <a:fld id="{937030BE-65DB-4FCF-A77E-8A432A936928}" type="slidenum">
              <a:rPr lang="en-US" altLang="en-US" smtClean="0"/>
              <a:pPr>
                <a:defRPr/>
              </a:pPr>
              <a:t>4</a:t>
            </a:fld>
            <a:endParaRPr lang="en-US" altLang="en-US"/>
          </a:p>
        </p:txBody>
      </p:sp>
      <p:sp>
        <p:nvSpPr>
          <p:cNvPr id="18436" name="TextBox 5">
            <a:extLst>
              <a:ext uri="{FF2B5EF4-FFF2-40B4-BE49-F238E27FC236}">
                <a16:creationId xmlns:a16="http://schemas.microsoft.com/office/drawing/2014/main" id="{6ABA5662-466E-0D83-35A9-68DB6C76D349}"/>
              </a:ext>
            </a:extLst>
          </p:cNvPr>
          <p:cNvSpPr txBox="1">
            <a:spLocks noChangeArrowheads="1"/>
          </p:cNvSpPr>
          <p:nvPr/>
        </p:nvSpPr>
        <p:spPr bwMode="auto">
          <a:xfrm>
            <a:off x="381000" y="1658938"/>
            <a:ext cx="114300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b="1">
                <a:solidFill>
                  <a:srgbClr val="00B050"/>
                </a:solidFill>
                <a:latin typeface="Times New Roman" panose="02020603050405020304" pitchFamily="18" charset="0"/>
                <a:cs typeface="Times New Roman" panose="02020603050405020304" pitchFamily="18" charset="0"/>
              </a:rPr>
              <a:t>T1: Data Communications and Networking: Behrouz A. Forouzan, Tata McGraw-Hill, 4th Edition.</a:t>
            </a:r>
          </a:p>
          <a:p>
            <a:pPr>
              <a:lnSpc>
                <a:spcPct val="100000"/>
              </a:lnSpc>
              <a:spcBef>
                <a:spcPct val="0"/>
              </a:spcBef>
              <a:buFontTx/>
              <a:buNone/>
            </a:pPr>
            <a:r>
              <a:rPr lang="en-IN" altLang="en-US" b="1">
                <a:latin typeface="Times New Roman" panose="02020603050405020304" pitchFamily="18" charset="0"/>
                <a:cs typeface="Times New Roman" panose="02020603050405020304" pitchFamily="18" charset="0"/>
              </a:rPr>
              <a:t>T2: </a:t>
            </a:r>
            <a:r>
              <a:rPr lang="en-US" altLang="en-US" b="1">
                <a:latin typeface="Times New Roman" panose="02020603050405020304" pitchFamily="18" charset="0"/>
                <a:cs typeface="Times New Roman" panose="02020603050405020304" pitchFamily="18" charset="0"/>
              </a:rPr>
              <a:t>Computer Networks: A. S. Tannenbum, D. Wetherall, Prentice Hall, Imprint of Pearson 5th Edition.</a:t>
            </a:r>
            <a:endParaRPr lang="en-IN" altLang="en-US" b="1">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IN" altLang="en-US" sz="1800" b="1"/>
          </a:p>
        </p:txBody>
      </p:sp>
      <p:sp>
        <p:nvSpPr>
          <p:cNvPr id="18437" name="TextBox 7">
            <a:extLst>
              <a:ext uri="{FF2B5EF4-FFF2-40B4-BE49-F238E27FC236}">
                <a16:creationId xmlns:a16="http://schemas.microsoft.com/office/drawing/2014/main" id="{8A9816CC-CA6B-DE03-3977-C6E864080602}"/>
              </a:ext>
            </a:extLst>
          </p:cNvPr>
          <p:cNvSpPr txBox="1">
            <a:spLocks noChangeArrowheads="1"/>
          </p:cNvSpPr>
          <p:nvPr/>
        </p:nvSpPr>
        <p:spPr bwMode="auto">
          <a:xfrm>
            <a:off x="266700" y="4479925"/>
            <a:ext cx="116586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tabLst>
                <a:tab pos="3937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3937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3937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3937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393700" algn="l"/>
              </a:tabLst>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tabLst>
                <a:tab pos="393700" algn="l"/>
              </a:tabLst>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tabLst>
                <a:tab pos="393700" algn="l"/>
              </a:tabLst>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tabLst>
                <a:tab pos="393700" algn="l"/>
              </a:tabLst>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tabLst>
                <a:tab pos="393700" algn="l"/>
              </a:tabLst>
              <a:defRPr>
                <a:solidFill>
                  <a:schemeClr val="tx1"/>
                </a:solidFill>
                <a:latin typeface="Calibri" panose="020F0502020204030204" pitchFamily="34" charset="0"/>
              </a:defRPr>
            </a:lvl9pPr>
          </a:lstStyle>
          <a:p>
            <a:pPr>
              <a:lnSpc>
                <a:spcPts val="4038"/>
              </a:lnSpc>
              <a:spcBef>
                <a:spcPts val="1200"/>
              </a:spcBef>
              <a:buSzPct val="96000"/>
              <a:buFontTx/>
              <a:buNone/>
            </a:pPr>
            <a:r>
              <a:rPr lang="en-IN" altLang="en-US" sz="2400" b="1">
                <a:latin typeface="Times New Roman" panose="02020603050405020304" pitchFamily="18" charset="0"/>
                <a:cs typeface="Times New Roman" panose="02020603050405020304" pitchFamily="18" charset="0"/>
              </a:rPr>
              <a:t>R1</a:t>
            </a:r>
            <a:r>
              <a:rPr lang="en-US" altLang="en-US" sz="2400" b="1">
                <a:latin typeface="Times New Roman" panose="02020603050405020304" pitchFamily="18" charset="0"/>
                <a:cs typeface="Times New Roman" panose="02020603050405020304" pitchFamily="18" charset="0"/>
              </a:rPr>
              <a:t>: Computer Architecture and Parallel Processing”, Hwang and Briggs, Tata  McGraw Hill Publication, </a:t>
            </a:r>
          </a:p>
          <a:p>
            <a:pPr>
              <a:lnSpc>
                <a:spcPts val="4038"/>
              </a:lnSpc>
              <a:spcBef>
                <a:spcPts val="1200"/>
              </a:spcBef>
              <a:buSzPct val="96000"/>
              <a:buFontTx/>
              <a:buNone/>
            </a:pPr>
            <a:r>
              <a:rPr lang="en-US" altLang="en-US" sz="2400" b="1">
                <a:latin typeface="Times New Roman" panose="02020603050405020304" pitchFamily="18" charset="0"/>
                <a:cs typeface="Times New Roman" panose="02020603050405020304" pitchFamily="18" charset="0"/>
              </a:rPr>
              <a:t>R2: </a:t>
            </a:r>
            <a:r>
              <a:rPr lang="en-IN" altLang="en-US" sz="2400" b="1">
                <a:latin typeface="Times New Roman" panose="02020603050405020304" pitchFamily="18" charset="0"/>
                <a:cs typeface="Times New Roman" panose="02020603050405020304" pitchFamily="18" charset="0"/>
              </a:rPr>
              <a:t>Data and Computer Communications: William Stallings, Prentice Hall, 9thEdition</a:t>
            </a:r>
            <a:r>
              <a:rPr lang="en-US" altLang="en-US" sz="2400" b="1">
                <a:latin typeface="Times New Roman" panose="02020603050405020304" pitchFamily="18" charset="0"/>
                <a:cs typeface="Times New Roman" panose="02020603050405020304" pitchFamily="18" charset="0"/>
              </a:rPr>
              <a:t>.</a:t>
            </a:r>
          </a:p>
          <a:p>
            <a:pPr>
              <a:lnSpc>
                <a:spcPts val="4038"/>
              </a:lnSpc>
              <a:spcBef>
                <a:spcPts val="1200"/>
              </a:spcBef>
              <a:buSzPct val="96000"/>
              <a:buFontTx/>
              <a:buNone/>
            </a:pPr>
            <a:endParaRPr lang="en-US" altLang="en-US" sz="1800" b="1">
              <a:latin typeface="Times New Roman" panose="02020603050405020304" pitchFamily="18" charset="0"/>
              <a:cs typeface="Times New Roman" panose="02020603050405020304" pitchFamily="18" charset="0"/>
            </a:endParaRPr>
          </a:p>
        </p:txBody>
      </p:sp>
      <p:sp>
        <p:nvSpPr>
          <p:cNvPr id="18438" name="TextBox 9">
            <a:extLst>
              <a:ext uri="{FF2B5EF4-FFF2-40B4-BE49-F238E27FC236}">
                <a16:creationId xmlns:a16="http://schemas.microsoft.com/office/drawing/2014/main" id="{1CB6F2F8-5EC8-F5B7-8092-0CDF739CA1B3}"/>
              </a:ext>
            </a:extLst>
          </p:cNvPr>
          <p:cNvSpPr txBox="1">
            <a:spLocks noChangeArrowheads="1"/>
          </p:cNvSpPr>
          <p:nvPr/>
        </p:nvSpPr>
        <p:spPr bwMode="auto">
          <a:xfrm>
            <a:off x="381000" y="1000125"/>
            <a:ext cx="68230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200" b="1">
                <a:solidFill>
                  <a:srgbClr val="C00000"/>
                </a:solidFill>
              </a:rPr>
              <a:t>Text Books</a:t>
            </a:r>
            <a:endParaRPr lang="en-IN" altLang="en-US" sz="3200">
              <a:solidFill>
                <a:srgbClr val="C00000"/>
              </a:solidFill>
            </a:endParaRPr>
          </a:p>
        </p:txBody>
      </p:sp>
      <p:sp>
        <p:nvSpPr>
          <p:cNvPr id="18439" name="TextBox 10">
            <a:extLst>
              <a:ext uri="{FF2B5EF4-FFF2-40B4-BE49-F238E27FC236}">
                <a16:creationId xmlns:a16="http://schemas.microsoft.com/office/drawing/2014/main" id="{66E00C54-71E6-4EC6-5975-9AB97C22DF49}"/>
              </a:ext>
            </a:extLst>
          </p:cNvPr>
          <p:cNvSpPr txBox="1">
            <a:spLocks noChangeArrowheads="1"/>
          </p:cNvSpPr>
          <p:nvPr/>
        </p:nvSpPr>
        <p:spPr bwMode="auto">
          <a:xfrm>
            <a:off x="276225" y="3978275"/>
            <a:ext cx="6823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200" b="1">
                <a:solidFill>
                  <a:srgbClr val="C00000"/>
                </a:solidFill>
              </a:rPr>
              <a:t>References Books</a:t>
            </a:r>
            <a:endParaRPr lang="en-IN" altLang="en-US" sz="320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1F0645-1A86-E794-B9F9-78F71C1DFFCB}"/>
              </a:ext>
            </a:extLst>
          </p:cNvPr>
          <p:cNvSpPr>
            <a:spLocks noGrp="1"/>
          </p:cNvSpPr>
          <p:nvPr>
            <p:ph type="sldNum" sz="quarter" idx="12"/>
          </p:nvPr>
        </p:nvSpPr>
        <p:spPr/>
        <p:txBody>
          <a:bodyPr/>
          <a:lstStyle/>
          <a:p>
            <a:pPr>
              <a:defRPr/>
            </a:pPr>
            <a:r>
              <a:rPr lang="en-US" altLang="en-US"/>
              <a:t>1.</a:t>
            </a:r>
            <a:fld id="{8DF01B66-378A-4DEC-A48D-FB649BABE687}" type="slidenum">
              <a:rPr lang="en-US" altLang="en-US" smtClean="0"/>
              <a:pPr>
                <a:defRPr/>
              </a:pPr>
              <a:t>5</a:t>
            </a:fld>
            <a:endParaRPr lang="en-US" altLang="en-US"/>
          </a:p>
        </p:txBody>
      </p:sp>
      <p:sp>
        <p:nvSpPr>
          <p:cNvPr id="19459" name="TextBox 5">
            <a:extLst>
              <a:ext uri="{FF2B5EF4-FFF2-40B4-BE49-F238E27FC236}">
                <a16:creationId xmlns:a16="http://schemas.microsoft.com/office/drawing/2014/main" id="{5BAC4F33-7114-3005-4BD0-FBC398E44C36}"/>
              </a:ext>
            </a:extLst>
          </p:cNvPr>
          <p:cNvSpPr txBox="1">
            <a:spLocks noChangeArrowheads="1"/>
          </p:cNvSpPr>
          <p:nvPr/>
        </p:nvSpPr>
        <p:spPr bwMode="auto">
          <a:xfrm>
            <a:off x="304800" y="1582738"/>
            <a:ext cx="117348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3"/>
              </a:rPr>
              <a:t>https://www.youtube.com/watch?v=sG6WGvzmVaw</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4"/>
              </a:rPr>
              <a:t>https://www.javatpoint.com/computer-network-introduction</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5"/>
              </a:rPr>
              <a:t>https://www.geeksforgeeks.org/basics-computer-networking/</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6"/>
              </a:rPr>
              <a:t>https://www.tutorialspoint.com/computer_fundamentals/computer_networking.htm</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7"/>
              </a:rPr>
              <a:t>https://nptel.ac.in/courses/106/105/106105081/</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8"/>
              </a:rPr>
              <a:t>https://www.classcentral.com/course/swayam-computer-networks-13951</a:t>
            </a:r>
            <a:endParaRPr lang="en-US" altLang="en-US">
              <a:solidFill>
                <a:srgbClr val="000000"/>
              </a:solidFill>
              <a:cs typeface="Calibri" panose="020F0502020204030204" pitchFamily="34" charset="0"/>
              <a:sym typeface="Calibri" panose="020F0502020204030204" pitchFamily="34" charset="0"/>
            </a:endParaRPr>
          </a:p>
          <a:p>
            <a:pPr lvl="1">
              <a:lnSpc>
                <a:spcPct val="100000"/>
              </a:lnSpc>
              <a:spcBef>
                <a:spcPct val="0"/>
              </a:spcBef>
              <a:buClr>
                <a:srgbClr val="000000"/>
              </a:buClr>
              <a:buSzPts val="1800"/>
              <a:buFont typeface="Calibri" panose="020F0502020204030204" pitchFamily="34" charset="0"/>
              <a:buAutoNum type="arabicPeriod"/>
            </a:pPr>
            <a:r>
              <a:rPr lang="en-US" altLang="en-US" u="sng">
                <a:solidFill>
                  <a:srgbClr val="000000"/>
                </a:solidFill>
                <a:cs typeface="Calibri" panose="020F0502020204030204" pitchFamily="34" charset="0"/>
                <a:sym typeface="Calibri" panose="020F0502020204030204" pitchFamily="34" charset="0"/>
                <a:hlinkClick r:id="rId9"/>
              </a:rPr>
              <a:t>https://www.coursera.org/courses?query=computer%20network</a:t>
            </a:r>
            <a:endParaRPr lang="en-US" altLang="en-US">
              <a:solidFill>
                <a:srgbClr val="000000"/>
              </a:solidFill>
              <a:cs typeface="Calibri" panose="020F0502020204030204" pitchFamily="34" charset="0"/>
              <a:sym typeface="Calibri" panose="020F0502020204030204" pitchFamily="34" charset="0"/>
            </a:endParaRPr>
          </a:p>
        </p:txBody>
      </p:sp>
      <p:sp>
        <p:nvSpPr>
          <p:cNvPr id="19460" name="TextBox 10">
            <a:extLst>
              <a:ext uri="{FF2B5EF4-FFF2-40B4-BE49-F238E27FC236}">
                <a16:creationId xmlns:a16="http://schemas.microsoft.com/office/drawing/2014/main" id="{8F5C0814-D049-7784-5AD7-950B317D54C3}"/>
              </a:ext>
            </a:extLst>
          </p:cNvPr>
          <p:cNvSpPr txBox="1">
            <a:spLocks noChangeArrowheads="1"/>
          </p:cNvSpPr>
          <p:nvPr/>
        </p:nvSpPr>
        <p:spPr bwMode="auto">
          <a:xfrm>
            <a:off x="838200" y="685800"/>
            <a:ext cx="6823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200" b="1">
                <a:solidFill>
                  <a:srgbClr val="C00000"/>
                </a:solidFill>
              </a:rPr>
              <a:t>Websites References</a:t>
            </a:r>
            <a:endParaRPr lang="en-IN" altLang="en-US" sz="320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2EE3D20-0E99-5F28-1806-977BBAA4193D}"/>
              </a:ext>
            </a:extLst>
          </p:cNvPr>
          <p:cNvGraphicFramePr>
            <a:graphicFrameLocks noGrp="1"/>
          </p:cNvGraphicFramePr>
          <p:nvPr/>
        </p:nvGraphicFramePr>
        <p:xfrm>
          <a:off x="1066800" y="1027113"/>
          <a:ext cx="10668000" cy="4127500"/>
        </p:xfrm>
        <a:graphic>
          <a:graphicData uri="http://schemas.openxmlformats.org/drawingml/2006/table">
            <a:tbl>
              <a:tblPr/>
              <a:tblGrid>
                <a:gridCol w="1878013">
                  <a:extLst>
                    <a:ext uri="{9D8B030D-6E8A-4147-A177-3AD203B41FA5}">
                      <a16:colId xmlns:a16="http://schemas.microsoft.com/office/drawing/2014/main" val="20000"/>
                    </a:ext>
                  </a:extLst>
                </a:gridCol>
                <a:gridCol w="8789987">
                  <a:extLst>
                    <a:ext uri="{9D8B030D-6E8A-4147-A177-3AD203B41FA5}">
                      <a16:colId xmlns:a16="http://schemas.microsoft.com/office/drawing/2014/main" val="20001"/>
                    </a:ext>
                  </a:extLst>
                </a:gridCol>
              </a:tblGrid>
              <a:tr h="95416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rPr>
                        <a:t>CO1</a:t>
                      </a: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U</a:t>
                      </a:r>
                      <a:r>
                        <a:rPr kumimoji="0" lang="en-IN" altLang="en-US" sz="24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nderstand the fundamental principles of Data communication and Computer Networking. </a:t>
                      </a:r>
                      <a:endParaRPr kumimoji="0" lang="en-US" altLang="en-US" sz="2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52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rPr>
                        <a:t>CO2</a:t>
                      </a: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5875">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5875" marR="0" lvl="0" indent="0" algn="l" defTabSz="914400" rtl="0" eaLnBrk="1" fontAlgn="base"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cs typeface="Calibri" panose="020F0502020204030204" pitchFamily="34" charset="0"/>
                        </a:rPr>
                        <a:t>Analyze different features of analog and digital transmission. </a:t>
                      </a:r>
                      <a:endParaRPr kumimoji="0" lang="en-US" altLang="en-US" sz="2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3172">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rPr>
                        <a:t>CO3 </a:t>
                      </a: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cs typeface="Calibri" panose="020F0502020204030204" pitchFamily="34" charset="0"/>
                        </a:rPr>
                        <a:t>Analyze the working principles and protocols of data link layer. </a:t>
                      </a:r>
                      <a:endParaRPr kumimoji="0" lang="en-US" altLang="en-US" sz="2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1576">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rPr>
                        <a:t>CO4</a:t>
                      </a: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5875">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5875" marR="0" lvl="0" indent="0" algn="l" defTabSz="914400" rtl="0" eaLnBrk="1" fontAlgn="base"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cs typeface="Calibri" panose="020F0502020204030204" pitchFamily="34" charset="0"/>
                        </a:rPr>
                        <a:t>Identify and differentiate working principles and protocols of network and transport layer. </a:t>
                      </a:r>
                      <a:endParaRPr kumimoji="0" lang="en-US" altLang="en-US" sz="24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4306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IN" altLang="en-US" sz="2400" b="0" i="0" u="none" strike="noStrike" cap="none" normalizeH="0" baseline="0">
                          <a:ln>
                            <a:noFill/>
                          </a:ln>
                          <a:solidFill>
                            <a:schemeClr val="tx1"/>
                          </a:solidFill>
                          <a:effectLst/>
                          <a:latin typeface="Times New Roman" panose="02020603050405020304" pitchFamily="18" charset="0"/>
                        </a:rPr>
                        <a:t>CO5</a:t>
                      </a: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5875">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5875" marR="0" lvl="0" indent="0" algn="l" defTabSz="914400" rtl="0" eaLnBrk="1" fontAlgn="base" latinLnBrk="0" hangingPunct="1">
                        <a:lnSpc>
                          <a:spcPct val="100000"/>
                        </a:lnSpc>
                        <a:spcBef>
                          <a:spcPct val="0"/>
                        </a:spcBef>
                        <a:spcAft>
                          <a:spcPct val="0"/>
                        </a:spcAft>
                        <a:buClrTx/>
                        <a:buSzTx/>
                        <a:buFontTx/>
                        <a:buNone/>
                        <a:tabLst/>
                      </a:pPr>
                      <a:r>
                        <a:rPr kumimoji="0" lang="en-IN" altLang="en-US" sz="2400" b="0" i="0" u="none" strike="noStrike" cap="none" normalizeH="0" baseline="0" dirty="0">
                          <a:ln>
                            <a:noFill/>
                          </a:ln>
                          <a:solidFill>
                            <a:schemeClr val="tx1"/>
                          </a:solidFill>
                          <a:effectLst/>
                          <a:latin typeface="Times New Roman" panose="02020603050405020304" pitchFamily="18" charset="0"/>
                          <a:cs typeface="Calibri" panose="020F0502020204030204" pitchFamily="34" charset="0"/>
                        </a:rPr>
                        <a:t>Identify and implement different types of application in application layer</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18788" marR="1878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1526" name="Title 1">
            <a:extLst>
              <a:ext uri="{FF2B5EF4-FFF2-40B4-BE49-F238E27FC236}">
                <a16:creationId xmlns:a16="http://schemas.microsoft.com/office/drawing/2014/main" id="{1C7DA5F6-3CE4-DFFF-7C43-AD296CD65593}"/>
              </a:ext>
            </a:extLst>
          </p:cNvPr>
          <p:cNvSpPr>
            <a:spLocks noGrp="1" noChangeArrowheads="1"/>
          </p:cNvSpPr>
          <p:nvPr>
            <p:ph type="title"/>
          </p:nvPr>
        </p:nvSpPr>
        <p:spPr>
          <a:xfrm>
            <a:off x="2971800" y="0"/>
            <a:ext cx="4343400" cy="984250"/>
          </a:xfrm>
        </p:spPr>
        <p:txBody>
          <a:bodyPr/>
          <a:lstStyle/>
          <a:p>
            <a:pPr eaLnBrk="1" hangingPunct="1"/>
            <a:r>
              <a:rPr lang="en-US" altLang="en-US">
                <a:solidFill>
                  <a:srgbClr val="3333B3"/>
                </a:solidFill>
                <a:latin typeface="Times New Roman" panose="02020603050405020304" pitchFamily="18" charset="0"/>
                <a:cs typeface="Times New Roman" panose="02020603050405020304" pitchFamily="18" charset="0"/>
              </a:rPr>
              <a:t>Course </a:t>
            </a:r>
            <a:r>
              <a:rPr lang="en-US" altLang="en-US">
                <a:solidFill>
                  <a:srgbClr val="0033CC"/>
                </a:solidFill>
                <a:latin typeface="Times New Roman" panose="02020603050405020304" pitchFamily="18" charset="0"/>
                <a:cs typeface="Times New Roman" panose="02020603050405020304" pitchFamily="18" charset="0"/>
              </a:rPr>
              <a:t>outcomes</a:t>
            </a:r>
            <a:endParaRPr lang="en-IN" altLang="en-US">
              <a:solidFill>
                <a:srgbClr val="0033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29EB7706-4DCC-651B-0A13-D993346C4A6F}"/>
              </a:ext>
            </a:extLst>
          </p:cNvPr>
          <p:cNvSpPr>
            <a:spLocks noChangeArrowheads="1"/>
          </p:cNvSpPr>
          <p:nvPr/>
        </p:nvSpPr>
        <p:spPr bwMode="auto">
          <a:xfrm>
            <a:off x="990600" y="2514600"/>
            <a:ext cx="9448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400" b="1">
                <a:solidFill>
                  <a:srgbClr val="3366FF"/>
                </a:solidFill>
                <a:latin typeface="Arial" panose="020B0604020202020204" pitchFamily="34" charset="0"/>
              </a:rPr>
              <a:t>Data Communication and Computer Networks</a:t>
            </a:r>
          </a:p>
          <a:p>
            <a:pPr algn="ctr" eaLnBrk="1" hangingPunct="1">
              <a:lnSpc>
                <a:spcPct val="100000"/>
              </a:lnSpc>
              <a:spcBef>
                <a:spcPct val="0"/>
              </a:spcBef>
              <a:buFontTx/>
              <a:buNone/>
            </a:pPr>
            <a:endParaRPr lang="en-US" altLang="en-US" sz="2000" b="1">
              <a:solidFill>
                <a:schemeClr val="tx2"/>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2AD30626-1D43-AE8D-DE78-807E53250B69}"/>
              </a:ext>
            </a:extLst>
          </p:cNvPr>
          <p:cNvSpPr txBox="1">
            <a:spLocks noChangeArrowheads="1"/>
          </p:cNvSpPr>
          <p:nvPr/>
        </p:nvSpPr>
        <p:spPr bwMode="auto">
          <a:xfrm>
            <a:off x="1752600" y="195263"/>
            <a:ext cx="6427788" cy="708025"/>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  </a:t>
            </a:r>
            <a:r>
              <a:rPr lang="en-US" sz="4000" dirty="0">
                <a:solidFill>
                  <a:srgbClr val="3366FF"/>
                </a:solidFill>
                <a:effectLst>
                  <a:outerShdw blurRad="38100" dist="38100" dir="2700000" algn="tl">
                    <a:srgbClr val="C0C0C0"/>
                  </a:outerShdw>
                </a:effectLst>
                <a:latin typeface="Times" pitchFamily="18" charset="0"/>
              </a:rPr>
              <a:t>DATA COMMUNICATIONS</a:t>
            </a:r>
            <a:endParaRPr lang="en-US" dirty="0">
              <a:solidFill>
                <a:srgbClr val="3366FF"/>
              </a:solidFill>
              <a:effectLst>
                <a:outerShdw blurRad="38100" dist="38100" dir="2700000" algn="tl">
                  <a:srgbClr val="C0C0C0"/>
                </a:outerShdw>
              </a:effectLst>
              <a:latin typeface="Times" pitchFamily="18" charset="0"/>
            </a:endParaRPr>
          </a:p>
        </p:txBody>
      </p:sp>
      <p:sp>
        <p:nvSpPr>
          <p:cNvPr id="25603" name="Text Box 4">
            <a:extLst>
              <a:ext uri="{FF2B5EF4-FFF2-40B4-BE49-F238E27FC236}">
                <a16:creationId xmlns:a16="http://schemas.microsoft.com/office/drawing/2014/main" id="{7DABAADD-540B-8A6B-476B-B09BA7397A09}"/>
              </a:ext>
            </a:extLst>
          </p:cNvPr>
          <p:cNvSpPr txBox="1">
            <a:spLocks noChangeArrowheads="1"/>
          </p:cNvSpPr>
          <p:nvPr/>
        </p:nvSpPr>
        <p:spPr bwMode="auto">
          <a:xfrm>
            <a:off x="9753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b="1">
              <a:latin typeface="Times New Roman" panose="02020603050405020304" pitchFamily="18" charset="0"/>
            </a:endParaRPr>
          </a:p>
        </p:txBody>
      </p:sp>
      <p:sp>
        <p:nvSpPr>
          <p:cNvPr id="565253" name="Rectangle 5">
            <a:extLst>
              <a:ext uri="{FF2B5EF4-FFF2-40B4-BE49-F238E27FC236}">
                <a16:creationId xmlns:a16="http://schemas.microsoft.com/office/drawing/2014/main" id="{544593BD-316A-B65F-C3DE-EB49107DE33F}"/>
              </a:ext>
            </a:extLst>
          </p:cNvPr>
          <p:cNvSpPr>
            <a:spLocks noChangeArrowheads="1"/>
          </p:cNvSpPr>
          <p:nvPr/>
        </p:nvSpPr>
        <p:spPr bwMode="auto">
          <a:xfrm>
            <a:off x="452438" y="1066800"/>
            <a:ext cx="11201400" cy="2986088"/>
          </a:xfrm>
          <a:prstGeom prst="rect">
            <a:avLst/>
          </a:prstGeom>
          <a:noFill/>
          <a:ln w="9525">
            <a:noFill/>
            <a:miter lim="800000"/>
            <a:headEnd/>
            <a:tailEnd/>
          </a:ln>
          <a:effectLst/>
        </p:spPr>
        <p:txBody>
          <a:bodyPr anchor="ctr">
            <a:spAutoFit/>
          </a:bodyPr>
          <a:lstStyle/>
          <a:p>
            <a:pPr marL="457200" indent="-457200" algn="just" eaLnBrk="1" fontAlgn="auto" hangingPunct="1">
              <a:spcBef>
                <a:spcPts val="1200"/>
              </a:spcBef>
              <a:spcAft>
                <a:spcPts val="0"/>
              </a:spcAft>
              <a:buFont typeface="Wingdings" panose="05000000000000000000" pitchFamily="2" charset="2"/>
              <a:buChar char="Ø"/>
              <a:defRPr/>
            </a:pPr>
            <a:r>
              <a:rPr lang="en-US" sz="2800" dirty="0">
                <a:effectLst>
                  <a:outerShdw blurRad="38100" dist="38100" dir="2700000" algn="tl">
                    <a:srgbClr val="C0C0C0"/>
                  </a:outerShdw>
                </a:effectLst>
                <a:latin typeface="Times New Roman" pitchFamily="18" charset="0"/>
              </a:rPr>
              <a:t>The term </a:t>
            </a:r>
            <a:r>
              <a:rPr lang="en-US" sz="2800" dirty="0">
                <a:solidFill>
                  <a:schemeClr val="hlink"/>
                </a:solidFill>
                <a:effectLst>
                  <a:outerShdw blurRad="38100" dist="38100" dir="2700000" algn="tl">
                    <a:srgbClr val="C0C0C0"/>
                  </a:outerShdw>
                </a:effectLst>
                <a:latin typeface="Times New Roman" pitchFamily="18" charset="0"/>
              </a:rPr>
              <a:t>telecommunication</a:t>
            </a:r>
            <a:r>
              <a:rPr lang="en-US" sz="2800" dirty="0">
                <a:effectLst>
                  <a:outerShdw blurRad="38100" dist="38100" dir="2700000" algn="tl">
                    <a:srgbClr val="C0C0C0"/>
                  </a:outerShdw>
                </a:effectLst>
                <a:latin typeface="Times New Roman" pitchFamily="18" charset="0"/>
              </a:rPr>
              <a:t> means communication at a distance. </a:t>
            </a:r>
          </a:p>
          <a:p>
            <a:pPr marL="457200" indent="-457200" algn="just" eaLnBrk="1" fontAlgn="auto" hangingPunct="1">
              <a:spcBef>
                <a:spcPts val="1200"/>
              </a:spcBef>
              <a:spcAft>
                <a:spcPts val="0"/>
              </a:spcAft>
              <a:buFont typeface="Wingdings" panose="05000000000000000000" pitchFamily="2" charset="2"/>
              <a:buChar char="Ø"/>
              <a:defRPr/>
            </a:pPr>
            <a:r>
              <a:rPr lang="en-US" sz="2800" dirty="0">
                <a:effectLst>
                  <a:outerShdw blurRad="38100" dist="38100" dir="2700000" algn="tl">
                    <a:srgbClr val="C0C0C0"/>
                  </a:outerShdw>
                </a:effectLst>
                <a:latin typeface="Times New Roman" pitchFamily="18" charset="0"/>
              </a:rPr>
              <a:t>The word </a:t>
            </a:r>
            <a:r>
              <a:rPr lang="en-US" sz="2800" dirty="0">
                <a:solidFill>
                  <a:schemeClr val="hlink"/>
                </a:solidFill>
                <a:effectLst>
                  <a:outerShdw blurRad="38100" dist="38100" dir="2700000" algn="tl">
                    <a:srgbClr val="C0C0C0"/>
                  </a:outerShdw>
                </a:effectLst>
                <a:latin typeface="Times New Roman" pitchFamily="18" charset="0"/>
              </a:rPr>
              <a:t>data</a:t>
            </a:r>
            <a:r>
              <a:rPr lang="en-US" sz="2800" dirty="0">
                <a:effectLst>
                  <a:outerShdw blurRad="38100" dist="38100" dir="2700000" algn="tl">
                    <a:srgbClr val="C0C0C0"/>
                  </a:outerShdw>
                </a:effectLst>
                <a:latin typeface="Times New Roman" pitchFamily="18" charset="0"/>
              </a:rPr>
              <a:t> refers to information presented in whatever form is agreed upon by the parties creating and using the data. </a:t>
            </a:r>
          </a:p>
          <a:p>
            <a:pPr marL="457200" indent="-457200" algn="just" eaLnBrk="1" fontAlgn="auto" hangingPunct="1">
              <a:spcBef>
                <a:spcPts val="1200"/>
              </a:spcBef>
              <a:spcAft>
                <a:spcPts val="0"/>
              </a:spcAft>
              <a:buFont typeface="Wingdings" panose="05000000000000000000" pitchFamily="2" charset="2"/>
              <a:buChar char="Ø"/>
              <a:defRPr/>
            </a:pPr>
            <a:r>
              <a:rPr lang="en-US" sz="2800" dirty="0">
                <a:solidFill>
                  <a:schemeClr val="hlink"/>
                </a:solidFill>
                <a:effectLst>
                  <a:outerShdw blurRad="38100" dist="38100" dir="2700000" algn="tl">
                    <a:srgbClr val="C0C0C0"/>
                  </a:outerShdw>
                </a:effectLst>
                <a:latin typeface="Times New Roman" pitchFamily="18" charset="0"/>
              </a:rPr>
              <a:t>Data communications</a:t>
            </a:r>
            <a:r>
              <a:rPr lang="en-US" sz="2800" dirty="0">
                <a:effectLst>
                  <a:outerShdw blurRad="38100" dist="38100" dir="2700000" algn="tl">
                    <a:srgbClr val="C0C0C0"/>
                  </a:outerShdw>
                </a:effectLst>
                <a:latin typeface="Times New Roman" pitchFamily="18" charset="0"/>
              </a:rPr>
              <a:t> are the exchange of data between two devices via some form of transmission medium such as a wire cable.</a:t>
            </a:r>
          </a:p>
          <a:p>
            <a:pPr algn="just" eaLnBrk="1" fontAlgn="auto" hangingPunct="1">
              <a:spcBef>
                <a:spcPts val="0"/>
              </a:spcBef>
              <a:spcAft>
                <a:spcPts val="0"/>
              </a:spcAft>
              <a:defRPr/>
            </a:pPr>
            <a:endParaRPr lang="en-US" sz="2800" dirty="0">
              <a:effectLst>
                <a:outerShdw blurRad="38100" dist="38100" dir="2700000" algn="tl">
                  <a:srgbClr val="C0C0C0"/>
                </a:outerShdw>
              </a:effectLst>
              <a:latin typeface="Times New Roman" pitchFamily="18" charset="0"/>
            </a:endParaRPr>
          </a:p>
        </p:txBody>
      </p:sp>
      <p:sp>
        <p:nvSpPr>
          <p:cNvPr id="3" name="TextBox 2">
            <a:extLst>
              <a:ext uri="{FF2B5EF4-FFF2-40B4-BE49-F238E27FC236}">
                <a16:creationId xmlns:a16="http://schemas.microsoft.com/office/drawing/2014/main" id="{25D8A702-BE08-1AF5-193A-526AB2AFAC60}"/>
              </a:ext>
            </a:extLst>
          </p:cNvPr>
          <p:cNvSpPr txBox="1"/>
          <p:nvPr/>
        </p:nvSpPr>
        <p:spPr>
          <a:xfrm>
            <a:off x="436563" y="4724400"/>
            <a:ext cx="9677400" cy="830263"/>
          </a:xfrm>
          <a:prstGeom prst="rect">
            <a:avLst/>
          </a:prstGeom>
          <a:noFill/>
        </p:spPr>
        <p:txBody>
          <a:bodyPr>
            <a:spAutoFit/>
          </a:bodyPr>
          <a:lstStyle/>
          <a:p>
            <a:pPr algn="just" eaLnBrk="1" fontAlgn="auto" hangingPunct="1">
              <a:spcBef>
                <a:spcPts val="0"/>
              </a:spcBef>
              <a:spcAft>
                <a:spcPts val="0"/>
              </a:spcAft>
              <a:defRPr/>
            </a:pPr>
            <a:r>
              <a:rPr lang="en-US" sz="2400" b="1" dirty="0">
                <a:solidFill>
                  <a:srgbClr val="FF0000"/>
                </a:solidFill>
                <a:effectLst>
                  <a:outerShdw blurRad="38100" dist="38100" dir="2700000" algn="tl">
                    <a:srgbClr val="C0C0C0"/>
                  </a:outerShdw>
                </a:effectLst>
                <a:latin typeface="Times New Roman" pitchFamily="18" charset="0"/>
              </a:rPr>
              <a:t>Fundamental Characteristics: </a:t>
            </a:r>
          </a:p>
          <a:p>
            <a:pPr algn="just" eaLnBrk="1" fontAlgn="auto" hangingPunct="1">
              <a:spcBef>
                <a:spcPts val="0"/>
              </a:spcBef>
              <a:spcAft>
                <a:spcPts val="0"/>
              </a:spcAft>
              <a:defRPr/>
            </a:pPr>
            <a:r>
              <a:rPr lang="en-US" sz="2400" i="1" dirty="0">
                <a:effectLst>
                  <a:outerShdw blurRad="38100" dist="38100" dir="2700000" algn="tl">
                    <a:srgbClr val="C0C0C0"/>
                  </a:outerShdw>
                </a:effectLst>
                <a:latin typeface="Times New Roman" pitchFamily="18" charset="0"/>
              </a:rPr>
              <a:t>Delivery, Accuracy, Timeliness, Jitter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D50298-DE7E-35F1-E5A9-517B6B202368}"/>
              </a:ext>
            </a:extLst>
          </p:cNvPr>
          <p:cNvSpPr>
            <a:spLocks noGrp="1"/>
          </p:cNvSpPr>
          <p:nvPr>
            <p:ph type="title"/>
          </p:nvPr>
        </p:nvSpPr>
        <p:spPr/>
        <p:txBody>
          <a:bodyPr rtlCol="0">
            <a:normAutofit/>
          </a:bodyPr>
          <a:lstStyle/>
          <a:p>
            <a:pPr eaLnBrk="1" fontAlgn="auto" hangingPunct="1">
              <a:spcAft>
                <a:spcPts val="0"/>
              </a:spcAft>
              <a:defRPr/>
            </a:pPr>
            <a:r>
              <a:rPr lang="en-US" dirty="0">
                <a:effectLst>
                  <a:outerShdw blurRad="38100" dist="38100" dir="2700000" algn="tl">
                    <a:srgbClr val="C0C0C0"/>
                  </a:outerShdw>
                </a:effectLst>
                <a:latin typeface="Times New Roman" pitchFamily="18" charset="0"/>
              </a:rPr>
              <a:t>Fundamental Characteristics </a:t>
            </a:r>
            <a:br>
              <a:rPr lang="en-US" dirty="0">
                <a:effectLst>
                  <a:outerShdw blurRad="38100" dist="38100" dir="2700000" algn="tl">
                    <a:srgbClr val="C0C0C0"/>
                  </a:outerShdw>
                </a:effectLst>
                <a:latin typeface="Times New Roman" pitchFamily="18" charset="0"/>
              </a:rPr>
            </a:br>
            <a:endParaRPr lang="en-IN" dirty="0"/>
          </a:p>
        </p:txBody>
      </p:sp>
      <p:sp>
        <p:nvSpPr>
          <p:cNvPr id="13315" name="Rectangle 3">
            <a:extLst>
              <a:ext uri="{FF2B5EF4-FFF2-40B4-BE49-F238E27FC236}">
                <a16:creationId xmlns:a16="http://schemas.microsoft.com/office/drawing/2014/main" id="{DBC317EB-A08D-AA3C-E471-E42F65E53E4D}"/>
              </a:ext>
            </a:extLst>
          </p:cNvPr>
          <p:cNvSpPr>
            <a:spLocks noGrp="1" noChangeArrowheads="1"/>
          </p:cNvSpPr>
          <p:nvPr>
            <p:ph idx="1"/>
          </p:nvPr>
        </p:nvSpPr>
        <p:spPr>
          <a:xfrm>
            <a:off x="76200" y="1158875"/>
            <a:ext cx="10929938" cy="4805363"/>
          </a:xfrm>
          <a:ln>
            <a:solidFill>
              <a:schemeClr val="bg1"/>
            </a:solidFill>
          </a:ln>
        </p:spPr>
        <p:txBody>
          <a:bodyPr rtlCol="0">
            <a:noAutofit/>
          </a:bodyPr>
          <a:lstStyle/>
          <a:p>
            <a:pPr marL="457200" lvl="1" indent="0" eaLnBrk="1" fontAlgn="auto" hangingPunct="1">
              <a:lnSpc>
                <a:spcPct val="150000"/>
              </a:lnSpc>
              <a:spcAft>
                <a:spcPts val="0"/>
              </a:spcAft>
              <a:buFont typeface="Wingdings" panose="05000000000000000000" pitchFamily="2" charset="2"/>
              <a:buNone/>
              <a:defRPr/>
            </a:pPr>
            <a:r>
              <a:rPr lang="en-US" altLang="en-US" dirty="0">
                <a:latin typeface="Times New Roman" panose="02020603050405020304" pitchFamily="18" charset="0"/>
                <a:cs typeface="Times New Roman" panose="02020603050405020304" pitchFamily="18" charset="0"/>
              </a:rPr>
              <a:t>Effectiveness of data communication  system depends on</a:t>
            </a:r>
          </a:p>
          <a:p>
            <a:pPr marL="457200" lvl="1" indent="0" eaLnBrk="1" fontAlgn="auto" hangingPunct="1">
              <a:lnSpc>
                <a:spcPct val="150000"/>
              </a:lnSpc>
              <a:spcAft>
                <a:spcPts val="0"/>
              </a:spcAft>
              <a:buFont typeface="Wingdings" panose="05000000000000000000" pitchFamily="2" charset="2"/>
              <a:buNone/>
              <a:defRPr/>
            </a:pPr>
            <a:r>
              <a:rPr lang="en-US" altLang="en-US" b="1" dirty="0">
                <a:solidFill>
                  <a:schemeClr val="accent1"/>
                </a:solidFill>
                <a:latin typeface="Times New Roman" panose="02020603050405020304" pitchFamily="18" charset="0"/>
                <a:cs typeface="Times New Roman" panose="02020603050405020304" pitchFamily="18" charset="0"/>
              </a:rPr>
              <a:t>Delivery</a:t>
            </a:r>
            <a:r>
              <a:rPr lang="en-US" altLang="en-US" dirty="0">
                <a:latin typeface="Times New Roman" panose="02020603050405020304" pitchFamily="18" charset="0"/>
                <a:cs typeface="Times New Roman" panose="02020603050405020304" pitchFamily="18" charset="0"/>
              </a:rPr>
              <a:t>: The system must deliver data to correct destination. </a:t>
            </a:r>
          </a:p>
          <a:p>
            <a:pPr marL="457200" lvl="1" indent="0" eaLnBrk="1" fontAlgn="auto" hangingPunct="1">
              <a:lnSpc>
                <a:spcPct val="150000"/>
              </a:lnSpc>
              <a:spcAft>
                <a:spcPts val="0"/>
              </a:spcAft>
              <a:buFont typeface="Wingdings" panose="05000000000000000000" pitchFamily="2" charset="2"/>
              <a:buNone/>
              <a:defRPr/>
            </a:pPr>
            <a:r>
              <a:rPr lang="en-US" altLang="en-US" dirty="0">
                <a:latin typeface="Times New Roman" panose="02020603050405020304" pitchFamily="18" charset="0"/>
                <a:cs typeface="Times New Roman" panose="02020603050405020304" pitchFamily="18" charset="0"/>
              </a:rPr>
              <a:t>                 Data received by the intended user only</a:t>
            </a:r>
          </a:p>
          <a:p>
            <a:pPr marL="457200" lvl="1" indent="0" eaLnBrk="1" fontAlgn="auto" hangingPunct="1">
              <a:lnSpc>
                <a:spcPct val="150000"/>
              </a:lnSpc>
              <a:spcAft>
                <a:spcPts val="0"/>
              </a:spcAft>
              <a:buFont typeface="Wingdings" panose="05000000000000000000" pitchFamily="2" charset="2"/>
              <a:buNone/>
              <a:defRPr/>
            </a:pPr>
            <a:r>
              <a:rPr lang="en-US" altLang="en-US" b="1" dirty="0">
                <a:solidFill>
                  <a:schemeClr val="accent1"/>
                </a:solidFill>
                <a:latin typeface="Times New Roman" panose="02020603050405020304" pitchFamily="18" charset="0"/>
                <a:cs typeface="Times New Roman" panose="02020603050405020304" pitchFamily="18" charset="0"/>
              </a:rPr>
              <a:t>Accuracy</a:t>
            </a:r>
            <a:r>
              <a:rPr lang="en-US" altLang="en-US" dirty="0">
                <a:latin typeface="Times New Roman" panose="02020603050405020304" pitchFamily="18" charset="0"/>
                <a:cs typeface="Times New Roman" panose="02020603050405020304" pitchFamily="18" charset="0"/>
              </a:rPr>
              <a:t>: The system must deliver data accurately (no change). </a:t>
            </a:r>
          </a:p>
          <a:p>
            <a:pPr marL="457200" lvl="1" indent="0" eaLnBrk="1" fontAlgn="auto" hangingPunct="1">
              <a:lnSpc>
                <a:spcPct val="150000"/>
              </a:lnSpc>
              <a:spcAft>
                <a:spcPts val="0"/>
              </a:spcAft>
              <a:buFont typeface="Wingdings" panose="05000000000000000000" pitchFamily="2" charset="2"/>
              <a:buNone/>
              <a:defRPr/>
            </a:pPr>
            <a:r>
              <a:rPr lang="en-US" altLang="en-US" dirty="0">
                <a:latin typeface="Times New Roman" panose="02020603050405020304" pitchFamily="18" charset="0"/>
                <a:cs typeface="Times New Roman" panose="02020603050405020304" pitchFamily="18" charset="0"/>
              </a:rPr>
              <a:t>                   Data changed &amp; uncorrected is unusable</a:t>
            </a:r>
          </a:p>
          <a:p>
            <a:pPr marL="457200" lvl="1" indent="0" eaLnBrk="1" fontAlgn="auto" hangingPunct="1">
              <a:lnSpc>
                <a:spcPct val="150000"/>
              </a:lnSpc>
              <a:spcAft>
                <a:spcPts val="0"/>
              </a:spcAft>
              <a:buFont typeface="Wingdings" panose="05000000000000000000" pitchFamily="2" charset="2"/>
              <a:buNone/>
              <a:defRPr/>
            </a:pPr>
            <a:r>
              <a:rPr lang="en-US" altLang="en-US" b="1" dirty="0">
                <a:solidFill>
                  <a:schemeClr val="accent1"/>
                </a:solidFill>
                <a:latin typeface="Times New Roman" panose="02020603050405020304" pitchFamily="18" charset="0"/>
                <a:cs typeface="Times New Roman" panose="02020603050405020304" pitchFamily="18" charset="0"/>
              </a:rPr>
              <a:t>Timeliness</a:t>
            </a:r>
            <a:r>
              <a:rPr lang="en-US" altLang="en-US" dirty="0">
                <a:latin typeface="Times New Roman" panose="02020603050405020304" pitchFamily="18" charset="0"/>
                <a:cs typeface="Times New Roman" panose="02020603050405020304" pitchFamily="18" charset="0"/>
              </a:rPr>
              <a:t>:</a:t>
            </a:r>
            <a:r>
              <a:rPr lang="en-US" altLang="en-US" b="1" dirty="0">
                <a:solidFill>
                  <a:schemeClr val="accent1"/>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 system must deliver data in timely manner</a:t>
            </a:r>
          </a:p>
          <a:p>
            <a:pPr lvl="3" eaLnBrk="1" fontAlgn="auto" hangingPunct="1">
              <a:spcAft>
                <a:spcPts val="0"/>
              </a:spcAft>
              <a:buFont typeface="Courier New" panose="02070309020205020404" pitchFamily="49" charset="0"/>
              <a:buChar char="o"/>
              <a:defRPr/>
            </a:pPr>
            <a:r>
              <a:rPr lang="en-US" altLang="en-US" sz="2400" dirty="0">
                <a:latin typeface="Times New Roman" panose="02020603050405020304" pitchFamily="18" charset="0"/>
                <a:cs typeface="Times New Roman" panose="02020603050405020304" pitchFamily="18" charset="0"/>
              </a:rPr>
              <a:t>Data arrived late are useless</a:t>
            </a:r>
          </a:p>
          <a:p>
            <a:pPr lvl="3" eaLnBrk="1" fontAlgn="auto" hangingPunct="1">
              <a:spcAft>
                <a:spcPts val="0"/>
              </a:spcAft>
              <a:buFont typeface="Courier New" panose="02070309020205020404" pitchFamily="49" charset="0"/>
              <a:buChar char="o"/>
              <a:defRPr/>
            </a:pPr>
            <a:r>
              <a:rPr lang="en-US" altLang="en-US" sz="2400" dirty="0">
                <a:latin typeface="Times New Roman" panose="02020603050405020304" pitchFamily="18" charset="0"/>
                <a:cs typeface="Times New Roman" panose="02020603050405020304" pitchFamily="18" charset="0"/>
              </a:rPr>
              <a:t>In the same order (video and audio) &amp; without delay (Real time transmission)</a:t>
            </a:r>
          </a:p>
          <a:p>
            <a:pPr lvl="3" eaLnBrk="1" fontAlgn="auto" hangingPunct="1">
              <a:spcAft>
                <a:spcPts val="0"/>
              </a:spcAft>
              <a:buFont typeface="Courier New" panose="02070309020205020404" pitchFamily="49" charset="0"/>
              <a:buChar char="o"/>
              <a:defRPr/>
            </a:pPr>
            <a:endParaRPr lang="en-US" altLang="en-US" sz="2200" dirty="0">
              <a:latin typeface="Times New Roman" panose="02020603050405020304" pitchFamily="18" charset="0"/>
              <a:cs typeface="Times New Roman" panose="02020603050405020304" pitchFamily="18" charset="0"/>
            </a:endParaRPr>
          </a:p>
          <a:p>
            <a:pPr marL="1371600" lvl="3" indent="0" eaLnBrk="1" fontAlgn="auto" hangingPunct="1">
              <a:spcAft>
                <a:spcPts val="0"/>
              </a:spcAft>
              <a:buFont typeface="Wingdings" panose="05000000000000000000" pitchFamily="2" charset="2"/>
              <a:buNone/>
              <a:defRPr/>
            </a:pPr>
            <a:endParaRPr lang="en-US" altLang="en-US" sz="2200" dirty="0">
              <a:latin typeface="Times New Roman" panose="02020603050405020304" pitchFamily="18" charset="0"/>
              <a:cs typeface="Times New Roman" panose="02020603050405020304" pitchFamily="18" charset="0"/>
            </a:endParaRPr>
          </a:p>
        </p:txBody>
      </p:sp>
      <p:sp>
        <p:nvSpPr>
          <p:cNvPr id="27652" name="TextBox 3">
            <a:extLst>
              <a:ext uri="{FF2B5EF4-FFF2-40B4-BE49-F238E27FC236}">
                <a16:creationId xmlns:a16="http://schemas.microsoft.com/office/drawing/2014/main" id="{691B5B1B-5B25-DD0A-A570-94841B424130}"/>
              </a:ext>
            </a:extLst>
          </p:cNvPr>
          <p:cNvSpPr txBox="1">
            <a:spLocks noChangeArrowheads="1"/>
          </p:cNvSpPr>
          <p:nvPr/>
        </p:nvSpPr>
        <p:spPr bwMode="auto">
          <a:xfrm>
            <a:off x="-762000" y="6030913"/>
            <a:ext cx="13411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3" eaLnBrk="1" hangingPunct="1">
              <a:lnSpc>
                <a:spcPct val="100000"/>
              </a:lnSpc>
              <a:spcBef>
                <a:spcPct val="0"/>
              </a:spcBef>
              <a:buFontTx/>
              <a:buNone/>
            </a:pPr>
            <a:r>
              <a:rPr lang="en-US" altLang="en-US" sz="2400" b="1">
                <a:solidFill>
                  <a:schemeClr val="accent1"/>
                </a:solidFill>
                <a:latin typeface="Times New Roman" panose="02020603050405020304" pitchFamily="18" charset="0"/>
                <a:cs typeface="Times New Roman" panose="02020603050405020304" pitchFamily="18" charset="0"/>
              </a:rPr>
              <a:t>Jitter</a:t>
            </a:r>
            <a:r>
              <a:rPr lang="en-US" altLang="en-US" sz="2400" b="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Variation in the packet arrival time (uneven quality in the video is the result)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4">
            <a:extLst>
              <a:ext uri="{FF2B5EF4-FFF2-40B4-BE49-F238E27FC236}">
                <a16:creationId xmlns:a16="http://schemas.microsoft.com/office/drawing/2014/main" id="{4E65F11D-16D8-38C8-39F0-F3FEAE9439E8}"/>
              </a:ext>
            </a:extLst>
          </p:cNvPr>
          <p:cNvSpPr txBox="1">
            <a:spLocks noChangeArrowheads="1"/>
          </p:cNvSpPr>
          <p:nvPr/>
        </p:nvSpPr>
        <p:spPr bwMode="auto">
          <a:xfrm>
            <a:off x="1828800" y="381000"/>
            <a:ext cx="7091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200" b="1" i="1">
                <a:solidFill>
                  <a:srgbClr val="3366FF"/>
                </a:solidFill>
                <a:latin typeface="Times New Roman" panose="02020603050405020304" pitchFamily="18" charset="0"/>
              </a:rPr>
              <a:t>Five components of data communication</a:t>
            </a:r>
          </a:p>
        </p:txBody>
      </p:sp>
      <p:pic>
        <p:nvPicPr>
          <p:cNvPr id="29699" name="Picture 6">
            <a:extLst>
              <a:ext uri="{FF2B5EF4-FFF2-40B4-BE49-F238E27FC236}">
                <a16:creationId xmlns:a16="http://schemas.microsoft.com/office/drawing/2014/main" id="{BC031FD3-B883-77E7-753D-CCD841B53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60513"/>
            <a:ext cx="80010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Rectangle 31">
            <a:extLst>
              <a:ext uri="{FF2B5EF4-FFF2-40B4-BE49-F238E27FC236}">
                <a16:creationId xmlns:a16="http://schemas.microsoft.com/office/drawing/2014/main" id="{FFEAF72C-A074-831B-7918-44B6C5FB880A}"/>
              </a:ext>
            </a:extLst>
          </p:cNvPr>
          <p:cNvSpPr>
            <a:spLocks noChangeArrowheads="1"/>
          </p:cNvSpPr>
          <p:nvPr/>
        </p:nvSpPr>
        <p:spPr bwMode="auto">
          <a:xfrm>
            <a:off x="1463675" y="4198938"/>
            <a:ext cx="4632325" cy="2308225"/>
          </a:xfrm>
          <a:prstGeom prst="rect">
            <a:avLst/>
          </a:prstGeom>
          <a:noFill/>
          <a:ln>
            <a:noFill/>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fontAlgn="auto" hangingPunct="1">
              <a:spcBef>
                <a:spcPts val="0"/>
              </a:spcBef>
              <a:spcAft>
                <a:spcPts val="0"/>
              </a:spcAft>
              <a:buClr>
                <a:schemeClr val="tx1"/>
              </a:buClr>
              <a:buSzPct val="117000"/>
              <a:buFont typeface="Wingdings" panose="05000000000000000000" pitchFamily="2" charset="2"/>
              <a:buNone/>
              <a:defRPr/>
            </a:pPr>
            <a:r>
              <a:rPr lang="fr-FR" altLang="en-US" sz="2400" dirty="0">
                <a:solidFill>
                  <a:srgbClr val="0033CC"/>
                </a:solidFill>
                <a:latin typeface="Times New Roman" panose="02020603050405020304" pitchFamily="18" charset="0"/>
              </a:rPr>
              <a:t>Components</a:t>
            </a:r>
          </a:p>
          <a:p>
            <a:pPr marL="457200" indent="-457200" eaLnBrk="1" fontAlgn="auto" hangingPunct="1">
              <a:spcBef>
                <a:spcPts val="0"/>
              </a:spcBef>
              <a:spcAft>
                <a:spcPts val="0"/>
              </a:spcAft>
              <a:buClr>
                <a:schemeClr val="tx1"/>
              </a:buClr>
              <a:buSzPct val="117000"/>
              <a:buFont typeface="+mj-lt"/>
              <a:buAutoNum type="arabicPeriod"/>
              <a:defRPr/>
            </a:pPr>
            <a:r>
              <a:rPr lang="fr-FR" altLang="en-US" sz="2400" b="0" dirty="0">
                <a:latin typeface="Times New Roman" panose="02020603050405020304" pitchFamily="18" charset="0"/>
              </a:rPr>
              <a:t>Message, </a:t>
            </a:r>
          </a:p>
          <a:p>
            <a:pPr marL="457200" indent="-457200" eaLnBrk="1" fontAlgn="auto" hangingPunct="1">
              <a:spcBef>
                <a:spcPts val="0"/>
              </a:spcBef>
              <a:spcAft>
                <a:spcPts val="0"/>
              </a:spcAft>
              <a:buClr>
                <a:schemeClr val="tx1"/>
              </a:buClr>
              <a:buSzPct val="117000"/>
              <a:buFont typeface="+mj-lt"/>
              <a:buAutoNum type="arabicPeriod"/>
              <a:defRPr/>
            </a:pPr>
            <a:r>
              <a:rPr lang="fr-FR" altLang="en-US" sz="2400" b="0" dirty="0">
                <a:latin typeface="Times New Roman" panose="02020603050405020304" pitchFamily="18" charset="0"/>
              </a:rPr>
              <a:t>Sender, </a:t>
            </a:r>
          </a:p>
          <a:p>
            <a:pPr marL="457200" indent="-457200" eaLnBrk="1" fontAlgn="auto" hangingPunct="1">
              <a:spcBef>
                <a:spcPts val="0"/>
              </a:spcBef>
              <a:spcAft>
                <a:spcPts val="0"/>
              </a:spcAft>
              <a:buClr>
                <a:schemeClr val="tx1"/>
              </a:buClr>
              <a:buSzPct val="117000"/>
              <a:buFont typeface="+mj-lt"/>
              <a:buAutoNum type="arabicPeriod"/>
              <a:defRPr/>
            </a:pPr>
            <a:r>
              <a:rPr lang="fr-FR" altLang="en-US" sz="2400" b="0" dirty="0" err="1">
                <a:latin typeface="Times New Roman" panose="02020603050405020304" pitchFamily="18" charset="0"/>
              </a:rPr>
              <a:t>Receiver</a:t>
            </a:r>
            <a:r>
              <a:rPr lang="fr-FR" altLang="en-US" sz="2400" b="0" dirty="0">
                <a:latin typeface="Times New Roman" panose="02020603050405020304" pitchFamily="18" charset="0"/>
              </a:rPr>
              <a:t> </a:t>
            </a:r>
          </a:p>
          <a:p>
            <a:pPr marL="457200" indent="-457200" eaLnBrk="1" fontAlgn="auto" hangingPunct="1">
              <a:spcBef>
                <a:spcPts val="0"/>
              </a:spcBef>
              <a:spcAft>
                <a:spcPts val="0"/>
              </a:spcAft>
              <a:buClr>
                <a:schemeClr val="tx1"/>
              </a:buClr>
              <a:buSzPct val="117000"/>
              <a:buFont typeface="+mj-lt"/>
              <a:buAutoNum type="arabicPeriod"/>
              <a:defRPr/>
            </a:pPr>
            <a:r>
              <a:rPr lang="fr-FR" altLang="en-US" sz="2400" b="0" dirty="0">
                <a:latin typeface="Times New Roman" panose="02020603050405020304" pitchFamily="18" charset="0"/>
              </a:rPr>
              <a:t>Transmission Medium </a:t>
            </a:r>
          </a:p>
          <a:p>
            <a:pPr marL="457200" indent="-457200" eaLnBrk="1" fontAlgn="auto" hangingPunct="1">
              <a:spcBef>
                <a:spcPts val="0"/>
              </a:spcBef>
              <a:spcAft>
                <a:spcPts val="0"/>
              </a:spcAft>
              <a:buClr>
                <a:schemeClr val="tx1"/>
              </a:buClr>
              <a:buSzPct val="117000"/>
              <a:buFont typeface="+mj-lt"/>
              <a:buAutoNum type="arabicPeriod"/>
              <a:defRPr/>
            </a:pPr>
            <a:r>
              <a:rPr lang="fr-FR" altLang="en-US" sz="2400" b="0" dirty="0">
                <a:latin typeface="Times New Roman" panose="02020603050405020304" pitchFamily="18" charset="0"/>
              </a:rPr>
              <a:t>Protocol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7088589B-413B-ABF2-4D5D-4E472D9444BC}"/>
              </a:ext>
            </a:extLst>
          </p:cNvPr>
          <p:cNvSpPr>
            <a:spLocks noGrp="1" noChangeArrowheads="1"/>
          </p:cNvSpPr>
          <p:nvPr>
            <p:ph idx="1"/>
          </p:nvPr>
        </p:nvSpPr>
        <p:spPr>
          <a:xfrm>
            <a:off x="76200" y="1008063"/>
            <a:ext cx="12039600" cy="4841875"/>
          </a:xfrm>
        </p:spPr>
        <p:txBody>
          <a:bodyPr/>
          <a:lstStyle/>
          <a:p>
            <a:pPr marL="457200" lvl="1" indent="0" algn="just" eaLnBrk="1" hangingPunct="1">
              <a:buFont typeface="Arial" panose="020B0604020202020204" pitchFamily="34" charset="0"/>
              <a:buNone/>
            </a:pPr>
            <a:r>
              <a:rPr lang="en-US" altLang="en-US">
                <a:solidFill>
                  <a:srgbClr val="3333FF"/>
                </a:solidFill>
                <a:latin typeface="Times New Roman" panose="02020603050405020304" pitchFamily="18" charset="0"/>
                <a:cs typeface="Times New Roman" panose="02020603050405020304" pitchFamily="18" charset="0"/>
              </a:rPr>
              <a:t> </a:t>
            </a:r>
            <a:r>
              <a:rPr lang="en-US" altLang="en-US" b="1">
                <a:solidFill>
                  <a:srgbClr val="0033CC"/>
                </a:solidFill>
                <a:latin typeface="Times New Roman" panose="02020603050405020304" pitchFamily="18" charset="0"/>
                <a:cs typeface="Times New Roman" panose="02020603050405020304" pitchFamily="18" charset="0"/>
              </a:rPr>
              <a:t>Message:</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message </a:t>
            </a:r>
            <a:r>
              <a:rPr lang="en-US" altLang="en-US">
                <a:latin typeface="Times New Roman" panose="02020603050405020304" pitchFamily="18" charset="0"/>
                <a:cs typeface="Times New Roman" panose="02020603050405020304" pitchFamily="18" charset="0"/>
              </a:rPr>
              <a:t>is the information (</a:t>
            </a:r>
            <a:r>
              <a:rPr lang="en-US" altLang="en-US" b="1">
                <a:latin typeface="Times New Roman" panose="02020603050405020304" pitchFamily="18" charset="0"/>
                <a:cs typeface="Times New Roman" panose="02020603050405020304" pitchFamily="18" charset="0"/>
              </a:rPr>
              <a:t>data</a:t>
            </a:r>
            <a:r>
              <a:rPr lang="en-US" altLang="en-US">
                <a:latin typeface="Times New Roman" panose="02020603050405020304" pitchFamily="18" charset="0"/>
                <a:cs typeface="Times New Roman" panose="02020603050405020304" pitchFamily="18" charset="0"/>
              </a:rPr>
              <a:t>) to be communicated. </a:t>
            </a:r>
          </a:p>
          <a:p>
            <a:pPr marL="457200" lvl="1" indent="0" algn="just" eaLnBrk="1" hangingPunct="1">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a:t>
            </a:r>
            <a:r>
              <a:rPr lang="en-US" altLang="en-US" b="1">
                <a:solidFill>
                  <a:srgbClr val="FF0000"/>
                </a:solidFill>
                <a:latin typeface="Times New Roman" panose="02020603050405020304" pitchFamily="18" charset="0"/>
                <a:cs typeface="Times New Roman" panose="02020603050405020304" pitchFamily="18" charset="0"/>
              </a:rPr>
              <a:t>Examples: </a:t>
            </a:r>
            <a:r>
              <a:rPr lang="en-US" altLang="en-US">
                <a:latin typeface="Times New Roman" panose="02020603050405020304" pitchFamily="18" charset="0"/>
                <a:cs typeface="Times New Roman" panose="02020603050405020304" pitchFamily="18" charset="0"/>
              </a:rPr>
              <a:t>Text, numbers, pictures, audio, and video</a:t>
            </a:r>
          </a:p>
          <a:p>
            <a:pPr marL="457200" lvl="1" indent="0" algn="just" eaLnBrk="1" hangingPunct="1">
              <a:buFont typeface="Arial" panose="020B0604020202020204" pitchFamily="34" charset="0"/>
              <a:buNone/>
            </a:pPr>
            <a:r>
              <a:rPr lang="en-US" altLang="en-US" b="1">
                <a:solidFill>
                  <a:srgbClr val="FF0000"/>
                </a:solidFill>
                <a:latin typeface="Times New Roman" panose="02020603050405020304" pitchFamily="18" charset="0"/>
                <a:cs typeface="Times New Roman" panose="02020603050405020304" pitchFamily="18" charset="0"/>
              </a:rPr>
              <a:t> </a:t>
            </a:r>
            <a:r>
              <a:rPr lang="en-US" altLang="en-US" b="1">
                <a:solidFill>
                  <a:srgbClr val="0033CC"/>
                </a:solidFill>
                <a:latin typeface="Times New Roman" panose="02020603050405020304" pitchFamily="18" charset="0"/>
                <a:cs typeface="Times New Roman" panose="02020603050405020304" pitchFamily="18" charset="0"/>
              </a:rPr>
              <a:t>Sender: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sender </a:t>
            </a:r>
            <a:r>
              <a:rPr lang="en-US" altLang="en-US">
                <a:latin typeface="Times New Roman" panose="02020603050405020304" pitchFamily="18" charset="0"/>
                <a:cs typeface="Times New Roman" panose="02020603050405020304" pitchFamily="18" charset="0"/>
              </a:rPr>
              <a:t>is the device that sends the data message. </a:t>
            </a:r>
          </a:p>
          <a:p>
            <a:pPr marL="914400" lvl="2" indent="0" algn="just"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r>
              <a:rPr lang="en-US" altLang="en-US" sz="2400" b="1">
                <a:solidFill>
                  <a:srgbClr val="FF0000"/>
                </a:solidFill>
                <a:latin typeface="Times New Roman" panose="02020603050405020304" pitchFamily="18" charset="0"/>
                <a:cs typeface="Times New Roman" panose="02020603050405020304" pitchFamily="18" charset="0"/>
              </a:rPr>
              <a:t>Examples: </a:t>
            </a:r>
            <a:r>
              <a:rPr lang="en-US" altLang="en-US" sz="2400">
                <a:latin typeface="Times New Roman" panose="02020603050405020304" pitchFamily="18" charset="0"/>
                <a:cs typeface="Times New Roman" panose="02020603050405020304" pitchFamily="18" charset="0"/>
              </a:rPr>
              <a:t>Computer, workstation, telephone handset, video camera, and so on</a:t>
            </a:r>
          </a:p>
          <a:p>
            <a:pPr marL="457200" lvl="1" indent="0" algn="just" eaLnBrk="1" hangingPunct="1">
              <a:buFont typeface="Arial" panose="020B0604020202020204" pitchFamily="34" charset="0"/>
              <a:buNone/>
            </a:pPr>
            <a:r>
              <a:rPr lang="en-US" altLang="en-US" b="1">
                <a:solidFill>
                  <a:srgbClr val="0033CC"/>
                </a:solidFill>
                <a:latin typeface="Times New Roman" panose="02020603050405020304" pitchFamily="18" charset="0"/>
                <a:cs typeface="Times New Roman" panose="02020603050405020304" pitchFamily="18" charset="0"/>
              </a:rPr>
              <a:t>Receiver: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receiver </a:t>
            </a:r>
            <a:r>
              <a:rPr lang="en-US" altLang="en-US">
                <a:latin typeface="Times New Roman" panose="02020603050405020304" pitchFamily="18" charset="0"/>
                <a:cs typeface="Times New Roman" panose="02020603050405020304" pitchFamily="18" charset="0"/>
              </a:rPr>
              <a:t>is the device that receives the message.</a:t>
            </a:r>
          </a:p>
          <a:p>
            <a:pPr marL="914400" lvl="2" indent="0" algn="just"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r>
              <a:rPr lang="en-US" altLang="en-US" sz="2400" b="1">
                <a:solidFill>
                  <a:srgbClr val="FF0000"/>
                </a:solidFill>
                <a:latin typeface="Times New Roman" panose="02020603050405020304" pitchFamily="18" charset="0"/>
                <a:cs typeface="Times New Roman" panose="02020603050405020304" pitchFamily="18" charset="0"/>
              </a:rPr>
              <a:t>Examples: </a:t>
            </a:r>
            <a:r>
              <a:rPr lang="en-US" altLang="en-US" sz="2400">
                <a:latin typeface="Times New Roman" panose="02020603050405020304" pitchFamily="18" charset="0"/>
                <a:cs typeface="Times New Roman" panose="02020603050405020304" pitchFamily="18" charset="0"/>
              </a:rPr>
              <a:t>Computer, workstation, telephone handset, television, and so on</a:t>
            </a:r>
          </a:p>
          <a:p>
            <a:pPr marL="457200" lvl="1" indent="0" eaLnBrk="1" hangingPunct="1">
              <a:buFont typeface="Arial" panose="020B0604020202020204" pitchFamily="34" charset="0"/>
              <a:buNone/>
            </a:pPr>
            <a:r>
              <a:rPr lang="en-IN" altLang="en-US" b="1">
                <a:solidFill>
                  <a:srgbClr val="0033CC"/>
                </a:solidFill>
                <a:latin typeface="Times New Roman" panose="02020603050405020304" pitchFamily="18" charset="0"/>
                <a:cs typeface="Times New Roman" panose="02020603050405020304" pitchFamily="18" charset="0"/>
              </a:rPr>
              <a:t>Medium: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transmission medium </a:t>
            </a:r>
            <a:r>
              <a:rPr lang="en-US" altLang="en-US">
                <a:latin typeface="Times New Roman" panose="02020603050405020304" pitchFamily="18" charset="0"/>
                <a:cs typeface="Times New Roman" panose="02020603050405020304" pitchFamily="18" charset="0"/>
              </a:rPr>
              <a:t>is the physical path by which message travels </a:t>
            </a:r>
          </a:p>
          <a:p>
            <a:pPr marL="457200" lvl="1" indent="0" eaLnBrk="1" hangingPunct="1">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from sender to receiver. </a:t>
            </a:r>
            <a:endParaRPr lang="en-IN" altLang="en-US">
              <a:latin typeface="Times New Roman" panose="02020603050405020304" pitchFamily="18" charset="0"/>
              <a:cs typeface="Times New Roman" panose="02020603050405020304" pitchFamily="18" charset="0"/>
            </a:endParaRPr>
          </a:p>
          <a:p>
            <a:pPr marL="457200" lvl="1" indent="0" eaLnBrk="1" hangingPunct="1">
              <a:buFont typeface="Arial" panose="020B0604020202020204" pitchFamily="34" charset="0"/>
              <a:buNone/>
            </a:pPr>
            <a:r>
              <a:rPr lang="en-IN" altLang="en-US">
                <a:latin typeface="Times New Roman" panose="02020603050405020304" pitchFamily="18" charset="0"/>
                <a:cs typeface="Times New Roman" panose="02020603050405020304" pitchFamily="18" charset="0"/>
              </a:rPr>
              <a:t>                   </a:t>
            </a:r>
            <a:r>
              <a:rPr lang="en-IN" altLang="en-US" b="1">
                <a:solidFill>
                  <a:srgbClr val="FF0000"/>
                </a:solidFill>
                <a:latin typeface="Times New Roman" panose="02020603050405020304" pitchFamily="18" charset="0"/>
                <a:cs typeface="Times New Roman" panose="02020603050405020304" pitchFamily="18" charset="0"/>
              </a:rPr>
              <a:t>Examples:  </a:t>
            </a:r>
            <a:r>
              <a:rPr lang="en-IN" altLang="en-US">
                <a:latin typeface="Times New Roman" panose="02020603050405020304" pitchFamily="18" charset="0"/>
                <a:cs typeface="Times New Roman" panose="02020603050405020304" pitchFamily="18" charset="0"/>
              </a:rPr>
              <a:t>Twisted-pair wire, coaxial cable, fiber-optic cable and radio waves.</a:t>
            </a:r>
          </a:p>
          <a:p>
            <a:pPr marL="457200" lvl="1" indent="0" eaLnBrk="1" hangingPunct="1">
              <a:buFont typeface="Arial" panose="020B0604020202020204" pitchFamily="34" charset="0"/>
              <a:buNone/>
            </a:pPr>
            <a:r>
              <a:rPr lang="en-IN" altLang="en-US" b="1">
                <a:solidFill>
                  <a:srgbClr val="FF0000"/>
                </a:solidFill>
                <a:latin typeface="Times New Roman" panose="02020603050405020304" pitchFamily="18" charset="0"/>
                <a:cs typeface="Times New Roman" panose="02020603050405020304" pitchFamily="18" charset="0"/>
              </a:rPr>
              <a:t> </a:t>
            </a:r>
            <a:r>
              <a:rPr lang="en-IN" altLang="en-US" b="1">
                <a:solidFill>
                  <a:srgbClr val="0033CC"/>
                </a:solidFill>
                <a:latin typeface="Times New Roman" panose="02020603050405020304" pitchFamily="18" charset="0"/>
                <a:cs typeface="Times New Roman" panose="02020603050405020304" pitchFamily="18" charset="0"/>
              </a:rPr>
              <a:t>Protocol: </a:t>
            </a:r>
            <a:r>
              <a:rPr lang="en-IN" altLang="en-US">
                <a:latin typeface="Times New Roman" panose="02020603050405020304" pitchFamily="18" charset="0"/>
                <a:cs typeface="Times New Roman" panose="02020603050405020304" pitchFamily="18" charset="0"/>
              </a:rPr>
              <a:t>Set of rules that governs data communications. It represents an agreement</a:t>
            </a:r>
          </a:p>
          <a:p>
            <a:pPr marL="457200" lvl="1" indent="0" eaLnBrk="1" hangingPunct="1">
              <a:buFont typeface="Arial" panose="020B0604020202020204" pitchFamily="34" charset="0"/>
              <a:buNone/>
            </a:pPr>
            <a:r>
              <a:rPr lang="en-IN" altLang="en-US">
                <a:latin typeface="Times New Roman" panose="02020603050405020304" pitchFamily="18" charset="0"/>
                <a:cs typeface="Times New Roman" panose="02020603050405020304" pitchFamily="18" charset="0"/>
              </a:rPr>
              <a:t>                  between the communicating devices. </a:t>
            </a:r>
            <a:r>
              <a:rPr lang="en-US" altLang="en-US">
                <a:latin typeface="Times New Roman" panose="02020603050405020304" pitchFamily="18" charset="0"/>
                <a:cs typeface="Times New Roman" panose="02020603050405020304" pitchFamily="18" charset="0"/>
              </a:rPr>
              <a:t>Without a protocol, two devices may be </a:t>
            </a:r>
          </a:p>
          <a:p>
            <a:pPr marL="457200" lvl="1" indent="0" eaLnBrk="1" hangingPunct="1">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                  connected but not communicating. </a:t>
            </a:r>
            <a:br>
              <a:rPr lang="en-US" altLang="en-US"/>
            </a:br>
            <a:endParaRPr lang="en-IN" altLang="en-US">
              <a:latin typeface="Times New Roman" panose="02020603050405020304" pitchFamily="18" charset="0"/>
              <a:cs typeface="Times New Roman" panose="02020603050405020304" pitchFamily="18" charset="0"/>
            </a:endParaRPr>
          </a:p>
        </p:txBody>
      </p:sp>
      <p:sp>
        <p:nvSpPr>
          <p:cNvPr id="31747" name="Text Box 4">
            <a:extLst>
              <a:ext uri="{FF2B5EF4-FFF2-40B4-BE49-F238E27FC236}">
                <a16:creationId xmlns:a16="http://schemas.microsoft.com/office/drawing/2014/main" id="{77CCF9B7-73FE-91CA-D561-986D08033F3F}"/>
              </a:ext>
            </a:extLst>
          </p:cNvPr>
          <p:cNvSpPr txBox="1">
            <a:spLocks noChangeArrowheads="1"/>
          </p:cNvSpPr>
          <p:nvPr/>
        </p:nvSpPr>
        <p:spPr bwMode="auto">
          <a:xfrm>
            <a:off x="1524000" y="152400"/>
            <a:ext cx="75326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b="1">
                <a:solidFill>
                  <a:srgbClr val="3366FF"/>
                </a:solidFill>
                <a:latin typeface="Times New Roman" panose="02020603050405020304" pitchFamily="18" charset="0"/>
              </a:rPr>
              <a:t>Components of Data Communication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E8EE159A-8857-604E-0B06-302ED284A802}"/>
              </a:ext>
            </a:extLst>
          </p:cNvPr>
          <p:cNvSpPr>
            <a:spLocks noGrp="1" noChangeArrowheads="1"/>
          </p:cNvSpPr>
          <p:nvPr>
            <p:ph type="title"/>
          </p:nvPr>
        </p:nvSpPr>
        <p:spPr>
          <a:xfrm>
            <a:off x="4191000" y="103188"/>
            <a:ext cx="10515600" cy="1327150"/>
          </a:xfrm>
        </p:spPr>
        <p:txBody>
          <a:bodyPr anchor="t"/>
          <a:lstStyle/>
          <a:p>
            <a:pPr eaLnBrk="1" hangingPunct="1"/>
            <a:r>
              <a:rPr lang="en-US" altLang="en-US">
                <a:solidFill>
                  <a:srgbClr val="3366FF"/>
                </a:solidFill>
              </a:rPr>
              <a:t>Data Flow</a:t>
            </a:r>
          </a:p>
        </p:txBody>
      </p:sp>
      <p:sp>
        <p:nvSpPr>
          <p:cNvPr id="2" name="Content Placeholder 1">
            <a:extLst>
              <a:ext uri="{FF2B5EF4-FFF2-40B4-BE49-F238E27FC236}">
                <a16:creationId xmlns:a16="http://schemas.microsoft.com/office/drawing/2014/main" id="{033A5D2C-1DC3-2B5F-9FD9-A6FD4393B46D}"/>
              </a:ext>
            </a:extLst>
          </p:cNvPr>
          <p:cNvSpPr>
            <a:spLocks noGrp="1"/>
          </p:cNvSpPr>
          <p:nvPr>
            <p:ph idx="1"/>
          </p:nvPr>
        </p:nvSpPr>
        <p:spPr>
          <a:xfrm>
            <a:off x="381000" y="990600"/>
            <a:ext cx="10972800" cy="2819400"/>
          </a:xfrm>
        </p:spPr>
        <p:txBody>
          <a:bodyPr rtlCol="0">
            <a:normAutofit/>
          </a:bodyPr>
          <a:lstStyle/>
          <a:p>
            <a:pPr marL="0" indent="0" eaLnBrk="1" fontAlgn="auto" hangingPunct="1">
              <a:spcAft>
                <a:spcPts val="0"/>
              </a:spcAft>
              <a:buFont typeface="Wingdings" panose="05000000000000000000" pitchFamily="2" charset="2"/>
              <a:buNone/>
              <a:defRPr/>
            </a:pPr>
            <a:r>
              <a:rPr lang="en-US" dirty="0">
                <a:latin typeface="Times New Roman" panose="02020603050405020304" pitchFamily="18" charset="0"/>
                <a:cs typeface="Times New Roman" panose="02020603050405020304" pitchFamily="18" charset="0"/>
              </a:rPr>
              <a:t>Communication between two devices can be </a:t>
            </a:r>
          </a:p>
          <a:p>
            <a:pPr eaLnBrk="1" fontAlgn="auto" hangingPunct="1">
              <a:spcAft>
                <a:spcPts val="0"/>
              </a:spcAft>
              <a:defRPr/>
            </a:pPr>
            <a:r>
              <a:rPr lang="en-US" dirty="0">
                <a:latin typeface="Times New Roman" panose="02020603050405020304" pitchFamily="18" charset="0"/>
                <a:cs typeface="Times New Roman" panose="02020603050405020304" pitchFamily="18" charset="0"/>
              </a:rPr>
              <a:t>simplex, </a:t>
            </a:r>
          </a:p>
          <a:p>
            <a:pPr eaLnBrk="1" fontAlgn="auto" hangingPunct="1">
              <a:spcAft>
                <a:spcPts val="0"/>
              </a:spcAft>
              <a:defRPr/>
            </a:pPr>
            <a:r>
              <a:rPr lang="en-US" dirty="0">
                <a:latin typeface="Times New Roman" panose="02020603050405020304" pitchFamily="18" charset="0"/>
                <a:cs typeface="Times New Roman" panose="02020603050405020304" pitchFamily="18" charset="0"/>
              </a:rPr>
              <a:t>half-duplex, </a:t>
            </a:r>
          </a:p>
          <a:p>
            <a:pPr eaLnBrk="1" fontAlgn="auto" hangingPunct="1">
              <a:spcAft>
                <a:spcPts val="0"/>
              </a:spcAft>
              <a:defRPr/>
            </a:pPr>
            <a:r>
              <a:rPr lang="en-US" dirty="0">
                <a:latin typeface="Times New Roman" panose="02020603050405020304" pitchFamily="18" charset="0"/>
                <a:cs typeface="Times New Roman" panose="02020603050405020304" pitchFamily="18" charset="0"/>
              </a:rPr>
              <a:t>full-duplex</a:t>
            </a:r>
            <a:br>
              <a:rPr lang="en-US" dirty="0"/>
            </a:b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E1ACDB-3AB7-E3B8-C54E-032F0347935E}"/>
              </a:ext>
            </a:extLst>
          </p:cNvPr>
          <p:cNvSpPr txBox="1"/>
          <p:nvPr/>
        </p:nvSpPr>
        <p:spPr>
          <a:xfrm>
            <a:off x="495300" y="1371600"/>
            <a:ext cx="11201400" cy="2954338"/>
          </a:xfrm>
          <a:prstGeom prst="rect">
            <a:avLst/>
          </a:prstGeom>
          <a:noFill/>
        </p:spPr>
        <p:txBody>
          <a:bodyPr>
            <a:spAutoFit/>
          </a:bodyPr>
          <a:lstStyle/>
          <a:p>
            <a:pPr marL="457200" indent="-457200" eaLnBrk="1" fontAlgn="auto" hangingPunct="1">
              <a:spcBef>
                <a:spcPts val="0"/>
              </a:spcBef>
              <a:spcAft>
                <a:spcPts val="0"/>
              </a:spcAft>
              <a:buFont typeface="Wingdings" panose="05000000000000000000" pitchFamily="2" charset="2"/>
              <a:buChar char="Ø"/>
              <a:defRPr/>
            </a:pPr>
            <a:r>
              <a:rPr lang="en-US" sz="2800" dirty="0">
                <a:solidFill>
                  <a:srgbClr val="242021"/>
                </a:solidFill>
                <a:latin typeface="Times New Roman" panose="02020603050405020304" pitchFamily="18" charset="0"/>
                <a:cs typeface="Times New Roman" panose="02020603050405020304" pitchFamily="18" charset="0"/>
              </a:rPr>
              <a:t>In </a:t>
            </a:r>
            <a:r>
              <a:rPr lang="en-US" sz="2800" b="1" dirty="0">
                <a:solidFill>
                  <a:srgbClr val="242021"/>
                </a:solidFill>
                <a:latin typeface="Times New Roman" panose="02020603050405020304" pitchFamily="18" charset="0"/>
                <a:cs typeface="Times New Roman" panose="02020603050405020304" pitchFamily="18" charset="0"/>
              </a:rPr>
              <a:t>simplex mode</a:t>
            </a:r>
            <a:r>
              <a:rPr lang="en-US" sz="2800" dirty="0">
                <a:solidFill>
                  <a:srgbClr val="242021"/>
                </a:solidFill>
                <a:latin typeface="Times New Roman" panose="02020603050405020304" pitchFamily="18" charset="0"/>
                <a:cs typeface="Times New Roman" panose="02020603050405020304" pitchFamily="18" charset="0"/>
              </a:rPr>
              <a:t>, the communication is unidirectional.  Only one of the two devices on a link can transmit; the other can only receive.</a:t>
            </a:r>
          </a:p>
          <a:p>
            <a:pPr marL="457200" indent="-457200" eaLnBrk="1" fontAlgn="auto" hangingPunct="1">
              <a:spcBef>
                <a:spcPts val="0"/>
              </a:spcBef>
              <a:spcAft>
                <a:spcPts val="0"/>
              </a:spcAft>
              <a:buFont typeface="Wingdings" panose="05000000000000000000" pitchFamily="2" charset="2"/>
              <a:buChar char="Ø"/>
              <a:defRPr/>
            </a:pPr>
            <a:r>
              <a:rPr lang="en-US" sz="2800" dirty="0">
                <a:latin typeface="Times New Roman" panose="02020603050405020304" pitchFamily="18" charset="0"/>
                <a:cs typeface="Times New Roman" panose="02020603050405020304" pitchFamily="18" charset="0"/>
              </a:rPr>
              <a:t>The simplex mode can use the entire capacity of the channel to send data in one direction. </a:t>
            </a:r>
            <a:br>
              <a:rPr lang="en-US" sz="2800" dirty="0">
                <a:latin typeface="+mn-lt"/>
              </a:rPr>
            </a:br>
            <a:endParaRPr lang="en-US" sz="2800" dirty="0">
              <a:solidFill>
                <a:srgbClr val="242021"/>
              </a:solidFill>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a:pPr>
            <a:r>
              <a:rPr lang="en-US" sz="2800" dirty="0">
                <a:solidFill>
                  <a:srgbClr val="242021"/>
                </a:solidFill>
                <a:latin typeface="Times New Roman" panose="02020603050405020304" pitchFamily="18" charset="0"/>
                <a:cs typeface="Times New Roman" panose="02020603050405020304" pitchFamily="18" charset="0"/>
              </a:rPr>
              <a:t>Examples: Keyboards and traditional monitors. </a:t>
            </a:r>
            <a:br>
              <a:rPr lang="en-US" dirty="0">
                <a:latin typeface="+mn-lt"/>
              </a:rPr>
            </a:br>
            <a:endParaRPr lang="en-IN" dirty="0">
              <a:latin typeface="+mn-lt"/>
            </a:endParaRPr>
          </a:p>
        </p:txBody>
      </p:sp>
      <p:pic>
        <p:nvPicPr>
          <p:cNvPr id="33795" name="Picture 7">
            <a:extLst>
              <a:ext uri="{FF2B5EF4-FFF2-40B4-BE49-F238E27FC236}">
                <a16:creationId xmlns:a16="http://schemas.microsoft.com/office/drawing/2014/main" id="{8C642399-85B6-57C8-5F93-58F21116A9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795838"/>
            <a:ext cx="629602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Box 2">
            <a:extLst>
              <a:ext uri="{FF2B5EF4-FFF2-40B4-BE49-F238E27FC236}">
                <a16:creationId xmlns:a16="http://schemas.microsoft.com/office/drawing/2014/main" id="{5AC9D430-1899-77DF-1B6A-D74EA6C7D24E}"/>
              </a:ext>
            </a:extLst>
          </p:cNvPr>
          <p:cNvSpPr txBox="1">
            <a:spLocks noChangeArrowheads="1"/>
          </p:cNvSpPr>
          <p:nvPr/>
        </p:nvSpPr>
        <p:spPr bwMode="auto">
          <a:xfrm>
            <a:off x="609600" y="490538"/>
            <a:ext cx="6096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600">
                <a:solidFill>
                  <a:srgbClr val="3366FF"/>
                </a:solidFill>
                <a:latin typeface="Times New Roman" panose="02020603050405020304" pitchFamily="18" charset="0"/>
                <a:cs typeface="Times New Roman" panose="02020603050405020304" pitchFamily="18" charset="0"/>
              </a:rPr>
              <a:t>Simplex Mode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984059-2216-2244-AEFF-F57AE85044F7}"/>
              </a:ext>
            </a:extLst>
          </p:cNvPr>
          <p:cNvSpPr txBox="1"/>
          <p:nvPr/>
        </p:nvSpPr>
        <p:spPr>
          <a:xfrm>
            <a:off x="609600" y="228600"/>
            <a:ext cx="11049000" cy="3878263"/>
          </a:xfrm>
          <a:prstGeom prst="rect">
            <a:avLst/>
          </a:prstGeom>
          <a:noFill/>
        </p:spPr>
        <p:txBody>
          <a:bodyPr>
            <a:spAutoFit/>
          </a:bodyPr>
          <a:lstStyle/>
          <a:p>
            <a:pPr eaLnBrk="1" fontAlgn="auto" hangingPunct="1">
              <a:spcBef>
                <a:spcPts val="0"/>
              </a:spcBef>
              <a:spcAft>
                <a:spcPts val="0"/>
              </a:spcAft>
              <a:defRPr/>
            </a:pPr>
            <a:r>
              <a:rPr lang="en-US" sz="2800" dirty="0">
                <a:solidFill>
                  <a:srgbClr val="3366FF"/>
                </a:solidFill>
                <a:latin typeface="Times New Roman" panose="02020603050405020304" pitchFamily="18" charset="0"/>
                <a:cs typeface="Times New Roman" panose="02020603050405020304" pitchFamily="18" charset="0"/>
              </a:rPr>
              <a:t>Half-Duplex Mode</a:t>
            </a:r>
            <a:br>
              <a:rPr lang="en-US" sz="2800" i="1" dirty="0">
                <a:solidFill>
                  <a:srgbClr val="00ADEE"/>
                </a:solidFill>
                <a:latin typeface="Times New Roman" panose="02020603050405020304" pitchFamily="18" charset="0"/>
                <a:cs typeface="Times New Roman" panose="02020603050405020304" pitchFamily="18" charset="0"/>
              </a:rPr>
            </a:br>
            <a:endParaRPr lang="en-US" sz="2800" i="1" dirty="0">
              <a:solidFill>
                <a:srgbClr val="00ADEE"/>
              </a:solidFill>
              <a:latin typeface="Times New Roman" panose="02020603050405020304" pitchFamily="18" charset="0"/>
              <a:cs typeface="Times New Roman" panose="02020603050405020304" pitchFamily="18" charset="0"/>
            </a:endParaRPr>
          </a:p>
          <a:p>
            <a:pPr marL="457200" indent="-457200" eaLnBrk="1" fontAlgn="auto" hangingPunct="1">
              <a:spcBef>
                <a:spcPts val="0"/>
              </a:spcBef>
              <a:spcAft>
                <a:spcPts val="0"/>
              </a:spcAft>
              <a:buFont typeface="Wingdings" panose="05000000000000000000" pitchFamily="2" charset="2"/>
              <a:buChar char="Ø"/>
              <a:defRPr/>
            </a:pPr>
            <a:r>
              <a:rPr lang="en-US" sz="2800" dirty="0">
                <a:solidFill>
                  <a:srgbClr val="242021"/>
                </a:solidFill>
                <a:latin typeface="Times New Roman" panose="02020603050405020304" pitchFamily="18" charset="0"/>
                <a:cs typeface="Times New Roman" panose="02020603050405020304" pitchFamily="18" charset="0"/>
              </a:rPr>
              <a:t>In </a:t>
            </a:r>
            <a:r>
              <a:rPr lang="en-US" sz="2800" b="1" dirty="0">
                <a:solidFill>
                  <a:srgbClr val="242021"/>
                </a:solidFill>
                <a:latin typeface="Times New Roman" panose="02020603050405020304" pitchFamily="18" charset="0"/>
                <a:cs typeface="Times New Roman" panose="02020603050405020304" pitchFamily="18" charset="0"/>
              </a:rPr>
              <a:t>half-duplex mode</a:t>
            </a:r>
            <a:r>
              <a:rPr lang="en-US" sz="2800" dirty="0">
                <a:solidFill>
                  <a:srgbClr val="242021"/>
                </a:solidFill>
                <a:latin typeface="Times New Roman" panose="02020603050405020304" pitchFamily="18" charset="0"/>
                <a:cs typeface="Times New Roman" panose="02020603050405020304" pitchFamily="18" charset="0"/>
              </a:rPr>
              <a:t>, each station can both transmit and receive, but not at the same time.</a:t>
            </a:r>
          </a:p>
          <a:p>
            <a:pPr marL="457200" indent="-457200" eaLnBrk="1" fontAlgn="auto" hangingPunct="1">
              <a:spcBef>
                <a:spcPts val="0"/>
              </a:spcBef>
              <a:spcAft>
                <a:spcPts val="0"/>
              </a:spcAft>
              <a:buFont typeface="Wingdings" panose="05000000000000000000" pitchFamily="2" charset="2"/>
              <a:buChar char="Ø"/>
              <a:defRPr/>
            </a:pPr>
            <a:r>
              <a:rPr lang="en-US" sz="2800" dirty="0">
                <a:solidFill>
                  <a:srgbClr val="242021"/>
                </a:solidFill>
                <a:latin typeface="Times New Roman" panose="02020603050405020304" pitchFamily="18" charset="0"/>
                <a:cs typeface="Times New Roman" panose="02020603050405020304" pitchFamily="18" charset="0"/>
              </a:rPr>
              <a:t>When one device is sending, the other can only receive, and vice versa. </a:t>
            </a:r>
          </a:p>
          <a:p>
            <a:pPr marL="457200" indent="-457200" eaLnBrk="1" fontAlgn="auto" hangingPunct="1">
              <a:spcBef>
                <a:spcPts val="0"/>
              </a:spcBef>
              <a:spcAft>
                <a:spcPts val="0"/>
              </a:spcAft>
              <a:buFont typeface="Wingdings" panose="05000000000000000000" pitchFamily="2" charset="2"/>
              <a:buChar char="Ø"/>
              <a:defRPr/>
            </a:pPr>
            <a:r>
              <a:rPr lang="en-GB" altLang="en-US" sz="2800" dirty="0">
                <a:latin typeface="Times New Roman" panose="02020603050405020304" pitchFamily="18" charset="0"/>
                <a:cs typeface="Times New Roman" panose="02020603050405020304" pitchFamily="18" charset="0"/>
              </a:rPr>
              <a:t>The entire capacity of a channel is taken over by the transmitting device</a:t>
            </a:r>
          </a:p>
          <a:p>
            <a:pPr lvl="1" eaLnBrk="1" fontAlgn="auto" hangingPunct="1">
              <a:lnSpc>
                <a:spcPct val="150000"/>
              </a:lnSpc>
              <a:spcBef>
                <a:spcPts val="0"/>
              </a:spcBef>
              <a:spcAft>
                <a:spcPts val="0"/>
              </a:spcAft>
              <a:buClr>
                <a:schemeClr val="tx2"/>
              </a:buClr>
              <a:buSzPct val="60000"/>
              <a:defRPr/>
            </a:pPr>
            <a:r>
              <a:rPr lang="en-GB" altLang="en-US" sz="2800" dirty="0">
                <a:latin typeface="Times New Roman" panose="02020603050405020304" pitchFamily="18" charset="0"/>
                <a:cs typeface="Times New Roman" panose="02020603050405020304" pitchFamily="18" charset="0"/>
              </a:rPr>
              <a:t>Example: Walkie-talkies</a:t>
            </a:r>
          </a:p>
          <a:p>
            <a:pPr eaLnBrk="1" fontAlgn="auto" hangingPunct="1">
              <a:spcBef>
                <a:spcPts val="0"/>
              </a:spcBef>
              <a:spcAft>
                <a:spcPts val="0"/>
              </a:spcAft>
              <a:defRPr/>
            </a:pPr>
            <a:br>
              <a:rPr lang="en-US" dirty="0">
                <a:latin typeface="+mn-lt"/>
              </a:rPr>
            </a:br>
            <a:endParaRPr lang="en-IN" dirty="0">
              <a:latin typeface="+mn-lt"/>
            </a:endParaRPr>
          </a:p>
        </p:txBody>
      </p:sp>
      <p:pic>
        <p:nvPicPr>
          <p:cNvPr id="34820" name="Picture 7">
            <a:extLst>
              <a:ext uri="{FF2B5EF4-FFF2-40B4-BE49-F238E27FC236}">
                <a16:creationId xmlns:a16="http://schemas.microsoft.com/office/drawing/2014/main" id="{1D4F8637-AA96-CCD9-99CD-9291C3E63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3886200"/>
            <a:ext cx="6305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Box 3">
            <a:extLst>
              <a:ext uri="{FF2B5EF4-FFF2-40B4-BE49-F238E27FC236}">
                <a16:creationId xmlns:a16="http://schemas.microsoft.com/office/drawing/2014/main" id="{68DBB853-263F-89E4-77B0-07ABDFF17F20}"/>
              </a:ext>
            </a:extLst>
          </p:cNvPr>
          <p:cNvSpPr txBox="1">
            <a:spLocks noChangeArrowheads="1"/>
          </p:cNvSpPr>
          <p:nvPr/>
        </p:nvSpPr>
        <p:spPr bwMode="auto">
          <a:xfrm>
            <a:off x="533400" y="1223963"/>
            <a:ext cx="10575925" cy="323056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eaLnBrk="1" hangingPunct="1">
              <a:lnSpc>
                <a:spcPct val="100000"/>
              </a:lnSpc>
              <a:spcBef>
                <a:spcPct val="0"/>
              </a:spcBef>
              <a:buFont typeface="Wingdings" panose="05000000000000000000" pitchFamily="2" charset="2"/>
              <a:buChar char="Ø"/>
              <a:defRPr/>
            </a:pPr>
            <a:r>
              <a:rPr lang="en-US" altLang="en-US" dirty="0">
                <a:solidFill>
                  <a:srgbClr val="242021"/>
                </a:solidFill>
                <a:latin typeface="Times New Roman" panose="02020603050405020304" pitchFamily="18" charset="0"/>
                <a:cs typeface="Times New Roman" panose="02020603050405020304" pitchFamily="18" charset="0"/>
              </a:rPr>
              <a:t>In </a:t>
            </a:r>
            <a:r>
              <a:rPr lang="en-US" altLang="en-US" b="1" dirty="0">
                <a:solidFill>
                  <a:srgbClr val="242021"/>
                </a:solidFill>
                <a:latin typeface="Times New Roman" panose="02020603050405020304" pitchFamily="18" charset="0"/>
                <a:cs typeface="Times New Roman" panose="02020603050405020304" pitchFamily="18" charset="0"/>
              </a:rPr>
              <a:t>full-duplex mode </a:t>
            </a:r>
            <a:r>
              <a:rPr lang="en-US" altLang="en-US" dirty="0">
                <a:solidFill>
                  <a:srgbClr val="242021"/>
                </a:solidFill>
                <a:latin typeface="Times New Roman" panose="02020603050405020304" pitchFamily="18" charset="0"/>
                <a:cs typeface="Times New Roman" panose="02020603050405020304" pitchFamily="18" charset="0"/>
              </a:rPr>
              <a:t>(also called </a:t>
            </a:r>
            <a:r>
              <a:rPr lang="en-US" altLang="en-US" i="1" dirty="0">
                <a:solidFill>
                  <a:srgbClr val="242021"/>
                </a:solidFill>
                <a:latin typeface="Times New Roman" panose="02020603050405020304" pitchFamily="18" charset="0"/>
                <a:cs typeface="Times New Roman" panose="02020603050405020304" pitchFamily="18" charset="0"/>
              </a:rPr>
              <a:t>duplex</a:t>
            </a:r>
            <a:r>
              <a:rPr lang="en-US" altLang="en-US" dirty="0">
                <a:solidFill>
                  <a:srgbClr val="242021"/>
                </a:solidFill>
                <a:latin typeface="Times New Roman" panose="02020603050405020304" pitchFamily="18" charset="0"/>
                <a:cs typeface="Times New Roman" panose="02020603050405020304" pitchFamily="18" charset="0"/>
              </a:rPr>
              <a:t>), both stations can transmit and receive simultaneously</a:t>
            </a:r>
            <a:r>
              <a:rPr lang="en-US" altLang="en-US" b="1" dirty="0">
                <a:latin typeface="Times New Roman" panose="02020603050405020304" pitchFamily="18" charset="0"/>
                <a:cs typeface="Times New Roman" panose="02020603050405020304" pitchFamily="18" charset="0"/>
              </a:rPr>
              <a:t> </a:t>
            </a:r>
          </a:p>
          <a:p>
            <a:pPr marL="457200" indent="-457200" eaLnBrk="1" hangingPunct="1">
              <a:lnSpc>
                <a:spcPct val="100000"/>
              </a:lnSpc>
              <a:spcBef>
                <a:spcPct val="0"/>
              </a:spcBef>
              <a:buFont typeface="Wingdings" panose="05000000000000000000" pitchFamily="2" charset="2"/>
              <a:buChar char="Ø"/>
              <a:defRPr/>
            </a:pPr>
            <a:r>
              <a:rPr lang="en-US" altLang="en-US" dirty="0">
                <a:latin typeface="Times New Roman" panose="02020603050405020304" pitchFamily="18" charset="0"/>
                <a:cs typeface="Times New Roman" panose="02020603050405020304" pitchFamily="18" charset="0"/>
              </a:rPr>
              <a:t>The capacity of the channel is divided between signals traveling in both directions</a:t>
            </a:r>
            <a:r>
              <a:rPr lang="en-US" altLang="en-US" b="1" dirty="0">
                <a:latin typeface="Times New Roman" panose="02020603050405020304" pitchFamily="18" charset="0"/>
                <a:cs typeface="Times New Roman" panose="02020603050405020304" pitchFamily="18" charset="0"/>
              </a:rPr>
              <a:t> </a:t>
            </a:r>
          </a:p>
          <a:p>
            <a:pPr eaLnBrk="1" hangingPunct="1">
              <a:lnSpc>
                <a:spcPct val="100000"/>
              </a:lnSpc>
              <a:spcBef>
                <a:spcPct val="0"/>
              </a:spcBef>
              <a:buFont typeface="Arial" panose="020B0604020202020204" pitchFamily="34" charset="0"/>
              <a:buNone/>
              <a:defRPr/>
            </a:pPr>
            <a:br>
              <a:rPr lang="en-US" altLang="en-US" sz="3200" b="1" dirty="0">
                <a:latin typeface="Arial" panose="020B0604020202020204" pitchFamily="34" charset="0"/>
              </a:rPr>
            </a:br>
            <a:r>
              <a:rPr lang="en-US" altLang="en-US" dirty="0">
                <a:latin typeface="Times New Roman" panose="02020603050405020304" pitchFamily="18" charset="0"/>
                <a:cs typeface="Times New Roman" panose="02020603050405020304" pitchFamily="18" charset="0"/>
              </a:rPr>
              <a:t>Example: </a:t>
            </a:r>
            <a:r>
              <a:rPr lang="en-GB" altLang="en-US" dirty="0">
                <a:latin typeface="Times New Roman" panose="02020603050405020304" pitchFamily="18" charset="0"/>
                <a:cs typeface="Times New Roman" panose="02020603050405020304" pitchFamily="18" charset="0"/>
              </a:rPr>
              <a:t>Telephone network</a:t>
            </a:r>
            <a:br>
              <a:rPr lang="en-US" altLang="en-US" sz="3200" b="1" dirty="0">
                <a:latin typeface="Arial" panose="020B0604020202020204" pitchFamily="34" charset="0"/>
              </a:rPr>
            </a:br>
            <a:endParaRPr lang="en-IN" altLang="en-US" sz="3200" b="1" dirty="0">
              <a:latin typeface="Arial" panose="020B0604020202020204" pitchFamily="34" charset="0"/>
            </a:endParaRPr>
          </a:p>
        </p:txBody>
      </p:sp>
      <p:pic>
        <p:nvPicPr>
          <p:cNvPr id="35844" name="Picture 5">
            <a:extLst>
              <a:ext uri="{FF2B5EF4-FFF2-40B4-BE49-F238E27FC236}">
                <a16:creationId xmlns:a16="http://schemas.microsoft.com/office/drawing/2014/main" id="{04A33FF5-F1AE-CDE1-81A2-7D676E5E1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229100"/>
            <a:ext cx="64008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Box 2">
            <a:extLst>
              <a:ext uri="{FF2B5EF4-FFF2-40B4-BE49-F238E27FC236}">
                <a16:creationId xmlns:a16="http://schemas.microsoft.com/office/drawing/2014/main" id="{109795B9-2852-D584-B64E-EBC38FA51D7A}"/>
              </a:ext>
            </a:extLst>
          </p:cNvPr>
          <p:cNvSpPr txBox="1">
            <a:spLocks noChangeArrowheads="1"/>
          </p:cNvSpPr>
          <p:nvPr/>
        </p:nvSpPr>
        <p:spPr bwMode="auto">
          <a:xfrm>
            <a:off x="685800" y="38100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200">
                <a:solidFill>
                  <a:srgbClr val="3366FF"/>
                </a:solidFill>
                <a:latin typeface="Times New Roman" panose="02020603050405020304" pitchFamily="18" charset="0"/>
                <a:cs typeface="Times New Roman" panose="02020603050405020304" pitchFamily="18" charset="0"/>
              </a:rPr>
              <a:t>Full-Duplex Mode</a:t>
            </a:r>
            <a:endParaRPr lang="en-IN"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8115" name="Text Box 3">
            <a:extLst>
              <a:ext uri="{FF2B5EF4-FFF2-40B4-BE49-F238E27FC236}">
                <a16:creationId xmlns:a16="http://schemas.microsoft.com/office/drawing/2014/main" id="{6837A008-43F4-C2DA-01E6-AF42D73C2DCB}"/>
              </a:ext>
            </a:extLst>
          </p:cNvPr>
          <p:cNvSpPr txBox="1">
            <a:spLocks noChangeArrowheads="1"/>
          </p:cNvSpPr>
          <p:nvPr/>
        </p:nvSpPr>
        <p:spPr bwMode="auto">
          <a:xfrm>
            <a:off x="3962400" y="160338"/>
            <a:ext cx="3076575" cy="647700"/>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   </a:t>
            </a:r>
            <a:r>
              <a:rPr lang="en-US" sz="3600" b="1" dirty="0">
                <a:solidFill>
                  <a:srgbClr val="3366FF"/>
                </a:solidFill>
                <a:effectLst>
                  <a:outerShdw blurRad="38100" dist="38100" dir="2700000" algn="tl">
                    <a:srgbClr val="C0C0C0"/>
                  </a:outerShdw>
                </a:effectLst>
                <a:latin typeface="Times" pitchFamily="18" charset="0"/>
              </a:rPr>
              <a:t>NETWORKS</a:t>
            </a:r>
            <a:endParaRPr lang="en-US" b="1" dirty="0">
              <a:solidFill>
                <a:srgbClr val="3366FF"/>
              </a:solidFill>
              <a:effectLst>
                <a:outerShdw blurRad="38100" dist="38100" dir="2700000" algn="tl">
                  <a:srgbClr val="C0C0C0"/>
                </a:outerShdw>
              </a:effectLst>
              <a:latin typeface="Times" pitchFamily="18" charset="0"/>
            </a:endParaRPr>
          </a:p>
        </p:txBody>
      </p:sp>
      <p:sp>
        <p:nvSpPr>
          <p:cNvPr id="36867" name="Text Box 4">
            <a:extLst>
              <a:ext uri="{FF2B5EF4-FFF2-40B4-BE49-F238E27FC236}">
                <a16:creationId xmlns:a16="http://schemas.microsoft.com/office/drawing/2014/main" id="{DC18E243-1ACA-171C-D5F0-881131D5D9E2}"/>
              </a:ext>
            </a:extLst>
          </p:cNvPr>
          <p:cNvSpPr txBox="1">
            <a:spLocks noChangeArrowheads="1"/>
          </p:cNvSpPr>
          <p:nvPr/>
        </p:nvSpPr>
        <p:spPr bwMode="auto">
          <a:xfrm>
            <a:off x="9753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b="1">
              <a:latin typeface="Times New Roman" panose="02020603050405020304" pitchFamily="18" charset="0"/>
            </a:endParaRPr>
          </a:p>
        </p:txBody>
      </p:sp>
      <p:sp>
        <p:nvSpPr>
          <p:cNvPr id="858118" name="Rectangle 6">
            <a:extLst>
              <a:ext uri="{FF2B5EF4-FFF2-40B4-BE49-F238E27FC236}">
                <a16:creationId xmlns:a16="http://schemas.microsoft.com/office/drawing/2014/main" id="{D2C78ACF-EFDD-2983-E475-577A27EED0D8}"/>
              </a:ext>
            </a:extLst>
          </p:cNvPr>
          <p:cNvSpPr>
            <a:spLocks noChangeArrowheads="1"/>
          </p:cNvSpPr>
          <p:nvPr/>
        </p:nvSpPr>
        <p:spPr bwMode="auto">
          <a:xfrm>
            <a:off x="304800" y="757238"/>
            <a:ext cx="11582400" cy="2247900"/>
          </a:xfrm>
          <a:prstGeom prst="rect">
            <a:avLst/>
          </a:prstGeom>
          <a:noFill/>
          <a:ln w="9525">
            <a:noFill/>
            <a:miter lim="800000"/>
            <a:headEnd/>
            <a:tailEnd/>
          </a:ln>
          <a:effectLst/>
        </p:spPr>
        <p:txBody>
          <a:bodyPr anchor="ctr">
            <a:spAutoFit/>
          </a:bodyPr>
          <a:lstStyle/>
          <a:p>
            <a:pPr algn="just" eaLnBrk="1" fontAlgn="auto" hangingPunct="1">
              <a:spcBef>
                <a:spcPts val="0"/>
              </a:spcBef>
              <a:spcAft>
                <a:spcPts val="0"/>
              </a:spcAft>
              <a:defRPr/>
            </a:pPr>
            <a:r>
              <a:rPr lang="en-US" sz="2800" dirty="0">
                <a:effectLst>
                  <a:outerShdw blurRad="38100" dist="38100" dir="2700000" algn="tl">
                    <a:srgbClr val="C0C0C0"/>
                  </a:outerShdw>
                </a:effectLst>
                <a:latin typeface="Times New Roman" pitchFamily="18" charset="0"/>
              </a:rPr>
              <a:t>A </a:t>
            </a:r>
            <a:r>
              <a:rPr lang="en-US" sz="2800" dirty="0">
                <a:solidFill>
                  <a:schemeClr val="hlink"/>
                </a:solidFill>
                <a:effectLst>
                  <a:outerShdw blurRad="38100" dist="38100" dir="2700000" algn="tl">
                    <a:srgbClr val="C0C0C0"/>
                  </a:outerShdw>
                </a:effectLst>
                <a:latin typeface="Times New Roman" pitchFamily="18" charset="0"/>
              </a:rPr>
              <a:t>network</a:t>
            </a:r>
            <a:r>
              <a:rPr lang="en-US" sz="2800" dirty="0">
                <a:effectLst>
                  <a:outerShdw blurRad="38100" dist="38100" dir="2700000" algn="tl">
                    <a:srgbClr val="C0C0C0"/>
                  </a:outerShdw>
                </a:effectLst>
                <a:latin typeface="Times New Roman" pitchFamily="18" charset="0"/>
              </a:rPr>
              <a:t> is a set of devices (often referred to as </a:t>
            </a:r>
            <a:r>
              <a:rPr lang="en-US" sz="2800" dirty="0">
                <a:solidFill>
                  <a:schemeClr val="hlink"/>
                </a:solidFill>
                <a:effectLst>
                  <a:outerShdw blurRad="38100" dist="38100" dir="2700000" algn="tl">
                    <a:srgbClr val="C0C0C0"/>
                  </a:outerShdw>
                </a:effectLst>
                <a:latin typeface="Times New Roman" pitchFamily="18" charset="0"/>
              </a:rPr>
              <a:t>nodes</a:t>
            </a:r>
            <a:r>
              <a:rPr lang="en-US" sz="2800" dirty="0">
                <a:effectLst>
                  <a:outerShdw blurRad="38100" dist="38100" dir="2700000" algn="tl">
                    <a:srgbClr val="C0C0C0"/>
                  </a:outerShdw>
                </a:effectLst>
                <a:latin typeface="Times New Roman" pitchFamily="18" charset="0"/>
              </a:rPr>
              <a:t>) connected by communication </a:t>
            </a:r>
            <a:r>
              <a:rPr lang="en-US" sz="2800" dirty="0">
                <a:solidFill>
                  <a:schemeClr val="hlink"/>
                </a:solidFill>
                <a:effectLst>
                  <a:outerShdw blurRad="38100" dist="38100" dir="2700000" algn="tl">
                    <a:srgbClr val="C0C0C0"/>
                  </a:outerShdw>
                </a:effectLst>
                <a:latin typeface="Times New Roman" pitchFamily="18" charset="0"/>
              </a:rPr>
              <a:t>links</a:t>
            </a:r>
            <a:r>
              <a:rPr lang="en-US" sz="2800" dirty="0">
                <a:effectLst>
                  <a:outerShdw blurRad="38100" dist="38100" dir="2700000" algn="tl">
                    <a:srgbClr val="C0C0C0"/>
                  </a:outerShdw>
                </a:effectLst>
                <a:latin typeface="Times New Roman" pitchFamily="18" charset="0"/>
              </a:rPr>
              <a:t>.</a:t>
            </a:r>
          </a:p>
          <a:p>
            <a:pPr algn="just" eaLnBrk="1" fontAlgn="auto" hangingPunct="1">
              <a:spcBef>
                <a:spcPts val="0"/>
              </a:spcBef>
              <a:spcAft>
                <a:spcPts val="0"/>
              </a:spcAft>
              <a:defRPr/>
            </a:pPr>
            <a:r>
              <a:rPr lang="en-US" sz="2800" dirty="0">
                <a:effectLst>
                  <a:outerShdw blurRad="38100" dist="38100" dir="2700000" algn="tl">
                    <a:srgbClr val="C0C0C0"/>
                  </a:outerShdw>
                </a:effectLst>
                <a:latin typeface="Times New Roman" pitchFamily="18" charset="0"/>
              </a:rPr>
              <a:t> </a:t>
            </a:r>
          </a:p>
          <a:p>
            <a:pPr algn="just" eaLnBrk="1" fontAlgn="auto" hangingPunct="1">
              <a:spcBef>
                <a:spcPts val="0"/>
              </a:spcBef>
              <a:spcAft>
                <a:spcPts val="0"/>
              </a:spcAft>
              <a:defRPr/>
            </a:pPr>
            <a:r>
              <a:rPr lang="en-US" sz="2800" dirty="0">
                <a:solidFill>
                  <a:srgbClr val="FF0000"/>
                </a:solidFill>
                <a:effectLst>
                  <a:outerShdw blurRad="38100" dist="38100" dir="2700000" algn="tl">
                    <a:srgbClr val="C0C0C0"/>
                  </a:outerShdw>
                </a:effectLst>
                <a:latin typeface="Times New Roman" pitchFamily="18" charset="0"/>
              </a:rPr>
              <a:t>Node: </a:t>
            </a:r>
            <a:r>
              <a:rPr lang="en-US" sz="2800" dirty="0">
                <a:effectLst>
                  <a:outerShdw blurRad="38100" dist="38100" dir="2700000" algn="tl">
                    <a:srgbClr val="C0C0C0"/>
                  </a:outerShdw>
                </a:effectLst>
                <a:latin typeface="Times New Roman" pitchFamily="18" charset="0"/>
              </a:rPr>
              <a:t>A node can be a computer, printer, or any other device capable of sending and/or receiving data generated by other nodes on the network.</a:t>
            </a:r>
          </a:p>
        </p:txBody>
      </p:sp>
      <p:sp>
        <p:nvSpPr>
          <p:cNvPr id="36869" name="Picture 1">
            <a:extLst>
              <a:ext uri="{FF2B5EF4-FFF2-40B4-BE49-F238E27FC236}">
                <a16:creationId xmlns:a16="http://schemas.microsoft.com/office/drawing/2014/main" id="{151D6DF2-6E43-ABDA-F028-A529749D15F9}"/>
              </a:ext>
            </a:extLst>
          </p:cNvPr>
          <p:cNvSpPr>
            <a:spLocks noChangeAspect="1" noChangeArrowheads="1"/>
          </p:cNvSpPr>
          <p:nvPr/>
        </p:nvSpPr>
        <p:spPr bwMode="auto">
          <a:xfrm>
            <a:off x="3098800" y="3671888"/>
            <a:ext cx="5756275"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3" name="Content Placeholder 2">
            <a:extLst>
              <a:ext uri="{FF2B5EF4-FFF2-40B4-BE49-F238E27FC236}">
                <a16:creationId xmlns:a16="http://schemas.microsoft.com/office/drawing/2014/main" id="{F0B5BDF2-2715-E9DE-DC66-103F70A524CF}"/>
              </a:ext>
            </a:extLst>
          </p:cNvPr>
          <p:cNvSpPr txBox="1">
            <a:spLocks/>
          </p:cNvSpPr>
          <p:nvPr/>
        </p:nvSpPr>
        <p:spPr>
          <a:xfrm>
            <a:off x="-4763" y="2168525"/>
            <a:ext cx="11887201" cy="2865438"/>
          </a:xfrm>
          <a:prstGeom prst="rect">
            <a:avLst/>
          </a:prstGeom>
        </p:spPr>
        <p:txBody>
          <a:bodyPr>
            <a:norm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457200" lvl="1" indent="0" algn="just">
              <a:buFont typeface="Wingdings" panose="05000000000000000000" pitchFamily="2" charset="2"/>
              <a:buNone/>
              <a:defRPr/>
            </a:pPr>
            <a:endParaRPr lang="en-IN" sz="2200" kern="0" dirty="0">
              <a:solidFill>
                <a:schemeClr val="accent1"/>
              </a:solidFill>
              <a:latin typeface="Times New Roman" panose="02020603050405020304" pitchFamily="18" charset="0"/>
              <a:cs typeface="Times New Roman" panose="02020603050405020304" pitchFamily="18" charset="0"/>
            </a:endParaRPr>
          </a:p>
          <a:p>
            <a:pPr marL="457200" lvl="1" indent="0" algn="just">
              <a:buFont typeface="Wingdings" panose="05000000000000000000" pitchFamily="2" charset="2"/>
              <a:buNone/>
              <a:defRPr/>
            </a:pPr>
            <a:endParaRPr lang="en-IN" kern="0" dirty="0">
              <a:solidFill>
                <a:srgbClr val="002060"/>
              </a:solidFill>
              <a:latin typeface="Times New Roman" panose="02020603050405020304" pitchFamily="18" charset="0"/>
              <a:cs typeface="Times New Roman" panose="02020603050405020304" pitchFamily="18" charset="0"/>
            </a:endParaRPr>
          </a:p>
          <a:p>
            <a:pPr marL="457200" lvl="1" indent="0" algn="just">
              <a:buFont typeface="Wingdings" panose="05000000000000000000" pitchFamily="2" charset="2"/>
              <a:buNone/>
              <a:defRPr/>
            </a:pPr>
            <a:r>
              <a:rPr lang="en-IN" kern="0" dirty="0">
                <a:solidFill>
                  <a:srgbClr val="FF0000"/>
                </a:solidFill>
                <a:latin typeface="Times New Roman" panose="02020603050405020304" pitchFamily="18" charset="0"/>
                <a:cs typeface="Times New Roman" panose="02020603050405020304" pitchFamily="18" charset="0"/>
              </a:rPr>
              <a:t>Links: </a:t>
            </a:r>
            <a:r>
              <a:rPr lang="en-US" altLang="en-US" dirty="0">
                <a:latin typeface="Times New Roman" panose="02020603050405020304" pitchFamily="18" charset="0"/>
                <a:cs typeface="Times New Roman" panose="02020603050405020304" pitchFamily="18" charset="0"/>
              </a:rPr>
              <a:t>Communication pathway that transfers data from one device to another.  Ex: </a:t>
            </a:r>
            <a:r>
              <a:rPr lang="en-IN" kern="0" dirty="0">
                <a:latin typeface="Times New Roman" panose="02020603050405020304" pitchFamily="18" charset="0"/>
                <a:cs typeface="Times New Roman" panose="02020603050405020304" pitchFamily="18" charset="0"/>
              </a:rPr>
              <a:t>Cable, air, optical </a:t>
            </a:r>
            <a:r>
              <a:rPr lang="en-IN" kern="0" dirty="0" err="1">
                <a:latin typeface="Times New Roman" panose="02020603050405020304" pitchFamily="18" charset="0"/>
                <a:cs typeface="Times New Roman" panose="02020603050405020304" pitchFamily="18" charset="0"/>
              </a:rPr>
              <a:t>fiber</a:t>
            </a:r>
            <a:r>
              <a:rPr lang="en-IN" kern="0" dirty="0">
                <a:latin typeface="Times New Roman" panose="02020603050405020304" pitchFamily="18" charset="0"/>
                <a:cs typeface="Times New Roman" panose="02020603050405020304" pitchFamily="18" charset="0"/>
              </a:rPr>
              <a:t> etc</a:t>
            </a:r>
          </a:p>
        </p:txBody>
      </p:sp>
      <p:sp>
        <p:nvSpPr>
          <p:cNvPr id="36871" name="Rectangle 7">
            <a:extLst>
              <a:ext uri="{FF2B5EF4-FFF2-40B4-BE49-F238E27FC236}">
                <a16:creationId xmlns:a16="http://schemas.microsoft.com/office/drawing/2014/main" id="{B29D754F-0D02-9525-EEA9-D92CA907E9BF}"/>
              </a:ext>
            </a:extLst>
          </p:cNvPr>
          <p:cNvSpPr>
            <a:spLocks noChangeArrowheads="1"/>
          </p:cNvSpPr>
          <p:nvPr/>
        </p:nvSpPr>
        <p:spPr bwMode="auto">
          <a:xfrm>
            <a:off x="465138" y="549275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SzPct val="117000"/>
              <a:buFont typeface="Wingdings" panose="05000000000000000000" pitchFamily="2" charset="2"/>
              <a:buChar char="§"/>
            </a:pPr>
            <a:r>
              <a:rPr lang="fr-FR" altLang="en-US" sz="2400" b="1">
                <a:latin typeface="Times New Roman" panose="02020603050405020304" pitchFamily="18" charset="0"/>
              </a:rPr>
              <a:t> Network Criteria</a:t>
            </a:r>
          </a:p>
          <a:p>
            <a:pPr>
              <a:lnSpc>
                <a:spcPct val="100000"/>
              </a:lnSpc>
              <a:spcBef>
                <a:spcPct val="0"/>
              </a:spcBef>
              <a:buSzPct val="117000"/>
              <a:buFont typeface="Wingdings" panose="05000000000000000000" pitchFamily="2" charset="2"/>
              <a:buChar char="§"/>
            </a:pPr>
            <a:r>
              <a:rPr lang="en-US" altLang="en-US" sz="2400" b="1">
                <a:latin typeface="Times New Roman" panose="02020603050405020304" pitchFamily="18" charset="0"/>
              </a:rPr>
              <a:t> Physical Structures</a:t>
            </a:r>
          </a:p>
          <a:p>
            <a:pPr>
              <a:lnSpc>
                <a:spcPct val="100000"/>
              </a:lnSpc>
              <a:spcBef>
                <a:spcPct val="0"/>
              </a:spcBef>
              <a:buSzPct val="117000"/>
              <a:buFont typeface="Wingdings" panose="05000000000000000000" pitchFamily="2" charset="2"/>
              <a:buChar char="§"/>
            </a:pPr>
            <a:r>
              <a:rPr lang="en-US" altLang="en-US" sz="2400" b="1">
                <a:latin typeface="Times New Roman" panose="02020603050405020304" pitchFamily="18" charset="0"/>
              </a:rPr>
              <a:t> Categories of Networks</a:t>
            </a:r>
          </a:p>
        </p:txBody>
      </p:sp>
      <p:sp>
        <p:nvSpPr>
          <p:cNvPr id="4" name="Text Box 8">
            <a:extLst>
              <a:ext uri="{FF2B5EF4-FFF2-40B4-BE49-F238E27FC236}">
                <a16:creationId xmlns:a16="http://schemas.microsoft.com/office/drawing/2014/main" id="{C9AFC008-5D2D-A7B3-5023-11151F5CDBBF}"/>
              </a:ext>
            </a:extLst>
          </p:cNvPr>
          <p:cNvSpPr txBox="1">
            <a:spLocks noChangeArrowheads="1"/>
          </p:cNvSpPr>
          <p:nvPr/>
        </p:nvSpPr>
        <p:spPr bwMode="auto">
          <a:xfrm>
            <a:off x="152400" y="4846638"/>
            <a:ext cx="4867275" cy="519112"/>
          </a:xfrm>
          <a:prstGeom prst="rect">
            <a:avLst/>
          </a:prstGeom>
          <a:noFill/>
          <a:ln w="76200" algn="ctr">
            <a:noFill/>
            <a:miter lim="800000"/>
            <a:headEnd/>
            <a:tailEnd/>
          </a:ln>
          <a:effectLst/>
        </p:spPr>
        <p:txBody>
          <a:bodyPr wrap="none">
            <a:spAutoFit/>
          </a:bodyPr>
          <a:lstStyle/>
          <a:p>
            <a:pPr algn="ctr">
              <a:defRPr/>
            </a:pPr>
            <a:r>
              <a:rPr lang="en-US" sz="2800" i="1" u="sng" dirty="0">
                <a:solidFill>
                  <a:schemeClr val="hlink"/>
                </a:solidFill>
                <a:effectLst>
                  <a:outerShdw blurRad="38100" dist="38100" dir="2700000" algn="tl">
                    <a:srgbClr val="C0C0C0"/>
                  </a:outerShdw>
                </a:effectLst>
                <a:latin typeface="Times New Roman" charset="0"/>
              </a:rPr>
              <a:t>Topics discussed in this section: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4">
            <a:extLst>
              <a:ext uri="{FF2B5EF4-FFF2-40B4-BE49-F238E27FC236}">
                <a16:creationId xmlns:a16="http://schemas.microsoft.com/office/drawing/2014/main" id="{DB424ED3-67E7-A8D0-209A-9F1BF7BD0BC1}"/>
              </a:ext>
            </a:extLst>
          </p:cNvPr>
          <p:cNvSpPr txBox="1">
            <a:spLocks noChangeArrowheads="1"/>
          </p:cNvSpPr>
          <p:nvPr/>
        </p:nvSpPr>
        <p:spPr bwMode="auto">
          <a:xfrm>
            <a:off x="1828800" y="361950"/>
            <a:ext cx="2976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200">
                <a:solidFill>
                  <a:srgbClr val="0033CC"/>
                </a:solidFill>
                <a:latin typeface="Times New Roman" panose="02020603050405020304" pitchFamily="18" charset="0"/>
              </a:rPr>
              <a:t>Network Criteria</a:t>
            </a:r>
            <a:endParaRPr lang="en-US" altLang="en-US" sz="2000" i="1">
              <a:solidFill>
                <a:srgbClr val="0033CC"/>
              </a:solidFill>
              <a:latin typeface="Times New Roman" panose="02020603050405020304" pitchFamily="18" charset="0"/>
            </a:endParaRPr>
          </a:p>
        </p:txBody>
      </p:sp>
      <p:sp>
        <p:nvSpPr>
          <p:cNvPr id="38915" name="Text Box 7">
            <a:extLst>
              <a:ext uri="{FF2B5EF4-FFF2-40B4-BE49-F238E27FC236}">
                <a16:creationId xmlns:a16="http://schemas.microsoft.com/office/drawing/2014/main" id="{681AAD71-A56A-78C5-B19E-528E7A812B41}"/>
              </a:ext>
            </a:extLst>
          </p:cNvPr>
          <p:cNvSpPr txBox="1">
            <a:spLocks noChangeArrowheads="1"/>
          </p:cNvSpPr>
          <p:nvPr/>
        </p:nvSpPr>
        <p:spPr bwMode="auto">
          <a:xfrm>
            <a:off x="1981200" y="1524000"/>
            <a:ext cx="7315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3200" b="1">
              <a:latin typeface="Arial" panose="020B0604020202020204" pitchFamily="34" charset="0"/>
            </a:endParaRPr>
          </a:p>
        </p:txBody>
      </p:sp>
      <p:sp>
        <p:nvSpPr>
          <p:cNvPr id="38916" name="TextBox 3">
            <a:extLst>
              <a:ext uri="{FF2B5EF4-FFF2-40B4-BE49-F238E27FC236}">
                <a16:creationId xmlns:a16="http://schemas.microsoft.com/office/drawing/2014/main" id="{14D8D123-9A30-A13A-D923-1C3A90D79045}"/>
              </a:ext>
            </a:extLst>
          </p:cNvPr>
          <p:cNvSpPr txBox="1">
            <a:spLocks noChangeArrowheads="1"/>
          </p:cNvSpPr>
          <p:nvPr/>
        </p:nvSpPr>
        <p:spPr bwMode="auto">
          <a:xfrm>
            <a:off x="-76200" y="1219200"/>
            <a:ext cx="105918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a:buClr>
                <a:srgbClr val="000000"/>
              </a:buClr>
              <a:buSzPts val="2400"/>
              <a:buFontTx/>
              <a:buChar char="•"/>
            </a:pPr>
            <a:r>
              <a:rPr lang="en-US" altLang="en-US" sz="2800" b="1">
                <a:latin typeface="Times" panose="02020603050405020304" pitchFamily="18" charset="0"/>
                <a:cs typeface="Times" panose="02020603050405020304" pitchFamily="18" charset="0"/>
                <a:sym typeface="Times" panose="02020603050405020304" pitchFamily="18" charset="0"/>
              </a:rPr>
              <a:t>Performance </a:t>
            </a:r>
            <a:r>
              <a:rPr lang="en-US" altLang="en-US" sz="2800">
                <a:latin typeface="Times" panose="02020603050405020304" pitchFamily="18" charset="0"/>
                <a:cs typeface="Times" panose="02020603050405020304" pitchFamily="18" charset="0"/>
                <a:sym typeface="Times" panose="02020603050405020304" pitchFamily="18" charset="0"/>
              </a:rPr>
              <a:t>can be measured in many ways, including transit time and response time.</a:t>
            </a:r>
            <a:endParaRPr lang="en-US" altLang="en-US" sz="2800"/>
          </a:p>
          <a:p>
            <a:pPr lvl="2">
              <a:buClr>
                <a:srgbClr val="000000"/>
              </a:buClr>
              <a:buSzPts val="2000"/>
              <a:buFontTx/>
              <a:buChar char="•"/>
            </a:pPr>
            <a:r>
              <a:rPr lang="en-US" altLang="en-US" sz="2800">
                <a:latin typeface="Times" panose="02020603050405020304" pitchFamily="18" charset="0"/>
                <a:cs typeface="Times" panose="02020603050405020304" pitchFamily="18" charset="0"/>
                <a:sym typeface="Times" panose="02020603050405020304" pitchFamily="18" charset="0"/>
              </a:rPr>
              <a:t>Throughput </a:t>
            </a:r>
          </a:p>
          <a:p>
            <a:pPr lvl="2">
              <a:buClr>
                <a:srgbClr val="000000"/>
              </a:buClr>
              <a:buSzPts val="2000"/>
              <a:buFontTx/>
              <a:buChar char="•"/>
            </a:pPr>
            <a:r>
              <a:rPr lang="en-US" altLang="en-US" sz="2800">
                <a:latin typeface="Times" panose="02020603050405020304" pitchFamily="18" charset="0"/>
                <a:cs typeface="Times" panose="02020603050405020304" pitchFamily="18" charset="0"/>
                <a:sym typeface="Times" panose="02020603050405020304" pitchFamily="18" charset="0"/>
              </a:rPr>
              <a:t>Delay</a:t>
            </a:r>
            <a:endParaRPr lang="en-US" altLang="en-US" sz="2800"/>
          </a:p>
          <a:p>
            <a:pPr lvl="1">
              <a:buClr>
                <a:srgbClr val="000000"/>
              </a:buClr>
              <a:buSzPts val="2400"/>
              <a:buFontTx/>
              <a:buChar char="•"/>
            </a:pPr>
            <a:r>
              <a:rPr lang="en-US" altLang="en-US" sz="2800" b="1">
                <a:latin typeface="Times" panose="02020603050405020304" pitchFamily="18" charset="0"/>
                <a:cs typeface="Times" panose="02020603050405020304" pitchFamily="18" charset="0"/>
                <a:sym typeface="Times" panose="02020603050405020304" pitchFamily="18" charset="0"/>
              </a:rPr>
              <a:t>Reliability </a:t>
            </a:r>
            <a:r>
              <a:rPr lang="en-US" altLang="en-US" sz="2800">
                <a:latin typeface="Times" panose="02020603050405020304" pitchFamily="18" charset="0"/>
                <a:cs typeface="Times" panose="02020603050405020304" pitchFamily="18" charset="0"/>
                <a:sym typeface="Times" panose="02020603050405020304" pitchFamily="18" charset="0"/>
              </a:rPr>
              <a:t>is measured by the frequency of failure, recovery, and robustness.</a:t>
            </a:r>
            <a:endParaRPr lang="en-US" altLang="en-US" sz="2800"/>
          </a:p>
          <a:p>
            <a:pPr lvl="1">
              <a:buClr>
                <a:srgbClr val="000000"/>
              </a:buClr>
              <a:buSzPts val="2400"/>
              <a:buFontTx/>
              <a:buChar char="•"/>
            </a:pPr>
            <a:r>
              <a:rPr lang="en-US" altLang="en-US" sz="2800" b="1">
                <a:latin typeface="Times" panose="02020603050405020304" pitchFamily="18" charset="0"/>
                <a:cs typeface="Times" panose="02020603050405020304" pitchFamily="18" charset="0"/>
                <a:sym typeface="Times" panose="02020603050405020304" pitchFamily="18" charset="0"/>
              </a:rPr>
              <a:t>Security </a:t>
            </a:r>
            <a:r>
              <a:rPr lang="en-US" altLang="en-US" sz="2800">
                <a:latin typeface="Times" panose="02020603050405020304" pitchFamily="18" charset="0"/>
                <a:cs typeface="Times" panose="02020603050405020304" pitchFamily="18" charset="0"/>
                <a:sym typeface="Times" panose="02020603050405020304" pitchFamily="18" charset="0"/>
              </a:rPr>
              <a:t>issues include protecting data from unauthorized access.</a:t>
            </a:r>
            <a:endParaRPr lang="en-US" alt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
            <a:extLst>
              <a:ext uri="{FF2B5EF4-FFF2-40B4-BE49-F238E27FC236}">
                <a16:creationId xmlns:a16="http://schemas.microsoft.com/office/drawing/2014/main" id="{A5965778-0693-EC41-7C4F-58FB34E07003}"/>
              </a:ext>
            </a:extLst>
          </p:cNvPr>
          <p:cNvSpPr txBox="1">
            <a:spLocks noChangeArrowheads="1"/>
          </p:cNvSpPr>
          <p:nvPr/>
        </p:nvSpPr>
        <p:spPr bwMode="auto">
          <a:xfrm>
            <a:off x="1828800" y="457200"/>
            <a:ext cx="88852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200" b="1" i="1">
                <a:solidFill>
                  <a:srgbClr val="3366FF"/>
                </a:solidFill>
                <a:latin typeface="Times New Roman" panose="02020603050405020304" pitchFamily="18" charset="0"/>
              </a:rPr>
              <a:t>Types of connections: point-to-point and multipoint</a:t>
            </a:r>
          </a:p>
        </p:txBody>
      </p:sp>
      <p:pic>
        <p:nvPicPr>
          <p:cNvPr id="40963" name="Picture 6">
            <a:extLst>
              <a:ext uri="{FF2B5EF4-FFF2-40B4-BE49-F238E27FC236}">
                <a16:creationId xmlns:a16="http://schemas.microsoft.com/office/drawing/2014/main" id="{F5E44B7D-DDFB-4072-E57F-878C0246B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0" y="1638300"/>
            <a:ext cx="65722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9F6C471-2907-5E28-16C5-49D8B6257749}"/>
              </a:ext>
            </a:extLst>
          </p:cNvPr>
          <p:cNvSpPr txBox="1"/>
          <p:nvPr/>
        </p:nvSpPr>
        <p:spPr>
          <a:xfrm>
            <a:off x="25400" y="1322388"/>
            <a:ext cx="5613400" cy="5447645"/>
          </a:xfrm>
          <a:prstGeom prst="rect">
            <a:avLst/>
          </a:prstGeom>
          <a:noFill/>
        </p:spPr>
        <p:txBody>
          <a:bodyPr>
            <a:spAutoFit/>
          </a:bodyPr>
          <a:lstStyle/>
          <a:p>
            <a:pPr marL="285750" indent="-285750">
              <a:buFont typeface="Wingdings" panose="05000000000000000000" pitchFamily="2" charset="2"/>
              <a:buChar char="Ø"/>
              <a:defRPr/>
            </a:pPr>
            <a:r>
              <a:rPr lang="en-US" sz="2400" dirty="0">
                <a:solidFill>
                  <a:srgbClr val="242021"/>
                </a:solidFill>
                <a:latin typeface="Times New Roman" panose="02020603050405020304" pitchFamily="18" charset="0"/>
                <a:cs typeface="Times New Roman" panose="02020603050405020304" pitchFamily="18" charset="0"/>
              </a:rPr>
              <a:t>A </a:t>
            </a:r>
            <a:r>
              <a:rPr lang="en-US" sz="2400" b="1" dirty="0">
                <a:solidFill>
                  <a:srgbClr val="242021"/>
                </a:solidFill>
                <a:latin typeface="Times New Roman" panose="02020603050405020304" pitchFamily="18" charset="0"/>
                <a:cs typeface="Times New Roman" panose="02020603050405020304" pitchFamily="18" charset="0"/>
              </a:rPr>
              <a:t>point-to-poin</a:t>
            </a:r>
            <a:r>
              <a:rPr lang="en-US" sz="2400" dirty="0">
                <a:solidFill>
                  <a:srgbClr val="242021"/>
                </a:solidFill>
                <a:latin typeface="Times New Roman" panose="02020603050405020304" pitchFamily="18" charset="0"/>
                <a:cs typeface="Times New Roman" panose="02020603050405020304" pitchFamily="18" charset="0"/>
              </a:rPr>
              <a:t>t connection provides a dedicated link between two devices. </a:t>
            </a:r>
          </a:p>
          <a:p>
            <a:pPr>
              <a:defRPr/>
            </a:pPr>
            <a:endParaRPr lang="en-US" sz="2400" dirty="0">
              <a:solidFill>
                <a:srgbClr val="242021"/>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defRPr/>
            </a:pPr>
            <a:r>
              <a:rPr lang="en-US" altLang="en-US" sz="2400" dirty="0">
                <a:solidFill>
                  <a:srgbClr val="242021"/>
                </a:solidFill>
                <a:latin typeface="Times New Roman" panose="02020603050405020304" pitchFamily="18" charset="0"/>
                <a:cs typeface="Times New Roman" panose="02020603050405020304" pitchFamily="18" charset="0"/>
              </a:rPr>
              <a:t>A </a:t>
            </a:r>
            <a:r>
              <a:rPr lang="en-US" altLang="en-US" sz="2400" b="1" dirty="0">
                <a:solidFill>
                  <a:srgbClr val="242021"/>
                </a:solidFill>
                <a:latin typeface="Times New Roman" panose="02020603050405020304" pitchFamily="18" charset="0"/>
                <a:cs typeface="Times New Roman" panose="02020603050405020304" pitchFamily="18" charset="0"/>
              </a:rPr>
              <a:t>multipoint connection </a:t>
            </a:r>
            <a:r>
              <a:rPr lang="en-US" altLang="en-US" sz="2400" dirty="0">
                <a:solidFill>
                  <a:srgbClr val="242021"/>
                </a:solidFill>
                <a:latin typeface="Times New Roman" panose="02020603050405020304" pitchFamily="18" charset="0"/>
                <a:cs typeface="Times New Roman" panose="02020603050405020304" pitchFamily="18" charset="0"/>
              </a:rPr>
              <a:t>is one in which more than two specific devices share a single link.</a:t>
            </a:r>
          </a:p>
          <a:p>
            <a:pPr eaLnBrk="1" hangingPunct="1">
              <a:buFont typeface="Wingdings" panose="05000000000000000000" pitchFamily="2" charset="2"/>
              <a:buChar char="Ø"/>
              <a:defRPr/>
            </a:pPr>
            <a:r>
              <a:rPr lang="en-US" altLang="en-US" sz="2400" dirty="0">
                <a:latin typeface="Times New Roman" panose="02020603050405020304" pitchFamily="18" charset="0"/>
                <a:cs typeface="Times New Roman" panose="02020603050405020304" pitchFamily="18" charset="0"/>
              </a:rPr>
              <a:t>In a multipoint environment, the capacity of the channel is shared, either spatially or temporally. </a:t>
            </a:r>
          </a:p>
          <a:p>
            <a:pPr eaLnBrk="1" hangingPunct="1">
              <a:buFont typeface="Wingdings" panose="05000000000000000000" pitchFamily="2" charset="2"/>
              <a:buChar char="Ø"/>
              <a:defRPr/>
            </a:pPr>
            <a:r>
              <a:rPr lang="en-US" altLang="en-US" sz="2400" dirty="0">
                <a:latin typeface="Times New Roman" panose="02020603050405020304" pitchFamily="18" charset="0"/>
                <a:cs typeface="Times New Roman" panose="02020603050405020304" pitchFamily="18" charset="0"/>
              </a:rPr>
              <a:t>If several devices can use the link simultaneously, it is a </a:t>
            </a:r>
            <a:r>
              <a:rPr lang="en-US" altLang="en-US" sz="2400" i="1" dirty="0">
                <a:latin typeface="Times New Roman" panose="02020603050405020304" pitchFamily="18" charset="0"/>
                <a:cs typeface="Times New Roman" panose="02020603050405020304" pitchFamily="18" charset="0"/>
              </a:rPr>
              <a:t>spatially shared </a:t>
            </a:r>
            <a:r>
              <a:rPr lang="en-US" altLang="en-US" sz="2400" dirty="0">
                <a:latin typeface="Times New Roman" panose="02020603050405020304" pitchFamily="18" charset="0"/>
                <a:cs typeface="Times New Roman" panose="02020603050405020304" pitchFamily="18" charset="0"/>
              </a:rPr>
              <a:t>connection. If users must take turns, it is a </a:t>
            </a:r>
            <a:r>
              <a:rPr lang="en-US" altLang="en-US" sz="2400" i="1" dirty="0">
                <a:latin typeface="Times New Roman" panose="02020603050405020304" pitchFamily="18" charset="0"/>
                <a:cs typeface="Times New Roman" panose="02020603050405020304" pitchFamily="18" charset="0"/>
              </a:rPr>
              <a:t>timeshared </a:t>
            </a:r>
            <a:r>
              <a:rPr lang="en-US" altLang="en-US" sz="2400" dirty="0">
                <a:latin typeface="Times New Roman" panose="02020603050405020304" pitchFamily="18" charset="0"/>
                <a:cs typeface="Times New Roman" panose="02020603050405020304" pitchFamily="18" charset="0"/>
              </a:rPr>
              <a:t>connection.</a:t>
            </a:r>
            <a:endParaRPr lang="en-US" sz="2400" dirty="0">
              <a:solidFill>
                <a:srgbClr val="242021"/>
              </a:solidFill>
              <a:latin typeface="Times New Roman" panose="02020603050405020304" pitchFamily="18" charset="0"/>
              <a:cs typeface="Times New Roman" panose="02020603050405020304" pitchFamily="18" charset="0"/>
            </a:endParaRPr>
          </a:p>
          <a:p>
            <a:pPr>
              <a:defRPr/>
            </a:pPr>
            <a:endParaRPr lang="en-US" dirty="0">
              <a:solidFill>
                <a:srgbClr val="242021"/>
              </a:solidFill>
              <a:latin typeface="Times New Roman" panose="02020603050405020304" pitchFamily="18" charset="0"/>
              <a:cs typeface="Times New Roman" panose="02020603050405020304" pitchFamily="18" charset="0"/>
            </a:endParaRPr>
          </a:p>
          <a:p>
            <a:pPr>
              <a:defRPr/>
            </a:pP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Box 3">
            <a:extLst>
              <a:ext uri="{FF2B5EF4-FFF2-40B4-BE49-F238E27FC236}">
                <a16:creationId xmlns:a16="http://schemas.microsoft.com/office/drawing/2014/main" id="{B6CF8646-244B-A5BF-47F4-A7073B513F30}"/>
              </a:ext>
            </a:extLst>
          </p:cNvPr>
          <p:cNvSpPr txBox="1">
            <a:spLocks noChangeArrowheads="1"/>
          </p:cNvSpPr>
          <p:nvPr/>
        </p:nvSpPr>
        <p:spPr bwMode="auto">
          <a:xfrm>
            <a:off x="190500" y="1350963"/>
            <a:ext cx="11811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200">
                <a:solidFill>
                  <a:srgbClr val="242021"/>
                </a:solidFill>
                <a:latin typeface="Times New Roman" panose="02020603050405020304" pitchFamily="18" charset="0"/>
                <a:cs typeface="Times New Roman" panose="02020603050405020304" pitchFamily="18" charset="0"/>
              </a:rPr>
              <a:t>The topology of a network is the </a:t>
            </a:r>
            <a:r>
              <a:rPr lang="en-US" altLang="en-US" sz="3200" i="1">
                <a:solidFill>
                  <a:srgbClr val="FF0000"/>
                </a:solidFill>
                <a:latin typeface="Times New Roman" panose="02020603050405020304" pitchFamily="18" charset="0"/>
                <a:cs typeface="Times New Roman" panose="02020603050405020304" pitchFamily="18" charset="0"/>
              </a:rPr>
              <a:t>geometric representation </a:t>
            </a:r>
            <a:r>
              <a:rPr lang="en-US" altLang="en-US" sz="3200">
                <a:solidFill>
                  <a:srgbClr val="242021"/>
                </a:solidFill>
                <a:latin typeface="Times New Roman" panose="02020603050405020304" pitchFamily="18" charset="0"/>
                <a:cs typeface="Times New Roman" panose="02020603050405020304" pitchFamily="18" charset="0"/>
              </a:rPr>
              <a:t>of the relationship of all the </a:t>
            </a:r>
            <a:r>
              <a:rPr lang="en-US" altLang="en-US" sz="3200" b="1" i="1">
                <a:latin typeface="Times New Roman" panose="02020603050405020304" pitchFamily="18" charset="0"/>
                <a:cs typeface="Times New Roman" panose="02020603050405020304" pitchFamily="18" charset="0"/>
              </a:rPr>
              <a:t>links </a:t>
            </a:r>
            <a:r>
              <a:rPr lang="en-US" altLang="en-US" sz="3200">
                <a:solidFill>
                  <a:srgbClr val="242021"/>
                </a:solidFill>
                <a:latin typeface="Times New Roman" panose="02020603050405020304" pitchFamily="18" charset="0"/>
                <a:cs typeface="Times New Roman" panose="02020603050405020304" pitchFamily="18" charset="0"/>
              </a:rPr>
              <a:t>and </a:t>
            </a:r>
            <a:r>
              <a:rPr lang="en-US" altLang="en-US" sz="3200">
                <a:latin typeface="Times New Roman" panose="02020603050405020304" pitchFamily="18" charset="0"/>
                <a:cs typeface="Times New Roman" panose="02020603050405020304" pitchFamily="18" charset="0"/>
              </a:rPr>
              <a:t>linking devices </a:t>
            </a:r>
            <a:r>
              <a:rPr lang="en-US" altLang="en-US" sz="3200">
                <a:solidFill>
                  <a:srgbClr val="242021"/>
                </a:solidFill>
                <a:latin typeface="Times New Roman" panose="02020603050405020304" pitchFamily="18" charset="0"/>
                <a:cs typeface="Times New Roman" panose="02020603050405020304" pitchFamily="18" charset="0"/>
              </a:rPr>
              <a:t>(usually called </a:t>
            </a:r>
            <a:r>
              <a:rPr lang="en-US" altLang="en-US" sz="3200" b="1" i="1">
                <a:solidFill>
                  <a:srgbClr val="242021"/>
                </a:solidFill>
                <a:latin typeface="Times New Roman" panose="02020603050405020304" pitchFamily="18" charset="0"/>
                <a:cs typeface="Times New Roman" panose="02020603050405020304" pitchFamily="18" charset="0"/>
              </a:rPr>
              <a:t>nodes</a:t>
            </a:r>
            <a:r>
              <a:rPr lang="en-US" altLang="en-US" sz="3200">
                <a:solidFill>
                  <a:srgbClr val="242021"/>
                </a:solidFill>
                <a:latin typeface="Times New Roman" panose="02020603050405020304" pitchFamily="18" charset="0"/>
                <a:cs typeface="Times New Roman" panose="02020603050405020304" pitchFamily="18" charset="0"/>
              </a:rPr>
              <a:t>) to one another.</a:t>
            </a:r>
          </a:p>
          <a:p>
            <a:pPr eaLnBrk="1" hangingPunct="1">
              <a:lnSpc>
                <a:spcPct val="100000"/>
              </a:lnSpc>
              <a:spcBef>
                <a:spcPct val="0"/>
              </a:spcBef>
              <a:buFontTx/>
              <a:buNone/>
            </a:pPr>
            <a:r>
              <a:rPr lang="en-US" altLang="en-US" sz="3200">
                <a:solidFill>
                  <a:srgbClr val="242021"/>
                </a:solidFill>
                <a:latin typeface="Times New Roman" panose="02020603050405020304" pitchFamily="18" charset="0"/>
                <a:cs typeface="Times New Roman" panose="02020603050405020304" pitchFamily="18" charset="0"/>
              </a:rPr>
              <a:t>There are four basic topologies possible: mesh, star, bus, and ring.</a:t>
            </a:r>
            <a:r>
              <a:rPr lang="en-US" altLang="en-US" sz="3200"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endParaRPr lang="en-IN" altLang="en-US" b="1">
              <a:latin typeface="Times New Roman" panose="02020603050405020304" pitchFamily="18" charset="0"/>
              <a:cs typeface="Times New Roman" panose="02020603050405020304" pitchFamily="18" charset="0"/>
            </a:endParaRPr>
          </a:p>
        </p:txBody>
      </p:sp>
      <p:pic>
        <p:nvPicPr>
          <p:cNvPr id="43012" name="Picture 6">
            <a:extLst>
              <a:ext uri="{FF2B5EF4-FFF2-40B4-BE49-F238E27FC236}">
                <a16:creationId xmlns:a16="http://schemas.microsoft.com/office/drawing/2014/main" id="{4B7C592E-8C50-76DB-FA0D-8AFD6AB15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203700"/>
            <a:ext cx="6389688"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Box 2">
            <a:extLst>
              <a:ext uri="{FF2B5EF4-FFF2-40B4-BE49-F238E27FC236}">
                <a16:creationId xmlns:a16="http://schemas.microsoft.com/office/drawing/2014/main" id="{28861AD0-4B8B-F5A9-5EB1-16B9226D10BA}"/>
              </a:ext>
            </a:extLst>
          </p:cNvPr>
          <p:cNvSpPr txBox="1">
            <a:spLocks noChangeArrowheads="1"/>
          </p:cNvSpPr>
          <p:nvPr/>
        </p:nvSpPr>
        <p:spPr bwMode="auto">
          <a:xfrm>
            <a:off x="3581400" y="328613"/>
            <a:ext cx="6096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4000" b="1" i="1">
                <a:solidFill>
                  <a:srgbClr val="3366FF"/>
                </a:solidFill>
                <a:latin typeface="Times-BoldItalic"/>
              </a:rPr>
              <a:t>Physical Topology</a:t>
            </a:r>
            <a:endParaRPr lang="en-IN" altLang="en-US" sz="4000">
              <a:solidFill>
                <a:srgbClr val="3366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Google Shape;241;p18">
            <a:extLst>
              <a:ext uri="{FF2B5EF4-FFF2-40B4-BE49-F238E27FC236}">
                <a16:creationId xmlns:a16="http://schemas.microsoft.com/office/drawing/2014/main" id="{CE048C27-A7F9-9C28-3908-F67CA0AD9771}"/>
              </a:ext>
            </a:extLst>
          </p:cNvPr>
          <p:cNvSpPr>
            <a:spLocks noGrp="1" noChangeArrowheads="1"/>
          </p:cNvSpPr>
          <p:nvPr>
            <p:ph type="title"/>
          </p:nvPr>
        </p:nvSpPr>
        <p:spPr>
          <a:xfrm>
            <a:off x="4419600" y="-228600"/>
            <a:ext cx="4343400" cy="1325563"/>
          </a:xfrm>
        </p:spPr>
        <p:txBody>
          <a:bodyPr lIns="91425" tIns="45700" rIns="91425" bIns="45700"/>
          <a:lstStyle/>
          <a:p>
            <a:pPr>
              <a:buClr>
                <a:schemeClr val="accent1"/>
              </a:buClr>
              <a:buSzPts val="4400"/>
              <a:buFont typeface="Times" panose="02020603050405020304" pitchFamily="18" charset="0"/>
              <a:buNone/>
            </a:pPr>
            <a:r>
              <a:rPr lang="en-US" altLang="en-US" b="1">
                <a:solidFill>
                  <a:schemeClr val="accent1"/>
                </a:solidFill>
                <a:latin typeface="Times" panose="02020603050405020304" pitchFamily="18" charset="0"/>
                <a:cs typeface="Times" panose="02020603050405020304" pitchFamily="18" charset="0"/>
                <a:sym typeface="Times" panose="02020603050405020304" pitchFamily="18" charset="0"/>
              </a:rPr>
              <a:t>Mesh Topology</a:t>
            </a:r>
            <a:endParaRPr lang="en-US" altLang="en-US" b="1">
              <a:solidFill>
                <a:schemeClr val="accent1"/>
              </a:solidFill>
            </a:endParaRPr>
          </a:p>
        </p:txBody>
      </p:sp>
      <p:sp>
        <p:nvSpPr>
          <p:cNvPr id="242" name="Google Shape;242;p18">
            <a:extLst>
              <a:ext uri="{FF2B5EF4-FFF2-40B4-BE49-F238E27FC236}">
                <a16:creationId xmlns:a16="http://schemas.microsoft.com/office/drawing/2014/main" id="{BA24A1B9-DEF9-9D73-C227-9D6B03867A1D}"/>
              </a:ext>
            </a:extLst>
          </p:cNvPr>
          <p:cNvSpPr txBox="1">
            <a:spLocks noGrp="1"/>
          </p:cNvSpPr>
          <p:nvPr>
            <p:ph type="body" idx="1"/>
          </p:nvPr>
        </p:nvSpPr>
        <p:spPr>
          <a:xfrm>
            <a:off x="304800" y="838200"/>
            <a:ext cx="7010400" cy="5859463"/>
          </a:xfrm>
        </p:spPr>
        <p:txBody>
          <a:bodyPr lIns="91425" tIns="45700" rIns="91425" bIns="45700">
            <a:normAutofit/>
          </a:bodyPr>
          <a:lstStyle/>
          <a:p>
            <a:pPr marL="0" indent="0">
              <a:lnSpc>
                <a:spcPct val="80000"/>
              </a:lnSpc>
              <a:spcBef>
                <a:spcPct val="0"/>
              </a:spcBef>
              <a:buClr>
                <a:srgbClr val="000000"/>
              </a:buClr>
              <a:buFont typeface="Arial" panose="020B0604020202020204" pitchFamily="34" charset="0"/>
              <a:buNone/>
              <a:defRPr/>
            </a:pPr>
            <a:r>
              <a:rPr lang="en-US" altLang="en-US" sz="2000" dirty="0">
                <a:latin typeface="Times" panose="02020603050405020304" pitchFamily="18" charset="0"/>
                <a:cs typeface="Times" panose="02020603050405020304" pitchFamily="18" charset="0"/>
                <a:sym typeface="Times" panose="02020603050405020304" pitchFamily="18" charset="0"/>
              </a:rPr>
              <a:t>. </a:t>
            </a:r>
            <a:endParaRPr lang="en-US" altLang="en-US" sz="2600" dirty="0"/>
          </a:p>
          <a:p>
            <a:pPr>
              <a:lnSpc>
                <a:spcPct val="80000"/>
              </a:lnSpc>
              <a:buClr>
                <a:srgbClr val="000000"/>
              </a:buClr>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In a </a:t>
            </a:r>
            <a:r>
              <a:rPr lang="en-US" altLang="en-US" sz="2600" b="1" dirty="0">
                <a:latin typeface="Times New Roman" panose="02020603050405020304" pitchFamily="18" charset="0"/>
                <a:cs typeface="Times New Roman" panose="02020603050405020304" pitchFamily="18" charset="0"/>
                <a:sym typeface="Times" panose="02020603050405020304" pitchFamily="18" charset="0"/>
              </a:rPr>
              <a:t>mesh topology, </a:t>
            </a: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every device has a dedicated point-to-point link to every other device.</a:t>
            </a:r>
            <a:endParaRPr lang="en-US" altLang="en-US" sz="2600" dirty="0">
              <a:latin typeface="Times New Roman" panose="02020603050405020304" pitchFamily="18" charset="0"/>
              <a:cs typeface="Times New Roman" panose="02020603050405020304" pitchFamily="18" charset="0"/>
            </a:endParaRPr>
          </a:p>
          <a:p>
            <a:pPr marL="457200" lvl="1" indent="0">
              <a:lnSpc>
                <a:spcPct val="80000"/>
              </a:lnSpc>
              <a:buClr>
                <a:srgbClr val="000000"/>
              </a:buClr>
              <a:buFont typeface="Arial" panose="020B0604020202020204" pitchFamily="34" charset="0"/>
              <a:buNone/>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 Cables = </a:t>
            </a:r>
            <a:r>
              <a:rPr lang="en-US" altLang="en-US" sz="2600" b="1" dirty="0">
                <a:latin typeface="Times New Roman" panose="02020603050405020304" pitchFamily="18" charset="0"/>
                <a:cs typeface="Times New Roman" panose="02020603050405020304" pitchFamily="18" charset="0"/>
                <a:sym typeface="Times" panose="02020603050405020304" pitchFamily="18" charset="0"/>
              </a:rPr>
              <a:t>n (n – 1) / 2 </a:t>
            </a: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(No. of duplex mode)</a:t>
            </a:r>
            <a:endParaRPr lang="en-US" altLang="en-US" sz="2600" dirty="0">
              <a:latin typeface="Times New Roman" panose="02020603050405020304" pitchFamily="18" charset="0"/>
              <a:cs typeface="Times New Roman" panose="02020603050405020304" pitchFamily="18" charset="0"/>
            </a:endParaRPr>
          </a:p>
          <a:p>
            <a:pPr marL="457200" lvl="1" indent="0">
              <a:lnSpc>
                <a:spcPct val="80000"/>
              </a:lnSpc>
              <a:buClr>
                <a:srgbClr val="000000"/>
              </a:buClr>
              <a:buFont typeface="Arial" panose="020B0604020202020204" pitchFamily="34" charset="0"/>
              <a:buNone/>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 ports= n (n-1) </a:t>
            </a:r>
            <a:endParaRPr lang="en-US" altLang="en-US" sz="2600" dirty="0">
              <a:latin typeface="Times New Roman" panose="02020603050405020304" pitchFamily="18" charset="0"/>
              <a:cs typeface="Times New Roman" panose="02020603050405020304" pitchFamily="18" charset="0"/>
            </a:endParaRPr>
          </a:p>
          <a:p>
            <a:pPr>
              <a:lnSpc>
                <a:spcPct val="80000"/>
              </a:lnSpc>
              <a:buClr>
                <a:srgbClr val="000000"/>
              </a:buClr>
              <a:defRPr/>
            </a:pPr>
            <a:r>
              <a:rPr lang="en-US" altLang="en-US" sz="2600" b="1" dirty="0">
                <a:latin typeface="Times New Roman" panose="02020603050405020304" pitchFamily="18" charset="0"/>
                <a:cs typeface="Times New Roman" panose="02020603050405020304" pitchFamily="18" charset="0"/>
                <a:sym typeface="Times" panose="02020603050405020304" pitchFamily="18" charset="0"/>
              </a:rPr>
              <a:t>Advantages:</a:t>
            </a:r>
            <a:endParaRPr lang="en-US" altLang="en-US" sz="2600" dirty="0">
              <a:latin typeface="Times New Roman" panose="02020603050405020304" pitchFamily="18" charset="0"/>
              <a:cs typeface="Times New Roman" panose="02020603050405020304" pitchFamily="18" charset="0"/>
            </a:endParaRPr>
          </a:p>
          <a:p>
            <a:pPr lvl="1">
              <a:lnSpc>
                <a:spcPct val="80000"/>
              </a:lnSpc>
              <a:buClr>
                <a:srgbClr val="000000"/>
              </a:buClr>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Minimum traffic problems</a:t>
            </a:r>
            <a:endParaRPr lang="en-US" altLang="en-US" sz="2600" dirty="0">
              <a:latin typeface="Times New Roman" panose="02020603050405020304" pitchFamily="18" charset="0"/>
              <a:cs typeface="Times New Roman" panose="02020603050405020304" pitchFamily="18" charset="0"/>
            </a:endParaRPr>
          </a:p>
          <a:p>
            <a:pPr lvl="1">
              <a:lnSpc>
                <a:spcPct val="80000"/>
              </a:lnSpc>
              <a:buClr>
                <a:srgbClr val="000000"/>
              </a:buClr>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Robustness</a:t>
            </a:r>
            <a:endParaRPr lang="en-US" altLang="en-US" sz="2600" dirty="0">
              <a:latin typeface="Times New Roman" panose="02020603050405020304" pitchFamily="18" charset="0"/>
              <a:cs typeface="Times New Roman" panose="02020603050405020304" pitchFamily="18" charset="0"/>
            </a:endParaRPr>
          </a:p>
          <a:p>
            <a:pPr lvl="1">
              <a:lnSpc>
                <a:spcPct val="80000"/>
              </a:lnSpc>
              <a:buClr>
                <a:srgbClr val="000000"/>
              </a:buClr>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Security</a:t>
            </a:r>
            <a:endParaRPr lang="en-US" altLang="en-US" sz="2600" dirty="0">
              <a:latin typeface="Times New Roman" panose="02020603050405020304" pitchFamily="18" charset="0"/>
              <a:cs typeface="Times New Roman" panose="02020603050405020304" pitchFamily="18" charset="0"/>
            </a:endParaRPr>
          </a:p>
          <a:p>
            <a:pPr lvl="1">
              <a:lnSpc>
                <a:spcPct val="80000"/>
              </a:lnSpc>
              <a:buClr>
                <a:srgbClr val="000000"/>
              </a:buClr>
              <a:defRPr/>
            </a:pP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Easy fault identification</a:t>
            </a:r>
            <a:endParaRPr lang="en-US" altLang="en-US" sz="2600" dirty="0">
              <a:latin typeface="Times New Roman" panose="02020603050405020304" pitchFamily="18" charset="0"/>
              <a:cs typeface="Times New Roman" panose="02020603050405020304" pitchFamily="18" charset="0"/>
            </a:endParaRPr>
          </a:p>
          <a:p>
            <a:pPr>
              <a:lnSpc>
                <a:spcPct val="80000"/>
              </a:lnSpc>
              <a:buClr>
                <a:srgbClr val="000000"/>
              </a:buClr>
              <a:defRPr/>
            </a:pPr>
            <a:r>
              <a:rPr lang="en-US" altLang="en-US" sz="2600" b="1" dirty="0">
                <a:latin typeface="Times New Roman" panose="02020603050405020304" pitchFamily="18" charset="0"/>
                <a:cs typeface="Times New Roman" panose="02020603050405020304" pitchFamily="18" charset="0"/>
                <a:sym typeface="Times" panose="02020603050405020304" pitchFamily="18" charset="0"/>
              </a:rPr>
              <a:t>Disadvantages: </a:t>
            </a: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Amount of cabling and the number of I/O ports required.</a:t>
            </a:r>
            <a:endParaRPr lang="en-US" altLang="en-US" sz="2600" dirty="0">
              <a:latin typeface="Times New Roman" panose="02020603050405020304" pitchFamily="18" charset="0"/>
              <a:cs typeface="Times New Roman" panose="02020603050405020304" pitchFamily="18" charset="0"/>
            </a:endParaRPr>
          </a:p>
          <a:p>
            <a:pPr>
              <a:lnSpc>
                <a:spcPct val="80000"/>
              </a:lnSpc>
              <a:buClr>
                <a:srgbClr val="000000"/>
              </a:buClr>
              <a:defRPr/>
            </a:pPr>
            <a:r>
              <a:rPr lang="en-US" altLang="en-US" sz="2600" b="1" dirty="0">
                <a:latin typeface="Times New Roman" panose="02020603050405020304" pitchFamily="18" charset="0"/>
                <a:cs typeface="Times New Roman" panose="02020603050405020304" pitchFamily="18" charset="0"/>
                <a:sym typeface="Times" panose="02020603050405020304" pitchFamily="18" charset="0"/>
              </a:rPr>
              <a:t>An application</a:t>
            </a:r>
            <a:r>
              <a:rPr lang="en-US" altLang="en-US" sz="2600" dirty="0">
                <a:latin typeface="Times New Roman" panose="02020603050405020304" pitchFamily="18" charset="0"/>
                <a:cs typeface="Times New Roman" panose="02020603050405020304" pitchFamily="18" charset="0"/>
                <a:sym typeface="Times" panose="02020603050405020304" pitchFamily="18" charset="0"/>
              </a:rPr>
              <a:t>: connection of telephone regional offices.</a:t>
            </a:r>
            <a:endParaRPr lang="en-US" altLang="en-US" sz="2600" dirty="0">
              <a:latin typeface="Times New Roman" panose="02020603050405020304" pitchFamily="18" charset="0"/>
              <a:cs typeface="Times New Roman" panose="02020603050405020304" pitchFamily="18" charset="0"/>
            </a:endParaRPr>
          </a:p>
          <a:p>
            <a:pPr lvl="1">
              <a:lnSpc>
                <a:spcPct val="80000"/>
              </a:lnSpc>
              <a:buClr>
                <a:srgbClr val="000000"/>
              </a:buClr>
              <a:buFont typeface="Arial" panose="020B0604020202020204" pitchFamily="34" charset="0"/>
              <a:buNone/>
              <a:defRPr/>
            </a:pPr>
            <a:endParaRPr lang="en-US" altLang="en-US" sz="2200" dirty="0">
              <a:latin typeface="Times" panose="02020603050405020304" pitchFamily="18" charset="0"/>
              <a:cs typeface="Times" panose="02020603050405020304" pitchFamily="18" charset="0"/>
              <a:sym typeface="Times" panose="02020603050405020304" pitchFamily="18" charset="0"/>
            </a:endParaRPr>
          </a:p>
        </p:txBody>
      </p:sp>
      <p:pic>
        <p:nvPicPr>
          <p:cNvPr id="44036" name="Picture 6">
            <a:extLst>
              <a:ext uri="{FF2B5EF4-FFF2-40B4-BE49-F238E27FC236}">
                <a16:creationId xmlns:a16="http://schemas.microsoft.com/office/drawing/2014/main" id="{EDA3A758-4240-5BCE-3346-457B9FD27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371600"/>
            <a:ext cx="4854575"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Google Shape;248;p19">
            <a:extLst>
              <a:ext uri="{FF2B5EF4-FFF2-40B4-BE49-F238E27FC236}">
                <a16:creationId xmlns:a16="http://schemas.microsoft.com/office/drawing/2014/main" id="{FE0CC21B-EF1F-6FBD-C5C9-75F6B2DF302E}"/>
              </a:ext>
            </a:extLst>
          </p:cNvPr>
          <p:cNvSpPr>
            <a:spLocks noGrp="1" noChangeArrowheads="1"/>
          </p:cNvSpPr>
          <p:nvPr>
            <p:ph type="title"/>
          </p:nvPr>
        </p:nvSpPr>
        <p:spPr>
          <a:xfrm>
            <a:off x="3733800" y="52388"/>
            <a:ext cx="3962400" cy="1325562"/>
          </a:xfrm>
        </p:spPr>
        <p:txBody>
          <a:bodyPr lIns="91425" tIns="45700" rIns="91425" bIns="45700"/>
          <a:lstStyle/>
          <a:p>
            <a:pPr>
              <a:buClr>
                <a:schemeClr val="accent1"/>
              </a:buClr>
              <a:buSzPts val="4400"/>
              <a:buFont typeface="Times" panose="02020603050405020304" pitchFamily="18" charset="0"/>
              <a:buNone/>
            </a:pPr>
            <a:r>
              <a:rPr lang="en-US" altLang="en-US" b="1">
                <a:solidFill>
                  <a:schemeClr val="accent1"/>
                </a:solidFill>
                <a:latin typeface="Times" panose="02020603050405020304" pitchFamily="18" charset="0"/>
                <a:cs typeface="Times" panose="02020603050405020304" pitchFamily="18" charset="0"/>
                <a:sym typeface="Times" panose="02020603050405020304" pitchFamily="18" charset="0"/>
              </a:rPr>
              <a:t>Star Topology</a:t>
            </a:r>
            <a:endParaRPr lang="en-US" altLang="en-US" b="1">
              <a:solidFill>
                <a:schemeClr val="accent1"/>
              </a:solidFill>
            </a:endParaRPr>
          </a:p>
        </p:txBody>
      </p:sp>
      <p:sp>
        <p:nvSpPr>
          <p:cNvPr id="46083" name="Google Shape;249;p19">
            <a:extLst>
              <a:ext uri="{FF2B5EF4-FFF2-40B4-BE49-F238E27FC236}">
                <a16:creationId xmlns:a16="http://schemas.microsoft.com/office/drawing/2014/main" id="{C742D34A-E2B6-919E-D173-5804743DCA3C}"/>
              </a:ext>
            </a:extLst>
          </p:cNvPr>
          <p:cNvSpPr>
            <a:spLocks noGrp="1" noChangeArrowheads="1"/>
          </p:cNvSpPr>
          <p:nvPr>
            <p:ph type="body" idx="1"/>
          </p:nvPr>
        </p:nvSpPr>
        <p:spPr>
          <a:xfrm>
            <a:off x="266700" y="1377950"/>
            <a:ext cx="6010275" cy="4926013"/>
          </a:xfrm>
        </p:spPr>
        <p:txBody>
          <a:bodyPr lIns="91425" tIns="45700" rIns="91425" bIns="45700"/>
          <a:lstStyle/>
          <a:p>
            <a:pPr>
              <a:spcBef>
                <a:spcPct val="0"/>
              </a:spcBef>
              <a:buClr>
                <a:srgbClr val="000000"/>
              </a:buClr>
              <a:buSzPts val="2700"/>
            </a:pPr>
            <a:r>
              <a:rPr lang="en-US" altLang="en-US" sz="2700">
                <a:latin typeface="Times" panose="02020603050405020304" pitchFamily="18" charset="0"/>
                <a:cs typeface="Times" panose="02020603050405020304" pitchFamily="18" charset="0"/>
                <a:sym typeface="Times" panose="02020603050405020304" pitchFamily="18" charset="0"/>
              </a:rPr>
              <a:t>In a </a:t>
            </a:r>
            <a:r>
              <a:rPr lang="en-US" altLang="en-US" sz="2700" b="1">
                <a:latin typeface="Times" panose="02020603050405020304" pitchFamily="18" charset="0"/>
                <a:cs typeface="Times" panose="02020603050405020304" pitchFamily="18" charset="0"/>
                <a:sym typeface="Times" panose="02020603050405020304" pitchFamily="18" charset="0"/>
              </a:rPr>
              <a:t>star topology, </a:t>
            </a:r>
            <a:r>
              <a:rPr lang="en-US" altLang="en-US" sz="2700">
                <a:latin typeface="Times" panose="02020603050405020304" pitchFamily="18" charset="0"/>
                <a:cs typeface="Times" panose="02020603050405020304" pitchFamily="18" charset="0"/>
                <a:sym typeface="Times" panose="02020603050405020304" pitchFamily="18" charset="0"/>
              </a:rPr>
              <a:t>each device has a dedicated point-to-point link only to a central controller, called </a:t>
            </a:r>
            <a:r>
              <a:rPr lang="en-US" altLang="en-US" sz="2700" b="1" i="1">
                <a:latin typeface="Times" panose="02020603050405020304" pitchFamily="18" charset="0"/>
                <a:cs typeface="Times" panose="02020603050405020304" pitchFamily="18" charset="0"/>
                <a:sym typeface="Times" panose="02020603050405020304" pitchFamily="18" charset="0"/>
              </a:rPr>
              <a:t>hub</a:t>
            </a:r>
            <a:r>
              <a:rPr lang="en-US" altLang="en-US" sz="2700" b="1">
                <a:latin typeface="Times" panose="02020603050405020304" pitchFamily="18" charset="0"/>
                <a:cs typeface="Times" panose="02020603050405020304" pitchFamily="18" charset="0"/>
                <a:sym typeface="Times" panose="02020603050405020304" pitchFamily="18" charset="0"/>
              </a:rPr>
              <a:t>.</a:t>
            </a:r>
            <a:endParaRPr lang="en-US" altLang="en-US" sz="2700">
              <a:latin typeface="Times" panose="02020603050405020304" pitchFamily="18" charset="0"/>
              <a:cs typeface="Times" panose="02020603050405020304" pitchFamily="18" charset="0"/>
              <a:sym typeface="Times" panose="02020603050405020304" pitchFamily="18" charset="0"/>
            </a:endParaRPr>
          </a:p>
          <a:p>
            <a:pPr>
              <a:buClr>
                <a:srgbClr val="000000"/>
              </a:buClr>
              <a:buSzPts val="2700"/>
            </a:pPr>
            <a:r>
              <a:rPr lang="en-US" altLang="en-US" sz="2700">
                <a:latin typeface="Times" panose="02020603050405020304" pitchFamily="18" charset="0"/>
                <a:cs typeface="Times" panose="02020603050405020304" pitchFamily="18" charset="0"/>
                <a:sym typeface="Times" panose="02020603050405020304" pitchFamily="18" charset="0"/>
              </a:rPr>
              <a:t>Controller relays the data to the other connected device.</a:t>
            </a:r>
            <a:endParaRPr lang="en-US" altLang="en-US"/>
          </a:p>
          <a:p>
            <a:pPr>
              <a:buClr>
                <a:srgbClr val="000000"/>
              </a:buClr>
              <a:buSzPts val="2700"/>
            </a:pPr>
            <a:r>
              <a:rPr lang="en-US" altLang="en-US" sz="2700" b="1">
                <a:latin typeface="Times" panose="02020603050405020304" pitchFamily="18" charset="0"/>
                <a:cs typeface="Times" panose="02020603050405020304" pitchFamily="18" charset="0"/>
                <a:sym typeface="Times" panose="02020603050405020304" pitchFamily="18" charset="0"/>
              </a:rPr>
              <a:t>Advantages:</a:t>
            </a:r>
            <a:endParaRPr lang="en-US" altLang="en-US"/>
          </a:p>
          <a:p>
            <a:pPr lvl="1">
              <a:buClr>
                <a:srgbClr val="000000"/>
              </a:buClr>
              <a:buSzPts val="2700"/>
            </a:pPr>
            <a:r>
              <a:rPr lang="en-US" altLang="en-US" sz="2700">
                <a:latin typeface="Times" panose="02020603050405020304" pitchFamily="18" charset="0"/>
                <a:cs typeface="Times" panose="02020603050405020304" pitchFamily="18" charset="0"/>
                <a:sym typeface="Times" panose="02020603050405020304" pitchFamily="18" charset="0"/>
              </a:rPr>
              <a:t>Robustness</a:t>
            </a:r>
            <a:endParaRPr lang="en-US" altLang="en-US"/>
          </a:p>
          <a:p>
            <a:pPr lvl="1">
              <a:buClr>
                <a:srgbClr val="000000"/>
              </a:buClr>
              <a:buSzPts val="2700"/>
            </a:pPr>
            <a:r>
              <a:rPr lang="en-US" altLang="en-US" sz="2700">
                <a:latin typeface="Times" panose="02020603050405020304" pitchFamily="18" charset="0"/>
                <a:cs typeface="Times" panose="02020603050405020304" pitchFamily="18" charset="0"/>
                <a:sym typeface="Times" panose="02020603050405020304" pitchFamily="18" charset="0"/>
              </a:rPr>
              <a:t>Easy fault identification</a:t>
            </a:r>
            <a:endParaRPr lang="en-US" altLang="en-US"/>
          </a:p>
          <a:p>
            <a:pPr>
              <a:buClr>
                <a:srgbClr val="000000"/>
              </a:buClr>
              <a:buSzPts val="2700"/>
            </a:pPr>
            <a:r>
              <a:rPr lang="en-US" altLang="en-US" sz="2700" b="1">
                <a:latin typeface="Times" panose="02020603050405020304" pitchFamily="18" charset="0"/>
                <a:cs typeface="Times" panose="02020603050405020304" pitchFamily="18" charset="0"/>
                <a:sym typeface="Times" panose="02020603050405020304" pitchFamily="18" charset="0"/>
              </a:rPr>
              <a:t>Disadvantages: </a:t>
            </a:r>
            <a:r>
              <a:rPr lang="en-US" altLang="en-US" sz="2700">
                <a:latin typeface="Times" panose="02020603050405020304" pitchFamily="18" charset="0"/>
                <a:cs typeface="Times" panose="02020603050405020304" pitchFamily="18" charset="0"/>
                <a:sym typeface="Times" panose="02020603050405020304" pitchFamily="18" charset="0"/>
              </a:rPr>
              <a:t>Single point failure.</a:t>
            </a:r>
            <a:endParaRPr lang="en-US" altLang="en-US"/>
          </a:p>
          <a:p>
            <a:pPr>
              <a:buClr>
                <a:srgbClr val="000000"/>
              </a:buClr>
              <a:buSzPts val="2700"/>
            </a:pPr>
            <a:r>
              <a:rPr lang="en-US" altLang="en-US" sz="2700" b="1">
                <a:latin typeface="Times" panose="02020603050405020304" pitchFamily="18" charset="0"/>
                <a:cs typeface="Times" panose="02020603050405020304" pitchFamily="18" charset="0"/>
                <a:sym typeface="Times" panose="02020603050405020304" pitchFamily="18" charset="0"/>
              </a:rPr>
              <a:t>An application</a:t>
            </a:r>
            <a:r>
              <a:rPr lang="en-US" altLang="en-US" sz="2700">
                <a:latin typeface="Times" panose="02020603050405020304" pitchFamily="18" charset="0"/>
                <a:cs typeface="Times" panose="02020603050405020304" pitchFamily="18" charset="0"/>
                <a:sym typeface="Times" panose="02020603050405020304" pitchFamily="18" charset="0"/>
              </a:rPr>
              <a:t>: Local-area networks (LANs).</a:t>
            </a:r>
            <a:endParaRPr lang="en-US" altLang="en-US"/>
          </a:p>
          <a:p>
            <a:pPr lvl="1">
              <a:buClr>
                <a:srgbClr val="000000"/>
              </a:buClr>
              <a:buSzPts val="2400"/>
              <a:buFont typeface="Arial" panose="020B0604020202020204" pitchFamily="34" charset="0"/>
              <a:buNone/>
            </a:pPr>
            <a:endParaRPr lang="en-US" altLang="en-US">
              <a:latin typeface="Times" panose="02020603050405020304" pitchFamily="18" charset="0"/>
              <a:cs typeface="Times" panose="02020603050405020304" pitchFamily="18" charset="0"/>
              <a:sym typeface="Times" panose="02020603050405020304" pitchFamily="18" charset="0"/>
            </a:endParaRPr>
          </a:p>
        </p:txBody>
      </p:sp>
      <p:pic>
        <p:nvPicPr>
          <p:cNvPr id="46084" name="Picture 6">
            <a:extLst>
              <a:ext uri="{FF2B5EF4-FFF2-40B4-BE49-F238E27FC236}">
                <a16:creationId xmlns:a16="http://schemas.microsoft.com/office/drawing/2014/main" id="{AA41D5D6-C280-2B9C-6CEE-39093B764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600200"/>
            <a:ext cx="50038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Google Shape;255;p20">
            <a:extLst>
              <a:ext uri="{FF2B5EF4-FFF2-40B4-BE49-F238E27FC236}">
                <a16:creationId xmlns:a16="http://schemas.microsoft.com/office/drawing/2014/main" id="{1B66DC14-00ED-FE98-B595-AC32D2213405}"/>
              </a:ext>
            </a:extLst>
          </p:cNvPr>
          <p:cNvSpPr>
            <a:spLocks noGrp="1" noChangeArrowheads="1"/>
          </p:cNvSpPr>
          <p:nvPr>
            <p:ph type="title"/>
          </p:nvPr>
        </p:nvSpPr>
        <p:spPr>
          <a:xfrm>
            <a:off x="3581400" y="152400"/>
            <a:ext cx="4343400" cy="1325563"/>
          </a:xfrm>
        </p:spPr>
        <p:txBody>
          <a:bodyPr lIns="91425" tIns="45700" rIns="91425" bIns="45700"/>
          <a:lstStyle/>
          <a:p>
            <a:pPr>
              <a:buClr>
                <a:schemeClr val="accent1"/>
              </a:buClr>
              <a:buSzPts val="4400"/>
              <a:buFont typeface="Times" panose="02020603050405020304" pitchFamily="18" charset="0"/>
              <a:buNone/>
            </a:pPr>
            <a:r>
              <a:rPr lang="en-US" altLang="en-US" b="1">
                <a:solidFill>
                  <a:schemeClr val="accent1"/>
                </a:solidFill>
                <a:latin typeface="Times" panose="02020603050405020304" pitchFamily="18" charset="0"/>
                <a:cs typeface="Times" panose="02020603050405020304" pitchFamily="18" charset="0"/>
                <a:sym typeface="Times" panose="02020603050405020304" pitchFamily="18" charset="0"/>
              </a:rPr>
              <a:t>Bus Topology</a:t>
            </a:r>
            <a:endParaRPr lang="en-US" altLang="en-US" b="1">
              <a:solidFill>
                <a:schemeClr val="accent1"/>
              </a:solidFill>
            </a:endParaRPr>
          </a:p>
        </p:txBody>
      </p:sp>
      <p:sp>
        <p:nvSpPr>
          <p:cNvPr id="48131" name="Google Shape;256;p20">
            <a:extLst>
              <a:ext uri="{FF2B5EF4-FFF2-40B4-BE49-F238E27FC236}">
                <a16:creationId xmlns:a16="http://schemas.microsoft.com/office/drawing/2014/main" id="{3433D278-F40F-C512-628F-2903C9345EC5}"/>
              </a:ext>
            </a:extLst>
          </p:cNvPr>
          <p:cNvSpPr>
            <a:spLocks noGrp="1" noChangeArrowheads="1"/>
          </p:cNvSpPr>
          <p:nvPr>
            <p:ph type="body" idx="1"/>
          </p:nvPr>
        </p:nvSpPr>
        <p:spPr>
          <a:xfrm>
            <a:off x="676275" y="1219200"/>
            <a:ext cx="10839450" cy="3817938"/>
          </a:xfrm>
        </p:spPr>
        <p:txBody>
          <a:bodyPr lIns="91425" tIns="45700" rIns="91425" bIns="45700"/>
          <a:lstStyle/>
          <a:p>
            <a:pPr>
              <a:lnSpc>
                <a:spcPct val="70000"/>
              </a:lnSpc>
              <a:spcBef>
                <a:spcPct val="0"/>
              </a:spcBef>
              <a:buClr>
                <a:srgbClr val="000000"/>
              </a:buClr>
            </a:pPr>
            <a:r>
              <a:rPr lang="en-US" altLang="en-US" sz="2600">
                <a:latin typeface="Times New Roman" panose="02020603050405020304" pitchFamily="18" charset="0"/>
                <a:cs typeface="Times New Roman" panose="02020603050405020304" pitchFamily="18" charset="0"/>
                <a:sym typeface="Times" panose="02020603050405020304" pitchFamily="18" charset="0"/>
              </a:rPr>
              <a:t>A </a:t>
            </a:r>
            <a:r>
              <a:rPr lang="en-US" altLang="en-US" sz="2600" b="1">
                <a:latin typeface="Times New Roman" panose="02020603050405020304" pitchFamily="18" charset="0"/>
                <a:cs typeface="Times New Roman" panose="02020603050405020304" pitchFamily="18" charset="0"/>
                <a:sym typeface="Times" panose="02020603050405020304" pitchFamily="18" charset="0"/>
              </a:rPr>
              <a:t>bus topology</a:t>
            </a:r>
            <a:r>
              <a:rPr lang="en-US" altLang="en-US" sz="2600">
                <a:latin typeface="Times New Roman" panose="02020603050405020304" pitchFamily="18" charset="0"/>
                <a:cs typeface="Times New Roman" panose="02020603050405020304" pitchFamily="18" charset="0"/>
                <a:sym typeface="Times" panose="02020603050405020304" pitchFamily="18" charset="0"/>
              </a:rPr>
              <a:t> is a multipoint topology. One long cable acts as a </a:t>
            </a:r>
            <a:r>
              <a:rPr lang="en-US" altLang="en-US" sz="2600" b="1">
                <a:latin typeface="Times New Roman" panose="02020603050405020304" pitchFamily="18" charset="0"/>
                <a:cs typeface="Times New Roman" panose="02020603050405020304" pitchFamily="18" charset="0"/>
                <a:sym typeface="Times" panose="02020603050405020304" pitchFamily="18" charset="0"/>
              </a:rPr>
              <a:t>backbone.</a:t>
            </a:r>
            <a:endParaRPr lang="en-US" altLang="en-US" sz="2600">
              <a:latin typeface="Times New Roman" panose="02020603050405020304" pitchFamily="18" charset="0"/>
              <a:cs typeface="Times New Roman" panose="02020603050405020304" pitchFamily="18" charset="0"/>
            </a:endParaRPr>
          </a:p>
          <a:p>
            <a:pPr>
              <a:lnSpc>
                <a:spcPct val="70000"/>
              </a:lnSpc>
              <a:buClr>
                <a:srgbClr val="000000"/>
              </a:buClr>
            </a:pPr>
            <a:r>
              <a:rPr lang="en-US" altLang="en-US" sz="2600" b="1">
                <a:latin typeface="Times New Roman" panose="02020603050405020304" pitchFamily="18" charset="0"/>
                <a:cs typeface="Times New Roman" panose="02020603050405020304" pitchFamily="18" charset="0"/>
                <a:sym typeface="Times" panose="02020603050405020304" pitchFamily="18" charset="0"/>
              </a:rPr>
              <a:t>Advantages:</a:t>
            </a:r>
            <a:endParaRPr lang="en-US" altLang="en-US" sz="2600">
              <a:latin typeface="Times New Roman" panose="02020603050405020304" pitchFamily="18" charset="0"/>
              <a:cs typeface="Times New Roman" panose="02020603050405020304" pitchFamily="18" charset="0"/>
            </a:endParaRPr>
          </a:p>
          <a:p>
            <a:pPr lvl="1">
              <a:lnSpc>
                <a:spcPct val="70000"/>
              </a:lnSpc>
              <a:buClr>
                <a:srgbClr val="000000"/>
              </a:buClr>
            </a:pPr>
            <a:r>
              <a:rPr lang="en-US" altLang="en-US" sz="2600">
                <a:latin typeface="Times New Roman" panose="02020603050405020304" pitchFamily="18" charset="0"/>
                <a:cs typeface="Times New Roman" panose="02020603050405020304" pitchFamily="18" charset="0"/>
                <a:sym typeface="Times" panose="02020603050405020304" pitchFamily="18" charset="0"/>
              </a:rPr>
              <a:t>Less cabling than mesh or star topologies. </a:t>
            </a:r>
            <a:endParaRPr lang="en-US" altLang="en-US" sz="2600">
              <a:latin typeface="Times New Roman" panose="02020603050405020304" pitchFamily="18" charset="0"/>
              <a:cs typeface="Times New Roman" panose="02020603050405020304" pitchFamily="18" charset="0"/>
            </a:endParaRPr>
          </a:p>
          <a:p>
            <a:pPr>
              <a:lnSpc>
                <a:spcPct val="70000"/>
              </a:lnSpc>
              <a:buClr>
                <a:srgbClr val="000000"/>
              </a:buClr>
            </a:pPr>
            <a:r>
              <a:rPr lang="en-US" altLang="en-US" sz="2600" b="1">
                <a:latin typeface="Times New Roman" panose="02020603050405020304" pitchFamily="18" charset="0"/>
                <a:cs typeface="Times New Roman" panose="02020603050405020304" pitchFamily="18" charset="0"/>
                <a:sym typeface="Times" panose="02020603050405020304" pitchFamily="18" charset="0"/>
              </a:rPr>
              <a:t>Disadvantages: </a:t>
            </a:r>
            <a:endParaRPr lang="en-US" altLang="en-US" sz="2600">
              <a:latin typeface="Times New Roman" panose="02020603050405020304" pitchFamily="18" charset="0"/>
              <a:cs typeface="Times New Roman" panose="02020603050405020304" pitchFamily="18" charset="0"/>
            </a:endParaRPr>
          </a:p>
          <a:p>
            <a:pPr lvl="1">
              <a:lnSpc>
                <a:spcPct val="70000"/>
              </a:lnSpc>
              <a:buClr>
                <a:srgbClr val="000000"/>
              </a:buClr>
            </a:pPr>
            <a:r>
              <a:rPr lang="en-US" altLang="en-US" sz="2600">
                <a:latin typeface="Times New Roman" panose="02020603050405020304" pitchFamily="18" charset="0"/>
                <a:cs typeface="Times New Roman" panose="02020603050405020304" pitchFamily="18" charset="0"/>
                <a:sym typeface="Times" panose="02020603050405020304" pitchFamily="18" charset="0"/>
              </a:rPr>
              <a:t>Difficult reconnection.</a:t>
            </a:r>
            <a:endParaRPr lang="en-US" altLang="en-US" sz="2600">
              <a:latin typeface="Times New Roman" panose="02020603050405020304" pitchFamily="18" charset="0"/>
              <a:cs typeface="Times New Roman" panose="02020603050405020304" pitchFamily="18" charset="0"/>
            </a:endParaRPr>
          </a:p>
          <a:p>
            <a:pPr lvl="1">
              <a:lnSpc>
                <a:spcPct val="70000"/>
              </a:lnSpc>
              <a:buClr>
                <a:srgbClr val="000000"/>
              </a:buClr>
            </a:pPr>
            <a:r>
              <a:rPr lang="en-US" altLang="en-US" sz="2600">
                <a:latin typeface="Times New Roman" panose="02020603050405020304" pitchFamily="18" charset="0"/>
                <a:cs typeface="Times New Roman" panose="02020603050405020304" pitchFamily="18" charset="0"/>
                <a:sym typeface="Times" panose="02020603050405020304" pitchFamily="18" charset="0"/>
              </a:rPr>
              <a:t>Signal reflection at the taps can cause degradation in quality.</a:t>
            </a:r>
            <a:endParaRPr lang="en-US" altLang="en-US" sz="2600">
              <a:latin typeface="Times New Roman" panose="02020603050405020304" pitchFamily="18" charset="0"/>
              <a:cs typeface="Times New Roman" panose="02020603050405020304" pitchFamily="18" charset="0"/>
            </a:endParaRPr>
          </a:p>
          <a:p>
            <a:pPr lvl="1">
              <a:lnSpc>
                <a:spcPct val="70000"/>
              </a:lnSpc>
              <a:buClr>
                <a:srgbClr val="000000"/>
              </a:buClr>
            </a:pPr>
            <a:r>
              <a:rPr lang="en-US" altLang="en-US" sz="2600">
                <a:latin typeface="Times New Roman" panose="02020603050405020304" pitchFamily="18" charset="0"/>
                <a:cs typeface="Times New Roman" panose="02020603050405020304" pitchFamily="18" charset="0"/>
                <a:sym typeface="Times" panose="02020603050405020304" pitchFamily="18" charset="0"/>
              </a:rPr>
              <a:t>Single point failure.</a:t>
            </a:r>
            <a:endParaRPr lang="en-US" altLang="en-US" sz="2600">
              <a:latin typeface="Times New Roman" panose="02020603050405020304" pitchFamily="18" charset="0"/>
              <a:cs typeface="Times New Roman" panose="02020603050405020304" pitchFamily="18" charset="0"/>
            </a:endParaRPr>
          </a:p>
          <a:p>
            <a:pPr>
              <a:lnSpc>
                <a:spcPct val="70000"/>
              </a:lnSpc>
              <a:buClr>
                <a:srgbClr val="000000"/>
              </a:buClr>
            </a:pPr>
            <a:r>
              <a:rPr lang="en-US" altLang="en-US" sz="2600" b="1">
                <a:latin typeface="Times New Roman" panose="02020603050405020304" pitchFamily="18" charset="0"/>
                <a:cs typeface="Times New Roman" panose="02020603050405020304" pitchFamily="18" charset="0"/>
                <a:sym typeface="Times" panose="02020603050405020304" pitchFamily="18" charset="0"/>
              </a:rPr>
              <a:t>An application</a:t>
            </a:r>
            <a:r>
              <a:rPr lang="en-US" altLang="en-US" sz="2600">
                <a:latin typeface="Times New Roman" panose="02020603050405020304" pitchFamily="18" charset="0"/>
                <a:cs typeface="Times New Roman" panose="02020603050405020304" pitchFamily="18" charset="0"/>
                <a:sym typeface="Times" panose="02020603050405020304" pitchFamily="18" charset="0"/>
              </a:rPr>
              <a:t>: Earlier Local-area networks (LANs).</a:t>
            </a:r>
            <a:endParaRPr lang="en-US" altLang="en-US" sz="2600">
              <a:latin typeface="Times New Roman" panose="02020603050405020304" pitchFamily="18" charset="0"/>
              <a:cs typeface="Times New Roman" panose="02020603050405020304" pitchFamily="18" charset="0"/>
            </a:endParaRPr>
          </a:p>
          <a:p>
            <a:pPr lvl="1">
              <a:lnSpc>
                <a:spcPct val="70000"/>
              </a:lnSpc>
              <a:buClr>
                <a:srgbClr val="000000"/>
              </a:buClr>
              <a:buFont typeface="Arial" panose="020B0604020202020204" pitchFamily="34" charset="0"/>
              <a:buNone/>
            </a:pPr>
            <a:endParaRPr lang="en-US" altLang="en-US" sz="1500">
              <a:latin typeface="Times" panose="02020603050405020304" pitchFamily="18" charset="0"/>
              <a:cs typeface="Times" panose="02020603050405020304" pitchFamily="18" charset="0"/>
              <a:sym typeface="Times" panose="02020603050405020304" pitchFamily="18" charset="0"/>
            </a:endParaRPr>
          </a:p>
        </p:txBody>
      </p:sp>
      <p:pic>
        <p:nvPicPr>
          <p:cNvPr id="48132" name="Picture 6">
            <a:extLst>
              <a:ext uri="{FF2B5EF4-FFF2-40B4-BE49-F238E27FC236}">
                <a16:creationId xmlns:a16="http://schemas.microsoft.com/office/drawing/2014/main" id="{59B77762-72CA-BABD-7EFB-3EF761EAE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037138"/>
            <a:ext cx="78882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Google Shape;263;p21">
            <a:extLst>
              <a:ext uri="{FF2B5EF4-FFF2-40B4-BE49-F238E27FC236}">
                <a16:creationId xmlns:a16="http://schemas.microsoft.com/office/drawing/2014/main" id="{A4F4E1CB-3EAF-F065-B9B6-B337E9EA57C2}"/>
              </a:ext>
            </a:extLst>
          </p:cNvPr>
          <p:cNvSpPr txBox="1">
            <a:spLocks noChangeArrowheads="1"/>
          </p:cNvSpPr>
          <p:nvPr/>
        </p:nvSpPr>
        <p:spPr bwMode="auto">
          <a:xfrm>
            <a:off x="457200" y="750888"/>
            <a:ext cx="1083945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914400">
              <a:lnSpc>
                <a:spcPct val="80000"/>
              </a:lnSpc>
              <a:spcBef>
                <a:spcPct val="0"/>
              </a:spcBef>
              <a:buClr>
                <a:srgbClr val="000000"/>
              </a:buClr>
            </a:pPr>
            <a:r>
              <a:rPr lang="en-US" altLang="en-US" sz="2600">
                <a:latin typeface="Times New Roman" panose="02020603050405020304" pitchFamily="18" charset="0"/>
                <a:ea typeface="Times" panose="02020603050405020304" pitchFamily="18" charset="0"/>
                <a:cs typeface="Times New Roman" panose="02020603050405020304" pitchFamily="18" charset="0"/>
                <a:sym typeface="Times" panose="02020603050405020304" pitchFamily="18" charset="0"/>
              </a:rPr>
              <a:t>In a </a:t>
            </a:r>
            <a:r>
              <a:rPr lang="en-US" altLang="en-US" sz="2600" b="1">
                <a:latin typeface="Times New Roman" panose="02020603050405020304" pitchFamily="18" charset="0"/>
                <a:ea typeface="Times" panose="02020603050405020304" pitchFamily="18" charset="0"/>
                <a:cs typeface="Times New Roman" panose="02020603050405020304" pitchFamily="18" charset="0"/>
                <a:sym typeface="Times" panose="02020603050405020304" pitchFamily="18" charset="0"/>
              </a:rPr>
              <a:t>ring topology, </a:t>
            </a:r>
            <a:r>
              <a:rPr lang="en-US" altLang="en-US" sz="2600">
                <a:latin typeface="Times New Roman" panose="02020603050405020304" pitchFamily="18" charset="0"/>
                <a:ea typeface="Times" panose="02020603050405020304" pitchFamily="18" charset="0"/>
                <a:cs typeface="Times New Roman" panose="02020603050405020304" pitchFamily="18" charset="0"/>
                <a:sym typeface="Times" panose="02020603050405020304" pitchFamily="18" charset="0"/>
              </a:rPr>
              <a:t>each device has a dedicated point-to-point connection with only the two devices on either side of it.</a:t>
            </a:r>
            <a:endParaRPr lang="en-US" altLang="en-US" sz="2600">
              <a:latin typeface="Times New Roman" panose="02020603050405020304" pitchFamily="18" charset="0"/>
              <a:ea typeface="Times" panose="02020603050405020304" pitchFamily="18" charset="0"/>
              <a:cs typeface="Times New Roman" panose="02020603050405020304" pitchFamily="18" charset="0"/>
            </a:endParaRPr>
          </a:p>
          <a:p>
            <a:pPr defTabSz="914400">
              <a:lnSpc>
                <a:spcPct val="80000"/>
              </a:lnSpc>
              <a:buClr>
                <a:srgbClr val="000000"/>
              </a:buClr>
            </a:pPr>
            <a:r>
              <a:rPr lang="en-US" altLang="en-US" sz="2600">
                <a:latin typeface="Times New Roman" panose="02020603050405020304" pitchFamily="18" charset="0"/>
                <a:ea typeface="Times" panose="02020603050405020304" pitchFamily="18" charset="0"/>
                <a:cs typeface="Times New Roman" panose="02020603050405020304" pitchFamily="18" charset="0"/>
                <a:sym typeface="Times" panose="02020603050405020304" pitchFamily="18" charset="0"/>
              </a:rPr>
              <a:t>Each device incorporates a repeater.</a:t>
            </a:r>
          </a:p>
          <a:p>
            <a:pPr defTabSz="914400">
              <a:lnSpc>
                <a:spcPct val="80000"/>
              </a:lnSpc>
              <a:buClr>
                <a:srgbClr val="000000"/>
              </a:buClr>
            </a:pPr>
            <a:r>
              <a:rPr lang="en-US" altLang="en-US" sz="2600" b="1">
                <a:latin typeface="Times New Roman" panose="02020603050405020304" pitchFamily="18" charset="0"/>
                <a:ea typeface="Times" panose="02020603050405020304" pitchFamily="18" charset="0"/>
                <a:cs typeface="Times New Roman" panose="02020603050405020304" pitchFamily="18" charset="0"/>
                <a:sym typeface="Times" panose="02020603050405020304" pitchFamily="18" charset="0"/>
              </a:rPr>
              <a:t>Advantages:</a:t>
            </a:r>
            <a:endParaRPr lang="en-US" altLang="en-US" sz="2600">
              <a:latin typeface="Times New Roman" panose="02020603050405020304" pitchFamily="18" charset="0"/>
              <a:cs typeface="Times New Roman" panose="02020603050405020304" pitchFamily="18" charset="0"/>
            </a:endParaRPr>
          </a:p>
          <a:p>
            <a:pPr lvl="1" defTabSz="914400">
              <a:lnSpc>
                <a:spcPct val="80000"/>
              </a:lnSpc>
              <a:buClr>
                <a:srgbClr val="000000"/>
              </a:buClr>
            </a:pPr>
            <a:r>
              <a:rPr lang="en-US" altLang="en-US" sz="2600">
                <a:latin typeface="Times New Roman" panose="02020603050405020304" pitchFamily="18" charset="0"/>
                <a:cs typeface="Times" panose="02020603050405020304" pitchFamily="18" charset="0"/>
                <a:sym typeface="Times" panose="02020603050405020304" pitchFamily="18" charset="0"/>
              </a:rPr>
              <a:t>Easy to add device.</a:t>
            </a:r>
          </a:p>
          <a:p>
            <a:pPr defTabSz="914400">
              <a:lnSpc>
                <a:spcPct val="80000"/>
              </a:lnSpc>
              <a:buClr>
                <a:srgbClr val="000000"/>
              </a:buClr>
            </a:pPr>
            <a:r>
              <a:rPr lang="en-US" altLang="en-US" sz="2600" b="1">
                <a:latin typeface="Times New Roman" panose="02020603050405020304" pitchFamily="18" charset="0"/>
                <a:cs typeface="Times" panose="02020603050405020304" pitchFamily="18" charset="0"/>
                <a:sym typeface="Times" panose="02020603050405020304" pitchFamily="18" charset="0"/>
              </a:rPr>
              <a:t>Disadvantages: </a:t>
            </a:r>
            <a:endParaRPr lang="en-US" altLang="en-US" sz="2600">
              <a:latin typeface="Times New Roman" panose="02020603050405020304" pitchFamily="18" charset="0"/>
              <a:cs typeface="Times New Roman" panose="02020603050405020304" pitchFamily="18" charset="0"/>
            </a:endParaRPr>
          </a:p>
          <a:p>
            <a:pPr lvl="1" defTabSz="914400">
              <a:lnSpc>
                <a:spcPct val="80000"/>
              </a:lnSpc>
              <a:buClr>
                <a:srgbClr val="000000"/>
              </a:buClr>
            </a:pPr>
            <a:r>
              <a:rPr lang="en-US" altLang="en-US" sz="2600">
                <a:latin typeface="Times New Roman" panose="02020603050405020304" pitchFamily="18" charset="0"/>
                <a:cs typeface="Times" panose="02020603050405020304" pitchFamily="18" charset="0"/>
                <a:sym typeface="Times" panose="02020603050405020304" pitchFamily="18" charset="0"/>
              </a:rPr>
              <a:t>Unidirectional traffic.</a:t>
            </a:r>
          </a:p>
          <a:p>
            <a:pPr defTabSz="914400">
              <a:lnSpc>
                <a:spcPct val="80000"/>
              </a:lnSpc>
              <a:buClr>
                <a:srgbClr val="000000"/>
              </a:buClr>
            </a:pPr>
            <a:r>
              <a:rPr lang="en-US" altLang="en-US" sz="2600" b="1">
                <a:latin typeface="Times New Roman" panose="02020603050405020304" pitchFamily="18" charset="0"/>
                <a:cs typeface="Times" panose="02020603050405020304" pitchFamily="18" charset="0"/>
                <a:sym typeface="Times" panose="02020603050405020304" pitchFamily="18" charset="0"/>
              </a:rPr>
              <a:t>An application</a:t>
            </a:r>
            <a:r>
              <a:rPr lang="en-US" altLang="en-US" sz="2600">
                <a:latin typeface="Times New Roman" panose="02020603050405020304" pitchFamily="18" charset="0"/>
                <a:cs typeface="Times" panose="02020603050405020304" pitchFamily="18" charset="0"/>
                <a:sym typeface="Times" panose="02020603050405020304" pitchFamily="18" charset="0"/>
              </a:rPr>
              <a:t>: Earlier LAN of IBM.</a:t>
            </a:r>
          </a:p>
          <a:p>
            <a:pPr lvl="1" defTabSz="914400">
              <a:lnSpc>
                <a:spcPct val="80000"/>
              </a:lnSpc>
              <a:buClr>
                <a:srgbClr val="000000"/>
              </a:buClr>
              <a:buFont typeface="Arial" panose="020B0604020202020204" pitchFamily="34" charset="0"/>
              <a:buNone/>
            </a:pPr>
            <a:endParaRPr lang="en-US" altLang="en-US" sz="2200">
              <a:latin typeface="Times" panose="02020603050405020304" pitchFamily="18" charset="0"/>
              <a:cs typeface="Times" panose="02020603050405020304" pitchFamily="18" charset="0"/>
              <a:sym typeface="Times" panose="02020603050405020304" pitchFamily="18" charset="0"/>
            </a:endParaRPr>
          </a:p>
        </p:txBody>
      </p:sp>
      <p:pic>
        <p:nvPicPr>
          <p:cNvPr id="50179" name="Picture 10">
            <a:extLst>
              <a:ext uri="{FF2B5EF4-FFF2-40B4-BE49-F238E27FC236}">
                <a16:creationId xmlns:a16="http://schemas.microsoft.com/office/drawing/2014/main" id="{88B4D106-249D-7307-8026-68DB1EC7DF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098925"/>
            <a:ext cx="7278688"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Google Shape;255;p20">
            <a:extLst>
              <a:ext uri="{FF2B5EF4-FFF2-40B4-BE49-F238E27FC236}">
                <a16:creationId xmlns:a16="http://schemas.microsoft.com/office/drawing/2014/main" id="{E06B506D-6C95-C419-1FD0-112F9A453E33}"/>
              </a:ext>
            </a:extLst>
          </p:cNvPr>
          <p:cNvSpPr>
            <a:spLocks noGrp="1" noChangeArrowheads="1"/>
          </p:cNvSpPr>
          <p:nvPr>
            <p:ph type="title"/>
          </p:nvPr>
        </p:nvSpPr>
        <p:spPr>
          <a:xfrm>
            <a:off x="3581400" y="-403225"/>
            <a:ext cx="4343400" cy="1325563"/>
          </a:xfrm>
        </p:spPr>
        <p:txBody>
          <a:bodyPr lIns="91425" tIns="45700" rIns="91425" bIns="45700"/>
          <a:lstStyle/>
          <a:p>
            <a:pPr>
              <a:buClr>
                <a:schemeClr val="accent1"/>
              </a:buClr>
              <a:buSzPts val="4400"/>
              <a:buFont typeface="Times" panose="02020603050405020304" pitchFamily="18" charset="0"/>
              <a:buNone/>
            </a:pPr>
            <a:r>
              <a:rPr lang="en-US" altLang="en-US" b="1">
                <a:solidFill>
                  <a:schemeClr val="accent1"/>
                </a:solidFill>
                <a:latin typeface="Times" panose="02020603050405020304" pitchFamily="18" charset="0"/>
                <a:cs typeface="Times" panose="02020603050405020304" pitchFamily="18" charset="0"/>
                <a:sym typeface="Times" panose="02020603050405020304" pitchFamily="18" charset="0"/>
              </a:rPr>
              <a:t>Ring Topology</a:t>
            </a:r>
            <a:endParaRPr lang="en-US" altLang="en-US" b="1">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a:extLst>
              <a:ext uri="{FF2B5EF4-FFF2-40B4-BE49-F238E27FC236}">
                <a16:creationId xmlns:a16="http://schemas.microsoft.com/office/drawing/2014/main" id="{320B41E5-27AA-AFA6-7657-6E58F976EA47}"/>
              </a:ext>
            </a:extLst>
          </p:cNvPr>
          <p:cNvSpPr txBox="1">
            <a:spLocks noChangeArrowheads="1"/>
          </p:cNvSpPr>
          <p:nvPr/>
        </p:nvSpPr>
        <p:spPr bwMode="auto">
          <a:xfrm>
            <a:off x="1828800" y="381000"/>
            <a:ext cx="7699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i="1">
                <a:solidFill>
                  <a:srgbClr val="3366FF"/>
                </a:solidFill>
                <a:latin typeface="Times New Roman" panose="02020603050405020304" pitchFamily="18" charset="0"/>
              </a:rPr>
              <a:t>A hybrid topology: a star backbone with three bus networks</a:t>
            </a:r>
          </a:p>
        </p:txBody>
      </p:sp>
      <p:pic>
        <p:nvPicPr>
          <p:cNvPr id="51203" name="Picture 6">
            <a:extLst>
              <a:ext uri="{FF2B5EF4-FFF2-40B4-BE49-F238E27FC236}">
                <a16:creationId xmlns:a16="http://schemas.microsoft.com/office/drawing/2014/main" id="{C1CE0094-BBC6-6B58-533E-019886104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600" y="1490663"/>
            <a:ext cx="6883400"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50697D87-8864-C6BB-FCC9-A5D7EAAA4976}"/>
              </a:ext>
            </a:extLst>
          </p:cNvPr>
          <p:cNvSpPr>
            <a:spLocks noGrp="1" noChangeArrowheads="1"/>
          </p:cNvSpPr>
          <p:nvPr>
            <p:ph type="title"/>
          </p:nvPr>
        </p:nvSpPr>
        <p:spPr>
          <a:xfrm>
            <a:off x="3640138" y="163513"/>
            <a:ext cx="4911725" cy="1011237"/>
          </a:xfrm>
        </p:spPr>
        <p:txBody>
          <a:bodyPr/>
          <a:lstStyle/>
          <a:p>
            <a:r>
              <a:rPr lang="en-IN" altLang="en-US">
                <a:solidFill>
                  <a:srgbClr val="3366FF"/>
                </a:solidFill>
                <a:latin typeface="Accord SF"/>
              </a:rPr>
              <a:t>Network Categories</a:t>
            </a:r>
          </a:p>
        </p:txBody>
      </p:sp>
      <p:sp>
        <p:nvSpPr>
          <p:cNvPr id="53251" name="Content Placeholder 2">
            <a:extLst>
              <a:ext uri="{FF2B5EF4-FFF2-40B4-BE49-F238E27FC236}">
                <a16:creationId xmlns:a16="http://schemas.microsoft.com/office/drawing/2014/main" id="{836E51D3-638D-B9CA-E279-8146CDBE7F0A}"/>
              </a:ext>
            </a:extLst>
          </p:cNvPr>
          <p:cNvSpPr>
            <a:spLocks noGrp="1" noChangeArrowheads="1"/>
          </p:cNvSpPr>
          <p:nvPr>
            <p:ph idx="1"/>
          </p:nvPr>
        </p:nvSpPr>
        <p:spPr>
          <a:xfrm>
            <a:off x="152400" y="1446213"/>
            <a:ext cx="12192000" cy="415925"/>
          </a:xfrm>
        </p:spPr>
        <p:txBody>
          <a:bodyPr/>
          <a:lstStyle/>
          <a:p>
            <a:pPr marL="0" indent="0">
              <a:buFont typeface="Arial" panose="020B0604020202020204" pitchFamily="34" charset="0"/>
              <a:buNone/>
            </a:pPr>
            <a:r>
              <a:rPr lang="en-IN" altLang="en-US" sz="2200">
                <a:latin typeface="Times New Roman" panose="02020603050405020304" pitchFamily="18" charset="0"/>
                <a:cs typeface="Times New Roman" panose="02020603050405020304" pitchFamily="18" charset="0"/>
              </a:rPr>
              <a:t>Network category is determined by its size and its physical architecture </a:t>
            </a:r>
          </a:p>
        </p:txBody>
      </p:sp>
      <p:grpSp>
        <p:nvGrpSpPr>
          <p:cNvPr id="53252" name="Group 2">
            <a:extLst>
              <a:ext uri="{FF2B5EF4-FFF2-40B4-BE49-F238E27FC236}">
                <a16:creationId xmlns:a16="http://schemas.microsoft.com/office/drawing/2014/main" id="{A48F8136-852C-AAB9-92F2-124A6BCD4533}"/>
              </a:ext>
            </a:extLst>
          </p:cNvPr>
          <p:cNvGrpSpPr>
            <a:grpSpLocks/>
          </p:cNvGrpSpPr>
          <p:nvPr/>
        </p:nvGrpSpPr>
        <p:grpSpPr bwMode="auto">
          <a:xfrm>
            <a:off x="1728788" y="2209800"/>
            <a:ext cx="8734425" cy="3767138"/>
            <a:chOff x="1670114" y="1838228"/>
            <a:chExt cx="8735278" cy="3766441"/>
          </a:xfrm>
        </p:grpSpPr>
        <p:sp>
          <p:nvSpPr>
            <p:cNvPr id="7" name="Rectangle: Rounded Corners 6">
              <a:extLst>
                <a:ext uri="{FF2B5EF4-FFF2-40B4-BE49-F238E27FC236}">
                  <a16:creationId xmlns:a16="http://schemas.microsoft.com/office/drawing/2014/main" id="{38B9DCDD-0A6B-D7D3-2106-F24C97F53A1C}"/>
                </a:ext>
              </a:extLst>
            </p:cNvPr>
            <p:cNvSpPr/>
            <p:nvPr/>
          </p:nvSpPr>
          <p:spPr>
            <a:xfrm>
              <a:off x="1670114" y="4398038"/>
              <a:ext cx="2498103" cy="120663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2200" b="1" dirty="0">
                  <a:latin typeface="Times New Roman" panose="02020603050405020304" pitchFamily="18" charset="0"/>
                  <a:cs typeface="Times New Roman" panose="02020603050405020304" pitchFamily="18" charset="0"/>
                </a:rPr>
                <a:t>Local area network (LAN)</a:t>
              </a:r>
            </a:p>
          </p:txBody>
        </p:sp>
        <p:grpSp>
          <p:nvGrpSpPr>
            <p:cNvPr id="53256" name="Group 1">
              <a:extLst>
                <a:ext uri="{FF2B5EF4-FFF2-40B4-BE49-F238E27FC236}">
                  <a16:creationId xmlns:a16="http://schemas.microsoft.com/office/drawing/2014/main" id="{5248E944-3E4B-D61B-2274-32C40592C81C}"/>
                </a:ext>
              </a:extLst>
            </p:cNvPr>
            <p:cNvGrpSpPr>
              <a:grpSpLocks/>
            </p:cNvGrpSpPr>
            <p:nvPr/>
          </p:nvGrpSpPr>
          <p:grpSpPr bwMode="auto">
            <a:xfrm>
              <a:off x="2667000" y="1838228"/>
              <a:ext cx="7738392" cy="3766441"/>
              <a:chOff x="2689225" y="1838227"/>
              <a:chExt cx="7738392" cy="3766441"/>
            </a:xfrm>
          </p:grpSpPr>
          <p:sp>
            <p:nvSpPr>
              <p:cNvPr id="6" name="Rectangle: Rounded Corners 5">
                <a:extLst>
                  <a:ext uri="{FF2B5EF4-FFF2-40B4-BE49-F238E27FC236}">
                    <a16:creationId xmlns:a16="http://schemas.microsoft.com/office/drawing/2014/main" id="{EFF0400D-02DB-EBD2-756D-7C141E653303}"/>
                  </a:ext>
                </a:extLst>
              </p:cNvPr>
              <p:cNvSpPr/>
              <p:nvPr/>
            </p:nvSpPr>
            <p:spPr>
              <a:xfrm>
                <a:off x="4685121" y="1838227"/>
                <a:ext cx="2498103" cy="120663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2200" b="1" dirty="0">
                    <a:latin typeface="Times New Roman" panose="02020603050405020304" pitchFamily="18" charset="0"/>
                    <a:cs typeface="Times New Roman" panose="02020603050405020304" pitchFamily="18" charset="0"/>
                  </a:rPr>
                  <a:t>Network</a:t>
                </a:r>
              </a:p>
            </p:txBody>
          </p:sp>
          <p:sp>
            <p:nvSpPr>
              <p:cNvPr id="8" name="Rectangle: Rounded Corners 7">
                <a:extLst>
                  <a:ext uri="{FF2B5EF4-FFF2-40B4-BE49-F238E27FC236}">
                    <a16:creationId xmlns:a16="http://schemas.microsoft.com/office/drawing/2014/main" id="{08DE2841-820F-7F51-F2A0-65AD724E1581}"/>
                  </a:ext>
                </a:extLst>
              </p:cNvPr>
              <p:cNvSpPr/>
              <p:nvPr/>
            </p:nvSpPr>
            <p:spPr>
              <a:xfrm>
                <a:off x="4685121" y="4398037"/>
                <a:ext cx="2498103" cy="120663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2200" b="1" dirty="0">
                    <a:latin typeface="Times New Roman" panose="02020603050405020304" pitchFamily="18" charset="0"/>
                    <a:cs typeface="Times New Roman" panose="02020603050405020304" pitchFamily="18" charset="0"/>
                  </a:rPr>
                  <a:t>Wide area network (WAN)</a:t>
                </a:r>
              </a:p>
            </p:txBody>
          </p:sp>
          <p:sp>
            <p:nvSpPr>
              <p:cNvPr id="9" name="Rectangle: Rounded Corners 8">
                <a:extLst>
                  <a:ext uri="{FF2B5EF4-FFF2-40B4-BE49-F238E27FC236}">
                    <a16:creationId xmlns:a16="http://schemas.microsoft.com/office/drawing/2014/main" id="{174A53A7-277A-4C8F-DBB7-5C812062DAB4}"/>
                  </a:ext>
                </a:extLst>
              </p:cNvPr>
              <p:cNvSpPr/>
              <p:nvPr/>
            </p:nvSpPr>
            <p:spPr>
              <a:xfrm>
                <a:off x="7929514" y="4398036"/>
                <a:ext cx="2498103" cy="120663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2200" b="1" dirty="0">
                    <a:latin typeface="Times New Roman" panose="02020603050405020304" pitchFamily="18" charset="0"/>
                    <a:cs typeface="Times New Roman" panose="02020603050405020304" pitchFamily="18" charset="0"/>
                  </a:rPr>
                  <a:t>Metropolitan area network (MAN)</a:t>
                </a:r>
              </a:p>
            </p:txBody>
          </p:sp>
          <p:cxnSp>
            <p:nvCxnSpPr>
              <p:cNvPr id="11" name="Straight Connector 10">
                <a:extLst>
                  <a:ext uri="{FF2B5EF4-FFF2-40B4-BE49-F238E27FC236}">
                    <a16:creationId xmlns:a16="http://schemas.microsoft.com/office/drawing/2014/main" id="{8A5F72E4-FA57-1937-4C97-EA2C2CC2032E}"/>
                  </a:ext>
                </a:extLst>
              </p:cNvPr>
              <p:cNvCxnSpPr>
                <a:stCxn id="0" idx="2"/>
              </p:cNvCxnSpPr>
              <p:nvPr/>
            </p:nvCxnSpPr>
            <p:spPr>
              <a:xfrm flipH="1">
                <a:off x="5934553" y="3044504"/>
                <a:ext cx="0" cy="86661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FE57F32-4A94-C7AD-B5B4-548393807CCD}"/>
                  </a:ext>
                </a:extLst>
              </p:cNvPr>
              <p:cNvCxnSpPr>
                <a:cxnSpLocks/>
              </p:cNvCxnSpPr>
              <p:nvPr/>
            </p:nvCxnSpPr>
            <p:spPr>
              <a:xfrm flipH="1">
                <a:off x="5934553" y="3911118"/>
                <a:ext cx="324516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C5DB97-E64F-0D7B-2FA3-A2B0F7BD0F8B}"/>
                  </a:ext>
                </a:extLst>
              </p:cNvPr>
              <p:cNvCxnSpPr>
                <a:cxnSpLocks/>
              </p:cNvCxnSpPr>
              <p:nvPr/>
            </p:nvCxnSpPr>
            <p:spPr>
              <a:xfrm flipH="1">
                <a:off x="2689386" y="3911118"/>
                <a:ext cx="324516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248845-D897-6250-4AED-C83E3D407D1B}"/>
                  </a:ext>
                </a:extLst>
              </p:cNvPr>
              <p:cNvCxnSpPr>
                <a:endCxn id="0" idx="0"/>
              </p:cNvCxnSpPr>
              <p:nvPr/>
            </p:nvCxnSpPr>
            <p:spPr>
              <a:xfrm>
                <a:off x="5934553" y="3911118"/>
                <a:ext cx="0" cy="4856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6ABA4B4-F0DC-9170-FF32-099B1E28FE63}"/>
                  </a:ext>
                </a:extLst>
              </p:cNvPr>
              <p:cNvCxnSpPr/>
              <p:nvPr/>
            </p:nvCxnSpPr>
            <p:spPr>
              <a:xfrm>
                <a:off x="9179720" y="3911118"/>
                <a:ext cx="0" cy="4856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739E6CF-FCCC-ACDB-5C44-E8C39DEDC1F2}"/>
                  </a:ext>
                </a:extLst>
              </p:cNvPr>
              <p:cNvCxnSpPr/>
              <p:nvPr/>
            </p:nvCxnSpPr>
            <p:spPr>
              <a:xfrm>
                <a:off x="2689386" y="3911118"/>
                <a:ext cx="0" cy="4856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6C3A4D45-3F3A-E5F7-31DE-4F02877AABA5}"/>
              </a:ext>
            </a:extLst>
          </p:cNvPr>
          <p:cNvSpPr>
            <a:spLocks noGrp="1" noChangeArrowheads="1"/>
          </p:cNvSpPr>
          <p:nvPr>
            <p:ph type="title"/>
          </p:nvPr>
        </p:nvSpPr>
        <p:spPr>
          <a:xfrm>
            <a:off x="3276600" y="0"/>
            <a:ext cx="6354763" cy="1171575"/>
          </a:xfrm>
        </p:spPr>
        <p:txBody>
          <a:bodyPr/>
          <a:lstStyle/>
          <a:p>
            <a:r>
              <a:rPr lang="en-IN" altLang="en-US" sz="3600" i="1">
                <a:solidFill>
                  <a:srgbClr val="3366FF"/>
                </a:solidFill>
                <a:latin typeface="Times New Roman" panose="02020603050405020304" pitchFamily="18" charset="0"/>
                <a:cs typeface="Times New Roman" panose="02020603050405020304" pitchFamily="18" charset="0"/>
              </a:rPr>
              <a:t>Local area network (LAN)</a:t>
            </a:r>
          </a:p>
        </p:txBody>
      </p:sp>
      <p:sp>
        <p:nvSpPr>
          <p:cNvPr id="54275" name="Content Placeholder 2">
            <a:extLst>
              <a:ext uri="{FF2B5EF4-FFF2-40B4-BE49-F238E27FC236}">
                <a16:creationId xmlns:a16="http://schemas.microsoft.com/office/drawing/2014/main" id="{93D413BB-1F9D-31EF-1181-103021A1771D}"/>
              </a:ext>
            </a:extLst>
          </p:cNvPr>
          <p:cNvSpPr>
            <a:spLocks noGrp="1" noChangeArrowheads="1"/>
          </p:cNvSpPr>
          <p:nvPr>
            <p:ph idx="1"/>
          </p:nvPr>
        </p:nvSpPr>
        <p:spPr>
          <a:xfrm>
            <a:off x="-9525" y="1066800"/>
            <a:ext cx="4962525" cy="5715000"/>
          </a:xfrm>
        </p:spPr>
        <p:txBody>
          <a:bodyPr/>
          <a:lstStyle/>
          <a:p>
            <a:pPr>
              <a:buClr>
                <a:srgbClr val="000000"/>
              </a:buClr>
            </a:pPr>
            <a:r>
              <a:rPr lang="en-US" altLang="en-US" sz="2400" dirty="0">
                <a:latin typeface="Times" panose="02020603050405020304" pitchFamily="18" charset="0"/>
                <a:cs typeface="Times" panose="02020603050405020304" pitchFamily="18" charset="0"/>
                <a:sym typeface="Times" panose="02020603050405020304" pitchFamily="18" charset="0"/>
              </a:rPr>
              <a:t>A </a:t>
            </a:r>
            <a:r>
              <a:rPr lang="en-US" altLang="en-US" sz="2400" b="1" dirty="0">
                <a:latin typeface="Times" panose="02020603050405020304" pitchFamily="18" charset="0"/>
                <a:cs typeface="Times" panose="02020603050405020304" pitchFamily="18" charset="0"/>
                <a:sym typeface="Times" panose="02020603050405020304" pitchFamily="18" charset="0"/>
              </a:rPr>
              <a:t>local area network </a:t>
            </a:r>
            <a:r>
              <a:rPr lang="en-US" altLang="en-US" sz="2400" dirty="0">
                <a:latin typeface="Times" panose="02020603050405020304" pitchFamily="18" charset="0"/>
                <a:cs typeface="Times" panose="02020603050405020304" pitchFamily="18" charset="0"/>
                <a:sym typeface="Times" panose="02020603050405020304" pitchFamily="18" charset="0"/>
              </a:rPr>
              <a:t>(</a:t>
            </a:r>
            <a:r>
              <a:rPr lang="en-US" altLang="en-US" sz="2400" b="1" dirty="0">
                <a:latin typeface="Times" panose="02020603050405020304" pitchFamily="18" charset="0"/>
                <a:cs typeface="Times" panose="02020603050405020304" pitchFamily="18" charset="0"/>
                <a:sym typeface="Times" panose="02020603050405020304" pitchFamily="18" charset="0"/>
              </a:rPr>
              <a:t>LAN</a:t>
            </a:r>
            <a:r>
              <a:rPr lang="en-US" altLang="en-US" sz="2400" dirty="0">
                <a:latin typeface="Times" panose="02020603050405020304" pitchFamily="18" charset="0"/>
                <a:cs typeface="Times" panose="02020603050405020304" pitchFamily="18" charset="0"/>
                <a:sym typeface="Times" panose="02020603050405020304" pitchFamily="18" charset="0"/>
              </a:rPr>
              <a:t>) is usually privately owned and connects some hosts in a single office, building, or campus (like CGU). </a:t>
            </a:r>
            <a:endParaRPr lang="en-US" altLang="en-US" sz="2400" dirty="0"/>
          </a:p>
          <a:p>
            <a:pPr>
              <a:buClr>
                <a:srgbClr val="000000"/>
              </a:buClr>
            </a:pPr>
            <a:r>
              <a:rPr lang="en-US" altLang="en-US" sz="2400" dirty="0">
                <a:latin typeface="Times" panose="02020603050405020304" pitchFamily="18" charset="0"/>
                <a:cs typeface="Times" panose="02020603050405020304" pitchFamily="18" charset="0"/>
                <a:sym typeface="Times" panose="02020603050405020304" pitchFamily="18" charset="0"/>
              </a:rPr>
              <a:t>Each host in a LAN has an address.</a:t>
            </a:r>
            <a:endParaRPr lang="en-US" altLang="en-US" sz="2400" dirty="0"/>
          </a:p>
          <a:p>
            <a:pPr>
              <a:buClr>
                <a:srgbClr val="000000"/>
              </a:buClr>
            </a:pPr>
            <a:r>
              <a:rPr lang="en-US" altLang="en-US" sz="2400" dirty="0">
                <a:latin typeface="Times" panose="02020603050405020304" pitchFamily="18" charset="0"/>
                <a:cs typeface="Times" panose="02020603050405020304" pitchFamily="18" charset="0"/>
                <a:sym typeface="Times" panose="02020603050405020304" pitchFamily="18" charset="0"/>
              </a:rPr>
              <a:t>Definition of a LAN does not define the minimum or maximum number of hosts in a LAN.</a:t>
            </a:r>
          </a:p>
          <a:p>
            <a:pPr algn="just" eaLnBrk="1" hangingPunct="1">
              <a:lnSpc>
                <a:spcPct val="11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LAN use any physical topology </a:t>
            </a:r>
            <a:r>
              <a:rPr lang="en-US" altLang="en-US" sz="2400" dirty="0">
                <a:solidFill>
                  <a:schemeClr val="accent1"/>
                </a:solidFill>
                <a:latin typeface="Times New Roman" panose="02020603050405020304" pitchFamily="18" charset="0"/>
                <a:cs typeface="Times New Roman" panose="02020603050405020304" pitchFamily="18" charset="0"/>
              </a:rPr>
              <a:t>(Bus, ring and</a:t>
            </a:r>
            <a:r>
              <a:rPr lang="en-US" altLang="en-US" sz="2400" dirty="0">
                <a:solidFill>
                  <a:srgbClr val="FF0000"/>
                </a:solidFill>
                <a:latin typeface="Times New Roman" panose="02020603050405020304" pitchFamily="18" charset="0"/>
                <a:cs typeface="Times New Roman" panose="02020603050405020304" pitchFamily="18" charset="0"/>
              </a:rPr>
              <a:t> star</a:t>
            </a:r>
            <a:r>
              <a:rPr lang="en-US" altLang="en-US" sz="2400" dirty="0">
                <a:solidFill>
                  <a:schemeClr val="accent1"/>
                </a:solidFill>
                <a:latin typeface="Times New Roman" panose="02020603050405020304" pitchFamily="18" charset="0"/>
                <a:cs typeface="Times New Roman" panose="02020603050405020304" pitchFamily="18" charset="0"/>
              </a:rPr>
              <a:t>).</a:t>
            </a:r>
          </a:p>
          <a:p>
            <a:pPr algn="just" eaLnBrk="1" hangingPunct="1">
              <a:lnSpc>
                <a:spcPct val="16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LAN covers an area &lt; 2 miles. </a:t>
            </a:r>
          </a:p>
          <a:p>
            <a:pPr algn="just" eaLnBrk="1" hangingPunct="1">
              <a:lnSpc>
                <a:spcPct val="160000"/>
              </a:lnSpc>
              <a:buFont typeface="Courier New" panose="02070309020205020404" pitchFamily="49" charset="0"/>
              <a:buChar char="o"/>
            </a:pPr>
            <a:endParaRPr lang="en-US" altLang="en-US" sz="2200" dirty="0">
              <a:latin typeface="Times New Roman" panose="02020603050405020304" pitchFamily="18" charset="0"/>
              <a:cs typeface="Times New Roman" panose="02020603050405020304" pitchFamily="18" charset="0"/>
            </a:endParaRPr>
          </a:p>
          <a:p>
            <a:pPr algn="just" eaLnBrk="1" hangingPunct="1">
              <a:lnSpc>
                <a:spcPct val="160000"/>
              </a:lnSpc>
              <a:buFont typeface="Courier New" panose="02070309020205020404" pitchFamily="49" charset="0"/>
              <a:buChar char="o"/>
            </a:pPr>
            <a:endParaRPr lang="en-US" altLang="en-US" sz="2200" dirty="0">
              <a:latin typeface="Times New Roman" panose="02020603050405020304" pitchFamily="18" charset="0"/>
              <a:cs typeface="Times New Roman" panose="02020603050405020304" pitchFamily="18" charset="0"/>
            </a:endParaRPr>
          </a:p>
          <a:p>
            <a:pPr algn="just">
              <a:lnSpc>
                <a:spcPct val="160000"/>
              </a:lnSpc>
            </a:pPr>
            <a:endParaRPr lang="en-IN" altLang="en-US" sz="2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75B5BF43-2C35-C806-8583-306BAB4324D6}"/>
              </a:ext>
            </a:extLst>
          </p:cNvPr>
          <p:cNvSpPr/>
          <p:nvPr/>
        </p:nvSpPr>
        <p:spPr>
          <a:xfrm>
            <a:off x="6873875" y="1998663"/>
            <a:ext cx="1063625" cy="38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54277" name="Picture 3">
            <a:extLst>
              <a:ext uri="{FF2B5EF4-FFF2-40B4-BE49-F238E27FC236}">
                <a16:creationId xmlns:a16="http://schemas.microsoft.com/office/drawing/2014/main" id="{D695F517-36F1-03B3-183B-4DF6ECFD6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813" y="1295400"/>
            <a:ext cx="721995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BD654DBC-C69D-FCA8-D91E-4766AE000FE9}"/>
              </a:ext>
            </a:extLst>
          </p:cNvPr>
          <p:cNvSpPr>
            <a:spLocks noGrp="1" noChangeArrowheads="1"/>
          </p:cNvSpPr>
          <p:nvPr>
            <p:ph type="title"/>
          </p:nvPr>
        </p:nvSpPr>
        <p:spPr>
          <a:xfrm>
            <a:off x="3798888" y="50800"/>
            <a:ext cx="8362950" cy="1144588"/>
          </a:xfrm>
        </p:spPr>
        <p:txBody>
          <a:bodyPr/>
          <a:lstStyle/>
          <a:p>
            <a:r>
              <a:rPr lang="en-IN" altLang="en-US" sz="3600" i="1">
                <a:solidFill>
                  <a:srgbClr val="3366FF"/>
                </a:solidFill>
                <a:latin typeface="Times New Roman" panose="02020603050405020304" pitchFamily="18" charset="0"/>
                <a:cs typeface="Times New Roman" panose="02020603050405020304" pitchFamily="18" charset="0"/>
              </a:rPr>
              <a:t>Wide area network (WAN)</a:t>
            </a:r>
          </a:p>
        </p:txBody>
      </p:sp>
      <p:sp>
        <p:nvSpPr>
          <p:cNvPr id="3" name="Content Placeholder 2">
            <a:extLst>
              <a:ext uri="{FF2B5EF4-FFF2-40B4-BE49-F238E27FC236}">
                <a16:creationId xmlns:a16="http://schemas.microsoft.com/office/drawing/2014/main" id="{06CBE82A-D33B-D129-24BF-78361F240EFE}"/>
              </a:ext>
            </a:extLst>
          </p:cNvPr>
          <p:cNvSpPr>
            <a:spLocks noGrp="1" noChangeArrowheads="1"/>
          </p:cNvSpPr>
          <p:nvPr>
            <p:ph idx="1"/>
          </p:nvPr>
        </p:nvSpPr>
        <p:spPr>
          <a:xfrm>
            <a:off x="-30162" y="1066800"/>
            <a:ext cx="12192000" cy="1265237"/>
          </a:xfrm>
        </p:spPr>
        <p:txBody>
          <a:bodyPr/>
          <a:lstStyle/>
          <a:p>
            <a:pPr algn="just">
              <a:lnSpc>
                <a:spcPct val="150000"/>
              </a:lnSpc>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Provide long distance transmission of data, image, audio and video information over large areas. </a:t>
            </a:r>
          </a:p>
          <a:p>
            <a:pPr algn="just">
              <a:lnSpc>
                <a:spcPct val="1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Covers a large geographical area, like a country or continent. Connects LANs and MANs.</a:t>
            </a:r>
            <a:endParaRPr lang="en-IN"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1C45F2D-A222-0A4C-2FE4-13FF5A551EBE}"/>
              </a:ext>
            </a:extLst>
          </p:cNvPr>
          <p:cNvPicPr>
            <a:picLocks noChangeAspect="1"/>
          </p:cNvPicPr>
          <p:nvPr/>
        </p:nvPicPr>
        <p:blipFill>
          <a:blip r:embed="rId2"/>
          <a:stretch>
            <a:fillRect/>
          </a:stretch>
        </p:blipFill>
        <p:spPr>
          <a:xfrm>
            <a:off x="5715000" y="2725761"/>
            <a:ext cx="6248400" cy="3600406"/>
          </a:xfrm>
          <a:prstGeom prst="rect">
            <a:avLst/>
          </a:prstGeom>
        </p:spPr>
      </p:pic>
      <p:pic>
        <p:nvPicPr>
          <p:cNvPr id="5" name="Picture 4">
            <a:extLst>
              <a:ext uri="{FF2B5EF4-FFF2-40B4-BE49-F238E27FC236}">
                <a16:creationId xmlns:a16="http://schemas.microsoft.com/office/drawing/2014/main" id="{45FE826E-317D-0B11-36E1-21253ADFEF5D}"/>
              </a:ext>
            </a:extLst>
          </p:cNvPr>
          <p:cNvPicPr>
            <a:picLocks noChangeAspect="1"/>
          </p:cNvPicPr>
          <p:nvPr/>
        </p:nvPicPr>
        <p:blipFill>
          <a:blip r:embed="rId3"/>
          <a:stretch>
            <a:fillRect/>
          </a:stretch>
        </p:blipFill>
        <p:spPr>
          <a:xfrm>
            <a:off x="109092" y="2888799"/>
            <a:ext cx="5605908" cy="34373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49CBE6E3-B908-1CE5-0035-8F3DAD59FD50}"/>
              </a:ext>
            </a:extLst>
          </p:cNvPr>
          <p:cNvSpPr>
            <a:spLocks noGrp="1" noChangeArrowheads="1"/>
          </p:cNvSpPr>
          <p:nvPr>
            <p:ph type="title"/>
          </p:nvPr>
        </p:nvSpPr>
        <p:spPr>
          <a:xfrm>
            <a:off x="2971800" y="76200"/>
            <a:ext cx="8531225" cy="1011238"/>
          </a:xfrm>
        </p:spPr>
        <p:txBody>
          <a:bodyPr/>
          <a:lstStyle/>
          <a:p>
            <a:r>
              <a:rPr lang="en-IN" altLang="en-US" sz="3600" i="1">
                <a:solidFill>
                  <a:srgbClr val="3366FF"/>
                </a:solidFill>
                <a:latin typeface="Times New Roman" panose="02020603050405020304" pitchFamily="18" charset="0"/>
                <a:cs typeface="Times New Roman" panose="02020603050405020304" pitchFamily="18" charset="0"/>
              </a:rPr>
              <a:t>Metropolitan area network (MAN) </a:t>
            </a:r>
          </a:p>
        </p:txBody>
      </p:sp>
      <p:sp>
        <p:nvSpPr>
          <p:cNvPr id="56323" name="Content Placeholder 2">
            <a:extLst>
              <a:ext uri="{FF2B5EF4-FFF2-40B4-BE49-F238E27FC236}">
                <a16:creationId xmlns:a16="http://schemas.microsoft.com/office/drawing/2014/main" id="{6D4F5826-A1A7-6F79-0CF0-55DA5D07337D}"/>
              </a:ext>
            </a:extLst>
          </p:cNvPr>
          <p:cNvSpPr>
            <a:spLocks noGrp="1" noChangeArrowheads="1"/>
          </p:cNvSpPr>
          <p:nvPr>
            <p:ph idx="1"/>
          </p:nvPr>
        </p:nvSpPr>
        <p:spPr>
          <a:xfrm>
            <a:off x="0" y="1252538"/>
            <a:ext cx="12192000" cy="1895475"/>
          </a:xfrm>
        </p:spPr>
        <p:txBody>
          <a:bodyPr/>
          <a:lstStyle/>
          <a:p>
            <a:pPr algn="just">
              <a:lnSpc>
                <a:spcPct val="150000"/>
              </a:lnSpc>
              <a:buFont typeface="Courier New" panose="02070309020205020404" pitchFamily="49" charset="0"/>
              <a:buChar char="o"/>
            </a:pPr>
            <a:r>
              <a:rPr lang="en-IN" altLang="en-US" sz="2200">
                <a:latin typeface="Times New Roman" panose="02020603050405020304" pitchFamily="18" charset="0"/>
                <a:cs typeface="Times New Roman" panose="02020603050405020304" pitchFamily="18" charset="0"/>
              </a:rPr>
              <a:t>Its size is in between LAN and WAN.</a:t>
            </a:r>
          </a:p>
          <a:p>
            <a:pPr algn="just">
              <a:lnSpc>
                <a:spcPct val="150000"/>
              </a:lnSpc>
              <a:buFont typeface="Courier New" panose="02070309020205020404" pitchFamily="49" charset="0"/>
              <a:buChar char="o"/>
            </a:pPr>
            <a:r>
              <a:rPr lang="en-IN" altLang="en-US" sz="2200">
                <a:latin typeface="Times New Roman" panose="02020603050405020304" pitchFamily="18" charset="0"/>
                <a:cs typeface="Times New Roman" panose="02020603050405020304" pitchFamily="18" charset="0"/>
              </a:rPr>
              <a:t>Covers the area inside a town or a city. </a:t>
            </a:r>
          </a:p>
          <a:p>
            <a:pPr algn="just">
              <a:lnSpc>
                <a:spcPct val="150000"/>
              </a:lnSpc>
              <a:buFont typeface="Courier New" panose="02070309020205020404" pitchFamily="49" charset="0"/>
              <a:buChar char="o"/>
            </a:pPr>
            <a:r>
              <a:rPr lang="en-IN" altLang="en-US" sz="2200">
                <a:latin typeface="Times New Roman" panose="02020603050405020304" pitchFamily="18" charset="0"/>
                <a:cs typeface="Times New Roman" panose="02020603050405020304" pitchFamily="18" charset="0"/>
              </a:rPr>
              <a:t>Example: Cable TV network used for high-speed data connection to the internet. </a:t>
            </a:r>
          </a:p>
        </p:txBody>
      </p:sp>
      <p:pic>
        <p:nvPicPr>
          <p:cNvPr id="56324" name="Picture 4">
            <a:extLst>
              <a:ext uri="{FF2B5EF4-FFF2-40B4-BE49-F238E27FC236}">
                <a16:creationId xmlns:a16="http://schemas.microsoft.com/office/drawing/2014/main" id="{5C106B03-BC75-20CA-DC50-8A957BE79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209925"/>
            <a:ext cx="5467350"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55FC01-2B1A-2CBE-0329-C91C28C97DF3}"/>
              </a:ext>
            </a:extLst>
          </p:cNvPr>
          <p:cNvSpPr>
            <a:spLocks noGrp="1"/>
          </p:cNvSpPr>
          <p:nvPr>
            <p:ph type="sldNum" sz="quarter" idx="12"/>
          </p:nvPr>
        </p:nvSpPr>
        <p:spPr/>
        <p:txBody>
          <a:bodyPr/>
          <a:lstStyle/>
          <a:p>
            <a:pPr>
              <a:defRPr/>
            </a:pPr>
            <a:r>
              <a:rPr lang="en-US" altLang="en-US"/>
              <a:t>1.</a:t>
            </a:r>
            <a:fld id="{D0F3D252-46FB-4F3E-A60A-83427126AEB1}" type="slidenum">
              <a:rPr lang="en-US" altLang="en-US" smtClean="0"/>
              <a:pPr>
                <a:defRPr/>
              </a:pPr>
              <a:t>29</a:t>
            </a:fld>
            <a:endParaRPr lang="en-US" altLang="en-US"/>
          </a:p>
        </p:txBody>
      </p:sp>
      <p:graphicFrame>
        <p:nvGraphicFramePr>
          <p:cNvPr id="4" name="Table 3">
            <a:extLst>
              <a:ext uri="{FF2B5EF4-FFF2-40B4-BE49-F238E27FC236}">
                <a16:creationId xmlns:a16="http://schemas.microsoft.com/office/drawing/2014/main" id="{126E60C5-5D5B-827F-CD36-D57A5B328F84}"/>
              </a:ext>
            </a:extLst>
          </p:cNvPr>
          <p:cNvGraphicFramePr>
            <a:graphicFrameLocks noGrp="1"/>
          </p:cNvGraphicFramePr>
          <p:nvPr>
            <p:extLst>
              <p:ext uri="{D42A27DB-BD31-4B8C-83A1-F6EECF244321}">
                <p14:modId xmlns:p14="http://schemas.microsoft.com/office/powerpoint/2010/main" val="2461374875"/>
              </p:ext>
            </p:extLst>
          </p:nvPr>
        </p:nvGraphicFramePr>
        <p:xfrm>
          <a:off x="152400" y="136525"/>
          <a:ext cx="11887200" cy="6401524"/>
        </p:xfrm>
        <a:graphic>
          <a:graphicData uri="http://schemas.openxmlformats.org/drawingml/2006/table">
            <a:tbl>
              <a:tblPr/>
              <a:tblGrid>
                <a:gridCol w="2286000">
                  <a:extLst>
                    <a:ext uri="{9D8B030D-6E8A-4147-A177-3AD203B41FA5}">
                      <a16:colId xmlns:a16="http://schemas.microsoft.com/office/drawing/2014/main" val="1057191752"/>
                    </a:ext>
                  </a:extLst>
                </a:gridCol>
                <a:gridCol w="3048000">
                  <a:extLst>
                    <a:ext uri="{9D8B030D-6E8A-4147-A177-3AD203B41FA5}">
                      <a16:colId xmlns:a16="http://schemas.microsoft.com/office/drawing/2014/main" val="4280700892"/>
                    </a:ext>
                  </a:extLst>
                </a:gridCol>
                <a:gridCol w="3200400">
                  <a:extLst>
                    <a:ext uri="{9D8B030D-6E8A-4147-A177-3AD203B41FA5}">
                      <a16:colId xmlns:a16="http://schemas.microsoft.com/office/drawing/2014/main" val="1033483798"/>
                    </a:ext>
                  </a:extLst>
                </a:gridCol>
                <a:gridCol w="3352800">
                  <a:extLst>
                    <a:ext uri="{9D8B030D-6E8A-4147-A177-3AD203B41FA5}">
                      <a16:colId xmlns:a16="http://schemas.microsoft.com/office/drawing/2014/main" val="530245498"/>
                    </a:ext>
                  </a:extLst>
                </a:gridCol>
              </a:tblGrid>
              <a:tr h="494024">
                <a:tc>
                  <a:txBody>
                    <a:bodyPr/>
                    <a:lstStyle/>
                    <a:p>
                      <a:pPr>
                        <a:buNone/>
                      </a:pPr>
                      <a:r>
                        <a:rPr lang="en-IN" sz="1800" b="1" dirty="0">
                          <a:latin typeface="Times New Roman" panose="02020603050405020304" pitchFamily="18" charset="0"/>
                          <a:cs typeface="Times New Roman" panose="02020603050405020304" pitchFamily="18" charset="0"/>
                        </a:rPr>
                        <a:t>Parameter</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800" b="1">
                          <a:latin typeface="Times New Roman" panose="02020603050405020304" pitchFamily="18" charset="0"/>
                          <a:cs typeface="Times New Roman" panose="02020603050405020304" pitchFamily="18" charset="0"/>
                        </a:rPr>
                        <a:t>LAN (Local Area Network)</a:t>
                      </a:r>
                      <a:endParaRPr lang="en-IN" sz="180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800" b="1">
                          <a:latin typeface="Times New Roman" panose="02020603050405020304" pitchFamily="18" charset="0"/>
                          <a:cs typeface="Times New Roman" panose="02020603050405020304" pitchFamily="18" charset="0"/>
                        </a:rPr>
                        <a:t>MAN (Metropolitan Area Network)</a:t>
                      </a:r>
                      <a:endParaRPr lang="en-IN" sz="180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800" b="1">
                          <a:latin typeface="Times New Roman" panose="02020603050405020304" pitchFamily="18" charset="0"/>
                          <a:cs typeface="Times New Roman" panose="02020603050405020304" pitchFamily="18" charset="0"/>
                        </a:rPr>
                        <a:t>WAN (Wide Area Network)</a:t>
                      </a:r>
                      <a:endParaRPr lang="en-IN" sz="180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60221964"/>
                  </a:ext>
                </a:extLst>
              </a:tr>
              <a:tr h="917471">
                <a:tc>
                  <a:txBody>
                    <a:bodyPr/>
                    <a:lstStyle/>
                    <a:p>
                      <a:pPr>
                        <a:buNone/>
                      </a:pPr>
                      <a:r>
                        <a:rPr lang="en-IN" sz="1800" b="1" dirty="0">
                          <a:latin typeface="Times New Roman" panose="02020603050405020304" pitchFamily="18" charset="0"/>
                          <a:cs typeface="Times New Roman" panose="02020603050405020304" pitchFamily="18" charset="0"/>
                        </a:rPr>
                        <a:t> Coverage Area</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Covers a small geographical area such as a room, building, office, or campus.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Covers a city or metropolitan area.</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Covers a country, continent, or the entire world.</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309565636"/>
                  </a:ext>
                </a:extLst>
              </a:tr>
              <a:tr h="917471">
                <a:tc>
                  <a:txBody>
                    <a:bodyPr/>
                    <a:lstStyle/>
                    <a:p>
                      <a:pPr>
                        <a:buNone/>
                      </a:pPr>
                      <a:r>
                        <a:rPr lang="en-IN" sz="1800" b="1" dirty="0">
                          <a:latin typeface="Times New Roman" panose="02020603050405020304" pitchFamily="18" charset="0"/>
                          <a:cs typeface="Times New Roman" panose="02020603050405020304" pitchFamily="18" charset="0"/>
                        </a:rPr>
                        <a:t>Ownership</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Privately owned and managed by a single organization or institution.</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Owned and managed by a government, ISP, or large organization.</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Managed by telecom operators, ISPs, or multiple organizations.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81099853"/>
                  </a:ext>
                </a:extLst>
              </a:tr>
              <a:tr h="705747">
                <a:tc>
                  <a:txBody>
                    <a:bodyPr/>
                    <a:lstStyle/>
                    <a:p>
                      <a:pPr>
                        <a:buNone/>
                      </a:pPr>
                      <a:r>
                        <a:rPr lang="en-IN" sz="1800" b="1" dirty="0">
                          <a:latin typeface="Times New Roman" panose="02020603050405020304" pitchFamily="18" charset="0"/>
                          <a:cs typeface="Times New Roman" panose="02020603050405020304" pitchFamily="18" charset="0"/>
                        </a:rPr>
                        <a:t>Transmission Speed</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Very high (typically 100 Mbps to several Gbps).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High, but generally lower than LAN.</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Lower than LAN and MAN due to long-distance communication.</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06601079"/>
                  </a:ext>
                </a:extLst>
              </a:tr>
              <a:tr h="512483">
                <a:tc>
                  <a:txBody>
                    <a:bodyPr/>
                    <a:lstStyle/>
                    <a:p>
                      <a:pPr>
                        <a:buNone/>
                      </a:pPr>
                      <a:r>
                        <a:rPr lang="en-US" sz="1800" b="1" dirty="0">
                          <a:latin typeface="Times New Roman" panose="02020603050405020304" pitchFamily="18" charset="0"/>
                          <a:cs typeface="Times New Roman" panose="02020603050405020304" pitchFamily="18" charset="0"/>
                        </a:rPr>
                        <a:t>Installation Cost</a:t>
                      </a:r>
                      <a:endParaRPr lang="en-US"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800" dirty="0">
                          <a:latin typeface="Times New Roman" panose="02020603050405020304" pitchFamily="18" charset="0"/>
                          <a:cs typeface="Times New Roman" panose="02020603050405020304" pitchFamily="18" charset="0"/>
                        </a:rPr>
                        <a:t>Low</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800" dirty="0">
                          <a:latin typeface="Times New Roman" panose="02020603050405020304" pitchFamily="18" charset="0"/>
                          <a:cs typeface="Times New Roman" panose="02020603050405020304" pitchFamily="18" charset="0"/>
                        </a:rPr>
                        <a:t>Moderate</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High</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166023447"/>
                  </a:ext>
                </a:extLst>
              </a:tr>
              <a:tr h="705747">
                <a:tc>
                  <a:txBody>
                    <a:bodyPr/>
                    <a:lstStyle/>
                    <a:p>
                      <a:pPr>
                        <a:buNone/>
                      </a:pPr>
                      <a:r>
                        <a:rPr lang="en-IN" sz="1800" b="1" dirty="0">
                          <a:latin typeface="Times New Roman" panose="02020603050405020304" pitchFamily="18" charset="0"/>
                          <a:cs typeface="Times New Roman" panose="02020603050405020304" pitchFamily="18" charset="0"/>
                        </a:rPr>
                        <a:t>Transmission Medium</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Ethernet cables, Fiber Optic cables, and Wi-Fi.</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Fiber Optic cables, and Microwave links.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Fiber Optic, Leased Lines, Satellite links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71998889"/>
                  </a:ext>
                </a:extLst>
              </a:tr>
              <a:tr h="705747">
                <a:tc>
                  <a:txBody>
                    <a:bodyPr/>
                    <a:lstStyle/>
                    <a:p>
                      <a:pPr>
                        <a:buNone/>
                      </a:pPr>
                      <a:r>
                        <a:rPr lang="en-IN" sz="1800" b="1" dirty="0">
                          <a:latin typeface="Times New Roman" panose="02020603050405020304" pitchFamily="18" charset="0"/>
                          <a:cs typeface="Times New Roman" panose="02020603050405020304" pitchFamily="18" charset="0"/>
                        </a:rPr>
                        <a:t>Propagation Delay</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Very low because of the short communication distance.</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Moderate due to wider geographical coverage.</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High because data travels over long distances.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19412222"/>
                  </a:ext>
                </a:extLst>
              </a:tr>
              <a:tr h="1340920">
                <a:tc>
                  <a:txBody>
                    <a:bodyPr/>
                    <a:lstStyle/>
                    <a:p>
                      <a:pPr>
                        <a:buNone/>
                      </a:pPr>
                      <a:r>
                        <a:rPr lang="en-IN" sz="1800" b="1" dirty="0">
                          <a:latin typeface="Times New Roman" panose="02020603050405020304" pitchFamily="18" charset="0"/>
                          <a:cs typeface="Times New Roman" panose="02020603050405020304" pitchFamily="18" charset="0"/>
                        </a:rPr>
                        <a:t> Examples</a:t>
                      </a:r>
                      <a:endParaRPr lang="en-IN" sz="1800" dirty="0">
                        <a:latin typeface="Times New Roman" panose="02020603050405020304" pitchFamily="18" charset="0"/>
                        <a:cs typeface="Times New Roman" panose="02020603050405020304" pitchFamily="18" charset="0"/>
                      </a:endParaRP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a:latin typeface="Times New Roman" panose="02020603050405020304" pitchFamily="18" charset="0"/>
                          <a:cs typeface="Times New Roman" panose="02020603050405020304" pitchFamily="18" charset="0"/>
                        </a:rPr>
                        <a:t>Home network, office network, computer laboratory, college campus network.</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City-wide university network, cable TV network, smart city network</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1800" dirty="0">
                          <a:latin typeface="Times New Roman" panose="02020603050405020304" pitchFamily="18" charset="0"/>
                          <a:cs typeface="Times New Roman" panose="02020603050405020304" pitchFamily="18" charset="0"/>
                        </a:rPr>
                        <a:t>Internet, banking network,, multinational corporate network.</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32113484"/>
                  </a:ext>
                </a:extLst>
              </a:tr>
            </a:tbl>
          </a:graphicData>
        </a:graphic>
      </p:graphicFrame>
    </p:spTree>
    <p:extLst>
      <p:ext uri="{BB962C8B-B14F-4D97-AF65-F5344CB8AC3E}">
        <p14:creationId xmlns:p14="http://schemas.microsoft.com/office/powerpoint/2010/main" val="2635216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C324889-F9A3-B631-354D-B50AF0D4AD4B}"/>
              </a:ext>
            </a:extLst>
          </p:cNvPr>
          <p:cNvSpPr>
            <a:spLocks noGrp="1" noChangeArrowheads="1"/>
          </p:cNvSpPr>
          <p:nvPr>
            <p:ph type="title"/>
          </p:nvPr>
        </p:nvSpPr>
        <p:spPr>
          <a:xfrm>
            <a:off x="3352800" y="190500"/>
            <a:ext cx="4281488" cy="1143000"/>
          </a:xfrm>
        </p:spPr>
        <p:txBody>
          <a:bodyPr anchor="t"/>
          <a:lstStyle/>
          <a:p>
            <a:pPr eaLnBrk="1" hangingPunct="1"/>
            <a:r>
              <a:rPr lang="en-GB" altLang="en-US" sz="3600">
                <a:solidFill>
                  <a:srgbClr val="3366FF"/>
                </a:solidFill>
                <a:latin typeface="Times New Roman" panose="02020603050405020304" pitchFamily="18" charset="0"/>
                <a:cs typeface="Times New Roman" panose="02020603050405020304" pitchFamily="18" charset="0"/>
              </a:rPr>
              <a:t>Internet Today</a:t>
            </a:r>
            <a:endParaRPr lang="en-IN" altLang="en-US" sz="3600">
              <a:solidFill>
                <a:srgbClr val="3366FF"/>
              </a:solidFill>
              <a:latin typeface="Times New Roman" panose="02020603050405020304" pitchFamily="18" charset="0"/>
              <a:cs typeface="Times New Roman" panose="02020603050405020304" pitchFamily="18" charset="0"/>
            </a:endParaRPr>
          </a:p>
        </p:txBody>
      </p:sp>
      <p:sp>
        <p:nvSpPr>
          <p:cNvPr id="57347" name="Content Placeholder 2">
            <a:extLst>
              <a:ext uri="{FF2B5EF4-FFF2-40B4-BE49-F238E27FC236}">
                <a16:creationId xmlns:a16="http://schemas.microsoft.com/office/drawing/2014/main" id="{EDD27871-C514-7D6B-A99A-B42D61143B9E}"/>
              </a:ext>
            </a:extLst>
          </p:cNvPr>
          <p:cNvSpPr>
            <a:spLocks noGrp="1" noChangeArrowheads="1"/>
          </p:cNvSpPr>
          <p:nvPr>
            <p:ph idx="1"/>
          </p:nvPr>
        </p:nvSpPr>
        <p:spPr>
          <a:xfrm>
            <a:off x="0" y="1155700"/>
            <a:ext cx="6454775" cy="4351338"/>
          </a:xfrm>
        </p:spPr>
        <p:txBody>
          <a:bodyPr/>
          <a:lstStyle/>
          <a:p>
            <a:pPr lvl="1" eaLnBrk="1" hangingPunct="1">
              <a:lnSpc>
                <a:spcPct val="100000"/>
              </a:lnSpc>
              <a:buFont typeface="Courier New" panose="02070309020205020404" pitchFamily="49" charset="0"/>
              <a:buChar char="o"/>
            </a:pPr>
            <a:r>
              <a:rPr lang="en-GB" altLang="en-US" sz="2200">
                <a:latin typeface="Times New Roman" panose="02020603050405020304" pitchFamily="18" charset="0"/>
                <a:cs typeface="Times New Roman" panose="02020603050405020304" pitchFamily="18" charset="0"/>
              </a:rPr>
              <a:t>Made of many LANs and WANs</a:t>
            </a:r>
          </a:p>
          <a:p>
            <a:pPr lvl="1" eaLnBrk="1" hangingPunct="1">
              <a:lnSpc>
                <a:spcPct val="100000"/>
              </a:lnSpc>
              <a:buFont typeface="Courier New" panose="02070309020205020404" pitchFamily="49" charset="0"/>
              <a:buChar char="o"/>
            </a:pPr>
            <a:r>
              <a:rPr lang="en-GB" altLang="en-US" sz="2200">
                <a:latin typeface="Times New Roman" panose="02020603050405020304" pitchFamily="18" charset="0"/>
                <a:cs typeface="Times New Roman" panose="02020603050405020304" pitchFamily="18" charset="0"/>
              </a:rPr>
              <a:t>Every day new networks area added and removed</a:t>
            </a:r>
          </a:p>
          <a:p>
            <a:pPr lvl="1" eaLnBrk="1" hangingPunct="1">
              <a:lnSpc>
                <a:spcPct val="100000"/>
              </a:lnSpc>
              <a:buFont typeface="Courier New" panose="02070309020205020404" pitchFamily="49" charset="0"/>
              <a:buChar char="o"/>
            </a:pPr>
            <a:r>
              <a:rPr lang="en-GB" altLang="en-US" sz="2200">
                <a:latin typeface="Times New Roman" panose="02020603050405020304" pitchFamily="18" charset="0"/>
                <a:cs typeface="Times New Roman" panose="02020603050405020304" pitchFamily="18" charset="0"/>
              </a:rPr>
              <a:t>Internet services Providers (ISPs) offer services to the end users</a:t>
            </a:r>
          </a:p>
          <a:p>
            <a:pPr lvl="2" eaLnBrk="1" hangingPunct="1">
              <a:lnSpc>
                <a:spcPct val="150000"/>
              </a:lnSpc>
            </a:pPr>
            <a:r>
              <a:rPr lang="en-GB" altLang="en-US" sz="2200">
                <a:latin typeface="Times New Roman" panose="02020603050405020304" pitchFamily="18" charset="0"/>
                <a:cs typeface="Times New Roman" panose="02020603050405020304" pitchFamily="18" charset="0"/>
              </a:rPr>
              <a:t>International service providers</a:t>
            </a:r>
          </a:p>
          <a:p>
            <a:pPr lvl="2" eaLnBrk="1" hangingPunct="1">
              <a:lnSpc>
                <a:spcPct val="150000"/>
              </a:lnSpc>
            </a:pPr>
            <a:r>
              <a:rPr lang="en-GB" altLang="en-US" sz="2200">
                <a:latin typeface="Times New Roman" panose="02020603050405020304" pitchFamily="18" charset="0"/>
                <a:cs typeface="Times New Roman" panose="02020603050405020304" pitchFamily="18" charset="0"/>
              </a:rPr>
              <a:t>National service providers</a:t>
            </a:r>
          </a:p>
          <a:p>
            <a:pPr lvl="2" eaLnBrk="1" hangingPunct="1">
              <a:lnSpc>
                <a:spcPct val="150000"/>
              </a:lnSpc>
            </a:pPr>
            <a:r>
              <a:rPr lang="en-GB" altLang="en-US" sz="2200">
                <a:latin typeface="Times New Roman" panose="02020603050405020304" pitchFamily="18" charset="0"/>
                <a:cs typeface="Times New Roman" panose="02020603050405020304" pitchFamily="18" charset="0"/>
              </a:rPr>
              <a:t>Regional service providers</a:t>
            </a:r>
          </a:p>
          <a:p>
            <a:pPr lvl="2" eaLnBrk="1" hangingPunct="1">
              <a:lnSpc>
                <a:spcPct val="150000"/>
              </a:lnSpc>
            </a:pPr>
            <a:r>
              <a:rPr lang="en-GB" altLang="en-US" sz="2200">
                <a:latin typeface="Times New Roman" panose="02020603050405020304" pitchFamily="18" charset="0"/>
                <a:cs typeface="Times New Roman" panose="02020603050405020304" pitchFamily="18" charset="0"/>
              </a:rPr>
              <a:t>Local service providers</a:t>
            </a:r>
          </a:p>
        </p:txBody>
      </p:sp>
      <p:pic>
        <p:nvPicPr>
          <p:cNvPr id="57348" name="Picture 6">
            <a:extLst>
              <a:ext uri="{FF2B5EF4-FFF2-40B4-BE49-F238E27FC236}">
                <a16:creationId xmlns:a16="http://schemas.microsoft.com/office/drawing/2014/main" id="{31DF4137-34F5-4CFB-3679-A74AF93E83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1190625"/>
            <a:ext cx="5494338"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a:extLst>
              <a:ext uri="{FF2B5EF4-FFF2-40B4-BE49-F238E27FC236}">
                <a16:creationId xmlns:a16="http://schemas.microsoft.com/office/drawing/2014/main" id="{A329BD9C-2736-BDEF-A92D-4F40260B4E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888" y="1143000"/>
            <a:ext cx="11960225" cy="4298950"/>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58371" name="Title 1">
            <a:extLst>
              <a:ext uri="{FF2B5EF4-FFF2-40B4-BE49-F238E27FC236}">
                <a16:creationId xmlns:a16="http://schemas.microsoft.com/office/drawing/2014/main" id="{00E9D7A1-DA19-3DCA-F096-F937F0AB63C1}"/>
              </a:ext>
            </a:extLst>
          </p:cNvPr>
          <p:cNvSpPr txBox="1">
            <a:spLocks noChangeArrowheads="1"/>
          </p:cNvSpPr>
          <p:nvPr/>
        </p:nvSpPr>
        <p:spPr bwMode="auto">
          <a:xfrm>
            <a:off x="2438400" y="273050"/>
            <a:ext cx="67659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defTabSz="914400" eaLnBrk="1" hangingPunct="1">
              <a:spcBef>
                <a:spcPct val="0"/>
              </a:spcBef>
              <a:buFontTx/>
              <a:buNone/>
            </a:pPr>
            <a:r>
              <a:rPr lang="en-GB" altLang="en-US" sz="3600">
                <a:solidFill>
                  <a:srgbClr val="3366FF"/>
                </a:solidFill>
                <a:latin typeface="Accord SF"/>
              </a:rPr>
              <a:t>Internet Today: Examples</a:t>
            </a:r>
            <a:endParaRPr lang="en-IN" altLang="en-US" sz="3600">
              <a:solidFill>
                <a:srgbClr val="3366FF"/>
              </a:solidFill>
              <a:latin typeface="Accord SF"/>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EF1A63B2-33BD-75D9-13AD-EA0B9672A49E}"/>
              </a:ext>
            </a:extLst>
          </p:cNvPr>
          <p:cNvSpPr>
            <a:spLocks noGrp="1" noChangeArrowheads="1"/>
          </p:cNvSpPr>
          <p:nvPr>
            <p:ph type="title"/>
          </p:nvPr>
        </p:nvSpPr>
        <p:spPr>
          <a:xfrm>
            <a:off x="609600" y="152400"/>
            <a:ext cx="1995488" cy="925513"/>
          </a:xfrm>
        </p:spPr>
        <p:txBody>
          <a:bodyPr/>
          <a:lstStyle/>
          <a:p>
            <a:r>
              <a:rPr lang="en-US" altLang="en-US" sz="3600" i="1">
                <a:solidFill>
                  <a:srgbClr val="3366FF"/>
                </a:solidFill>
                <a:latin typeface="Accord SF"/>
              </a:rPr>
              <a:t>Protocols</a:t>
            </a:r>
            <a:endParaRPr lang="en-IN" altLang="en-US" sz="3600" i="1">
              <a:solidFill>
                <a:srgbClr val="3366FF"/>
              </a:solidFill>
              <a:latin typeface="Accord SF"/>
            </a:endParaRPr>
          </a:p>
        </p:txBody>
      </p:sp>
      <p:sp>
        <p:nvSpPr>
          <p:cNvPr id="59395" name="Content Placeholder 2">
            <a:extLst>
              <a:ext uri="{FF2B5EF4-FFF2-40B4-BE49-F238E27FC236}">
                <a16:creationId xmlns:a16="http://schemas.microsoft.com/office/drawing/2014/main" id="{3163C72E-EF3E-11F9-0AF9-C6D96722AF5A}"/>
              </a:ext>
            </a:extLst>
          </p:cNvPr>
          <p:cNvSpPr>
            <a:spLocks noGrp="1" noChangeArrowheads="1"/>
          </p:cNvSpPr>
          <p:nvPr>
            <p:ph idx="1"/>
          </p:nvPr>
        </p:nvSpPr>
        <p:spPr>
          <a:xfrm>
            <a:off x="304800" y="142875"/>
            <a:ext cx="11277600" cy="2928938"/>
          </a:xfrm>
        </p:spPr>
        <p:txBody>
          <a:bodyPr/>
          <a:lstStyle/>
          <a:p>
            <a:pPr marL="0" indent="0">
              <a:lnSpc>
                <a:spcPct val="150000"/>
              </a:lnSpc>
              <a:buFont typeface="Arial" panose="020B0604020202020204" pitchFamily="34" charset="0"/>
              <a:buNone/>
            </a:pPr>
            <a:endParaRPr lang="en-US" altLang="en-US" sz="2400" u="sng">
              <a:solidFill>
                <a:schemeClr val="accent1"/>
              </a:solidFill>
              <a:latin typeface="Accord SF"/>
            </a:endParaRPr>
          </a:p>
          <a:p>
            <a:pPr marL="457200" lvl="1" indent="0" algn="just" eaLnBrk="1" hangingPunct="1">
              <a:lnSpc>
                <a:spcPct val="150000"/>
              </a:lnSpc>
              <a:buFont typeface="Arial" panose="020B0604020202020204" pitchFamily="34" charset="0"/>
              <a:buNone/>
            </a:pPr>
            <a:r>
              <a:rPr lang="en-US" altLang="en-US" sz="2200">
                <a:latin typeface="Times New Roman" panose="02020603050405020304" pitchFamily="18" charset="0"/>
                <a:cs typeface="Times New Roman" panose="02020603050405020304" pitchFamily="18" charset="0"/>
              </a:rPr>
              <a:t>A protocol is a set of rules that govern data communications.  Defines the methods of Communication, what to communicate, when to communicate, how to communicate etc.</a:t>
            </a:r>
          </a:p>
          <a:p>
            <a:pPr marL="0" indent="0">
              <a:lnSpc>
                <a:spcPct val="150000"/>
              </a:lnSpc>
              <a:buFont typeface="Arial" panose="020B0604020202020204" pitchFamily="34" charset="0"/>
              <a:buNone/>
            </a:pPr>
            <a:endParaRPr lang="en-US" altLang="en-US" sz="2400" u="sng">
              <a:solidFill>
                <a:schemeClr val="accent1"/>
              </a:solidFill>
              <a:latin typeface="Accord SF"/>
            </a:endParaRPr>
          </a:p>
        </p:txBody>
      </p:sp>
      <p:pic>
        <p:nvPicPr>
          <p:cNvPr id="59396" name="Picture 3">
            <a:extLst>
              <a:ext uri="{FF2B5EF4-FFF2-40B4-BE49-F238E27FC236}">
                <a16:creationId xmlns:a16="http://schemas.microsoft.com/office/drawing/2014/main" id="{8B0636EE-662E-DE47-9A94-2BD553967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363" y="1808163"/>
            <a:ext cx="11145837"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5">
            <a:extLst>
              <a:ext uri="{FF2B5EF4-FFF2-40B4-BE49-F238E27FC236}">
                <a16:creationId xmlns:a16="http://schemas.microsoft.com/office/drawing/2014/main" id="{B4D86C6A-DFC9-C7D6-D30B-86411EE29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38" y="5162550"/>
            <a:ext cx="108585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8F5CDEE3-D09C-E5B9-B08E-24C84865E064}"/>
              </a:ext>
            </a:extLst>
          </p:cNvPr>
          <p:cNvSpPr>
            <a:spLocks noGrp="1" noChangeArrowheads="1"/>
          </p:cNvSpPr>
          <p:nvPr>
            <p:ph type="title"/>
          </p:nvPr>
        </p:nvSpPr>
        <p:spPr>
          <a:xfrm>
            <a:off x="421640" y="-152400"/>
            <a:ext cx="2913063" cy="1104900"/>
          </a:xfrm>
        </p:spPr>
        <p:txBody>
          <a:bodyPr/>
          <a:lstStyle/>
          <a:p>
            <a:r>
              <a:rPr lang="en-IN" altLang="en-US" sz="3600" dirty="0">
                <a:solidFill>
                  <a:srgbClr val="3366FF"/>
                </a:solidFill>
                <a:latin typeface="Accord SF"/>
              </a:rPr>
              <a:t>Standards</a:t>
            </a:r>
          </a:p>
        </p:txBody>
      </p:sp>
      <p:sp>
        <p:nvSpPr>
          <p:cNvPr id="66563" name="Content Placeholder 2">
            <a:extLst>
              <a:ext uri="{FF2B5EF4-FFF2-40B4-BE49-F238E27FC236}">
                <a16:creationId xmlns:a16="http://schemas.microsoft.com/office/drawing/2014/main" id="{9A41820A-2580-68B1-82ED-6B35C4045F59}"/>
              </a:ext>
            </a:extLst>
          </p:cNvPr>
          <p:cNvSpPr>
            <a:spLocks noGrp="1" noChangeArrowheads="1"/>
          </p:cNvSpPr>
          <p:nvPr>
            <p:ph idx="1"/>
          </p:nvPr>
        </p:nvSpPr>
        <p:spPr>
          <a:xfrm>
            <a:off x="381000" y="762000"/>
            <a:ext cx="11430000" cy="1371600"/>
          </a:xfrm>
        </p:spPr>
        <p:txBody>
          <a:bodyPr/>
          <a:lstStyle/>
          <a:p>
            <a:pPr eaLnBrk="1" hangingPunct="1">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Standard </a:t>
            </a:r>
            <a:r>
              <a:rPr lang="en-US" altLang="en-US" sz="2400" dirty="0">
                <a:solidFill>
                  <a:srgbClr val="FF0000"/>
                </a:solidFill>
                <a:latin typeface="Times New Roman" panose="02020603050405020304" pitchFamily="18" charset="0"/>
                <a:cs typeface="Times New Roman" panose="02020603050405020304" pitchFamily="18" charset="0"/>
              </a:rPr>
              <a:t>provides guidelines </a:t>
            </a:r>
            <a:r>
              <a:rPr lang="en-US" altLang="en-US" sz="2400" dirty="0">
                <a:latin typeface="Times New Roman" panose="02020603050405020304" pitchFamily="18" charset="0"/>
                <a:cs typeface="Times New Roman" panose="02020603050405020304" pitchFamily="18" charset="0"/>
              </a:rPr>
              <a:t>to manufacturers, vendors, government agencies, and other service providers.  It </a:t>
            </a:r>
            <a:r>
              <a:rPr lang="en-US" altLang="en-US" sz="2400" dirty="0">
                <a:solidFill>
                  <a:srgbClr val="FF0000"/>
                </a:solidFill>
                <a:latin typeface="Times New Roman" panose="02020603050405020304" pitchFamily="18" charset="0"/>
                <a:cs typeface="Times New Roman" panose="02020603050405020304" pitchFamily="18" charset="0"/>
              </a:rPr>
              <a:t>ensure</a:t>
            </a:r>
            <a:r>
              <a:rPr lang="en-US" altLang="en-US" sz="2400" dirty="0">
                <a:latin typeface="Times New Roman" panose="02020603050405020304" pitchFamily="18" charset="0"/>
                <a:cs typeface="Times New Roman" panose="02020603050405020304" pitchFamily="18" charset="0"/>
              </a:rPr>
              <a:t> about the </a:t>
            </a:r>
            <a:r>
              <a:rPr lang="en-US" altLang="en-US" sz="2400" dirty="0">
                <a:solidFill>
                  <a:srgbClr val="FF0000"/>
                </a:solidFill>
                <a:latin typeface="Times New Roman" panose="02020603050405020304" pitchFamily="18" charset="0"/>
                <a:cs typeface="Times New Roman" panose="02020603050405020304" pitchFamily="18" charset="0"/>
              </a:rPr>
              <a:t>interconnectivity and compatible </a:t>
            </a:r>
            <a:r>
              <a:rPr lang="en-US" altLang="en-US" sz="2400" dirty="0">
                <a:latin typeface="Times New Roman" panose="02020603050405020304" pitchFamily="18" charset="0"/>
                <a:cs typeface="Times New Roman" panose="02020603050405020304" pitchFamily="18" charset="0"/>
              </a:rPr>
              <a:t>of the devices.</a:t>
            </a:r>
          </a:p>
          <a:p>
            <a:pPr eaLnBrk="1" hangingPunct="1">
              <a:lnSpc>
                <a:spcPct val="100000"/>
              </a:lnSpc>
              <a:buFont typeface="Courier New" panose="02070309020205020404" pitchFamily="49" charset="0"/>
              <a:buChar char="o"/>
            </a:pPr>
            <a:r>
              <a:rPr lang="en-US" altLang="en-US" sz="2200" dirty="0">
                <a:latin typeface="Times New Roman" panose="02020603050405020304" pitchFamily="18" charset="0"/>
                <a:cs typeface="Times New Roman" panose="02020603050405020304" pitchFamily="18" charset="0"/>
              </a:rPr>
              <a:t>It helps in creating and maintaining an open and competitive market for equipment manufactures.</a:t>
            </a:r>
          </a:p>
        </p:txBody>
      </p:sp>
      <p:sp>
        <p:nvSpPr>
          <p:cNvPr id="2" name="Content Placeholder 2">
            <a:extLst>
              <a:ext uri="{FF2B5EF4-FFF2-40B4-BE49-F238E27FC236}">
                <a16:creationId xmlns:a16="http://schemas.microsoft.com/office/drawing/2014/main" id="{10E9C7D1-D4A5-A4D7-7260-4C74F7F03F8F}"/>
              </a:ext>
            </a:extLst>
          </p:cNvPr>
          <p:cNvSpPr txBox="1">
            <a:spLocks/>
          </p:cNvSpPr>
          <p:nvPr/>
        </p:nvSpPr>
        <p:spPr bwMode="auto">
          <a:xfrm>
            <a:off x="401320" y="2362200"/>
            <a:ext cx="116586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150000"/>
              </a:lnSpc>
              <a:buFont typeface="Arial" panose="020B0604020202020204" pitchFamily="34" charset="0"/>
              <a:buNone/>
              <a:defRPr/>
            </a:pPr>
            <a:r>
              <a:rPr lang="en-IN" sz="2200" dirty="0">
                <a:solidFill>
                  <a:srgbClr val="000000"/>
                </a:solidFill>
                <a:latin typeface="Times New Roman" panose="02020603050405020304" pitchFamily="18" charset="0"/>
                <a:cs typeface="Times New Roman" panose="02020603050405020304" pitchFamily="18" charset="0"/>
              </a:rPr>
              <a:t>    Data communication standards fall into two categories:</a:t>
            </a:r>
          </a:p>
          <a:p>
            <a:pPr marL="0" indent="0" defTabSz="914400">
              <a:lnSpc>
                <a:spcPct val="150000"/>
              </a:lnSpc>
              <a:buFont typeface="Arial" panose="020B0604020202020204" pitchFamily="34" charset="0"/>
              <a:buNone/>
              <a:defRPr/>
            </a:pPr>
            <a:r>
              <a:rPr lang="en-US" altLang="en-US" sz="2200" dirty="0">
                <a:solidFill>
                  <a:srgbClr val="3333FF"/>
                </a:solidFill>
                <a:latin typeface="Times New Roman" panose="02020603050405020304" pitchFamily="18" charset="0"/>
                <a:cs typeface="Times New Roman" panose="02020603050405020304" pitchFamily="18" charset="0"/>
              </a:rPr>
              <a:t> 1.  De facto</a:t>
            </a:r>
            <a:endParaRPr lang="en-IN" sz="2200" dirty="0">
              <a:latin typeface="Times New Roman" panose="02020603050405020304" pitchFamily="18" charset="0"/>
              <a:cs typeface="Times New Roman" panose="02020603050405020304" pitchFamily="18" charset="0"/>
            </a:endParaRPr>
          </a:p>
          <a:p>
            <a:pPr defTabSz="914400">
              <a:lnSpc>
                <a:spcPct val="100000"/>
              </a:lnSpc>
              <a:buFont typeface="Wingdings" panose="05000000000000000000" pitchFamily="2" charset="2"/>
              <a:buChar char="ü"/>
              <a:defRPr/>
            </a:pPr>
            <a:r>
              <a:rPr lang="en-IN" sz="2200" dirty="0">
                <a:latin typeface="Times New Roman" panose="02020603050405020304" pitchFamily="18" charset="0"/>
                <a:cs typeface="Times New Roman" panose="02020603050405020304" pitchFamily="18" charset="0"/>
              </a:rPr>
              <a:t>De facto means by facts or by conventions. </a:t>
            </a:r>
          </a:p>
          <a:p>
            <a:pPr defTabSz="914400">
              <a:lnSpc>
                <a:spcPct val="100000"/>
              </a:lnSpc>
              <a:buFont typeface="Wingdings" panose="05000000000000000000" pitchFamily="2" charset="2"/>
              <a:buChar char="ü"/>
              <a:defRPr/>
            </a:pPr>
            <a:r>
              <a:rPr lang="en-IN" sz="2200" dirty="0">
                <a:latin typeface="Times New Roman" panose="02020603050405020304" pitchFamily="18" charset="0"/>
                <a:cs typeface="Times New Roman" panose="02020603050405020304" pitchFamily="18" charset="0"/>
              </a:rPr>
              <a:t> The standards that are </a:t>
            </a:r>
            <a:r>
              <a:rPr lang="en-US" sz="2200" dirty="0">
                <a:latin typeface="Times New Roman" panose="02020603050405020304" pitchFamily="18" charset="0"/>
                <a:cs typeface="Times New Roman" panose="02020603050405020304" pitchFamily="18" charset="0"/>
              </a:rPr>
              <a:t>n</a:t>
            </a:r>
            <a:r>
              <a:rPr lang="en-US" altLang="en-US" sz="2200" dirty="0">
                <a:latin typeface="Times New Roman" panose="02020603050405020304" pitchFamily="18" charset="0"/>
                <a:cs typeface="Times New Roman" panose="02020603050405020304" pitchFamily="18" charset="0"/>
              </a:rPr>
              <a:t>ot approved by an organized  but are widely used are De facto standards. These are established by manufacturer.</a:t>
            </a:r>
          </a:p>
          <a:p>
            <a:pPr marL="0" indent="0" defTabSz="914400">
              <a:lnSpc>
                <a:spcPct val="150000"/>
              </a:lnSpc>
              <a:buFont typeface="Arial" panose="020B0604020202020204" pitchFamily="34" charset="0"/>
              <a:buNone/>
              <a:defRPr/>
            </a:pPr>
            <a:r>
              <a:rPr lang="en-US" altLang="en-US" sz="2200" dirty="0">
                <a:solidFill>
                  <a:srgbClr val="3333FF"/>
                </a:solidFill>
                <a:latin typeface="Times New Roman" panose="02020603050405020304" pitchFamily="18" charset="0"/>
                <a:cs typeface="Times New Roman" panose="02020603050405020304" pitchFamily="18" charset="0"/>
              </a:rPr>
              <a:t>  2. De jure</a:t>
            </a:r>
            <a:r>
              <a:rPr lang="en-US" altLang="en-US" sz="2200" dirty="0">
                <a:latin typeface="Times New Roman" panose="02020603050405020304" pitchFamily="18" charset="0"/>
                <a:cs typeface="Times New Roman" panose="02020603050405020304" pitchFamily="18" charset="0"/>
              </a:rPr>
              <a:t>: </a:t>
            </a:r>
          </a:p>
          <a:p>
            <a:pPr defTabSz="914400">
              <a:lnSpc>
                <a:spcPct val="100000"/>
              </a:lnSpc>
              <a:buFont typeface="Wingdings" panose="05000000000000000000" pitchFamily="2" charset="2"/>
              <a:buChar char="ü"/>
              <a:defRPr/>
            </a:pPr>
            <a:r>
              <a:rPr lang="en-US" altLang="en-US" sz="2200" dirty="0">
                <a:latin typeface="Times New Roman" panose="02020603050405020304" pitchFamily="18" charset="0"/>
                <a:cs typeface="Times New Roman" panose="02020603050405020304" pitchFamily="18" charset="0"/>
              </a:rPr>
              <a:t>De jure means by law or by regulations. </a:t>
            </a:r>
          </a:p>
          <a:p>
            <a:pPr defTabSz="914400">
              <a:lnSpc>
                <a:spcPct val="100000"/>
              </a:lnSpc>
              <a:buFont typeface="Wingdings" panose="05000000000000000000" pitchFamily="2" charset="2"/>
              <a:buChar char="ü"/>
              <a:defRPr/>
            </a:pPr>
            <a:r>
              <a:rPr lang="en-US" altLang="en-US" sz="2200" dirty="0">
                <a:latin typeface="Times New Roman" panose="02020603050405020304" pitchFamily="18" charset="0"/>
                <a:cs typeface="Times New Roman" panose="02020603050405020304" pitchFamily="18" charset="0"/>
              </a:rPr>
              <a:t>These are the standards that are recognized officially by organizations.</a:t>
            </a:r>
          </a:p>
          <a:p>
            <a:pPr marL="914400" lvl="2" indent="0" defTabSz="914400">
              <a:lnSpc>
                <a:spcPct val="150000"/>
              </a:lnSpc>
              <a:buFont typeface="Arial" panose="020B0604020202020204" pitchFamily="34" charset="0"/>
              <a:buNone/>
              <a:defRPr/>
            </a:pPr>
            <a:endParaRPr lang="en-IN" sz="2200" dirty="0">
              <a:solidFill>
                <a:srgbClr val="000000"/>
              </a:solidFill>
              <a:latin typeface="Times New Roman" panose="02020603050405020304" pitchFamily="18" charset="0"/>
              <a:cs typeface="Times New Roman" panose="02020603050405020304" pitchFamily="18" charset="0"/>
            </a:endParaRPr>
          </a:p>
          <a:p>
            <a:pPr marL="914400" lvl="2" indent="0" defTabSz="914400">
              <a:lnSpc>
                <a:spcPct val="150000"/>
              </a:lnSpc>
              <a:buFont typeface="Arial" panose="020B0604020202020204" pitchFamily="34" charset="0"/>
              <a:buNone/>
              <a:defRPr/>
            </a:pPr>
            <a:br>
              <a:rPr lang="en-IN" dirty="0"/>
            </a:br>
            <a:r>
              <a:rPr lang="en-IN" sz="2200" dirty="0">
                <a:solidFill>
                  <a:schemeClr val="accent1"/>
                </a:solidFill>
                <a:latin typeface="Times New Roman" panose="02020603050405020304" pitchFamily="18" charset="0"/>
                <a:cs typeface="Times New Roman" panose="02020603050405020304" pitchFamily="18" charset="0"/>
              </a:rPr>
              <a:t> </a:t>
            </a:r>
          </a:p>
          <a:p>
            <a:pPr marL="914400" lvl="2" indent="0" defTabSz="914400">
              <a:lnSpc>
                <a:spcPct val="150000"/>
              </a:lnSpc>
              <a:buFont typeface="Arial" panose="020B0604020202020204" pitchFamily="34" charset="0"/>
              <a:buNone/>
              <a:defRPr/>
            </a:pPr>
            <a:br>
              <a:rPr lang="en-IN" sz="2200"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 </a:t>
            </a:r>
          </a:p>
          <a:p>
            <a:pPr marL="0" indent="0" defTabSz="914400">
              <a:lnSpc>
                <a:spcPct val="150000"/>
              </a:lnSpc>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a:p>
            <a:pPr marL="0" indent="0" defTabSz="914400">
              <a:lnSpc>
                <a:spcPct val="150000"/>
              </a:lnSpc>
              <a:buFont typeface="Arial" panose="020B0604020202020204" pitchFamily="34" charset="0"/>
              <a:buNone/>
              <a:defRPr/>
            </a:pPr>
            <a:br>
              <a:rPr lang="en-IN"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Box 3">
            <a:extLst>
              <a:ext uri="{FF2B5EF4-FFF2-40B4-BE49-F238E27FC236}">
                <a16:creationId xmlns:a16="http://schemas.microsoft.com/office/drawing/2014/main" id="{882B5DDE-7E75-69D1-3AEE-810848725DB3}"/>
              </a:ext>
            </a:extLst>
          </p:cNvPr>
          <p:cNvSpPr txBox="1">
            <a:spLocks noChangeArrowheads="1"/>
          </p:cNvSpPr>
          <p:nvPr/>
        </p:nvSpPr>
        <p:spPr bwMode="auto">
          <a:xfrm>
            <a:off x="228600" y="922338"/>
            <a:ext cx="112014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 typeface="Wingdings" panose="05000000000000000000" pitchFamily="2" charset="2"/>
              <a:buChar char="q"/>
            </a:pPr>
            <a:r>
              <a:rPr lang="en-US" altLang="en-US" sz="2400">
                <a:solidFill>
                  <a:schemeClr val="accent1"/>
                </a:solidFill>
                <a:latin typeface="Times New Roman" panose="02020603050405020304" pitchFamily="18" charset="0"/>
                <a:cs typeface="Times New Roman" panose="02020603050405020304" pitchFamily="18" charset="0"/>
              </a:rPr>
              <a:t>International Standards Organization (ISO): </a:t>
            </a:r>
            <a:r>
              <a:rPr lang="en-IN" altLang="en-US" sz="2400">
                <a:solidFill>
                  <a:srgbClr val="000000"/>
                </a:solidFill>
                <a:latin typeface="Times New Roman" panose="02020603050405020304" pitchFamily="18" charset="0"/>
                <a:cs typeface="Times New Roman" panose="02020603050405020304" pitchFamily="18" charset="0"/>
              </a:rPr>
              <a:t>Developing cooperation in the realms of scientific, technological and economic activity.</a:t>
            </a:r>
          </a:p>
          <a:p>
            <a:pPr algn="just">
              <a:lnSpc>
                <a:spcPct val="150000"/>
              </a:lnSpc>
              <a:spcBef>
                <a:spcPct val="0"/>
              </a:spcBef>
              <a:buFont typeface="Wingdings" panose="05000000000000000000" pitchFamily="2" charset="2"/>
              <a:buChar char="q"/>
            </a:pPr>
            <a:r>
              <a:rPr lang="en-IN" altLang="en-US" sz="2400">
                <a:solidFill>
                  <a:schemeClr val="accent1"/>
                </a:solidFill>
                <a:latin typeface="Times New Roman" panose="02020603050405020304" pitchFamily="18" charset="0"/>
                <a:cs typeface="Times New Roman" panose="02020603050405020304" pitchFamily="18" charset="0"/>
              </a:rPr>
              <a:t>International Telecommunication Union (ITU) : </a:t>
            </a:r>
            <a:r>
              <a:rPr lang="en-IN" altLang="en-US" sz="2400">
                <a:solidFill>
                  <a:srgbClr val="000000"/>
                </a:solidFill>
                <a:latin typeface="Times New Roman" panose="02020603050405020304" pitchFamily="18" charset="0"/>
                <a:cs typeface="Times New Roman" panose="02020603050405020304" pitchFamily="18" charset="0"/>
              </a:rPr>
              <a:t>Research and establishment of standards for telecommunication in general</a:t>
            </a:r>
          </a:p>
          <a:p>
            <a:pPr algn="just">
              <a:lnSpc>
                <a:spcPct val="150000"/>
              </a:lnSpc>
              <a:spcBef>
                <a:spcPct val="0"/>
              </a:spcBef>
              <a:buFont typeface="Wingdings" panose="05000000000000000000" pitchFamily="2" charset="2"/>
              <a:buChar char="q"/>
            </a:pPr>
            <a:r>
              <a:rPr lang="en-IN" altLang="en-US" sz="2400">
                <a:solidFill>
                  <a:schemeClr val="accent1"/>
                </a:solidFill>
                <a:latin typeface="Times New Roman" panose="02020603050405020304" pitchFamily="18" charset="0"/>
                <a:cs typeface="Times New Roman" panose="02020603050405020304" pitchFamily="18" charset="0"/>
              </a:rPr>
              <a:t>Institute of Electrical and Electronics Engineers (IEEE): </a:t>
            </a:r>
            <a:r>
              <a:rPr lang="en-IN" altLang="en-US" sz="2400">
                <a:solidFill>
                  <a:srgbClr val="000000"/>
                </a:solidFill>
                <a:latin typeface="Times New Roman" panose="02020603050405020304" pitchFamily="18" charset="0"/>
                <a:cs typeface="Times New Roman" panose="02020603050405020304" pitchFamily="18" charset="0"/>
              </a:rPr>
              <a:t>It aims to advance theory, creativity and product quality in the fields of electrical engineering, electronics and radio as well as in all related branches of engineering. </a:t>
            </a:r>
          </a:p>
          <a:p>
            <a:pPr algn="just">
              <a:lnSpc>
                <a:spcPct val="150000"/>
              </a:lnSpc>
              <a:spcBef>
                <a:spcPct val="0"/>
              </a:spcBef>
              <a:buFont typeface="Wingdings" panose="05000000000000000000" pitchFamily="2" charset="2"/>
              <a:buChar char="q"/>
            </a:pPr>
            <a:r>
              <a:rPr lang="en-IN" altLang="en-US" sz="2400">
                <a:solidFill>
                  <a:schemeClr val="accent1"/>
                </a:solidFill>
                <a:latin typeface="Times New Roman" panose="02020603050405020304" pitchFamily="18" charset="0"/>
                <a:cs typeface="Times New Roman" panose="02020603050405020304" pitchFamily="18" charset="0"/>
              </a:rPr>
              <a:t>Electronic Industries Association (EIA): </a:t>
            </a:r>
            <a:r>
              <a:rPr lang="en-IN" altLang="en-US" sz="2400">
                <a:latin typeface="Times New Roman" panose="02020603050405020304" pitchFamily="18" charset="0"/>
                <a:cs typeface="Times New Roman" panose="02020603050405020304" pitchFamily="18" charset="0"/>
              </a:rPr>
              <a:t>Promotion of electronics manufacturing concerns.</a:t>
            </a:r>
          </a:p>
        </p:txBody>
      </p:sp>
      <p:sp>
        <p:nvSpPr>
          <p:cNvPr id="61443" name="Title 1">
            <a:extLst>
              <a:ext uri="{FF2B5EF4-FFF2-40B4-BE49-F238E27FC236}">
                <a16:creationId xmlns:a16="http://schemas.microsoft.com/office/drawing/2014/main" id="{4E0AEBB6-9D92-6B39-B2A0-15A72F33A15A}"/>
              </a:ext>
            </a:extLst>
          </p:cNvPr>
          <p:cNvSpPr>
            <a:spLocks noGrp="1" noChangeArrowheads="1"/>
          </p:cNvSpPr>
          <p:nvPr>
            <p:ph type="title"/>
          </p:nvPr>
        </p:nvSpPr>
        <p:spPr>
          <a:xfrm>
            <a:off x="4495800" y="0"/>
            <a:ext cx="2913063" cy="1104900"/>
          </a:xfrm>
        </p:spPr>
        <p:txBody>
          <a:bodyPr/>
          <a:lstStyle/>
          <a:p>
            <a:r>
              <a:rPr lang="en-IN" altLang="en-US" sz="3600">
                <a:solidFill>
                  <a:srgbClr val="3366FF"/>
                </a:solidFill>
                <a:latin typeface="Accord SF"/>
              </a:rPr>
              <a:t>Standards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croll: Horizontal 5">
            <a:extLst>
              <a:ext uri="{FF2B5EF4-FFF2-40B4-BE49-F238E27FC236}">
                <a16:creationId xmlns:a16="http://schemas.microsoft.com/office/drawing/2014/main" id="{E9EA7907-7F7B-A252-A7A5-21C98FB25507}"/>
              </a:ext>
            </a:extLst>
          </p:cNvPr>
          <p:cNvSpPr/>
          <p:nvPr/>
        </p:nvSpPr>
        <p:spPr>
          <a:xfrm>
            <a:off x="2773363" y="2241550"/>
            <a:ext cx="6645275" cy="2374900"/>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sz="6000" b="1" dirty="0">
                <a:latin typeface="BacktalkSerif BTN" panose="02060604050405040405" pitchFamily="18" charset="0"/>
                <a:cs typeface="Times New Roman" panose="02020603050405020304" pitchFamily="18" charset="0"/>
              </a:rPr>
              <a:t>Network Models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98C7A3B1-DF47-9E55-7AE6-4F5265A91DCC}"/>
              </a:ext>
            </a:extLst>
          </p:cNvPr>
          <p:cNvSpPr>
            <a:spLocks noGrp="1" noChangeArrowheads="1"/>
          </p:cNvSpPr>
          <p:nvPr>
            <p:ph type="title"/>
          </p:nvPr>
        </p:nvSpPr>
        <p:spPr>
          <a:xfrm>
            <a:off x="838200" y="365125"/>
            <a:ext cx="7543800" cy="982663"/>
          </a:xfrm>
        </p:spPr>
        <p:txBody>
          <a:bodyPr/>
          <a:lstStyle/>
          <a:p>
            <a:pPr eaLnBrk="1" hangingPunct="1"/>
            <a:r>
              <a:rPr lang="en-IN" altLang="en-US" b="1" dirty="0">
                <a:solidFill>
                  <a:schemeClr val="accent1"/>
                </a:solidFill>
                <a:latin typeface="Times New Roman" panose="02020603050405020304" pitchFamily="18" charset="0"/>
                <a:cs typeface="Times New Roman" panose="02020603050405020304" pitchFamily="18" charset="0"/>
              </a:rPr>
              <a:t>Network</a:t>
            </a:r>
          </a:p>
        </p:txBody>
      </p:sp>
      <p:sp>
        <p:nvSpPr>
          <p:cNvPr id="3" name="Content Placeholder 2">
            <a:extLst>
              <a:ext uri="{FF2B5EF4-FFF2-40B4-BE49-F238E27FC236}">
                <a16:creationId xmlns:a16="http://schemas.microsoft.com/office/drawing/2014/main" id="{981167E1-2A80-7638-E219-96DF2220FD8E}"/>
              </a:ext>
            </a:extLst>
          </p:cNvPr>
          <p:cNvSpPr>
            <a:spLocks noGrp="1"/>
          </p:cNvSpPr>
          <p:nvPr>
            <p:ph idx="1"/>
          </p:nvPr>
        </p:nvSpPr>
        <p:spPr>
          <a:xfrm>
            <a:off x="304800" y="1347788"/>
            <a:ext cx="11277600" cy="3903662"/>
          </a:xfrm>
        </p:spPr>
        <p:txBody>
          <a:bodyPr rtlCol="0">
            <a:normAutofit lnSpcReduction="10000"/>
          </a:bodyPr>
          <a:lstStyle/>
          <a:p>
            <a:pPr eaLnBrk="1" fontAlgn="auto" hangingPunct="1">
              <a:lnSpc>
                <a:spcPct val="150000"/>
              </a:lnSpc>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 network is a combination of hardware and software that sends data from one location to another.  </a:t>
            </a:r>
          </a:p>
          <a:p>
            <a:pPr eaLnBrk="1" fontAlgn="auto" hangingPunct="1">
              <a:lnSpc>
                <a:spcPct val="150000"/>
              </a:lnSpc>
              <a:spcAft>
                <a:spcPts val="0"/>
              </a:spcAf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 The hardware consists of the physical equipment that carries signals from one point of the network to another.</a:t>
            </a:r>
          </a:p>
          <a:p>
            <a:pPr eaLnBrk="1" fontAlgn="auto" hangingPunct="1">
              <a:lnSpc>
                <a:spcPct val="150000"/>
              </a:lnSpc>
              <a:spcAft>
                <a:spcPts val="0"/>
              </a:spcAf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 The software consists of instruction sets that make possible the services that we expect from a network.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5081D334-38DE-4889-9565-5B2360887A76}"/>
              </a:ext>
            </a:extLst>
          </p:cNvPr>
          <p:cNvSpPr txBox="1">
            <a:spLocks noChangeArrowheads="1"/>
          </p:cNvSpPr>
          <p:nvPr/>
        </p:nvSpPr>
        <p:spPr bwMode="auto">
          <a:xfrm>
            <a:off x="4114800" y="0"/>
            <a:ext cx="3421642" cy="584775"/>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sz="3200" dirty="0">
                <a:solidFill>
                  <a:srgbClr val="3366FF"/>
                </a:solidFill>
                <a:effectLst>
                  <a:outerShdw blurRad="38100" dist="38100" dir="2700000" algn="tl">
                    <a:srgbClr val="C0C0C0"/>
                  </a:outerShdw>
                </a:effectLst>
                <a:latin typeface="Times" pitchFamily="18" charset="0"/>
              </a:rPr>
              <a:t>LAYERED TASKS</a:t>
            </a:r>
          </a:p>
        </p:txBody>
      </p:sp>
      <p:sp>
        <p:nvSpPr>
          <p:cNvPr id="64516" name="Text Box 4">
            <a:extLst>
              <a:ext uri="{FF2B5EF4-FFF2-40B4-BE49-F238E27FC236}">
                <a16:creationId xmlns:a16="http://schemas.microsoft.com/office/drawing/2014/main" id="{DDCEBA1C-DCFE-B7DF-A599-EA5E13F060F1}"/>
              </a:ext>
            </a:extLst>
          </p:cNvPr>
          <p:cNvSpPr txBox="1">
            <a:spLocks noChangeArrowheads="1"/>
          </p:cNvSpPr>
          <p:nvPr/>
        </p:nvSpPr>
        <p:spPr bwMode="auto">
          <a:xfrm>
            <a:off x="9753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b="1">
              <a:latin typeface="Times New Roman" panose="02020603050405020304" pitchFamily="18" charset="0"/>
            </a:endParaRPr>
          </a:p>
        </p:txBody>
      </p:sp>
      <p:sp>
        <p:nvSpPr>
          <p:cNvPr id="565277" name="Rectangle 29">
            <a:extLst>
              <a:ext uri="{FF2B5EF4-FFF2-40B4-BE49-F238E27FC236}">
                <a16:creationId xmlns:a16="http://schemas.microsoft.com/office/drawing/2014/main" id="{99026A84-69BE-E719-AFD2-21213E366A7D}"/>
              </a:ext>
            </a:extLst>
          </p:cNvPr>
          <p:cNvSpPr>
            <a:spLocks noChangeArrowheads="1"/>
          </p:cNvSpPr>
          <p:nvPr/>
        </p:nvSpPr>
        <p:spPr bwMode="auto">
          <a:xfrm>
            <a:off x="457200" y="584775"/>
            <a:ext cx="11049000" cy="1200329"/>
          </a:xfrm>
          <a:prstGeom prst="rect">
            <a:avLst/>
          </a:prstGeom>
          <a:noFill/>
          <a:ln w="9525">
            <a:noFill/>
            <a:miter lim="800000"/>
            <a:headEnd/>
            <a:tailEnd/>
          </a:ln>
          <a:effectLst/>
        </p:spPr>
        <p:txBody>
          <a:bodyPr wrap="square" anchor="ctr">
            <a:spAutoFit/>
          </a:bodyPr>
          <a:lstStyle/>
          <a:p>
            <a:pPr algn="just" eaLnBrk="1" fontAlgn="auto" hangingPunct="1">
              <a:spcBef>
                <a:spcPts val="0"/>
              </a:spcBef>
              <a:spcAft>
                <a:spcPts val="0"/>
              </a:spcAft>
              <a:defRPr/>
            </a:pP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We use the concept of </a:t>
            </a:r>
            <a:r>
              <a:rPr lang="en-US" sz="240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layers</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in our daily life. As an example, let us consider two friends who communicate through postal mail. The process of sending a letter to a friend would be complex if there were no services available from the post office. </a:t>
            </a:r>
          </a:p>
        </p:txBody>
      </p:sp>
      <p:pic>
        <p:nvPicPr>
          <p:cNvPr id="2" name="Picture 6">
            <a:extLst>
              <a:ext uri="{FF2B5EF4-FFF2-40B4-BE49-F238E27FC236}">
                <a16:creationId xmlns:a16="http://schemas.microsoft.com/office/drawing/2014/main" id="{89238082-1DBC-3D12-B794-3842BD74F9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9654" y="1892300"/>
            <a:ext cx="5664092"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4">
            <a:extLst>
              <a:ext uri="{FF2B5EF4-FFF2-40B4-BE49-F238E27FC236}">
                <a16:creationId xmlns:a16="http://schemas.microsoft.com/office/drawing/2014/main" id="{F688614A-8E2B-CC25-A486-D7E40F7C4E85}"/>
              </a:ext>
            </a:extLst>
          </p:cNvPr>
          <p:cNvSpPr txBox="1">
            <a:spLocks noChangeArrowheads="1"/>
          </p:cNvSpPr>
          <p:nvPr/>
        </p:nvSpPr>
        <p:spPr bwMode="auto">
          <a:xfrm>
            <a:off x="1295400" y="1847850"/>
            <a:ext cx="1062672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0"/>
              </a:spcBef>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Higher Layer: </a:t>
            </a:r>
            <a:r>
              <a:rPr lang="en-IN" altLang="en-US" sz="2200">
                <a:latin typeface="Times New Roman" panose="02020603050405020304" pitchFamily="18" charset="0"/>
                <a:cs typeface="Times New Roman" panose="02020603050405020304" pitchFamily="18" charset="0"/>
              </a:rPr>
              <a:t>The sender writes the letter, inserts the letter in an envelope, writes the sender and receiver addresses and drops the letter in a mailbox.</a:t>
            </a:r>
          </a:p>
          <a:p>
            <a:pPr algn="just" eaLnBrk="1" hangingPunct="1">
              <a:lnSpc>
                <a:spcPct val="150000"/>
              </a:lnSpc>
              <a:spcBef>
                <a:spcPct val="0"/>
              </a:spcBef>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Middle Layer: </a:t>
            </a:r>
            <a:r>
              <a:rPr lang="en-IN" altLang="en-US" sz="2200">
                <a:latin typeface="Times New Roman" panose="02020603050405020304" pitchFamily="18" charset="0"/>
                <a:cs typeface="Times New Roman" panose="02020603050405020304" pitchFamily="18" charset="0"/>
              </a:rPr>
              <a:t>The letter is picked up by a letter carrier and delivered to the post office.</a:t>
            </a:r>
          </a:p>
          <a:p>
            <a:pPr algn="just" eaLnBrk="1" hangingPunct="1">
              <a:lnSpc>
                <a:spcPct val="150000"/>
              </a:lnSpc>
              <a:spcBef>
                <a:spcPct val="0"/>
              </a:spcBef>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Lower Layer: </a:t>
            </a:r>
            <a:r>
              <a:rPr lang="en-IN" altLang="en-US" sz="2200">
                <a:latin typeface="Times New Roman" panose="02020603050405020304" pitchFamily="18" charset="0"/>
                <a:cs typeface="Times New Roman" panose="02020603050405020304" pitchFamily="18" charset="0"/>
              </a:rPr>
              <a:t>The letter is sorted at the post office; a carrier transports the letter.</a:t>
            </a:r>
          </a:p>
        </p:txBody>
      </p:sp>
      <p:sp>
        <p:nvSpPr>
          <p:cNvPr id="68611" name="TextBox 5">
            <a:extLst>
              <a:ext uri="{FF2B5EF4-FFF2-40B4-BE49-F238E27FC236}">
                <a16:creationId xmlns:a16="http://schemas.microsoft.com/office/drawing/2014/main" id="{C9759A04-7AEF-7F27-5EEC-3A3A541746F9}"/>
              </a:ext>
            </a:extLst>
          </p:cNvPr>
          <p:cNvSpPr txBox="1">
            <a:spLocks noChangeArrowheads="1"/>
          </p:cNvSpPr>
          <p:nvPr/>
        </p:nvSpPr>
        <p:spPr bwMode="auto">
          <a:xfrm>
            <a:off x="228600" y="1303338"/>
            <a:ext cx="2960688"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600" b="1">
                <a:solidFill>
                  <a:srgbClr val="FF0000"/>
                </a:solidFill>
                <a:latin typeface="Times New Roman" panose="02020603050405020304" pitchFamily="18" charset="0"/>
                <a:cs typeface="Times New Roman" panose="02020603050405020304" pitchFamily="18" charset="0"/>
              </a:rPr>
              <a:t>At the Sender Site</a:t>
            </a:r>
          </a:p>
        </p:txBody>
      </p:sp>
      <p:sp>
        <p:nvSpPr>
          <p:cNvPr id="68612" name="Content Placeholder 2">
            <a:extLst>
              <a:ext uri="{FF2B5EF4-FFF2-40B4-BE49-F238E27FC236}">
                <a16:creationId xmlns:a16="http://schemas.microsoft.com/office/drawing/2014/main" id="{9E2CFBDD-D483-DA1A-CA7F-3DC3AF21A8DE}"/>
              </a:ext>
            </a:extLst>
          </p:cNvPr>
          <p:cNvSpPr txBox="1">
            <a:spLocks noChangeArrowheads="1"/>
          </p:cNvSpPr>
          <p:nvPr/>
        </p:nvSpPr>
        <p:spPr bwMode="auto">
          <a:xfrm>
            <a:off x="574675" y="3841750"/>
            <a:ext cx="116173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914400" eaLnBrk="1" hangingPunct="1">
              <a:buFont typeface="Arial" panose="020B0604020202020204" pitchFamily="34" charset="0"/>
              <a:buNone/>
            </a:pPr>
            <a:r>
              <a:rPr lang="en-IN" altLang="en-US" b="1">
                <a:solidFill>
                  <a:schemeClr val="accent1"/>
                </a:solidFill>
                <a:latin typeface="Times New Roman" panose="02020603050405020304" pitchFamily="18" charset="0"/>
                <a:cs typeface="Times New Roman" panose="02020603050405020304" pitchFamily="18" charset="0"/>
              </a:rPr>
              <a:t>            </a:t>
            </a:r>
          </a:p>
          <a:p>
            <a:pPr lvl="2" algn="just" defTabSz="914400" eaLnBrk="1" hangingPunct="1">
              <a:lnSpc>
                <a:spcPct val="200000"/>
              </a:lnSpc>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Lower Layer: </a:t>
            </a:r>
            <a:r>
              <a:rPr lang="en-IN" altLang="en-US" sz="2200">
                <a:latin typeface="Times New Roman" panose="02020603050405020304" pitchFamily="18" charset="0"/>
                <a:cs typeface="Times New Roman" panose="02020603050405020304" pitchFamily="18" charset="0"/>
              </a:rPr>
              <a:t>The carrier transports the letter to the post office.  </a:t>
            </a:r>
          </a:p>
          <a:p>
            <a:pPr lvl="2" algn="just" defTabSz="914400" eaLnBrk="1" hangingPunct="1">
              <a:lnSpc>
                <a:spcPct val="200000"/>
              </a:lnSpc>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Middle Layer: </a:t>
            </a:r>
            <a:r>
              <a:rPr lang="en-IN" altLang="en-US" sz="2200">
                <a:latin typeface="Times New Roman" panose="02020603050405020304" pitchFamily="18" charset="0"/>
                <a:cs typeface="Times New Roman" panose="02020603050405020304" pitchFamily="18" charset="0"/>
              </a:rPr>
              <a:t>The letter sorted and delivered to the recipient's mailbox. </a:t>
            </a:r>
          </a:p>
          <a:p>
            <a:pPr lvl="2" algn="just" defTabSz="914400" eaLnBrk="1" hangingPunct="1">
              <a:lnSpc>
                <a:spcPct val="200000"/>
              </a:lnSpc>
              <a:buFont typeface="Courier New" panose="02070309020205020404" pitchFamily="49" charset="0"/>
              <a:buChar char="o"/>
            </a:pPr>
            <a:r>
              <a:rPr lang="en-IN" altLang="en-US" sz="2200" b="1">
                <a:solidFill>
                  <a:schemeClr val="accent1"/>
                </a:solidFill>
                <a:latin typeface="Times New Roman" panose="02020603050405020304" pitchFamily="18" charset="0"/>
                <a:cs typeface="Times New Roman" panose="02020603050405020304" pitchFamily="18" charset="0"/>
              </a:rPr>
              <a:t>Higher Layer: </a:t>
            </a:r>
            <a:r>
              <a:rPr lang="en-IN" altLang="en-US" sz="2200">
                <a:latin typeface="Times New Roman" panose="02020603050405020304" pitchFamily="18" charset="0"/>
                <a:cs typeface="Times New Roman" panose="02020603050405020304" pitchFamily="18" charset="0"/>
              </a:rPr>
              <a:t>The receiver picks up the letter, opens the envelope, and reads it.                </a:t>
            </a:r>
          </a:p>
        </p:txBody>
      </p:sp>
      <p:sp>
        <p:nvSpPr>
          <p:cNvPr id="68613" name="TextBox 4">
            <a:extLst>
              <a:ext uri="{FF2B5EF4-FFF2-40B4-BE49-F238E27FC236}">
                <a16:creationId xmlns:a16="http://schemas.microsoft.com/office/drawing/2014/main" id="{9A0D61F8-9624-3B6F-1EB0-860A263D0341}"/>
              </a:ext>
            </a:extLst>
          </p:cNvPr>
          <p:cNvSpPr txBox="1">
            <a:spLocks noChangeArrowheads="1"/>
          </p:cNvSpPr>
          <p:nvPr/>
        </p:nvSpPr>
        <p:spPr bwMode="auto">
          <a:xfrm>
            <a:off x="87313" y="3967163"/>
            <a:ext cx="620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IN" altLang="en-US" sz="1800" b="1">
                <a:solidFill>
                  <a:schemeClr val="accent1"/>
                </a:solidFill>
                <a:latin typeface="Times New Roman" panose="02020603050405020304" pitchFamily="18" charset="0"/>
                <a:cs typeface="Times New Roman" panose="02020603050405020304" pitchFamily="18" charset="0"/>
              </a:rPr>
              <a:t> </a:t>
            </a:r>
            <a:r>
              <a:rPr lang="en-IN" altLang="en-US" sz="2400" b="1">
                <a:solidFill>
                  <a:srgbClr val="FF0000"/>
                </a:solidFill>
                <a:latin typeface="Times New Roman" panose="02020603050405020304" pitchFamily="18" charset="0"/>
                <a:cs typeface="Times New Roman" panose="02020603050405020304" pitchFamily="18" charset="0"/>
              </a:rPr>
              <a:t>At the Receiver Site</a:t>
            </a:r>
            <a:endParaRPr lang="en-IN" altLang="en-US" sz="1800">
              <a:solidFill>
                <a:srgbClr val="FF0000"/>
              </a:solidFill>
            </a:endParaRPr>
          </a:p>
        </p:txBody>
      </p:sp>
      <p:sp>
        <p:nvSpPr>
          <p:cNvPr id="68614" name="Text Box 4">
            <a:extLst>
              <a:ext uri="{FF2B5EF4-FFF2-40B4-BE49-F238E27FC236}">
                <a16:creationId xmlns:a16="http://schemas.microsoft.com/office/drawing/2014/main" id="{1A17F46F-8F82-8085-848D-83E1C1EC737A}"/>
              </a:ext>
            </a:extLst>
          </p:cNvPr>
          <p:cNvSpPr txBox="1">
            <a:spLocks noChangeArrowheads="1"/>
          </p:cNvSpPr>
          <p:nvPr/>
        </p:nvSpPr>
        <p:spPr bwMode="auto">
          <a:xfrm>
            <a:off x="3189288" y="455613"/>
            <a:ext cx="5268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rgbClr val="3366FF"/>
                </a:solidFill>
                <a:latin typeface="Times New Roman" panose="02020603050405020304" pitchFamily="18" charset="0"/>
              </a:rPr>
              <a:t>Tasks involved in sending a letter</a:t>
            </a:r>
            <a:endParaRPr lang="en-US" altLang="en-US" sz="3200" b="1" i="1">
              <a:solidFill>
                <a:srgbClr val="3366FF"/>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891" name="Text Box 3">
            <a:extLst>
              <a:ext uri="{FF2B5EF4-FFF2-40B4-BE49-F238E27FC236}">
                <a16:creationId xmlns:a16="http://schemas.microsoft.com/office/drawing/2014/main" id="{AE909EF1-B4E5-8A43-CA24-C65F381B9D64}"/>
              </a:ext>
            </a:extLst>
          </p:cNvPr>
          <p:cNvSpPr txBox="1">
            <a:spLocks noChangeArrowheads="1"/>
          </p:cNvSpPr>
          <p:nvPr/>
        </p:nvSpPr>
        <p:spPr bwMode="auto">
          <a:xfrm>
            <a:off x="4252643" y="152400"/>
            <a:ext cx="3305713" cy="584775"/>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sz="3200" dirty="0">
                <a:solidFill>
                  <a:srgbClr val="3366FF"/>
                </a:solidFill>
                <a:effectLst>
                  <a:outerShdw blurRad="38100" dist="38100" dir="2700000" algn="tl">
                    <a:srgbClr val="C0C0C0"/>
                  </a:outerShdw>
                </a:effectLst>
                <a:latin typeface="Times" pitchFamily="18" charset="0"/>
              </a:rPr>
              <a:t>THE OSI MODEL</a:t>
            </a:r>
          </a:p>
        </p:txBody>
      </p:sp>
      <p:sp>
        <p:nvSpPr>
          <p:cNvPr id="69637" name="Text Box 4">
            <a:extLst>
              <a:ext uri="{FF2B5EF4-FFF2-40B4-BE49-F238E27FC236}">
                <a16:creationId xmlns:a16="http://schemas.microsoft.com/office/drawing/2014/main" id="{C05704B8-4DF7-B698-283F-851B52137ED1}"/>
              </a:ext>
            </a:extLst>
          </p:cNvPr>
          <p:cNvSpPr txBox="1">
            <a:spLocks noChangeArrowheads="1"/>
          </p:cNvSpPr>
          <p:nvPr/>
        </p:nvSpPr>
        <p:spPr bwMode="auto">
          <a:xfrm>
            <a:off x="9753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b="1">
              <a:latin typeface="Times New Roman" panose="02020603050405020304" pitchFamily="18" charset="0"/>
            </a:endParaRPr>
          </a:p>
        </p:txBody>
      </p:sp>
      <p:sp>
        <p:nvSpPr>
          <p:cNvPr id="677893" name="Rectangle 5">
            <a:extLst>
              <a:ext uri="{FF2B5EF4-FFF2-40B4-BE49-F238E27FC236}">
                <a16:creationId xmlns:a16="http://schemas.microsoft.com/office/drawing/2014/main" id="{86793273-EEAF-B598-455F-68875F2FD3EA}"/>
              </a:ext>
            </a:extLst>
          </p:cNvPr>
          <p:cNvSpPr>
            <a:spLocks noChangeArrowheads="1"/>
          </p:cNvSpPr>
          <p:nvPr/>
        </p:nvSpPr>
        <p:spPr bwMode="auto">
          <a:xfrm>
            <a:off x="762000" y="990600"/>
            <a:ext cx="10668000" cy="1938992"/>
          </a:xfrm>
          <a:prstGeom prst="rect">
            <a:avLst/>
          </a:prstGeom>
          <a:noFill/>
          <a:ln w="9525">
            <a:noFill/>
            <a:miter lim="800000"/>
            <a:headEnd/>
            <a:tailEnd/>
          </a:ln>
          <a:effectLst/>
        </p:spPr>
        <p:txBody>
          <a:bodyPr wrap="square" anchor="ctr">
            <a:spAutoFit/>
          </a:bodyPr>
          <a:lstStyle/>
          <a:p>
            <a:pPr marL="342900" indent="-342900" algn="just" eaLnBrk="1" fontAlgn="auto" hangingPunct="1">
              <a:spcBef>
                <a:spcPts val="0"/>
              </a:spcBef>
              <a:spcAft>
                <a:spcPts val="0"/>
              </a:spcAft>
              <a:buFont typeface="Wingdings" panose="05000000000000000000" pitchFamily="2" charset="2"/>
              <a:buChar char="v"/>
              <a:defRPr/>
            </a:pP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Established in 1947, the International Standards Organization (</a:t>
            </a:r>
            <a:r>
              <a:rPr lang="en-US" sz="240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ISO</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is a multinational body dedicated to worldwide agreement on international standards. </a:t>
            </a:r>
          </a:p>
          <a:p>
            <a:pPr marL="342900" indent="-342900" algn="just" eaLnBrk="1" fontAlgn="auto" hangingPunct="1">
              <a:spcBef>
                <a:spcPts val="0"/>
              </a:spcBef>
              <a:spcAft>
                <a:spcPts val="0"/>
              </a:spcAft>
              <a:buFont typeface="Wingdings" panose="05000000000000000000" pitchFamily="2" charset="2"/>
              <a:buChar char="v"/>
              <a:defRPr/>
            </a:pPr>
            <a:endPar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342900" indent="-342900" algn="just" eaLnBrk="1" fontAlgn="auto" hangingPunct="1">
              <a:spcBef>
                <a:spcPts val="0"/>
              </a:spcBef>
              <a:spcAft>
                <a:spcPts val="0"/>
              </a:spcAft>
              <a:buFont typeface="Wingdings" panose="05000000000000000000" pitchFamily="2" charset="2"/>
              <a:buChar char="v"/>
              <a:defRPr/>
            </a:pP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An ISO standard that covers all aspects of network communications is the </a:t>
            </a:r>
            <a:r>
              <a:rPr lang="en-US" sz="2400"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Open Systems Interconnection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OSI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model. It was first introduced in the late 1970s. </a:t>
            </a:r>
          </a:p>
        </p:txBody>
      </p:sp>
      <p:pic>
        <p:nvPicPr>
          <p:cNvPr id="69639" name="Picture 2">
            <a:extLst>
              <a:ext uri="{FF2B5EF4-FFF2-40B4-BE49-F238E27FC236}">
                <a16:creationId xmlns:a16="http://schemas.microsoft.com/office/drawing/2014/main" id="{EF857DCB-3B3D-3439-6712-1C34B44AF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4543425"/>
            <a:ext cx="71247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Text Box 4">
            <a:extLst>
              <a:ext uri="{FF2B5EF4-FFF2-40B4-BE49-F238E27FC236}">
                <a16:creationId xmlns:a16="http://schemas.microsoft.com/office/drawing/2014/main" id="{E1E6EA6E-9985-7D9F-04F6-28D461039653}"/>
              </a:ext>
            </a:extLst>
          </p:cNvPr>
          <p:cNvSpPr txBox="1">
            <a:spLocks noChangeArrowheads="1"/>
          </p:cNvSpPr>
          <p:nvPr/>
        </p:nvSpPr>
        <p:spPr bwMode="auto">
          <a:xfrm>
            <a:off x="2895600" y="152400"/>
            <a:ext cx="5282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200" b="1" i="1" dirty="0">
                <a:solidFill>
                  <a:srgbClr val="3366FF"/>
                </a:solidFill>
                <a:latin typeface="Times New Roman" panose="02020603050405020304" pitchFamily="18" charset="0"/>
              </a:rPr>
              <a:t>Seven layers of the OSI model</a:t>
            </a:r>
          </a:p>
        </p:txBody>
      </p:sp>
      <p:pic>
        <p:nvPicPr>
          <p:cNvPr id="71687" name="Picture 6">
            <a:extLst>
              <a:ext uri="{FF2B5EF4-FFF2-40B4-BE49-F238E27FC236}">
                <a16:creationId xmlns:a16="http://schemas.microsoft.com/office/drawing/2014/main" id="{3E025692-9495-805C-BC2D-BF1824C87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066800"/>
            <a:ext cx="4251325"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4">
            <a:extLst>
              <a:ext uri="{FF2B5EF4-FFF2-40B4-BE49-F238E27FC236}">
                <a16:creationId xmlns:a16="http://schemas.microsoft.com/office/drawing/2014/main" id="{36979F6F-B0BE-CD59-BCA3-29664882128C}"/>
              </a:ext>
            </a:extLst>
          </p:cNvPr>
          <p:cNvSpPr txBox="1">
            <a:spLocks noChangeArrowheads="1"/>
          </p:cNvSpPr>
          <p:nvPr/>
        </p:nvSpPr>
        <p:spPr bwMode="auto">
          <a:xfrm>
            <a:off x="2406650" y="368627"/>
            <a:ext cx="70855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dirty="0">
                <a:solidFill>
                  <a:srgbClr val="3366FF"/>
                </a:solidFill>
                <a:latin typeface="Times New Roman" panose="02020603050405020304" pitchFamily="18" charset="0"/>
              </a:rPr>
              <a:t>Interaction between Layers in the OSI model</a:t>
            </a:r>
            <a:endParaRPr lang="en-US" altLang="en-US" sz="2000" b="1" dirty="0">
              <a:solidFill>
                <a:srgbClr val="3366FF"/>
              </a:solidFill>
              <a:latin typeface="Times New Roman" panose="02020603050405020304" pitchFamily="18" charset="0"/>
            </a:endParaRPr>
          </a:p>
        </p:txBody>
      </p:sp>
      <p:pic>
        <p:nvPicPr>
          <p:cNvPr id="73735" name="Picture 6">
            <a:extLst>
              <a:ext uri="{FF2B5EF4-FFF2-40B4-BE49-F238E27FC236}">
                <a16:creationId xmlns:a16="http://schemas.microsoft.com/office/drawing/2014/main" id="{DF0CDF13-96CD-60A9-803A-9F3301C16F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650" y="1066800"/>
            <a:ext cx="6965950" cy="516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8035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Text Box 4">
            <a:extLst>
              <a:ext uri="{FF2B5EF4-FFF2-40B4-BE49-F238E27FC236}">
                <a16:creationId xmlns:a16="http://schemas.microsoft.com/office/drawing/2014/main" id="{42D8FD2E-C285-13F3-34E8-6293913DB9BF}"/>
              </a:ext>
            </a:extLst>
          </p:cNvPr>
          <p:cNvSpPr txBox="1">
            <a:spLocks noChangeArrowheads="1"/>
          </p:cNvSpPr>
          <p:nvPr/>
        </p:nvSpPr>
        <p:spPr bwMode="auto">
          <a:xfrm>
            <a:off x="3465311" y="152400"/>
            <a:ext cx="52613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i="1" dirty="0">
                <a:solidFill>
                  <a:srgbClr val="3366FF"/>
                </a:solidFill>
                <a:latin typeface="Times New Roman" panose="02020603050405020304" pitchFamily="18" charset="0"/>
              </a:rPr>
              <a:t>An exchange using the OSI model</a:t>
            </a:r>
          </a:p>
        </p:txBody>
      </p:sp>
      <p:sp>
        <p:nvSpPr>
          <p:cNvPr id="2" name="TextBox 1">
            <a:extLst>
              <a:ext uri="{FF2B5EF4-FFF2-40B4-BE49-F238E27FC236}">
                <a16:creationId xmlns:a16="http://schemas.microsoft.com/office/drawing/2014/main" id="{673725D1-E864-D956-FAF6-67337E819A92}"/>
              </a:ext>
            </a:extLst>
          </p:cNvPr>
          <p:cNvSpPr txBox="1"/>
          <p:nvPr/>
        </p:nvSpPr>
        <p:spPr>
          <a:xfrm>
            <a:off x="153035" y="1295400"/>
            <a:ext cx="3743325" cy="4154984"/>
          </a:xfrm>
          <a:prstGeom prst="rect">
            <a:avLst/>
          </a:prstGeom>
          <a:noFill/>
        </p:spPr>
        <p:txBody>
          <a:bodyPr wrap="square">
            <a:spAutoFit/>
          </a:bodyPr>
          <a:lstStyle/>
          <a:p>
            <a:r>
              <a:rPr lang="en-US" sz="2400" b="0" i="0" dirty="0">
                <a:solidFill>
                  <a:srgbClr val="212529"/>
                </a:solidFill>
                <a:effectLst/>
                <a:latin typeface="Times New Roman" panose="02020603050405020304" pitchFamily="18" charset="0"/>
                <a:cs typeface="Times New Roman" panose="02020603050405020304" pitchFamily="18" charset="0"/>
              </a:rPr>
              <a:t>In a networking model, the term </a:t>
            </a:r>
            <a:r>
              <a:rPr lang="en-US" sz="2400" b="0" i="0" dirty="0">
                <a:solidFill>
                  <a:srgbClr val="FF0000"/>
                </a:solidFill>
                <a:effectLst/>
                <a:latin typeface="Times New Roman" panose="02020603050405020304" pitchFamily="18" charset="0"/>
                <a:cs typeface="Times New Roman" panose="02020603050405020304" pitchFamily="18" charset="0"/>
              </a:rPr>
              <a:t>encapsulation</a:t>
            </a:r>
            <a:r>
              <a:rPr lang="en-US" sz="2400" b="0" i="0" dirty="0">
                <a:solidFill>
                  <a:srgbClr val="212529"/>
                </a:solidFill>
                <a:effectLst/>
                <a:latin typeface="Times New Roman" panose="02020603050405020304" pitchFamily="18" charset="0"/>
                <a:cs typeface="Times New Roman" panose="02020603050405020304" pitchFamily="18" charset="0"/>
              </a:rPr>
              <a:t> refers to a process in which protocol information is added to the data. </a:t>
            </a:r>
          </a:p>
          <a:p>
            <a:endParaRPr lang="en-US" sz="2400" b="0" i="0" dirty="0">
              <a:solidFill>
                <a:srgbClr val="212529"/>
              </a:solidFill>
              <a:effectLst/>
              <a:latin typeface="Times New Roman" panose="02020603050405020304" pitchFamily="18" charset="0"/>
              <a:cs typeface="Times New Roman" panose="02020603050405020304" pitchFamily="18" charset="0"/>
            </a:endParaRPr>
          </a:p>
          <a:p>
            <a:r>
              <a:rPr lang="en-US" sz="2400" b="0" i="0" dirty="0">
                <a:solidFill>
                  <a:srgbClr val="212529"/>
                </a:solidFill>
                <a:effectLst/>
                <a:latin typeface="Times New Roman" panose="02020603050405020304" pitchFamily="18" charset="0"/>
                <a:cs typeface="Times New Roman" panose="02020603050405020304" pitchFamily="18" charset="0"/>
              </a:rPr>
              <a:t>The term </a:t>
            </a:r>
            <a:r>
              <a:rPr lang="en-US" sz="2400" b="0" i="0" dirty="0">
                <a:solidFill>
                  <a:srgbClr val="FF0000"/>
                </a:solidFill>
                <a:effectLst/>
                <a:latin typeface="Times New Roman" panose="02020603050405020304" pitchFamily="18" charset="0"/>
                <a:cs typeface="Times New Roman" panose="02020603050405020304" pitchFamily="18" charset="0"/>
              </a:rPr>
              <a:t>de-encapsulation </a:t>
            </a:r>
            <a:r>
              <a:rPr lang="en-US" sz="2400" b="0" i="0" dirty="0">
                <a:solidFill>
                  <a:srgbClr val="212529"/>
                </a:solidFill>
                <a:effectLst/>
                <a:latin typeface="Times New Roman" panose="02020603050405020304" pitchFamily="18" charset="0"/>
                <a:cs typeface="Times New Roman" panose="02020603050405020304" pitchFamily="18" charset="0"/>
              </a:rPr>
              <a:t>refers to a process in which information added through the encapsulation process is removed.</a:t>
            </a:r>
            <a:endParaRPr lang="en-IN" sz="24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8D64CBCB-D5C8-75BD-39BE-BE6918A4D0BB}"/>
              </a:ext>
            </a:extLst>
          </p:cNvPr>
          <p:cNvGrpSpPr/>
          <p:nvPr/>
        </p:nvGrpSpPr>
        <p:grpSpPr>
          <a:xfrm>
            <a:off x="3840480" y="1447800"/>
            <a:ext cx="8178482" cy="4331481"/>
            <a:chOff x="3840480" y="1447800"/>
            <a:chExt cx="8178482" cy="4331481"/>
          </a:xfrm>
        </p:grpSpPr>
        <p:pic>
          <p:nvPicPr>
            <p:cNvPr id="75783" name="Picture 6">
              <a:extLst>
                <a:ext uri="{FF2B5EF4-FFF2-40B4-BE49-F238E27FC236}">
                  <a16:creationId xmlns:a16="http://schemas.microsoft.com/office/drawing/2014/main" id="{061316FD-89A5-17CA-E37F-29BB8A0E65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47800"/>
              <a:ext cx="6761162" cy="433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3DC373D-6CBE-09E4-687B-33FFD98DC8F4}"/>
                </a:ext>
              </a:extLst>
            </p:cNvPr>
            <p:cNvPicPr>
              <a:picLocks noChangeAspect="1"/>
            </p:cNvPicPr>
            <p:nvPr/>
          </p:nvPicPr>
          <p:blipFill>
            <a:blip r:embed="rId4"/>
            <a:stretch>
              <a:fillRect/>
            </a:stretch>
          </p:blipFill>
          <p:spPr>
            <a:xfrm>
              <a:off x="3840480" y="1638300"/>
              <a:ext cx="685800" cy="3581400"/>
            </a:xfrm>
            <a:prstGeom prst="rect">
              <a:avLst/>
            </a:prstGeom>
          </p:spPr>
        </p:pic>
        <p:pic>
          <p:nvPicPr>
            <p:cNvPr id="6" name="Picture 5">
              <a:extLst>
                <a:ext uri="{FF2B5EF4-FFF2-40B4-BE49-F238E27FC236}">
                  <a16:creationId xmlns:a16="http://schemas.microsoft.com/office/drawing/2014/main" id="{914E7EA9-E708-A102-841B-46067C56E233}"/>
                </a:ext>
              </a:extLst>
            </p:cNvPr>
            <p:cNvPicPr>
              <a:picLocks noChangeAspect="1"/>
            </p:cNvPicPr>
            <p:nvPr/>
          </p:nvPicPr>
          <p:blipFill>
            <a:blip r:embed="rId5"/>
            <a:stretch>
              <a:fillRect/>
            </a:stretch>
          </p:blipFill>
          <p:spPr>
            <a:xfrm>
              <a:off x="11390312" y="1596479"/>
              <a:ext cx="628650" cy="3552825"/>
            </a:xfrm>
            <a:prstGeom prst="rect">
              <a:avLst/>
            </a:prstGeom>
          </p:spPr>
        </p:pic>
      </p:grpSp>
    </p:spTree>
    <p:extLst>
      <p:ext uri="{BB962C8B-B14F-4D97-AF65-F5344CB8AC3E}">
        <p14:creationId xmlns:p14="http://schemas.microsoft.com/office/powerpoint/2010/main" val="3562826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a:extLst>
              <a:ext uri="{FF2B5EF4-FFF2-40B4-BE49-F238E27FC236}">
                <a16:creationId xmlns:a16="http://schemas.microsoft.com/office/drawing/2014/main" id="{31006233-D661-A67A-D8CD-ACD8BF0CFEDC}"/>
              </a:ext>
            </a:extLst>
          </p:cNvPr>
          <p:cNvSpPr txBox="1">
            <a:spLocks noChangeArrowheads="1"/>
          </p:cNvSpPr>
          <p:nvPr/>
        </p:nvSpPr>
        <p:spPr bwMode="auto">
          <a:xfrm>
            <a:off x="1600200" y="300038"/>
            <a:ext cx="6626225" cy="646112"/>
          </a:xfrm>
          <a:prstGeom prst="rect">
            <a:avLst/>
          </a:prstGeom>
          <a:noFill/>
          <a:ln>
            <a:noFill/>
          </a:ln>
          <a:effectLst/>
        </p:spPr>
        <p:txBody>
          <a:bodyPr wrap="none">
            <a:spAutoFit/>
          </a:bodyPr>
          <a:lstStyle/>
          <a:p>
            <a:pPr eaLnBrk="1" fontAlgn="auto" hangingPunct="1">
              <a:spcBef>
                <a:spcPts val="0"/>
              </a:spcBef>
              <a:spcAft>
                <a:spcPts val="0"/>
              </a:spcAft>
              <a:defRPr/>
            </a:pPr>
            <a:r>
              <a:rPr lang="en-US" altLang="en-US" sz="3600" dirty="0">
                <a:solidFill>
                  <a:schemeClr val="accent1"/>
                </a:solidFill>
                <a:effectLst>
                  <a:outerShdw blurRad="38100" dist="38100" dir="2700000" algn="tl">
                    <a:srgbClr val="C0C0C0"/>
                  </a:outerShdw>
                </a:effectLst>
                <a:latin typeface="Accord SF" panose="020BE200000000000000" pitchFamily="34" charset="0"/>
              </a:rPr>
              <a:t>LAYERS IN THE OSI MODEL</a:t>
            </a:r>
          </a:p>
        </p:txBody>
      </p:sp>
      <p:sp>
        <p:nvSpPr>
          <p:cNvPr id="77827" name="Text Box 4">
            <a:extLst>
              <a:ext uri="{FF2B5EF4-FFF2-40B4-BE49-F238E27FC236}">
                <a16:creationId xmlns:a16="http://schemas.microsoft.com/office/drawing/2014/main" id="{82097AEE-27E5-34EB-E09D-1950D5652B65}"/>
              </a:ext>
            </a:extLst>
          </p:cNvPr>
          <p:cNvSpPr txBox="1">
            <a:spLocks noChangeArrowheads="1"/>
          </p:cNvSpPr>
          <p:nvPr/>
        </p:nvSpPr>
        <p:spPr bwMode="auto">
          <a:xfrm>
            <a:off x="9753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sp>
        <p:nvSpPr>
          <p:cNvPr id="77828" name="Rectangle 5">
            <a:extLst>
              <a:ext uri="{FF2B5EF4-FFF2-40B4-BE49-F238E27FC236}">
                <a16:creationId xmlns:a16="http://schemas.microsoft.com/office/drawing/2014/main" id="{E1D6E085-BD72-7079-BCC3-CC2DA43BC044}"/>
              </a:ext>
            </a:extLst>
          </p:cNvPr>
          <p:cNvSpPr>
            <a:spLocks noChangeArrowheads="1"/>
          </p:cNvSpPr>
          <p:nvPr/>
        </p:nvSpPr>
        <p:spPr bwMode="auto">
          <a:xfrm>
            <a:off x="1600200" y="1244600"/>
            <a:ext cx="91376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en-US" altLang="en-US" sz="2200" dirty="0">
                <a:latin typeface="Times New Roman" panose="02020603050405020304" pitchFamily="18" charset="0"/>
                <a:cs typeface="Times New Roman" panose="02020603050405020304" pitchFamily="18" charset="0"/>
              </a:rPr>
              <a:t>In this section we briefly describe the functions of each layer in the OSI model.</a:t>
            </a:r>
          </a:p>
        </p:txBody>
      </p:sp>
      <p:sp>
        <p:nvSpPr>
          <p:cNvPr id="77829" name="Rectangle 6">
            <a:extLst>
              <a:ext uri="{FF2B5EF4-FFF2-40B4-BE49-F238E27FC236}">
                <a16:creationId xmlns:a16="http://schemas.microsoft.com/office/drawing/2014/main" id="{16EFDFD5-34C6-A161-7907-AFC7738EACBE}"/>
              </a:ext>
            </a:extLst>
          </p:cNvPr>
          <p:cNvSpPr>
            <a:spLocks noChangeArrowheads="1"/>
          </p:cNvSpPr>
          <p:nvPr/>
        </p:nvSpPr>
        <p:spPr bwMode="auto">
          <a:xfrm>
            <a:off x="2327275" y="2935288"/>
            <a:ext cx="57150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Clr>
                <a:schemeClr val="tx1"/>
              </a:buClr>
              <a:buSzPct val="117000"/>
              <a:buFont typeface="Courier New" panose="02070309020205020404" pitchFamily="49" charset="0"/>
              <a:buChar char="o"/>
            </a:pPr>
            <a:r>
              <a:rPr lang="fr-FR" altLang="en-US" sz="2400" dirty="0">
                <a:latin typeface="Times New Roman" panose="02020603050405020304" pitchFamily="18" charset="0"/>
                <a:cs typeface="Times New Roman" panose="02020603050405020304" pitchFamily="18" charset="0"/>
              </a:rPr>
              <a:t>Physical Layer</a:t>
            </a:r>
          </a:p>
          <a:p>
            <a:pPr eaLnBrk="1" hangingPunct="1">
              <a:lnSpc>
                <a:spcPct val="100000"/>
              </a:lnSpc>
              <a:spcBef>
                <a:spcPct val="0"/>
              </a:spcBef>
              <a:buClr>
                <a:schemeClr val="tx1"/>
              </a:buClr>
              <a:buSzPct val="117000"/>
              <a:buFont typeface="Courier New" panose="02070309020205020404" pitchFamily="49" charset="0"/>
              <a:buChar char="o"/>
            </a:pPr>
            <a:r>
              <a:rPr lang="fr-FR" altLang="en-US" sz="2400" dirty="0">
                <a:latin typeface="Times New Roman" panose="02020603050405020304" pitchFamily="18" charset="0"/>
                <a:cs typeface="Times New Roman" panose="02020603050405020304" pitchFamily="18" charset="0"/>
              </a:rPr>
              <a:t>Data Link Layer</a:t>
            </a:r>
          </a:p>
          <a:p>
            <a:pPr eaLnBrk="1" hangingPunct="1">
              <a:lnSpc>
                <a:spcPct val="100000"/>
              </a:lnSpc>
              <a:spcBef>
                <a:spcPct val="0"/>
              </a:spcBef>
              <a:buClr>
                <a:schemeClr val="tx1"/>
              </a:buClr>
              <a:buSzPct val="117000"/>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Network Layer</a:t>
            </a:r>
          </a:p>
          <a:p>
            <a:pPr eaLnBrk="1" hangingPunct="1">
              <a:lnSpc>
                <a:spcPct val="100000"/>
              </a:lnSpc>
              <a:spcBef>
                <a:spcPct val="0"/>
              </a:spcBef>
              <a:buClr>
                <a:schemeClr val="tx1"/>
              </a:buClr>
              <a:buSzPct val="117000"/>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Transport Layer</a:t>
            </a:r>
          </a:p>
          <a:p>
            <a:pPr eaLnBrk="1" hangingPunct="1">
              <a:lnSpc>
                <a:spcPct val="100000"/>
              </a:lnSpc>
              <a:spcBef>
                <a:spcPct val="0"/>
              </a:spcBef>
              <a:buClr>
                <a:schemeClr val="tx1"/>
              </a:buClr>
              <a:buSzPct val="117000"/>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Session Layer</a:t>
            </a:r>
          </a:p>
          <a:p>
            <a:pPr eaLnBrk="1" hangingPunct="1">
              <a:lnSpc>
                <a:spcPct val="100000"/>
              </a:lnSpc>
              <a:spcBef>
                <a:spcPct val="0"/>
              </a:spcBef>
              <a:buClr>
                <a:schemeClr val="tx1"/>
              </a:buClr>
              <a:buSzPct val="117000"/>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Presentation Layer</a:t>
            </a:r>
          </a:p>
          <a:p>
            <a:pPr eaLnBrk="1" hangingPunct="1">
              <a:lnSpc>
                <a:spcPct val="100000"/>
              </a:lnSpc>
              <a:spcBef>
                <a:spcPct val="0"/>
              </a:spcBef>
              <a:buClr>
                <a:schemeClr val="tx1"/>
              </a:buClr>
              <a:buSzPct val="117000"/>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Application Layer</a:t>
            </a:r>
          </a:p>
        </p:txBody>
      </p:sp>
      <p:sp>
        <p:nvSpPr>
          <p:cNvPr id="678919" name="Text Box 7">
            <a:extLst>
              <a:ext uri="{FF2B5EF4-FFF2-40B4-BE49-F238E27FC236}">
                <a16:creationId xmlns:a16="http://schemas.microsoft.com/office/drawing/2014/main" id="{5B7EB361-DFCB-0E3D-D181-33E9FEDC4AE7}"/>
              </a:ext>
            </a:extLst>
          </p:cNvPr>
          <p:cNvSpPr txBox="1">
            <a:spLocks noChangeArrowheads="1"/>
          </p:cNvSpPr>
          <p:nvPr/>
        </p:nvSpPr>
        <p:spPr bwMode="auto">
          <a:xfrm>
            <a:off x="1725613" y="2349500"/>
            <a:ext cx="4867275" cy="519113"/>
          </a:xfrm>
          <a:prstGeom prst="rect">
            <a:avLst/>
          </a:prstGeom>
          <a:noFill/>
          <a:ln>
            <a:noFill/>
          </a:ln>
          <a:effectLst/>
        </p:spPr>
        <p:txBody>
          <a:bodyPr wrap="none">
            <a:spAutoFit/>
          </a:bodyPr>
          <a:lstStyle/>
          <a:p>
            <a:pPr algn="ctr" eaLnBrk="1" fontAlgn="auto" hangingPunct="1">
              <a:spcBef>
                <a:spcPts val="0"/>
              </a:spcBef>
              <a:spcAft>
                <a:spcPts val="0"/>
              </a:spcAft>
              <a:defRPr/>
            </a:pPr>
            <a:r>
              <a:rPr lang="en-US" altLang="en-US" sz="2800" i="1" u="sng"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Topics discussed in this section: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4">
            <a:extLst>
              <a:ext uri="{FF2B5EF4-FFF2-40B4-BE49-F238E27FC236}">
                <a16:creationId xmlns:a16="http://schemas.microsoft.com/office/drawing/2014/main" id="{26FE92D5-D719-394D-07B2-AF3C41721CC5}"/>
              </a:ext>
            </a:extLst>
          </p:cNvPr>
          <p:cNvSpPr txBox="1">
            <a:spLocks noChangeArrowheads="1"/>
          </p:cNvSpPr>
          <p:nvPr/>
        </p:nvSpPr>
        <p:spPr bwMode="auto">
          <a:xfrm>
            <a:off x="4267200" y="84138"/>
            <a:ext cx="23256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dirty="0">
                <a:solidFill>
                  <a:schemeClr val="accent1"/>
                </a:solidFill>
                <a:latin typeface="Times New Roman" panose="02020603050405020304" pitchFamily="18" charset="0"/>
                <a:cs typeface="Times New Roman" panose="02020603050405020304" pitchFamily="18" charset="0"/>
              </a:rPr>
              <a:t>Physical layer</a:t>
            </a:r>
          </a:p>
        </p:txBody>
      </p:sp>
      <p:pic>
        <p:nvPicPr>
          <p:cNvPr id="79875" name="Picture 6">
            <a:extLst>
              <a:ext uri="{FF2B5EF4-FFF2-40B4-BE49-F238E27FC236}">
                <a16:creationId xmlns:a16="http://schemas.microsoft.com/office/drawing/2014/main" id="{76EE03B6-0EF7-ACE5-3782-7E2F9B520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0044" y="2908300"/>
            <a:ext cx="5757862"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876" name="TextBox 2">
            <a:extLst>
              <a:ext uri="{FF2B5EF4-FFF2-40B4-BE49-F238E27FC236}">
                <a16:creationId xmlns:a16="http://schemas.microsoft.com/office/drawing/2014/main" id="{43985CDC-08BF-0AF2-141E-955181CC40EB}"/>
              </a:ext>
            </a:extLst>
          </p:cNvPr>
          <p:cNvSpPr txBox="1">
            <a:spLocks noChangeArrowheads="1"/>
          </p:cNvSpPr>
          <p:nvPr/>
        </p:nvSpPr>
        <p:spPr bwMode="auto">
          <a:xfrm>
            <a:off x="0" y="904875"/>
            <a:ext cx="1089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It deals with the physical transmission of  data over a communication medium.</a:t>
            </a:r>
          </a:p>
          <a:p>
            <a:pPr algn="just" eaLnBrk="1" hangingPunct="1">
              <a:lnSpc>
                <a:spcPct val="100000"/>
              </a:lnSpc>
              <a:spcBef>
                <a:spcPct val="0"/>
              </a:spcBef>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It deals with the mechanical and electrical specifications of the interface and transmission medium.</a:t>
            </a:r>
          </a:p>
        </p:txBody>
      </p:sp>
      <p:sp>
        <p:nvSpPr>
          <p:cNvPr id="79877" name="TextBox 1">
            <a:extLst>
              <a:ext uri="{FF2B5EF4-FFF2-40B4-BE49-F238E27FC236}">
                <a16:creationId xmlns:a16="http://schemas.microsoft.com/office/drawing/2014/main" id="{32706397-6001-35CE-8F8B-1BC38DE9AAB9}"/>
              </a:ext>
            </a:extLst>
          </p:cNvPr>
          <p:cNvSpPr txBox="1">
            <a:spLocks noChangeArrowheads="1"/>
          </p:cNvSpPr>
          <p:nvPr/>
        </p:nvSpPr>
        <p:spPr bwMode="auto">
          <a:xfrm>
            <a:off x="247650" y="2593975"/>
            <a:ext cx="5848350" cy="359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400" b="1" i="1" dirty="0">
                <a:solidFill>
                  <a:schemeClr val="accent1"/>
                </a:solidFill>
                <a:latin typeface="Times New Roman" panose="02020603050405020304" pitchFamily="18" charset="0"/>
                <a:cs typeface="Times New Roman" panose="02020603050405020304" pitchFamily="18" charset="0"/>
              </a:rPr>
              <a:t>Services Provided</a:t>
            </a:r>
          </a:p>
          <a:p>
            <a:pPr latinLnBrk="1"/>
            <a:r>
              <a:rPr lang="en-US" altLang="en-US" sz="2400" dirty="0">
                <a:solidFill>
                  <a:srgbClr val="000000"/>
                </a:solidFill>
                <a:latin typeface="Times New Roman" panose="02020603050405020304" pitchFamily="18" charset="0"/>
                <a:cs typeface="Times New Roman" panose="02020603050405020304" pitchFamily="18" charset="0"/>
              </a:rPr>
              <a:t>Physical characteristics of the media</a:t>
            </a:r>
          </a:p>
          <a:p>
            <a:pPr latinLnBrk="1"/>
            <a:r>
              <a:rPr lang="en-US" altLang="en-US" sz="2400" dirty="0">
                <a:latin typeface="Times New Roman" panose="02020603050405020304" pitchFamily="18" charset="0"/>
                <a:cs typeface="Times New Roman" panose="02020603050405020304" pitchFamily="18" charset="0"/>
              </a:rPr>
              <a:t>Representation of bits</a:t>
            </a:r>
          </a:p>
          <a:p>
            <a:pPr latinLnBrk="1"/>
            <a:r>
              <a:rPr lang="en-US" altLang="en-US" sz="2400" dirty="0">
                <a:solidFill>
                  <a:srgbClr val="000000"/>
                </a:solidFill>
                <a:latin typeface="Times New Roman" panose="02020603050405020304" pitchFamily="18" charset="0"/>
                <a:cs typeface="Times New Roman" panose="02020603050405020304" pitchFamily="18" charset="0"/>
              </a:rPr>
              <a:t>Data rate</a:t>
            </a:r>
          </a:p>
          <a:p>
            <a:pPr latinLnBrk="1"/>
            <a:r>
              <a:rPr lang="en-US" altLang="en-US" sz="2400" dirty="0">
                <a:solidFill>
                  <a:srgbClr val="000000"/>
                </a:solidFill>
                <a:latin typeface="Times New Roman" panose="02020603050405020304" pitchFamily="18" charset="0"/>
                <a:cs typeface="Times New Roman" panose="02020603050405020304" pitchFamily="18" charset="0"/>
              </a:rPr>
              <a:t>Line configuration</a:t>
            </a:r>
          </a:p>
          <a:p>
            <a:pPr latinLnBrk="1"/>
            <a:r>
              <a:rPr lang="en-US" altLang="en-US" sz="2400" dirty="0">
                <a:latin typeface="Times New Roman" panose="02020603050405020304" pitchFamily="18" charset="0"/>
                <a:cs typeface="Times New Roman" panose="02020603050405020304" pitchFamily="18" charset="0"/>
              </a:rPr>
              <a:t>Physical topology</a:t>
            </a:r>
          </a:p>
          <a:p>
            <a:pPr latinLnBrk="1"/>
            <a:r>
              <a:rPr lang="en-US" altLang="en-US" sz="2400" dirty="0">
                <a:solidFill>
                  <a:srgbClr val="000000"/>
                </a:solidFill>
                <a:latin typeface="Times New Roman" panose="02020603050405020304" pitchFamily="18" charset="0"/>
                <a:cs typeface="Times New Roman" panose="02020603050405020304" pitchFamily="18" charset="0"/>
              </a:rPr>
              <a:t>Transmission mode</a:t>
            </a:r>
          </a:p>
          <a:p>
            <a:pPr eaLnBrk="1" hangingPunct="1">
              <a:lnSpc>
                <a:spcPct val="100000"/>
              </a:lnSpc>
              <a:spcBef>
                <a:spcPct val="0"/>
              </a:spcBef>
              <a:buFontTx/>
              <a:buNone/>
            </a:pPr>
            <a:endParaRPr lang="en-IN" altLang="en-US" sz="2400" b="1" i="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4">
            <a:extLst>
              <a:ext uri="{FF2B5EF4-FFF2-40B4-BE49-F238E27FC236}">
                <a16:creationId xmlns:a16="http://schemas.microsoft.com/office/drawing/2014/main" id="{545E52BD-F8DD-BC1F-BA9C-CCC2A122A3B1}"/>
              </a:ext>
            </a:extLst>
          </p:cNvPr>
          <p:cNvSpPr txBox="1">
            <a:spLocks noChangeArrowheads="1"/>
          </p:cNvSpPr>
          <p:nvPr/>
        </p:nvSpPr>
        <p:spPr bwMode="auto">
          <a:xfrm>
            <a:off x="1828800" y="381000"/>
            <a:ext cx="24780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Data link layer</a:t>
            </a:r>
          </a:p>
        </p:txBody>
      </p:sp>
      <p:pic>
        <p:nvPicPr>
          <p:cNvPr id="81923" name="Picture 6">
            <a:extLst>
              <a:ext uri="{FF2B5EF4-FFF2-40B4-BE49-F238E27FC236}">
                <a16:creationId xmlns:a16="http://schemas.microsoft.com/office/drawing/2014/main" id="{1B513F42-DB34-3EDB-5995-E1CD90E33E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925" y="2611438"/>
            <a:ext cx="5586413" cy="282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4" name="TextBox 2">
            <a:extLst>
              <a:ext uri="{FF2B5EF4-FFF2-40B4-BE49-F238E27FC236}">
                <a16:creationId xmlns:a16="http://schemas.microsoft.com/office/drawing/2014/main" id="{521D2421-25E2-80D4-5165-F22693AAFF25}"/>
              </a:ext>
            </a:extLst>
          </p:cNvPr>
          <p:cNvSpPr txBox="1">
            <a:spLocks noChangeArrowheads="1"/>
          </p:cNvSpPr>
          <p:nvPr/>
        </p:nvSpPr>
        <p:spPr bwMode="auto">
          <a:xfrm>
            <a:off x="0" y="1036638"/>
            <a:ext cx="11066463"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The </a:t>
            </a:r>
            <a:r>
              <a:rPr lang="en-IN" altLang="en-US" sz="2200" i="1" dirty="0">
                <a:solidFill>
                  <a:schemeClr val="accent1"/>
                </a:solidFill>
                <a:latin typeface="Times New Roman" panose="02020603050405020304" pitchFamily="18" charset="0"/>
                <a:cs typeface="Times New Roman" panose="02020603050405020304" pitchFamily="18" charset="0"/>
              </a:rPr>
              <a:t>data link </a:t>
            </a:r>
            <a:r>
              <a:rPr lang="en-IN" altLang="en-US" sz="2200" dirty="0">
                <a:latin typeface="Times New Roman" panose="02020603050405020304" pitchFamily="18" charset="0"/>
                <a:cs typeface="Times New Roman" panose="02020603050405020304" pitchFamily="18" charset="0"/>
              </a:rPr>
              <a:t>layer is responsible for moving frames from </a:t>
            </a:r>
            <a:r>
              <a:rPr lang="en-IN" altLang="en-US" sz="2200" dirty="0">
                <a:solidFill>
                  <a:srgbClr val="FF0000"/>
                </a:solidFill>
                <a:latin typeface="Times New Roman" panose="02020603050405020304" pitchFamily="18" charset="0"/>
                <a:cs typeface="Times New Roman" panose="02020603050405020304" pitchFamily="18" charset="0"/>
              </a:rPr>
              <a:t>one node to the next node</a:t>
            </a:r>
            <a:r>
              <a:rPr lang="en-IN" altLang="en-US" sz="2200" dirty="0">
                <a:latin typeface="Times New Roman" panose="02020603050405020304" pitchFamily="18" charset="0"/>
                <a:cs typeface="Times New Roman" panose="02020603050405020304" pitchFamily="18" charset="0"/>
              </a:rPr>
              <a:t>. </a:t>
            </a:r>
          </a:p>
          <a:p>
            <a:pPr algn="just"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 It makes the physical layer appear error-free to the upper layer (</a:t>
            </a:r>
            <a:r>
              <a:rPr lang="en-IN" altLang="en-US" sz="2200" i="1" dirty="0">
                <a:solidFill>
                  <a:schemeClr val="accent1"/>
                </a:solidFill>
                <a:latin typeface="Times New Roman" panose="02020603050405020304" pitchFamily="18" charset="0"/>
                <a:cs typeface="Times New Roman" panose="02020603050405020304" pitchFamily="18" charset="0"/>
              </a:rPr>
              <a:t>Network layer</a:t>
            </a:r>
            <a:r>
              <a:rPr lang="en-IN" altLang="en-US" sz="2200"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A09A5BA1-0A79-82BA-6D42-30067E4AAECE}"/>
              </a:ext>
            </a:extLst>
          </p:cNvPr>
          <p:cNvSpPr txBox="1"/>
          <p:nvPr/>
        </p:nvSpPr>
        <p:spPr>
          <a:xfrm>
            <a:off x="461963" y="2422525"/>
            <a:ext cx="4610100" cy="2900363"/>
          </a:xfrm>
          <a:prstGeom prst="rect">
            <a:avLst/>
          </a:prstGeom>
          <a:noFill/>
        </p:spPr>
        <p:txBody>
          <a:bodyPr>
            <a:spAutoFit/>
          </a:bodyPr>
          <a:lstStyle/>
          <a:p>
            <a:pPr defTabSz="914400" latinLnBrk="1">
              <a:lnSpc>
                <a:spcPct val="9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Framing</a:t>
            </a:r>
          </a:p>
          <a:p>
            <a:pPr marL="273050" indent="-273050" defTabSz="914400" latinLnBrk="1">
              <a:lnSpc>
                <a:spcPct val="90000"/>
              </a:lnSpc>
              <a:spcBef>
                <a:spcPts val="1000"/>
              </a:spcBef>
              <a:buFont typeface="Arial" pitchFamily="34" charset="0"/>
              <a:buChar char="•"/>
              <a:defRPr/>
            </a:pPr>
            <a:r>
              <a:rPr lang="en-US" sz="2200" kern="0" dirty="0">
                <a:solidFill>
                  <a:srgbClr val="000000"/>
                </a:solidFill>
                <a:latin typeface="Times New Roman" panose="02020603050405020304" pitchFamily="18" charset="0"/>
                <a:cs typeface="Times New Roman" panose="02020603050405020304" pitchFamily="18" charset="0"/>
              </a:rPr>
              <a:t>Physical addressing (MAC address)</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Flow control</a:t>
            </a:r>
          </a:p>
          <a:p>
            <a:pPr marL="273050" indent="-273050" defTabSz="914400" latinLnBrk="1">
              <a:lnSpc>
                <a:spcPct val="90000"/>
              </a:lnSpc>
              <a:spcBef>
                <a:spcPts val="1000"/>
              </a:spcBef>
              <a:buFont typeface="Arial" pitchFamily="34" charset="0"/>
              <a:buChar char="•"/>
              <a:defRPr/>
            </a:pPr>
            <a:r>
              <a:rPr lang="en-US" sz="2200" kern="0" dirty="0">
                <a:solidFill>
                  <a:srgbClr val="000000"/>
                </a:solidFill>
                <a:latin typeface="Times New Roman" panose="02020603050405020304" pitchFamily="18" charset="0"/>
                <a:cs typeface="Times New Roman" panose="02020603050405020304" pitchFamily="18" charset="0"/>
              </a:rPr>
              <a:t>Error control </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Access control</a:t>
            </a:r>
            <a:endParaRPr lang="en-US" sz="2200" kern="0" dirty="0">
              <a:solidFill>
                <a:srgbClr val="000000"/>
              </a:solidFill>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4">
            <a:extLst>
              <a:ext uri="{FF2B5EF4-FFF2-40B4-BE49-F238E27FC236}">
                <a16:creationId xmlns:a16="http://schemas.microsoft.com/office/drawing/2014/main" id="{2E4FC151-0477-FE92-DB07-0991D3EFB491}"/>
              </a:ext>
            </a:extLst>
          </p:cNvPr>
          <p:cNvSpPr txBox="1">
            <a:spLocks noChangeArrowheads="1"/>
          </p:cNvSpPr>
          <p:nvPr/>
        </p:nvSpPr>
        <p:spPr bwMode="auto">
          <a:xfrm>
            <a:off x="1828800" y="381000"/>
            <a:ext cx="2387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Network layer</a:t>
            </a:r>
          </a:p>
        </p:txBody>
      </p:sp>
      <p:pic>
        <p:nvPicPr>
          <p:cNvPr id="83971" name="Picture 6">
            <a:extLst>
              <a:ext uri="{FF2B5EF4-FFF2-40B4-BE49-F238E27FC236}">
                <a16:creationId xmlns:a16="http://schemas.microsoft.com/office/drawing/2014/main" id="{AAAC0862-9885-2FFD-61E6-E7F5243E6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444240"/>
            <a:ext cx="52705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72BB2C22-65AF-717B-84C8-5914BFCAAB4D}"/>
              </a:ext>
            </a:extLst>
          </p:cNvPr>
          <p:cNvSpPr txBox="1"/>
          <p:nvPr/>
        </p:nvSpPr>
        <p:spPr>
          <a:xfrm>
            <a:off x="0" y="1084263"/>
            <a:ext cx="11114088" cy="2570704"/>
          </a:xfrm>
          <a:prstGeom prst="rect">
            <a:avLst/>
          </a:prstGeom>
          <a:noFill/>
        </p:spPr>
        <p:txBody>
          <a:bodyPr>
            <a:spAutoFit/>
          </a:bodyPr>
          <a:lstStyle/>
          <a:p>
            <a:pPr marL="342900" indent="-342900" algn="just" eaLnBrk="1" fontAlgn="auto" hangingPunct="1">
              <a:lnSpc>
                <a:spcPct val="150000"/>
              </a:lnSpc>
              <a:spcBef>
                <a:spcPts val="0"/>
              </a:spcBef>
              <a:spcAft>
                <a:spcPts val="0"/>
              </a:spcAft>
              <a:buFont typeface="Courier New" panose="02070309020205020404" pitchFamily="49" charset="0"/>
              <a:buChar char="o"/>
              <a:defRPr/>
            </a:pPr>
            <a:r>
              <a:rPr lang="en-US" altLang="en-US" sz="2200" dirty="0">
                <a:latin typeface="Times New Roman" panose="02020603050405020304" pitchFamily="18" charset="0"/>
                <a:cs typeface="Times New Roman" panose="02020603050405020304" pitchFamily="18" charset="0"/>
              </a:rPr>
              <a:t>The </a:t>
            </a:r>
            <a:r>
              <a:rPr lang="en-US" altLang="en-US" sz="2200" i="1" dirty="0">
                <a:solidFill>
                  <a:schemeClr val="accent1"/>
                </a:solidFill>
                <a:latin typeface="Times New Roman" panose="02020603050405020304" pitchFamily="18" charset="0"/>
                <a:cs typeface="Times New Roman" panose="02020603050405020304" pitchFamily="18" charset="0"/>
              </a:rPr>
              <a:t>network layer </a:t>
            </a:r>
            <a:r>
              <a:rPr lang="en-US" altLang="en-US" sz="2200" dirty="0">
                <a:latin typeface="Times New Roman" panose="02020603050405020304" pitchFamily="18" charset="0"/>
                <a:cs typeface="Times New Roman" panose="02020603050405020304" pitchFamily="18" charset="0"/>
              </a:rPr>
              <a:t>is responsible for the </a:t>
            </a:r>
            <a:r>
              <a:rPr lang="en-US" altLang="en-US" sz="2200" dirty="0">
                <a:solidFill>
                  <a:srgbClr val="FF0000"/>
                </a:solidFill>
                <a:latin typeface="Times New Roman" panose="02020603050405020304" pitchFamily="18" charset="0"/>
                <a:cs typeface="Times New Roman" panose="02020603050405020304" pitchFamily="18" charset="0"/>
              </a:rPr>
              <a:t>source-to-destination delivery </a:t>
            </a:r>
            <a:r>
              <a:rPr lang="en-US" altLang="en-US" sz="2200" dirty="0">
                <a:latin typeface="Times New Roman" panose="02020603050405020304" pitchFamily="18" charset="0"/>
                <a:cs typeface="Times New Roman" panose="02020603050405020304" pitchFamily="18" charset="0"/>
              </a:rPr>
              <a:t>of a packet.</a:t>
            </a:r>
          </a:p>
          <a:p>
            <a:pPr marL="342900" indent="-342900" algn="just" eaLnBrk="1" fontAlgn="auto" hangingPunct="1">
              <a:lnSpc>
                <a:spcPct val="150000"/>
              </a:lnSpc>
              <a:spcBef>
                <a:spcPts val="0"/>
              </a:spcBef>
              <a:spcAft>
                <a:spcPts val="0"/>
              </a:spcAft>
              <a:buFont typeface="Courier New" panose="02070309020205020404" pitchFamily="49" charset="0"/>
              <a:buChar char="o"/>
              <a:defRPr/>
            </a:pPr>
            <a:r>
              <a:rPr lang="en-US" altLang="en-US" sz="2200" dirty="0">
                <a:latin typeface="Times New Roman" panose="02020603050405020304" pitchFamily="18" charset="0"/>
                <a:cs typeface="Times New Roman" panose="02020603050405020304" pitchFamily="18" charset="0"/>
              </a:rPr>
              <a:t>The </a:t>
            </a:r>
            <a:r>
              <a:rPr lang="en-US" altLang="en-US" sz="2200" i="1" dirty="0">
                <a:solidFill>
                  <a:schemeClr val="accent1"/>
                </a:solidFill>
                <a:latin typeface="Times New Roman" panose="02020603050405020304" pitchFamily="18" charset="0"/>
                <a:cs typeface="Times New Roman" panose="02020603050405020304" pitchFamily="18" charset="0"/>
              </a:rPr>
              <a:t>data link layer </a:t>
            </a:r>
            <a:r>
              <a:rPr lang="en-US" altLang="en-US" sz="2200" dirty="0">
                <a:latin typeface="Times New Roman" panose="02020603050405020304" pitchFamily="18" charset="0"/>
                <a:cs typeface="Times New Roman" panose="02020603050405020304" pitchFamily="18" charset="0"/>
              </a:rPr>
              <a:t>oversees the delivery of the packet between two systems on the same network.</a:t>
            </a:r>
          </a:p>
          <a:p>
            <a:pPr marL="342900" indent="-342900" algn="just" eaLnBrk="1" fontAlgn="auto" hangingPunct="1">
              <a:lnSpc>
                <a:spcPct val="150000"/>
              </a:lnSpc>
              <a:spcBef>
                <a:spcPts val="0"/>
              </a:spcBef>
              <a:spcAft>
                <a:spcPts val="0"/>
              </a:spcAft>
              <a:buFont typeface="Courier New" panose="02070309020205020404" pitchFamily="49" charset="0"/>
              <a:buChar char="o"/>
              <a:defRPr/>
            </a:pPr>
            <a:r>
              <a:rPr lang="en-US" altLang="en-US" sz="2200" dirty="0">
                <a:latin typeface="Times New Roman" panose="02020603050405020304" pitchFamily="18" charset="0"/>
                <a:cs typeface="Times New Roman" panose="02020603050405020304" pitchFamily="18" charset="0"/>
              </a:rPr>
              <a:t>The </a:t>
            </a:r>
            <a:r>
              <a:rPr lang="en-US" altLang="en-US" sz="2200" i="1" dirty="0">
                <a:solidFill>
                  <a:schemeClr val="accent1"/>
                </a:solidFill>
                <a:latin typeface="Times New Roman" panose="02020603050405020304" pitchFamily="18" charset="0"/>
                <a:cs typeface="Times New Roman" panose="02020603050405020304" pitchFamily="18" charset="0"/>
              </a:rPr>
              <a:t>network layer </a:t>
            </a:r>
            <a:r>
              <a:rPr lang="en-US" altLang="en-US" sz="2200" dirty="0">
                <a:latin typeface="Times New Roman" panose="02020603050405020304" pitchFamily="18" charset="0"/>
                <a:cs typeface="Times New Roman" panose="02020603050405020304" pitchFamily="18" charset="0"/>
              </a:rPr>
              <a:t>ensures that each packet gets from its point of origin to its final destination.</a:t>
            </a:r>
          </a:p>
          <a:p>
            <a:pPr algn="just" eaLnBrk="1" fontAlgn="auto" hangingPunct="1">
              <a:lnSpc>
                <a:spcPct val="150000"/>
              </a:lnSpc>
              <a:spcBef>
                <a:spcPts val="0"/>
              </a:spcBef>
              <a:spcAft>
                <a:spcPts val="0"/>
              </a:spcAft>
              <a:defRPr/>
            </a:pPr>
            <a:endParaRPr lang="en-IN" sz="2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92A95DF-872A-94C8-8CE5-0A4AA99E1D08}"/>
              </a:ext>
            </a:extLst>
          </p:cNvPr>
          <p:cNvSpPr txBox="1"/>
          <p:nvPr/>
        </p:nvSpPr>
        <p:spPr>
          <a:xfrm>
            <a:off x="811213" y="3976688"/>
            <a:ext cx="4033837" cy="1262062"/>
          </a:xfrm>
          <a:prstGeom prst="rect">
            <a:avLst/>
          </a:prstGeom>
          <a:noFill/>
        </p:spPr>
        <p:txBody>
          <a:bodyPr>
            <a:spAutoFit/>
          </a:bodyPr>
          <a:lstStyle/>
          <a:p>
            <a:pPr marL="273050" indent="-273050" defTabSz="914400" latinLnBrk="1">
              <a:lnSpc>
                <a:spcPct val="9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 </a:t>
            </a:r>
          </a:p>
          <a:p>
            <a:pPr marL="273050" indent="-273050" defTabSz="914400" latinLnBrk="1">
              <a:lnSpc>
                <a:spcPct val="90000"/>
              </a:lnSpc>
              <a:spcBef>
                <a:spcPts val="1000"/>
              </a:spcBef>
              <a:buFont typeface="Arial" pitchFamily="34" charset="0"/>
              <a:buChar char="•"/>
              <a:defRPr/>
            </a:pPr>
            <a:r>
              <a:rPr lang="en-US" sz="2200" kern="0" dirty="0">
                <a:solidFill>
                  <a:srgbClr val="000000"/>
                </a:solidFill>
                <a:latin typeface="Times New Roman" panose="02020603050405020304" pitchFamily="18" charset="0"/>
                <a:cs typeface="Times New Roman" panose="02020603050405020304" pitchFamily="18" charset="0"/>
              </a:rPr>
              <a:t>Logical addressing (IP address)</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Routing </a:t>
            </a:r>
            <a:endParaRPr lang="en-US" sz="2200" kern="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4">
            <a:extLst>
              <a:ext uri="{FF2B5EF4-FFF2-40B4-BE49-F238E27FC236}">
                <a16:creationId xmlns:a16="http://schemas.microsoft.com/office/drawing/2014/main" id="{9685A770-76B2-9544-EC20-914D6EBAFBC1}"/>
              </a:ext>
            </a:extLst>
          </p:cNvPr>
          <p:cNvSpPr txBox="1">
            <a:spLocks noChangeArrowheads="1"/>
          </p:cNvSpPr>
          <p:nvPr/>
        </p:nvSpPr>
        <p:spPr bwMode="auto">
          <a:xfrm>
            <a:off x="381000" y="126291"/>
            <a:ext cx="25987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Transport layer</a:t>
            </a:r>
          </a:p>
        </p:txBody>
      </p:sp>
      <p:pic>
        <p:nvPicPr>
          <p:cNvPr id="86019" name="Picture 6">
            <a:extLst>
              <a:ext uri="{FF2B5EF4-FFF2-40B4-BE49-F238E27FC236}">
                <a16:creationId xmlns:a16="http://schemas.microsoft.com/office/drawing/2014/main" id="{7EC91215-9BFB-9C7B-A6D8-27CF7F94B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743200"/>
            <a:ext cx="4724400" cy="257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20" name="TextBox 2">
            <a:extLst>
              <a:ext uri="{FF2B5EF4-FFF2-40B4-BE49-F238E27FC236}">
                <a16:creationId xmlns:a16="http://schemas.microsoft.com/office/drawing/2014/main" id="{4AF318F9-BE3B-0C62-1CEF-B89F31140C5E}"/>
              </a:ext>
            </a:extLst>
          </p:cNvPr>
          <p:cNvSpPr txBox="1">
            <a:spLocks noChangeArrowheads="1"/>
          </p:cNvSpPr>
          <p:nvPr/>
        </p:nvSpPr>
        <p:spPr bwMode="auto">
          <a:xfrm>
            <a:off x="150813" y="695325"/>
            <a:ext cx="11541125" cy="155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The </a:t>
            </a:r>
            <a:r>
              <a:rPr lang="en-IN" altLang="en-US" sz="2200" i="1" dirty="0">
                <a:solidFill>
                  <a:schemeClr val="accent1"/>
                </a:solidFill>
                <a:latin typeface="Times New Roman" panose="02020603050405020304" pitchFamily="18" charset="0"/>
                <a:cs typeface="Times New Roman" panose="02020603050405020304" pitchFamily="18" charset="0"/>
              </a:rPr>
              <a:t>transport layer </a:t>
            </a:r>
            <a:r>
              <a:rPr lang="en-IN" altLang="en-US" sz="2200" dirty="0">
                <a:latin typeface="Times New Roman" panose="02020603050405020304" pitchFamily="18" charset="0"/>
                <a:cs typeface="Times New Roman" panose="02020603050405020304" pitchFamily="18" charset="0"/>
              </a:rPr>
              <a:t>is responsible for </a:t>
            </a:r>
            <a:r>
              <a:rPr lang="en-IN" altLang="en-US" sz="2200" b="1" dirty="0">
                <a:solidFill>
                  <a:srgbClr val="FF0000"/>
                </a:solidFill>
                <a:latin typeface="Times New Roman" panose="02020603050405020304" pitchFamily="18" charset="0"/>
                <a:cs typeface="Times New Roman" panose="02020603050405020304" pitchFamily="18" charset="0"/>
              </a:rPr>
              <a:t>process-to-process delivery </a:t>
            </a:r>
            <a:r>
              <a:rPr lang="en-IN" altLang="en-US" sz="2200" dirty="0">
                <a:latin typeface="Times New Roman" panose="02020603050405020304" pitchFamily="18" charset="0"/>
                <a:cs typeface="Times New Roman" panose="02020603050405020304" pitchFamily="18" charset="0"/>
              </a:rPr>
              <a:t>of the entire message.</a:t>
            </a:r>
          </a:p>
          <a:p>
            <a:pPr algn="just"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We need a port number, to choose among multiple processes running on the destination host </a:t>
            </a:r>
          </a:p>
          <a:p>
            <a:pPr algn="just"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The </a:t>
            </a:r>
            <a:r>
              <a:rPr lang="en-IN" altLang="en-US" sz="2200" i="1" dirty="0">
                <a:solidFill>
                  <a:schemeClr val="accent1"/>
                </a:solidFill>
                <a:latin typeface="Times New Roman" panose="02020603050405020304" pitchFamily="18" charset="0"/>
                <a:cs typeface="Times New Roman" panose="02020603050405020304" pitchFamily="18" charset="0"/>
              </a:rPr>
              <a:t>network layer </a:t>
            </a:r>
            <a:r>
              <a:rPr lang="en-IN" altLang="en-US" sz="2200" dirty="0">
                <a:latin typeface="Times New Roman" panose="02020603050405020304" pitchFamily="18" charset="0"/>
                <a:cs typeface="Times New Roman" panose="02020603050405020304" pitchFamily="18" charset="0"/>
              </a:rPr>
              <a:t>oversees source-to-destination delivery of individual packets.</a:t>
            </a:r>
          </a:p>
        </p:txBody>
      </p:sp>
      <p:sp>
        <p:nvSpPr>
          <p:cNvPr id="2" name="TextBox 1">
            <a:extLst>
              <a:ext uri="{FF2B5EF4-FFF2-40B4-BE49-F238E27FC236}">
                <a16:creationId xmlns:a16="http://schemas.microsoft.com/office/drawing/2014/main" id="{9350F807-1EE5-2C0B-7430-B6FB02B85B1F}"/>
              </a:ext>
            </a:extLst>
          </p:cNvPr>
          <p:cNvSpPr txBox="1"/>
          <p:nvPr/>
        </p:nvSpPr>
        <p:spPr>
          <a:xfrm>
            <a:off x="609600" y="2819400"/>
            <a:ext cx="4100513" cy="2900363"/>
          </a:xfrm>
          <a:prstGeom prst="rect">
            <a:avLst/>
          </a:prstGeom>
          <a:noFill/>
        </p:spPr>
        <p:txBody>
          <a:bodyPr>
            <a:spAutoFit/>
          </a:bodyPr>
          <a:lstStyle/>
          <a:p>
            <a:pPr marL="273050" indent="-273050" defTabSz="914400" latinLnBrk="1">
              <a:lnSpc>
                <a:spcPct val="9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 </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Service-point </a:t>
            </a:r>
            <a:r>
              <a:rPr lang="en-US" sz="2200" kern="0" dirty="0">
                <a:solidFill>
                  <a:schemeClr val="accent1"/>
                </a:solidFill>
                <a:latin typeface="Times New Roman" panose="02020603050405020304" pitchFamily="18" charset="0"/>
                <a:cs typeface="Times New Roman" panose="02020603050405020304" pitchFamily="18" charset="0"/>
              </a:rPr>
              <a:t>(</a:t>
            </a:r>
            <a:r>
              <a:rPr lang="en-US" sz="2200" i="1" kern="0" dirty="0">
                <a:solidFill>
                  <a:schemeClr val="accent1"/>
                </a:solidFill>
                <a:latin typeface="Times New Roman" panose="02020603050405020304" pitchFamily="18" charset="0"/>
                <a:cs typeface="Times New Roman" panose="02020603050405020304" pitchFamily="18" charset="0"/>
              </a:rPr>
              <a:t>Port</a:t>
            </a:r>
            <a:r>
              <a:rPr lang="en-US" sz="2200" kern="0" dirty="0">
                <a:solidFill>
                  <a:schemeClr val="accent1"/>
                </a:solidFill>
                <a:latin typeface="Times New Roman" panose="02020603050405020304" pitchFamily="18" charset="0"/>
                <a:cs typeface="Times New Roman" panose="02020603050405020304" pitchFamily="18" charset="0"/>
              </a:rPr>
              <a:t>)</a:t>
            </a:r>
            <a:r>
              <a:rPr lang="en-US" sz="2200" kern="0" dirty="0">
                <a:latin typeface="Times New Roman" panose="02020603050405020304" pitchFamily="18" charset="0"/>
                <a:cs typeface="Times New Roman" panose="02020603050405020304" pitchFamily="18" charset="0"/>
              </a:rPr>
              <a:t> addressing</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Segmentation and Reassembly</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Connection control</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Flow control</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Error control</a:t>
            </a:r>
          </a:p>
          <a:p>
            <a:pPr eaLnBrk="1" fontAlgn="auto" hangingPunct="1">
              <a:spcBef>
                <a:spcPts val="0"/>
              </a:spcBef>
              <a:spcAft>
                <a:spcPts val="0"/>
              </a:spcAft>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C8D462C-03F0-BB0E-22DC-276324683E1B}"/>
              </a:ext>
            </a:extLst>
          </p:cNvPr>
          <p:cNvSpPr/>
          <p:nvPr/>
        </p:nvSpPr>
        <p:spPr>
          <a:xfrm>
            <a:off x="857839" y="707009"/>
            <a:ext cx="1159497" cy="452487"/>
          </a:xfrm>
          <a:prstGeom prst="roundRect">
            <a:avLst/>
          </a:prstGeom>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sz="2400" dirty="0">
                <a:latin typeface="Times New Roman" panose="02020603050405020304" pitchFamily="18" charset="0"/>
                <a:cs typeface="Times New Roman" panose="02020603050405020304" pitchFamily="18" charset="0"/>
              </a:rPr>
              <a:t>NOTE</a:t>
            </a:r>
          </a:p>
        </p:txBody>
      </p:sp>
      <p:sp>
        <p:nvSpPr>
          <p:cNvPr id="5" name="Rectangle: Rounded Corners 4">
            <a:extLst>
              <a:ext uri="{FF2B5EF4-FFF2-40B4-BE49-F238E27FC236}">
                <a16:creationId xmlns:a16="http://schemas.microsoft.com/office/drawing/2014/main" id="{A838726F-1F84-B294-2F5D-26B0E34667C9}"/>
              </a:ext>
            </a:extLst>
          </p:cNvPr>
          <p:cNvSpPr/>
          <p:nvPr/>
        </p:nvSpPr>
        <p:spPr>
          <a:xfrm>
            <a:off x="1177925" y="1423988"/>
            <a:ext cx="9577388" cy="4486275"/>
          </a:xfrm>
          <a:prstGeom prst="roundRect">
            <a:avLst/>
          </a:prstGeom>
          <a:solidFill>
            <a:srgbClr val="00B050"/>
          </a:solidFill>
          <a:ln>
            <a:solidFill>
              <a:schemeClr val="bg1"/>
            </a:solidFill>
          </a:ln>
          <a:effectLst>
            <a:outerShdw blurRad="76200" dir="13500000" sy="23000" kx="12000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lnSpc>
                <a:spcPct val="150000"/>
              </a:lnSpc>
              <a:spcBef>
                <a:spcPts val="0"/>
              </a:spcBef>
              <a:spcAft>
                <a:spcPts val="0"/>
              </a:spcAft>
              <a:defRPr/>
            </a:pPr>
            <a:r>
              <a:rPr lang="en-IN" sz="2400" dirty="0">
                <a:solidFill>
                  <a:schemeClr val="bg1"/>
                </a:solidFill>
                <a:latin typeface="Times New Roman" panose="02020603050405020304" pitchFamily="18" charset="0"/>
                <a:cs typeface="Times New Roman" panose="02020603050405020304" pitchFamily="18" charset="0"/>
              </a:rPr>
              <a:t>Data Link Layer requires the MAC address (48 bits address contained inside the Network Interface Card (NIC) of every host machine) of source-destination hosts to correctly deliver a frame and the Network layer requires the IP address for appropriate routing of packets, in a similar way Transport Layer requires a Port number to correctly deliver the segments of data to the correct process amongst the multiple processes running on a particular host. A port number is a 16-bit address used to identify any client-server program uniquely.</a:t>
            </a:r>
          </a:p>
          <a:p>
            <a:pPr algn="ctr" eaLnBrk="1" fontAlgn="auto" hangingPunct="1">
              <a:spcBef>
                <a:spcPts val="0"/>
              </a:spcBef>
              <a:spcAft>
                <a:spcPts val="0"/>
              </a:spcAft>
              <a:defRPr/>
            </a:pPr>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4">
            <a:extLst>
              <a:ext uri="{FF2B5EF4-FFF2-40B4-BE49-F238E27FC236}">
                <a16:creationId xmlns:a16="http://schemas.microsoft.com/office/drawing/2014/main" id="{EF6F784A-EF05-5A0F-A7AF-84795788538E}"/>
              </a:ext>
            </a:extLst>
          </p:cNvPr>
          <p:cNvSpPr txBox="1">
            <a:spLocks noChangeArrowheads="1"/>
          </p:cNvSpPr>
          <p:nvPr/>
        </p:nvSpPr>
        <p:spPr bwMode="auto">
          <a:xfrm>
            <a:off x="533400" y="355600"/>
            <a:ext cx="21685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Session layer</a:t>
            </a:r>
          </a:p>
        </p:txBody>
      </p:sp>
      <p:pic>
        <p:nvPicPr>
          <p:cNvPr id="89091" name="Picture 6">
            <a:extLst>
              <a:ext uri="{FF2B5EF4-FFF2-40B4-BE49-F238E27FC236}">
                <a16:creationId xmlns:a16="http://schemas.microsoft.com/office/drawing/2014/main" id="{9BF33795-BE4A-F9D0-6CB7-12896F044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362200"/>
            <a:ext cx="5087938"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2" name="TextBox 2">
            <a:extLst>
              <a:ext uri="{FF2B5EF4-FFF2-40B4-BE49-F238E27FC236}">
                <a16:creationId xmlns:a16="http://schemas.microsoft.com/office/drawing/2014/main" id="{88CC5B70-89EB-B09C-5F9D-40C5C49B7E42}"/>
              </a:ext>
            </a:extLst>
          </p:cNvPr>
          <p:cNvSpPr txBox="1">
            <a:spLocks noChangeArrowheads="1"/>
          </p:cNvSpPr>
          <p:nvPr/>
        </p:nvSpPr>
        <p:spPr bwMode="auto">
          <a:xfrm>
            <a:off x="93663" y="952500"/>
            <a:ext cx="12098337" cy="114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The session layer is responsible for </a:t>
            </a:r>
            <a:r>
              <a:rPr lang="en-US" sz="2400" b="1" dirty="0">
                <a:latin typeface="Times New Roman" panose="02020603050405020304" pitchFamily="18" charset="0"/>
                <a:cs typeface="Times New Roman" panose="02020603050405020304" pitchFamily="18" charset="0"/>
              </a:rPr>
              <a:t>establishing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managing</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terminating sessions</a:t>
            </a:r>
            <a:r>
              <a:rPr lang="en-US" sz="2400" dirty="0">
                <a:latin typeface="Times New Roman" panose="02020603050405020304" pitchFamily="18" charset="0"/>
                <a:cs typeface="Times New Roman" panose="02020603050405020304" pitchFamily="18" charset="0"/>
              </a:rPr>
              <a:t> between two communicating devices</a:t>
            </a:r>
            <a:endParaRPr lang="en-IN" altLang="en-US" sz="2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0CD748D-8100-B864-592C-662D6A309D88}"/>
              </a:ext>
            </a:extLst>
          </p:cNvPr>
          <p:cNvSpPr txBox="1"/>
          <p:nvPr/>
        </p:nvSpPr>
        <p:spPr>
          <a:xfrm>
            <a:off x="885825" y="2525713"/>
            <a:ext cx="3035300" cy="1601787"/>
          </a:xfrm>
          <a:prstGeom prst="rect">
            <a:avLst/>
          </a:prstGeom>
          <a:noFill/>
        </p:spPr>
        <p:txBody>
          <a:bodyPr>
            <a:spAutoFit/>
          </a:bodyPr>
          <a:lstStyle/>
          <a:p>
            <a:pPr marL="273050" indent="-273050" defTabSz="914400" latinLnBrk="1">
              <a:lnSpc>
                <a:spcPct val="9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 </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Dialog control</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Synchronization</a:t>
            </a:r>
          </a:p>
          <a:p>
            <a:pPr eaLnBrk="1" fontAlgn="auto" hangingPunct="1">
              <a:spcBef>
                <a:spcPts val="0"/>
              </a:spcBef>
              <a:spcAft>
                <a:spcPts val="0"/>
              </a:spcAft>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4">
            <a:extLst>
              <a:ext uri="{FF2B5EF4-FFF2-40B4-BE49-F238E27FC236}">
                <a16:creationId xmlns:a16="http://schemas.microsoft.com/office/drawing/2014/main" id="{785C389B-FD01-1DD6-2AD1-95BBB58FA3A5}"/>
              </a:ext>
            </a:extLst>
          </p:cNvPr>
          <p:cNvSpPr txBox="1">
            <a:spLocks noChangeArrowheads="1"/>
          </p:cNvSpPr>
          <p:nvPr/>
        </p:nvSpPr>
        <p:spPr bwMode="auto">
          <a:xfrm>
            <a:off x="1122363" y="361950"/>
            <a:ext cx="2978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Presentation layer</a:t>
            </a:r>
          </a:p>
        </p:txBody>
      </p:sp>
      <p:pic>
        <p:nvPicPr>
          <p:cNvPr id="91139" name="Picture 6">
            <a:extLst>
              <a:ext uri="{FF2B5EF4-FFF2-40B4-BE49-F238E27FC236}">
                <a16:creationId xmlns:a16="http://schemas.microsoft.com/office/drawing/2014/main" id="{132FDDC6-07FD-ADDD-6F6D-5C3C54A21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675" y="2297113"/>
            <a:ext cx="5081588" cy="263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40" name="TextBox 2">
            <a:extLst>
              <a:ext uri="{FF2B5EF4-FFF2-40B4-BE49-F238E27FC236}">
                <a16:creationId xmlns:a16="http://schemas.microsoft.com/office/drawing/2014/main" id="{3C76A7D0-5FAB-FCEE-EDC2-B10589F7CA4E}"/>
              </a:ext>
            </a:extLst>
          </p:cNvPr>
          <p:cNvSpPr txBox="1">
            <a:spLocks noChangeArrowheads="1"/>
          </p:cNvSpPr>
          <p:nvPr/>
        </p:nvSpPr>
        <p:spPr bwMode="auto">
          <a:xfrm>
            <a:off x="312738" y="1074738"/>
            <a:ext cx="99075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Courier New" panose="02070309020205020404" pitchFamily="49" charset="0"/>
              <a:buChar char="o"/>
            </a:pPr>
            <a:r>
              <a:rPr lang="en-IN" altLang="en-US" sz="2200">
                <a:latin typeface="Times New Roman" panose="02020603050405020304" pitchFamily="18" charset="0"/>
                <a:cs typeface="Times New Roman" panose="02020603050405020304" pitchFamily="18" charset="0"/>
              </a:rPr>
              <a:t>The </a:t>
            </a:r>
            <a:r>
              <a:rPr lang="en-IN" altLang="en-US" sz="2200" i="1">
                <a:solidFill>
                  <a:schemeClr val="accent1"/>
                </a:solidFill>
                <a:latin typeface="Times New Roman" panose="02020603050405020304" pitchFamily="18" charset="0"/>
                <a:cs typeface="Times New Roman" panose="02020603050405020304" pitchFamily="18" charset="0"/>
              </a:rPr>
              <a:t>presentation layer </a:t>
            </a:r>
            <a:r>
              <a:rPr lang="en-IN" altLang="en-US" sz="2200">
                <a:latin typeface="Times New Roman" panose="02020603050405020304" pitchFamily="18" charset="0"/>
                <a:cs typeface="Times New Roman" panose="02020603050405020304" pitchFamily="18" charset="0"/>
              </a:rPr>
              <a:t>is responsible for translation, compression and encryption.</a:t>
            </a:r>
          </a:p>
        </p:txBody>
      </p:sp>
      <p:sp>
        <p:nvSpPr>
          <p:cNvPr id="4" name="TextBox 3">
            <a:extLst>
              <a:ext uri="{FF2B5EF4-FFF2-40B4-BE49-F238E27FC236}">
                <a16:creationId xmlns:a16="http://schemas.microsoft.com/office/drawing/2014/main" id="{2B1906A6-C534-F82D-4570-D05D0158F67A}"/>
              </a:ext>
            </a:extLst>
          </p:cNvPr>
          <p:cNvSpPr txBox="1"/>
          <p:nvPr/>
        </p:nvSpPr>
        <p:spPr>
          <a:xfrm>
            <a:off x="811213" y="1954213"/>
            <a:ext cx="2487612" cy="1697037"/>
          </a:xfrm>
          <a:prstGeom prst="rect">
            <a:avLst/>
          </a:prstGeom>
          <a:noFill/>
        </p:spPr>
        <p:txBody>
          <a:bodyPr>
            <a:spAutoFit/>
          </a:bodyPr>
          <a:lstStyle/>
          <a:p>
            <a:pPr marL="273050" indent="-273050" defTabSz="914400" latinLnBrk="1">
              <a:lnSpc>
                <a:spcPct val="9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 </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Translation</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Encryption</a:t>
            </a:r>
          </a:p>
          <a:p>
            <a:pPr marL="273050" indent="-273050" defTabSz="914400" latinLnBrk="1">
              <a:lnSpc>
                <a:spcPct val="9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Compression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4">
            <a:extLst>
              <a:ext uri="{FF2B5EF4-FFF2-40B4-BE49-F238E27FC236}">
                <a16:creationId xmlns:a16="http://schemas.microsoft.com/office/drawing/2014/main" id="{4774CD37-4F6E-83CB-D3B8-24A37DADBBB8}"/>
              </a:ext>
            </a:extLst>
          </p:cNvPr>
          <p:cNvSpPr txBox="1">
            <a:spLocks noChangeArrowheads="1"/>
          </p:cNvSpPr>
          <p:nvPr/>
        </p:nvSpPr>
        <p:spPr bwMode="auto">
          <a:xfrm>
            <a:off x="471488" y="179388"/>
            <a:ext cx="28463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solidFill>
                  <a:schemeClr val="accent1"/>
                </a:solidFill>
                <a:latin typeface="Times New Roman" panose="02020603050405020304" pitchFamily="18" charset="0"/>
                <a:cs typeface="Times New Roman" panose="02020603050405020304" pitchFamily="18" charset="0"/>
              </a:rPr>
              <a:t>Application layer</a:t>
            </a:r>
          </a:p>
        </p:txBody>
      </p:sp>
      <p:pic>
        <p:nvPicPr>
          <p:cNvPr id="93187" name="Picture 6">
            <a:extLst>
              <a:ext uri="{FF2B5EF4-FFF2-40B4-BE49-F238E27FC236}">
                <a16:creationId xmlns:a16="http://schemas.microsoft.com/office/drawing/2014/main" id="{9F5185CF-2B0A-1AB8-03B6-1728E62128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75" y="2482850"/>
            <a:ext cx="6889750" cy="348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188" name="TextBox 2">
            <a:extLst>
              <a:ext uri="{FF2B5EF4-FFF2-40B4-BE49-F238E27FC236}">
                <a16:creationId xmlns:a16="http://schemas.microsoft.com/office/drawing/2014/main" id="{F5941031-CC54-8F9C-A78D-2B2884191BF6}"/>
              </a:ext>
            </a:extLst>
          </p:cNvPr>
          <p:cNvSpPr txBox="1">
            <a:spLocks noChangeArrowheads="1"/>
          </p:cNvSpPr>
          <p:nvPr/>
        </p:nvSpPr>
        <p:spPr bwMode="auto">
          <a:xfrm>
            <a:off x="103188" y="815975"/>
            <a:ext cx="113792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The </a:t>
            </a:r>
            <a:r>
              <a:rPr lang="en-IN" altLang="en-US" sz="2200" i="1" dirty="0">
                <a:solidFill>
                  <a:schemeClr val="accent1"/>
                </a:solidFill>
                <a:latin typeface="Times New Roman" panose="02020603050405020304" pitchFamily="18" charset="0"/>
                <a:cs typeface="Times New Roman" panose="02020603050405020304" pitchFamily="18" charset="0"/>
              </a:rPr>
              <a:t>application layer </a:t>
            </a:r>
            <a:r>
              <a:rPr lang="en-IN" altLang="en-US" sz="2200" dirty="0">
                <a:latin typeface="Times New Roman" panose="02020603050405020304" pitchFamily="18" charset="0"/>
                <a:cs typeface="Times New Roman" panose="02020603050405020304" pitchFamily="18" charset="0"/>
              </a:rPr>
              <a:t>is responsible for providing services to the user.</a:t>
            </a:r>
          </a:p>
          <a:p>
            <a:pPr eaLnBrk="1" hangingPunct="1">
              <a:lnSpc>
                <a:spcPct val="150000"/>
              </a:lnSpc>
              <a:spcBef>
                <a:spcPct val="0"/>
              </a:spcBef>
              <a:buFont typeface="Courier New" panose="02070309020205020404" pitchFamily="49" charset="0"/>
              <a:buChar char="o"/>
            </a:pPr>
            <a:r>
              <a:rPr lang="en-IN" altLang="en-US" sz="2200" dirty="0">
                <a:latin typeface="Times New Roman" panose="02020603050405020304" pitchFamily="18" charset="0"/>
                <a:cs typeface="Times New Roman" panose="02020603050405020304" pitchFamily="18" charset="0"/>
              </a:rPr>
              <a:t>It provides user interfaces and support for services such as electronic mail, remote file access and transfer and other types of distributed information services. </a:t>
            </a:r>
          </a:p>
        </p:txBody>
      </p:sp>
      <p:sp>
        <p:nvSpPr>
          <p:cNvPr id="2" name="TextBox 1">
            <a:extLst>
              <a:ext uri="{FF2B5EF4-FFF2-40B4-BE49-F238E27FC236}">
                <a16:creationId xmlns:a16="http://schemas.microsoft.com/office/drawing/2014/main" id="{1EF6E779-6F69-E61C-11A6-F1DDCFB56BF7}"/>
              </a:ext>
            </a:extLst>
          </p:cNvPr>
          <p:cNvSpPr txBox="1"/>
          <p:nvPr/>
        </p:nvSpPr>
        <p:spPr>
          <a:xfrm>
            <a:off x="377825" y="2640013"/>
            <a:ext cx="3779838" cy="2954337"/>
          </a:xfrm>
          <a:prstGeom prst="rect">
            <a:avLst/>
          </a:prstGeom>
          <a:noFill/>
        </p:spPr>
        <p:txBody>
          <a:bodyPr>
            <a:spAutoFit/>
          </a:bodyPr>
          <a:lstStyle/>
          <a:p>
            <a:pPr marL="273050" indent="-273050" defTabSz="914400" latinLnBrk="1">
              <a:lnSpc>
                <a:spcPct val="150000"/>
              </a:lnSpc>
              <a:spcBef>
                <a:spcPts val="1000"/>
              </a:spcBef>
              <a:defRPr/>
            </a:pPr>
            <a:r>
              <a:rPr lang="en-US" sz="2200" b="1" i="1" kern="0" dirty="0">
                <a:solidFill>
                  <a:schemeClr val="accent1"/>
                </a:solidFill>
                <a:latin typeface="Times New Roman" panose="02020603050405020304" pitchFamily="18" charset="0"/>
                <a:cs typeface="Times New Roman" panose="02020603050405020304" pitchFamily="18" charset="0"/>
              </a:rPr>
              <a:t>Services provided: </a:t>
            </a:r>
          </a:p>
          <a:p>
            <a:pPr marL="273050" indent="-273050" defTabSz="914400" latinLnBrk="1">
              <a:lnSpc>
                <a:spcPct val="15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Files transfer and Access management (FTAM)</a:t>
            </a:r>
          </a:p>
          <a:p>
            <a:pPr marL="273050" indent="-273050" defTabSz="914400" latinLnBrk="1">
              <a:lnSpc>
                <a:spcPct val="150000"/>
              </a:lnSpc>
              <a:spcBef>
                <a:spcPts val="1000"/>
              </a:spcBef>
              <a:buFont typeface="Arial" pitchFamily="34" charset="0"/>
              <a:buChar char="•"/>
              <a:defRPr/>
            </a:pPr>
            <a:r>
              <a:rPr lang="en-US" sz="2200" kern="0" dirty="0">
                <a:latin typeface="Times New Roman" panose="02020603050405020304" pitchFamily="18" charset="0"/>
                <a:cs typeface="Times New Roman" panose="02020603050405020304" pitchFamily="18" charset="0"/>
              </a:rPr>
              <a:t>Mail Services</a:t>
            </a:r>
          </a:p>
          <a:p>
            <a:pPr marL="273050" indent="-273050" defTabSz="914400" latinLnBrk="1">
              <a:lnSpc>
                <a:spcPct val="150000"/>
              </a:lnSpc>
              <a:spcBef>
                <a:spcPts val="1000"/>
              </a:spcBef>
              <a:buFont typeface="Arial" pitchFamily="34" charset="0"/>
              <a:buChar char="•"/>
              <a:defRPr/>
            </a:pPr>
            <a:r>
              <a:rPr lang="en-US" sz="2200" kern="0" dirty="0">
                <a:solidFill>
                  <a:srgbClr val="000000"/>
                </a:solidFill>
                <a:latin typeface="Times New Roman" panose="02020603050405020304" pitchFamily="18" charset="0"/>
                <a:cs typeface="Times New Roman" panose="02020603050405020304" pitchFamily="18" charset="0"/>
              </a:rPr>
              <a:t>Directory services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E27B70-67A8-08CB-C539-866059092CBF}"/>
              </a:ext>
            </a:extLst>
          </p:cNvPr>
          <p:cNvSpPr>
            <a:spLocks noGrp="1"/>
          </p:cNvSpPr>
          <p:nvPr>
            <p:ph type="sldNum" sz="quarter" idx="12"/>
          </p:nvPr>
        </p:nvSpPr>
        <p:spPr/>
        <p:txBody>
          <a:bodyPr/>
          <a:lstStyle/>
          <a:p>
            <a:pPr>
              <a:defRPr/>
            </a:pPr>
            <a:r>
              <a:rPr lang="en-US" altLang="en-US"/>
              <a:t>1.</a:t>
            </a:r>
            <a:fld id="{D0F3D252-46FB-4F3E-A60A-83427126AEB1}" type="slidenum">
              <a:rPr lang="en-US" altLang="en-US" smtClean="0"/>
              <a:pPr>
                <a:defRPr/>
              </a:pPr>
              <a:t>52</a:t>
            </a:fld>
            <a:endParaRPr lang="en-US" altLang="en-US"/>
          </a:p>
        </p:txBody>
      </p:sp>
      <p:pic>
        <p:nvPicPr>
          <p:cNvPr id="3" name="Picture 6">
            <a:extLst>
              <a:ext uri="{FF2B5EF4-FFF2-40B4-BE49-F238E27FC236}">
                <a16:creationId xmlns:a16="http://schemas.microsoft.com/office/drawing/2014/main" id="{E1DEC321-0DA2-59E9-B462-34B711444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76854"/>
            <a:ext cx="9446711"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B0AA395B-B2FF-9948-1830-723995831926}"/>
              </a:ext>
            </a:extLst>
          </p:cNvPr>
          <p:cNvSpPr txBox="1"/>
          <p:nvPr/>
        </p:nvSpPr>
        <p:spPr>
          <a:xfrm>
            <a:off x="3657600" y="432872"/>
            <a:ext cx="6096000" cy="707886"/>
          </a:xfrm>
          <a:prstGeom prst="rect">
            <a:avLst/>
          </a:prstGeom>
          <a:noFill/>
        </p:spPr>
        <p:txBody>
          <a:bodyPr wrap="square">
            <a:spAutoFit/>
          </a:bodyPr>
          <a:lstStyle/>
          <a:p>
            <a:r>
              <a:rPr lang="en-US" altLang="en-US" sz="4000" i="1" dirty="0">
                <a:solidFill>
                  <a:srgbClr val="3366FF"/>
                </a:solidFill>
                <a:latin typeface="Times New Roman" panose="02020603050405020304" pitchFamily="18" charset="0"/>
                <a:cs typeface="Times New Roman" panose="02020603050405020304" pitchFamily="18" charset="0"/>
              </a:rPr>
              <a:t>Summary of layers</a:t>
            </a:r>
            <a:endParaRPr lang="en-IN" sz="4000" dirty="0">
              <a:solidFill>
                <a:srgbClr val="3366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2276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A2665FBC-8751-BAEB-A81A-590C7E7654CB}"/>
              </a:ext>
            </a:extLst>
          </p:cNvPr>
          <p:cNvSpPr>
            <a:spLocks noGrp="1" noChangeArrowheads="1"/>
          </p:cNvSpPr>
          <p:nvPr>
            <p:ph type="title"/>
          </p:nvPr>
        </p:nvSpPr>
        <p:spPr>
          <a:xfrm>
            <a:off x="3581400" y="0"/>
            <a:ext cx="5421312" cy="1087437"/>
          </a:xfrm>
        </p:spPr>
        <p:txBody>
          <a:bodyPr/>
          <a:lstStyle/>
          <a:p>
            <a:pPr eaLnBrk="1" hangingPunct="1"/>
            <a:r>
              <a:rPr lang="en-IN" altLang="en-US" sz="3600" dirty="0">
                <a:solidFill>
                  <a:srgbClr val="3366FF"/>
                </a:solidFill>
                <a:latin typeface="Times New Roman" panose="02020603050405020304" pitchFamily="18" charset="0"/>
                <a:cs typeface="Times New Roman" panose="02020603050405020304" pitchFamily="18" charset="0"/>
              </a:rPr>
              <a:t>TCP/IP Protocol Suite</a:t>
            </a:r>
          </a:p>
        </p:txBody>
      </p:sp>
      <p:sp>
        <p:nvSpPr>
          <p:cNvPr id="3" name="Content Placeholder 2">
            <a:extLst>
              <a:ext uri="{FF2B5EF4-FFF2-40B4-BE49-F238E27FC236}">
                <a16:creationId xmlns:a16="http://schemas.microsoft.com/office/drawing/2014/main" id="{DE09439A-E126-7D9D-225E-AA260E1DAD15}"/>
              </a:ext>
            </a:extLst>
          </p:cNvPr>
          <p:cNvSpPr>
            <a:spLocks noGrp="1"/>
          </p:cNvSpPr>
          <p:nvPr>
            <p:ph idx="1"/>
          </p:nvPr>
        </p:nvSpPr>
        <p:spPr>
          <a:xfrm>
            <a:off x="381000" y="1093509"/>
            <a:ext cx="10744199" cy="3021291"/>
          </a:xfrm>
        </p:spPr>
        <p:txBody>
          <a:bodyPr rtlCol="0">
            <a:normAutofit fontScale="92500"/>
          </a:bodyPr>
          <a:lstStyle/>
          <a:p>
            <a:pPr algn="just" eaLnBrk="1" fontAlgn="auto" hangingPunct="1">
              <a:lnSpc>
                <a:spcPct val="150000"/>
              </a:lnSpc>
              <a:spcAft>
                <a:spcPts val="0"/>
              </a:spcAft>
              <a:buFont typeface="Courier New" panose="02070309020205020404" pitchFamily="49" charset="0"/>
              <a:buChar char="o"/>
              <a:defRPr/>
            </a:pPr>
            <a:r>
              <a:rPr lang="en-IN" i="1" dirty="0">
                <a:solidFill>
                  <a:schemeClr val="accent1"/>
                </a:solidFill>
                <a:highlight>
                  <a:srgbClr val="FFFFFF"/>
                </a:highlight>
                <a:latin typeface="Times New Roman" panose="02020603050405020304" pitchFamily="18" charset="0"/>
                <a:cs typeface="Times New Roman" panose="02020603050405020304" pitchFamily="18" charset="0"/>
              </a:rPr>
              <a:t>TCP/IP </a:t>
            </a:r>
            <a:r>
              <a:rPr lang="en-IN" dirty="0">
                <a:highlight>
                  <a:srgbClr val="FFFFFF"/>
                </a:highlight>
                <a:latin typeface="Times New Roman" panose="02020603050405020304" pitchFamily="18" charset="0"/>
                <a:cs typeface="Times New Roman" panose="02020603050405020304" pitchFamily="18" charset="0"/>
              </a:rPr>
              <a:t>stands for Transmission Control Protocol/ Internet Protocol</a:t>
            </a:r>
          </a:p>
          <a:p>
            <a:pPr algn="just" eaLnBrk="1" fontAlgn="auto" hangingPunct="1">
              <a:lnSpc>
                <a:spcPct val="150000"/>
              </a:lnSpc>
              <a:spcAft>
                <a:spcPts val="0"/>
              </a:spcAft>
              <a:buFont typeface="Courier New" panose="02070309020205020404" pitchFamily="49" charset="0"/>
              <a:buChar char="o"/>
              <a:defRPr/>
            </a:pPr>
            <a:r>
              <a:rPr lang="en-IN" dirty="0">
                <a:highlight>
                  <a:srgbClr val="FFFFFF"/>
                </a:highlight>
                <a:latin typeface="Times New Roman" panose="02020603050405020304" pitchFamily="18" charset="0"/>
                <a:cs typeface="Times New Roman" panose="02020603050405020304" pitchFamily="18" charset="0"/>
              </a:rPr>
              <a:t>The </a:t>
            </a:r>
            <a:r>
              <a:rPr lang="en-IN" i="1" dirty="0">
                <a:solidFill>
                  <a:schemeClr val="accent1"/>
                </a:solidFill>
                <a:highlight>
                  <a:srgbClr val="FFFFFF"/>
                </a:highlight>
                <a:latin typeface="Times New Roman" panose="02020603050405020304" pitchFamily="18" charset="0"/>
                <a:cs typeface="Times New Roman" panose="02020603050405020304" pitchFamily="18" charset="0"/>
              </a:rPr>
              <a:t>TCP/IP model </a:t>
            </a:r>
            <a:r>
              <a:rPr lang="en-IN" dirty="0">
                <a:highlight>
                  <a:srgbClr val="FFFFFF"/>
                </a:highlight>
                <a:latin typeface="Times New Roman" panose="02020603050405020304" pitchFamily="18" charset="0"/>
                <a:cs typeface="Times New Roman" panose="02020603050405020304" pitchFamily="18" charset="0"/>
              </a:rPr>
              <a:t>is widely used and forms the basis of the internet. The </a:t>
            </a:r>
            <a:r>
              <a:rPr lang="en-IN" i="1" dirty="0">
                <a:solidFill>
                  <a:schemeClr val="accent1"/>
                </a:solidFill>
                <a:highlight>
                  <a:srgbClr val="FFFFFF"/>
                </a:highlight>
                <a:latin typeface="Times New Roman" panose="02020603050405020304" pitchFamily="18" charset="0"/>
                <a:cs typeface="Times New Roman" panose="02020603050405020304" pitchFamily="18" charset="0"/>
              </a:rPr>
              <a:t>OSI model</a:t>
            </a:r>
            <a:r>
              <a:rPr lang="en-IN" dirty="0">
                <a:highlight>
                  <a:srgbClr val="FFFFFF"/>
                </a:highlight>
                <a:latin typeface="Times New Roman" panose="02020603050405020304" pitchFamily="18" charset="0"/>
                <a:cs typeface="Times New Roman" panose="02020603050405020304" pitchFamily="18" charset="0"/>
              </a:rPr>
              <a:t>, while not as directly applied in network architecture, serves as a comprehensive guide for understanding and designing network systems.</a:t>
            </a:r>
          </a:p>
          <a:p>
            <a:pPr marL="0" indent="0" algn="just" eaLnBrk="1" fontAlgn="auto" hangingPunct="1">
              <a:lnSpc>
                <a:spcPct val="150000"/>
              </a:lnSpc>
              <a:spcAft>
                <a:spcPts val="0"/>
              </a:spcAft>
              <a:buFont typeface="Arial" panose="020B0604020202020204" pitchFamily="34" charset="0"/>
              <a:buNone/>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1">
            <a:extLst>
              <a:ext uri="{FF2B5EF4-FFF2-40B4-BE49-F238E27FC236}">
                <a16:creationId xmlns:a16="http://schemas.microsoft.com/office/drawing/2014/main" id="{CE5D7E08-DDFB-6D07-1E5B-862F1E9D3824}"/>
              </a:ext>
            </a:extLst>
          </p:cNvPr>
          <p:cNvSpPr txBox="1">
            <a:spLocks noChangeArrowheads="1"/>
          </p:cNvSpPr>
          <p:nvPr/>
        </p:nvSpPr>
        <p:spPr bwMode="auto">
          <a:xfrm>
            <a:off x="4114800" y="133609"/>
            <a:ext cx="53213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3600" b="1" dirty="0">
                <a:solidFill>
                  <a:schemeClr val="accent1"/>
                </a:solidFill>
                <a:latin typeface="Times New Roman" panose="02020603050405020304" pitchFamily="18" charset="0"/>
                <a:cs typeface="Times New Roman" panose="02020603050405020304" pitchFamily="18" charset="0"/>
              </a:rPr>
              <a:t>TCP/IP Model</a:t>
            </a:r>
          </a:p>
        </p:txBody>
      </p:sp>
      <p:pic>
        <p:nvPicPr>
          <p:cNvPr id="3" name="Picture 7">
            <a:extLst>
              <a:ext uri="{FF2B5EF4-FFF2-40B4-BE49-F238E27FC236}">
                <a16:creationId xmlns:a16="http://schemas.microsoft.com/office/drawing/2014/main" id="{6AD98198-2A3E-39A9-D3C0-FED00A458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077" y="779939"/>
            <a:ext cx="8951575" cy="5944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8A6E0683-9A06-5245-BEF4-CB84297BB6C9}"/>
              </a:ext>
            </a:extLst>
          </p:cNvPr>
          <p:cNvSpPr>
            <a:spLocks noGrp="1" noChangeArrowheads="1"/>
          </p:cNvSpPr>
          <p:nvPr>
            <p:ph type="title"/>
          </p:nvPr>
        </p:nvSpPr>
        <p:spPr>
          <a:xfrm>
            <a:off x="838200" y="365125"/>
            <a:ext cx="6156325" cy="1133475"/>
          </a:xfrm>
        </p:spPr>
        <p:txBody>
          <a:bodyPr/>
          <a:lstStyle/>
          <a:p>
            <a:pPr eaLnBrk="1" hangingPunct="1"/>
            <a:r>
              <a:rPr lang="en-IN" altLang="en-US" sz="3600" b="1">
                <a:solidFill>
                  <a:schemeClr val="accent1"/>
                </a:solidFill>
                <a:latin typeface="Accord SF"/>
                <a:cs typeface="Times New Roman" panose="02020603050405020304" pitchFamily="18" charset="0"/>
              </a:rPr>
              <a:t>Host-to-network Layer</a:t>
            </a:r>
          </a:p>
        </p:txBody>
      </p:sp>
      <p:sp>
        <p:nvSpPr>
          <p:cNvPr id="3" name="Content Placeholder 2">
            <a:extLst>
              <a:ext uri="{FF2B5EF4-FFF2-40B4-BE49-F238E27FC236}">
                <a16:creationId xmlns:a16="http://schemas.microsoft.com/office/drawing/2014/main" id="{C7D8C369-4A3F-9F0E-A567-34140BFB5F32}"/>
              </a:ext>
            </a:extLst>
          </p:cNvPr>
          <p:cNvSpPr>
            <a:spLocks noGrp="1"/>
          </p:cNvSpPr>
          <p:nvPr>
            <p:ph idx="1"/>
          </p:nvPr>
        </p:nvSpPr>
        <p:spPr>
          <a:xfrm>
            <a:off x="0" y="1253331"/>
            <a:ext cx="11049000" cy="3013869"/>
          </a:xfrm>
        </p:spPr>
        <p:txBody>
          <a:bodyPr rtlCol="0">
            <a:normAutofit lnSpcReduction="10000"/>
          </a:bodyPr>
          <a:lstStyle/>
          <a:p>
            <a:pPr algn="just" eaLnBrk="1" fontAlgn="auto" hangingPunct="1">
              <a:lnSpc>
                <a:spcPct val="150000"/>
              </a:lnSpc>
              <a:spcAft>
                <a:spcPts val="0"/>
              </a:spcAft>
              <a:buFont typeface="Courier New" panose="02070309020205020404" pitchFamily="49" charset="0"/>
              <a:buChar char="o"/>
              <a:defRPr/>
            </a:pP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This is the lowest layer of the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TCP/IP model</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a:t>
            </a:r>
          </a:p>
          <a:p>
            <a:pPr algn="just" eaLnBrk="1" fontAlgn="auto" hangingPunct="1">
              <a:lnSpc>
                <a:spcPct val="150000"/>
              </a:lnSpc>
              <a:spcAft>
                <a:spcPts val="0"/>
              </a:spcAft>
              <a:buFont typeface="Courier New" panose="02070309020205020404" pitchFamily="49" charset="0"/>
              <a:buChar char="o"/>
              <a:defRPr/>
            </a:pP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 The  host-to-network layer is the combination of the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physical layer </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and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data link layer </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defined in the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OSI</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 reference model.</a:t>
            </a:r>
          </a:p>
          <a:p>
            <a:pPr algn="just" eaLnBrk="1" fontAlgn="auto" hangingPunct="1">
              <a:lnSpc>
                <a:spcPct val="150000"/>
              </a:lnSpc>
              <a:spcAft>
                <a:spcPts val="0"/>
              </a:spcAft>
              <a:buFont typeface="Courier New" panose="02070309020205020404" pitchFamily="49" charset="0"/>
              <a:buChar char="o"/>
              <a:defRPr/>
            </a:pP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 This layer is mainly responsible for the transmission of the data between two devices on the same network.</a:t>
            </a:r>
          </a:p>
          <a:p>
            <a:pPr algn="just" eaLnBrk="1" fontAlgn="auto" hangingPunct="1">
              <a:lnSpc>
                <a:spcPct val="150000"/>
              </a:lnSpc>
              <a:spcAft>
                <a:spcPts val="0"/>
              </a:spcAft>
              <a:buFont typeface="Courier New" panose="02070309020205020404" pitchFamily="49" charset="0"/>
              <a:buChar char="o"/>
              <a:defRPr/>
            </a:pPr>
            <a:endParaRPr lang="en-IN" sz="2400" dirty="0">
              <a:solidFill>
                <a:srgbClr val="000000"/>
              </a:solidFill>
              <a:highlight>
                <a:srgbClr val="FFFFFF"/>
              </a:highlight>
              <a:latin typeface="Times New Roman" panose="02020603050405020304" pitchFamily="18" charset="0"/>
              <a:cs typeface="Times New Roman" panose="02020603050405020304" pitchFamily="18" charset="0"/>
            </a:endParaRPr>
          </a:p>
          <a:p>
            <a:pPr algn="just" eaLnBrk="1" fontAlgn="auto" hangingPunct="1">
              <a:lnSpc>
                <a:spcPct val="150000"/>
              </a:lnSpc>
              <a:spcAft>
                <a:spcPts val="0"/>
              </a:spcAft>
              <a:buFont typeface="Courier New" panose="02070309020205020404" pitchFamily="49" charset="0"/>
              <a:buChar char="o"/>
              <a:defRPr/>
            </a:pPr>
            <a:endParaRPr lang="en-IN" sz="2400" dirty="0">
              <a:solidFill>
                <a:srgbClr val="000000"/>
              </a:solidFill>
              <a:highlight>
                <a:srgbClr val="FFFFFF"/>
              </a:highlight>
              <a:latin typeface="Times New Roman" panose="02020603050405020304" pitchFamily="18" charset="0"/>
              <a:cs typeface="Times New Roman" panose="02020603050405020304" pitchFamily="18" charset="0"/>
            </a:endParaRPr>
          </a:p>
          <a:p>
            <a:pPr algn="just" eaLnBrk="1" fontAlgn="auto" hangingPunct="1">
              <a:lnSpc>
                <a:spcPct val="150000"/>
              </a:lnSpc>
              <a:spcAft>
                <a:spcPts val="0"/>
              </a:spcAft>
              <a:defRPr/>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CF686B1-A1C4-DF0F-5F43-18E96A9F282F}"/>
              </a:ext>
            </a:extLst>
          </p:cNvPr>
          <p:cNvSpPr txBox="1"/>
          <p:nvPr/>
        </p:nvSpPr>
        <p:spPr>
          <a:xfrm>
            <a:off x="304800" y="914400"/>
            <a:ext cx="11430000" cy="1754326"/>
          </a:xfrm>
          <a:prstGeom prst="rect">
            <a:avLst/>
          </a:prstGeom>
          <a:noFill/>
        </p:spPr>
        <p:txBody>
          <a:bodyPr>
            <a:spAutoFit/>
          </a:bodyPr>
          <a:lstStyle/>
          <a:p>
            <a:pPr marL="457200" indent="-457200" eaLnBrk="1" fontAlgn="auto" hangingPunct="1">
              <a:spcBef>
                <a:spcPts val="0"/>
              </a:spcBef>
              <a:spcAft>
                <a:spcPts val="0"/>
              </a:spcAft>
              <a:buFont typeface="Wingdings" panose="05000000000000000000" pitchFamily="2" charset="2"/>
              <a:buChar char="Ø"/>
              <a:defRPr/>
            </a:pPr>
            <a:r>
              <a:rPr lang="en-US" sz="2400" dirty="0">
                <a:solidFill>
                  <a:srgbClr val="242021"/>
                </a:solidFill>
                <a:latin typeface="Times New Roman" panose="02020603050405020304" pitchFamily="18" charset="0"/>
                <a:cs typeface="Times New Roman" panose="02020603050405020304" pitchFamily="18" charset="0"/>
              </a:rPr>
              <a:t>The communication at the network layer is </a:t>
            </a:r>
            <a:r>
              <a:rPr lang="en-US" sz="2400" dirty="0">
                <a:solidFill>
                  <a:srgbClr val="FF0000"/>
                </a:solidFill>
                <a:latin typeface="Times New Roman" panose="02020603050405020304" pitchFamily="18" charset="0"/>
                <a:cs typeface="Times New Roman" panose="02020603050405020304" pitchFamily="18" charset="0"/>
              </a:rPr>
              <a:t>host-to-host</a:t>
            </a:r>
            <a:r>
              <a:rPr lang="en-US" sz="2400" dirty="0">
                <a:solidFill>
                  <a:srgbClr val="242021"/>
                </a:solidFill>
                <a:latin typeface="Times New Roman" panose="02020603050405020304" pitchFamily="18" charset="0"/>
                <a:cs typeface="Times New Roman" panose="02020603050405020304" pitchFamily="18" charset="0"/>
              </a:rPr>
              <a:t>.</a:t>
            </a:r>
          </a:p>
          <a:p>
            <a:pPr marL="457200" indent="-457200" eaLnBrk="1" fontAlgn="auto" hangingPunct="1">
              <a:spcBef>
                <a:spcPts val="0"/>
              </a:spcBef>
              <a:spcAft>
                <a:spcPts val="0"/>
              </a:spcAft>
              <a:buFont typeface="Wingdings" panose="05000000000000000000" pitchFamily="2" charset="2"/>
              <a:buChar char="Ø"/>
              <a:defRPr/>
            </a:pPr>
            <a:r>
              <a:rPr lang="en-IN" sz="2400" dirty="0">
                <a:highlight>
                  <a:srgbClr val="FFFFFF"/>
                </a:highlight>
                <a:latin typeface="Times New Roman" panose="02020603050405020304" pitchFamily="18" charset="0"/>
                <a:cs typeface="Times New Roman" panose="02020603050405020304" pitchFamily="18" charset="0"/>
              </a:rPr>
              <a:t>Network layer supports four protocol: </a:t>
            </a:r>
            <a:r>
              <a:rPr lang="en-IN" sz="2400" dirty="0">
                <a:solidFill>
                  <a:srgbClr val="00B050"/>
                </a:solidFill>
                <a:highlight>
                  <a:srgbClr val="FFFFFF"/>
                </a:highlight>
                <a:latin typeface="Times New Roman" panose="02020603050405020304" pitchFamily="18" charset="0"/>
                <a:cs typeface="Times New Roman" panose="02020603050405020304" pitchFamily="18" charset="0"/>
              </a:rPr>
              <a:t>IP, ARP, RARP, ICMP, IGMP</a:t>
            </a:r>
            <a:r>
              <a:rPr lang="en-IN" sz="2400" dirty="0">
                <a:highlight>
                  <a:srgbClr val="FFFFFF"/>
                </a:highlight>
                <a:latin typeface="Times New Roman" panose="02020603050405020304" pitchFamily="18" charset="0"/>
                <a:cs typeface="Times New Roman" panose="02020603050405020304" pitchFamily="18" charset="0"/>
              </a:rPr>
              <a:t>.</a:t>
            </a:r>
            <a:br>
              <a:rPr lang="en-US" sz="2400" dirty="0">
                <a:highlight>
                  <a:srgbClr val="FFFFFF"/>
                </a:highlight>
                <a:latin typeface="+mn-lt"/>
              </a:rPr>
            </a:br>
            <a:endParaRPr lang="en-US" sz="2400" dirty="0">
              <a:solidFill>
                <a:srgbClr val="242021"/>
              </a:solidFill>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a:pPr>
            <a:br>
              <a:rPr lang="en-US" dirty="0">
                <a:latin typeface="+mn-lt"/>
              </a:rPr>
            </a:br>
            <a:endParaRPr lang="en-IN" dirty="0">
              <a:latin typeface="+mn-lt"/>
            </a:endParaRPr>
          </a:p>
        </p:txBody>
      </p:sp>
      <p:sp>
        <p:nvSpPr>
          <p:cNvPr id="8" name="TextBox 7">
            <a:extLst>
              <a:ext uri="{FF2B5EF4-FFF2-40B4-BE49-F238E27FC236}">
                <a16:creationId xmlns:a16="http://schemas.microsoft.com/office/drawing/2014/main" id="{D51D9830-0759-D01C-4DA5-9C74FD6233DF}"/>
              </a:ext>
            </a:extLst>
          </p:cNvPr>
          <p:cNvSpPr txBox="1"/>
          <p:nvPr/>
        </p:nvSpPr>
        <p:spPr>
          <a:xfrm>
            <a:off x="314960" y="2209800"/>
            <a:ext cx="10934700" cy="2831544"/>
          </a:xfrm>
          <a:prstGeom prst="rect">
            <a:avLst/>
          </a:prstGeom>
          <a:noFill/>
        </p:spPr>
        <p:txBody>
          <a:bodyPr wrap="square">
            <a:spAutoFit/>
          </a:bodyPr>
          <a:lstStyle/>
          <a:p>
            <a:pPr algn="just" eaLnBrk="1" fontAlgn="auto" hangingPunct="1">
              <a:lnSpc>
                <a:spcPct val="150000"/>
              </a:lnSpc>
              <a:spcBef>
                <a:spcPts val="0"/>
              </a:spcBef>
              <a:spcAft>
                <a:spcPts val="0"/>
              </a:spcAft>
              <a:defRPr/>
            </a:pPr>
            <a:r>
              <a:rPr lang="en-IN" sz="2400" b="1" dirty="0">
                <a:solidFill>
                  <a:srgbClr val="FF0000"/>
                </a:solidFill>
                <a:highlight>
                  <a:srgbClr val="FFFFFF"/>
                </a:highlight>
                <a:latin typeface="Times New Roman" panose="02020603050405020304" pitchFamily="18" charset="0"/>
                <a:cs typeface="Times New Roman" panose="02020603050405020304" pitchFamily="18" charset="0"/>
              </a:rPr>
              <a:t>Internetworking protocol (IP):</a:t>
            </a:r>
          </a:p>
          <a:p>
            <a:pPr marL="342900" indent="-342900" eaLnBrk="1" fontAlgn="auto" hangingPunct="1">
              <a:spcBef>
                <a:spcPts val="0"/>
              </a:spcBef>
              <a:spcAft>
                <a:spcPts val="0"/>
              </a:spcAf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IP transports data in packets called </a:t>
            </a:r>
            <a:r>
              <a:rPr lang="en-US" sz="2400" i="1" dirty="0">
                <a:latin typeface="Times New Roman" panose="02020603050405020304" pitchFamily="18" charset="0"/>
                <a:cs typeface="Times New Roman" panose="02020603050405020304" pitchFamily="18" charset="0"/>
              </a:rPr>
              <a:t>datagrams, </a:t>
            </a:r>
            <a:r>
              <a:rPr lang="en-US" sz="2400" dirty="0">
                <a:latin typeface="Times New Roman" panose="02020603050405020304" pitchFamily="18" charset="0"/>
                <a:cs typeface="Times New Roman" panose="02020603050405020304" pitchFamily="18" charset="0"/>
              </a:rPr>
              <a:t>each of which is transported separately. </a:t>
            </a:r>
          </a:p>
          <a:p>
            <a:pPr marL="342900" indent="-342900" eaLnBrk="1" fontAlgn="auto" hangingPunct="1">
              <a:spcBef>
                <a:spcPts val="0"/>
              </a:spcBef>
              <a:spcAft>
                <a:spcPts val="0"/>
              </a:spcAf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Datagrams can travel along different routes and can arrive out of sequence order. </a:t>
            </a:r>
          </a:p>
          <a:p>
            <a:pPr marL="342900" indent="-342900" eaLnBrk="1" fontAlgn="auto" hangingPunct="1">
              <a:spcBef>
                <a:spcPts val="0"/>
              </a:spcBef>
              <a:spcAft>
                <a:spcPts val="0"/>
              </a:spcAf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IP does not keep track of the routes and has no facility for reordering datagrams once they arrive at their destination</a:t>
            </a:r>
            <a:r>
              <a:rPr lang="en-US" dirty="0"/>
              <a:t>.</a:t>
            </a:r>
            <a:r>
              <a:rPr lang="en-US" sz="2400" dirty="0"/>
              <a:t> </a:t>
            </a:r>
            <a:br>
              <a:rPr lang="en-US" sz="2400" dirty="0"/>
            </a:br>
            <a:endParaRPr lang="en-IN" sz="2200" i="1" dirty="0">
              <a:solidFill>
                <a:schemeClr val="accent1"/>
              </a:solidFill>
              <a:highlight>
                <a:srgbClr val="FFFFFF"/>
              </a:highlight>
              <a:latin typeface="Times New Roman" panose="02020603050405020304" pitchFamily="18" charset="0"/>
              <a:cs typeface="Times New Roman" panose="02020603050405020304" pitchFamily="18" charset="0"/>
            </a:endParaRPr>
          </a:p>
        </p:txBody>
      </p:sp>
      <p:sp>
        <p:nvSpPr>
          <p:cNvPr id="98308" name="TextBox 9">
            <a:extLst>
              <a:ext uri="{FF2B5EF4-FFF2-40B4-BE49-F238E27FC236}">
                <a16:creationId xmlns:a16="http://schemas.microsoft.com/office/drawing/2014/main" id="{5A4A0283-42A1-1112-10D6-0BDCE6CEA643}"/>
              </a:ext>
            </a:extLst>
          </p:cNvPr>
          <p:cNvSpPr txBox="1">
            <a:spLocks noChangeArrowheads="1"/>
          </p:cNvSpPr>
          <p:nvPr/>
        </p:nvSpPr>
        <p:spPr bwMode="auto">
          <a:xfrm>
            <a:off x="533400" y="228600"/>
            <a:ext cx="609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3200" b="1" i="1" dirty="0">
                <a:solidFill>
                  <a:srgbClr val="3366FF"/>
                </a:solidFill>
                <a:latin typeface="Times New Roman" panose="02020603050405020304" pitchFamily="18" charset="0"/>
                <a:cs typeface="Times New Roman" panose="02020603050405020304" pitchFamily="18" charset="0"/>
              </a:rPr>
              <a:t>Network Layer</a:t>
            </a:r>
            <a:endParaRPr lang="en-US" altLang="en-US" sz="3200" dirty="0">
              <a:solidFill>
                <a:srgbClr val="3366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BC92B-7327-092F-4629-962BCA560208}"/>
              </a:ext>
            </a:extLst>
          </p:cNvPr>
          <p:cNvSpPr>
            <a:spLocks noGrp="1"/>
          </p:cNvSpPr>
          <p:nvPr>
            <p:ph idx="1"/>
          </p:nvPr>
        </p:nvSpPr>
        <p:spPr>
          <a:xfrm>
            <a:off x="342900" y="304800"/>
            <a:ext cx="11506200" cy="5715000"/>
          </a:xfrm>
        </p:spPr>
        <p:txBody>
          <a:bodyPr rtlCol="0">
            <a:normAutofit fontScale="77500" lnSpcReduction="20000"/>
          </a:bodyPr>
          <a:lstStyle/>
          <a:p>
            <a:pPr marL="0" indent="0" eaLnBrk="1" fontAlgn="auto" hangingPunct="1">
              <a:lnSpc>
                <a:spcPct val="150000"/>
              </a:lnSpc>
              <a:spcAft>
                <a:spcPts val="0"/>
              </a:spcAft>
              <a:buFont typeface="Arial" panose="020B0604020202020204" pitchFamily="34" charset="0"/>
              <a:buNone/>
              <a:defRPr/>
            </a:pPr>
            <a:r>
              <a:rPr lang="en-IN" sz="3300" i="1" u="sng" dirty="0">
                <a:solidFill>
                  <a:schemeClr val="accent1"/>
                </a:solidFill>
                <a:latin typeface="Times New Roman" panose="02020603050405020304" pitchFamily="18" charset="0"/>
                <a:cs typeface="Times New Roman" panose="02020603050405020304" pitchFamily="18" charset="0"/>
              </a:rPr>
              <a:t>ARP</a:t>
            </a:r>
            <a:r>
              <a:rPr lang="en-IN" sz="3300" dirty="0">
                <a:solidFill>
                  <a:schemeClr val="accent1"/>
                </a:solidFill>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ARP</a:t>
            </a:r>
            <a:r>
              <a:rPr lang="en-IN" sz="3300" dirty="0">
                <a:solidFill>
                  <a:schemeClr val="accent1"/>
                </a:solidFill>
                <a:highlight>
                  <a:srgbClr val="FFFFFF"/>
                </a:highlight>
                <a:latin typeface="Times New Roman" panose="02020603050405020304" pitchFamily="18" charset="0"/>
                <a:cs typeface="Times New Roman" panose="02020603050405020304" pitchFamily="18" charset="0"/>
              </a:rPr>
              <a:t> </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stands for </a:t>
            </a: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Address Resolution Protocol</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3300" i="1" dirty="0">
                <a:solidFill>
                  <a:schemeClr val="accent1"/>
                </a:solidFill>
                <a:latin typeface="Times New Roman" panose="02020603050405020304" pitchFamily="18" charset="0"/>
                <a:cs typeface="Times New Roman" panose="02020603050405020304" pitchFamily="18" charset="0"/>
              </a:rPr>
              <a:t>ARP</a:t>
            </a:r>
            <a:r>
              <a:rPr lang="en-IN" sz="3300" dirty="0">
                <a:latin typeface="Times New Roman" panose="02020603050405020304" pitchFamily="18" charset="0"/>
                <a:cs typeface="Times New Roman" panose="02020603050405020304" pitchFamily="18" charset="0"/>
              </a:rPr>
              <a:t> is used to find out the physical address of the node when its </a:t>
            </a:r>
            <a:r>
              <a:rPr lang="en-IN" sz="3300" i="1" dirty="0">
                <a:solidFill>
                  <a:schemeClr val="accent1"/>
                </a:solidFill>
                <a:latin typeface="Times New Roman" panose="02020603050405020304" pitchFamily="18" charset="0"/>
                <a:cs typeface="Times New Roman" panose="02020603050405020304" pitchFamily="18" charset="0"/>
              </a:rPr>
              <a:t>IP</a:t>
            </a:r>
            <a:r>
              <a:rPr lang="en-IN" sz="3300" dirty="0">
                <a:latin typeface="Times New Roman" panose="02020603050405020304" pitchFamily="18" charset="0"/>
                <a:cs typeface="Times New Roman" panose="02020603050405020304" pitchFamily="18" charset="0"/>
              </a:rPr>
              <a:t> address is known.  </a:t>
            </a:r>
          </a:p>
          <a:p>
            <a:pPr marL="0" indent="0" eaLnBrk="1" fontAlgn="auto" hangingPunct="1">
              <a:lnSpc>
                <a:spcPct val="150000"/>
              </a:lnSpc>
              <a:spcAft>
                <a:spcPts val="0"/>
              </a:spcAft>
              <a:buFont typeface="Arial" panose="020B0604020202020204" pitchFamily="34" charset="0"/>
              <a:buNone/>
              <a:defRPr/>
            </a:pPr>
            <a:r>
              <a:rPr lang="en-IN" sz="3300" i="1" u="sng" dirty="0">
                <a:solidFill>
                  <a:schemeClr val="accent1"/>
                </a:solidFill>
                <a:latin typeface="Times New Roman" panose="02020603050405020304" pitchFamily="18" charset="0"/>
                <a:cs typeface="Times New Roman" panose="02020603050405020304" pitchFamily="18" charset="0"/>
              </a:rPr>
              <a:t>RARP</a:t>
            </a:r>
            <a:r>
              <a:rPr lang="en-IN" sz="3300" dirty="0">
                <a:solidFill>
                  <a:schemeClr val="accent1"/>
                </a:solidFill>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RARP</a:t>
            </a:r>
            <a:r>
              <a:rPr lang="en-IN" sz="3300" dirty="0">
                <a:solidFill>
                  <a:schemeClr val="accent1"/>
                </a:solidFill>
                <a:highlight>
                  <a:srgbClr val="FFFFFF"/>
                </a:highlight>
                <a:latin typeface="Times New Roman" panose="02020603050405020304" pitchFamily="18" charset="0"/>
                <a:cs typeface="Times New Roman" panose="02020603050405020304" pitchFamily="18" charset="0"/>
              </a:rPr>
              <a:t> </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stands for </a:t>
            </a: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Reverse</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 </a:t>
            </a: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Address Resolution Protocol</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 It allows a host to discover its </a:t>
            </a:r>
            <a:r>
              <a:rPr lang="en-IN" sz="3300" i="1" dirty="0">
                <a:solidFill>
                  <a:schemeClr val="accent1"/>
                </a:solidFill>
                <a:highlight>
                  <a:srgbClr val="FFFFFF"/>
                </a:highlight>
                <a:latin typeface="Times New Roman" panose="02020603050405020304" pitchFamily="18" charset="0"/>
                <a:cs typeface="Times New Roman" panose="02020603050405020304" pitchFamily="18" charset="0"/>
              </a:rPr>
              <a:t>IP</a:t>
            </a: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 address when it knows only its physical address. </a:t>
            </a:r>
          </a:p>
          <a:p>
            <a:pPr eaLnBrk="1" fontAlgn="auto" hangingPunct="1">
              <a:lnSpc>
                <a:spcPct val="150000"/>
              </a:lnSpc>
              <a:spcAft>
                <a:spcPts val="0"/>
              </a:spcAft>
              <a:buFont typeface="Wingdings" panose="05000000000000000000" pitchFamily="2" charset="2"/>
              <a:buChar char="§"/>
              <a:defRPr/>
            </a:pPr>
            <a:r>
              <a:rPr lang="en-IN" sz="3300" dirty="0">
                <a:solidFill>
                  <a:srgbClr val="000000"/>
                </a:solidFill>
                <a:highlight>
                  <a:srgbClr val="FFFFFF"/>
                </a:highlight>
                <a:latin typeface="Times New Roman" panose="02020603050405020304" pitchFamily="18" charset="0"/>
                <a:cs typeface="Times New Roman" panose="02020603050405020304" pitchFamily="18" charset="0"/>
              </a:rPr>
              <a:t>It is used when a computer is connected to a network for the first time</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a:t>
            </a:r>
            <a:endParaRPr lang="en-IN" sz="2400" dirty="0">
              <a:solidFill>
                <a:schemeClr val="accent1"/>
              </a:solidFill>
              <a:latin typeface="Times New Roman" panose="02020603050405020304" pitchFamily="18" charset="0"/>
              <a:cs typeface="Times New Roman" panose="02020603050405020304" pitchFamily="18" charset="0"/>
            </a:endParaRPr>
          </a:p>
          <a:p>
            <a:pPr marL="0" indent="0" eaLnBrk="1" fontAlgn="auto" hangingPunct="1">
              <a:lnSpc>
                <a:spcPct val="150000"/>
              </a:lnSpc>
              <a:spcAft>
                <a:spcPts val="0"/>
              </a:spcAft>
              <a:buFont typeface="Arial" panose="020B0604020202020204" pitchFamily="34" charset="0"/>
              <a:buNone/>
              <a:defRPr/>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97224B-166B-A005-7639-8DBAAC1048ED}"/>
              </a:ext>
            </a:extLst>
          </p:cNvPr>
          <p:cNvSpPr>
            <a:spLocks noGrp="1"/>
          </p:cNvSpPr>
          <p:nvPr>
            <p:ph idx="1"/>
          </p:nvPr>
        </p:nvSpPr>
        <p:spPr>
          <a:xfrm>
            <a:off x="685800" y="228600"/>
            <a:ext cx="11277600" cy="6477000"/>
          </a:xfrm>
        </p:spPr>
        <p:txBody>
          <a:bodyPr rtlCol="0">
            <a:normAutofit/>
          </a:bodyPr>
          <a:lstStyle/>
          <a:p>
            <a:pPr marL="0" indent="0" eaLnBrk="1" fontAlgn="auto" hangingPunct="1">
              <a:lnSpc>
                <a:spcPct val="150000"/>
              </a:lnSpc>
              <a:spcAft>
                <a:spcPts val="0"/>
              </a:spcAft>
              <a:buFont typeface="Arial" panose="020B0604020202020204" pitchFamily="34" charset="0"/>
              <a:buNone/>
              <a:defRPr/>
            </a:pPr>
            <a:r>
              <a:rPr lang="en-IN" sz="2400" i="1" u="sng" dirty="0">
                <a:solidFill>
                  <a:schemeClr val="accent1"/>
                </a:solidFill>
                <a:latin typeface="Times New Roman" panose="02020603050405020304" pitchFamily="18" charset="0"/>
                <a:cs typeface="Times New Roman" panose="02020603050405020304" pitchFamily="18" charset="0"/>
              </a:rPr>
              <a:t>ICMP:</a:t>
            </a:r>
          </a:p>
          <a:p>
            <a:pPr eaLnBrk="1" fontAlgn="auto" hangingPunct="1">
              <a:lnSpc>
                <a:spcPct val="150000"/>
              </a:lnSpc>
              <a:spcAft>
                <a:spcPts val="0"/>
              </a:spcAft>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It stands for </a:t>
            </a:r>
            <a:r>
              <a:rPr lang="en-IN" sz="2400" i="1" dirty="0">
                <a:solidFill>
                  <a:schemeClr val="accent1"/>
                </a:solidFill>
                <a:latin typeface="Times New Roman" panose="02020603050405020304" pitchFamily="18" charset="0"/>
                <a:cs typeface="Times New Roman" panose="02020603050405020304" pitchFamily="18" charset="0"/>
              </a:rPr>
              <a:t>Internet Control Message Protocol</a:t>
            </a:r>
            <a:r>
              <a:rPr lang="en-IN" sz="2400" dirty="0">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It is a mechanism used by the hosts or gateways to </a:t>
            </a:r>
            <a:r>
              <a:rPr lang="en-IN" sz="2400" dirty="0">
                <a:solidFill>
                  <a:srgbClr val="FF0000"/>
                </a:solidFill>
                <a:highlight>
                  <a:srgbClr val="FFFFFF"/>
                </a:highlight>
                <a:latin typeface="Times New Roman" panose="02020603050405020304" pitchFamily="18" charset="0"/>
                <a:cs typeface="Times New Roman" panose="02020603050405020304" pitchFamily="18" charset="0"/>
              </a:rPr>
              <a:t>send notifications </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regarding datagram </a:t>
            </a:r>
            <a:r>
              <a:rPr lang="en-IN" sz="2400" dirty="0">
                <a:solidFill>
                  <a:srgbClr val="FF0000"/>
                </a:solidFill>
                <a:highlight>
                  <a:srgbClr val="FFFFFF"/>
                </a:highlight>
                <a:latin typeface="Times New Roman" panose="02020603050405020304" pitchFamily="18" charset="0"/>
                <a:cs typeface="Times New Roman" panose="02020603050405020304" pitchFamily="18" charset="0"/>
              </a:rPr>
              <a:t>problems back to the sender</a:t>
            </a:r>
            <a:r>
              <a:rPr lang="en-IN"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a:t>
            </a:r>
          </a:p>
          <a:p>
            <a:pPr marL="0" indent="0" eaLnBrk="1" fontAlgn="auto" hangingPunct="1">
              <a:lnSpc>
                <a:spcPct val="150000"/>
              </a:lnSpc>
              <a:spcAft>
                <a:spcPts val="0"/>
              </a:spcAft>
              <a:buFont typeface="Arial" panose="020B0604020202020204" pitchFamily="34" charset="0"/>
              <a:buNone/>
              <a:defRPr/>
            </a:pPr>
            <a:r>
              <a:rPr lang="en-IN" sz="2400" i="1" u="sng" dirty="0">
                <a:solidFill>
                  <a:schemeClr val="accent1"/>
                </a:solidFill>
                <a:latin typeface="Times New Roman" panose="02020603050405020304" pitchFamily="18" charset="0"/>
                <a:cs typeface="Times New Roman" panose="02020603050405020304" pitchFamily="18" charset="0"/>
              </a:rPr>
              <a:t>IGMP:</a:t>
            </a:r>
          </a:p>
          <a:p>
            <a:pPr eaLnBrk="1" fontAlgn="auto" hangingPunct="1">
              <a:lnSpc>
                <a:spcPct val="150000"/>
              </a:lnSpc>
              <a:spcAft>
                <a:spcPts val="0"/>
              </a:spcAft>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It stands for </a:t>
            </a:r>
            <a:r>
              <a:rPr lang="en-IN" sz="2400" i="1" dirty="0">
                <a:solidFill>
                  <a:schemeClr val="accent1"/>
                </a:solidFill>
                <a:latin typeface="Times New Roman" panose="02020603050405020304" pitchFamily="18" charset="0"/>
                <a:cs typeface="Times New Roman" panose="02020603050405020304" pitchFamily="18" charset="0"/>
              </a:rPr>
              <a:t>Internet Group Message Protocol</a:t>
            </a:r>
            <a:r>
              <a:rPr lang="en-IN" sz="2400" dirty="0">
                <a:latin typeface="Times New Roman" panose="02020603050405020304" pitchFamily="18" charset="0"/>
                <a:cs typeface="Times New Roman" panose="02020603050405020304" pitchFamily="18" charset="0"/>
              </a:rPr>
              <a:t>.</a:t>
            </a:r>
          </a:p>
          <a:p>
            <a:pPr eaLnBrk="1" fontAlgn="auto" hangingPunct="1">
              <a:lnSpc>
                <a:spcPct val="150000"/>
              </a:lnSpc>
              <a:spcAft>
                <a:spcPts val="0"/>
              </a:spcAft>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It is used to facilitate the </a:t>
            </a:r>
            <a:r>
              <a:rPr lang="en-IN" sz="2400" dirty="0">
                <a:solidFill>
                  <a:srgbClr val="FF0000"/>
                </a:solidFill>
                <a:latin typeface="Times New Roman" panose="02020603050405020304" pitchFamily="18" charset="0"/>
                <a:cs typeface="Times New Roman" panose="02020603050405020304" pitchFamily="18" charset="0"/>
              </a:rPr>
              <a:t>simultaneous transmission </a:t>
            </a:r>
            <a:r>
              <a:rPr lang="en-IN" sz="2400" dirty="0">
                <a:latin typeface="Times New Roman" panose="02020603050405020304" pitchFamily="18" charset="0"/>
                <a:cs typeface="Times New Roman" panose="02020603050405020304" pitchFamily="18" charset="0"/>
              </a:rPr>
              <a:t>of a message to a </a:t>
            </a:r>
            <a:r>
              <a:rPr lang="en-IN" sz="2400" dirty="0">
                <a:solidFill>
                  <a:srgbClr val="FF0000"/>
                </a:solidFill>
                <a:latin typeface="Times New Roman" panose="02020603050405020304" pitchFamily="18" charset="0"/>
                <a:cs typeface="Times New Roman" panose="02020603050405020304" pitchFamily="18" charset="0"/>
              </a:rPr>
              <a:t>group </a:t>
            </a:r>
            <a:r>
              <a:rPr lang="en-IN" sz="2400" dirty="0">
                <a:latin typeface="Times New Roman" panose="02020603050405020304" pitchFamily="18" charset="0"/>
                <a:cs typeface="Times New Roman" panose="02020603050405020304" pitchFamily="18" charset="0"/>
              </a:rPr>
              <a:t>of recipients. </a:t>
            </a:r>
          </a:p>
          <a:p>
            <a:pPr marL="0" indent="0" eaLnBrk="1" fontAlgn="auto" hangingPunct="1">
              <a:lnSpc>
                <a:spcPct val="150000"/>
              </a:lnSpc>
              <a:spcAft>
                <a:spcPts val="0"/>
              </a:spcAft>
              <a:buFont typeface="Arial" panose="020B0604020202020204" pitchFamily="34" charset="0"/>
              <a:buNone/>
              <a:defRPr/>
            </a:pPr>
            <a:endParaRPr lang="en-IN" sz="2400" i="1" u="sng" dirty="0">
              <a:solidFill>
                <a:schemeClr val="accent1"/>
              </a:solidFill>
              <a:latin typeface="Times New Roman" panose="02020603050405020304" pitchFamily="18" charset="0"/>
              <a:cs typeface="Times New Roman" panose="02020603050405020304" pitchFamily="18" charset="0"/>
            </a:endParaRPr>
          </a:p>
          <a:p>
            <a:pPr marL="0" indent="0" eaLnBrk="1" fontAlgn="auto" hangingPunct="1">
              <a:lnSpc>
                <a:spcPct val="150000"/>
              </a:lnSpc>
              <a:spcAft>
                <a:spcPts val="0"/>
              </a:spcAft>
              <a:buFont typeface="Arial" panose="020B0604020202020204" pitchFamily="34" charset="0"/>
              <a:buNone/>
              <a:defRPr/>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198A4723-D023-F07C-CAFA-0C060906CFC2}"/>
              </a:ext>
            </a:extLst>
          </p:cNvPr>
          <p:cNvSpPr>
            <a:spLocks noGrp="1" noChangeArrowheads="1"/>
          </p:cNvSpPr>
          <p:nvPr>
            <p:ph type="title"/>
          </p:nvPr>
        </p:nvSpPr>
        <p:spPr>
          <a:xfrm>
            <a:off x="152400" y="-50416"/>
            <a:ext cx="4044950" cy="1190625"/>
          </a:xfrm>
        </p:spPr>
        <p:txBody>
          <a:bodyPr/>
          <a:lstStyle/>
          <a:p>
            <a:pPr eaLnBrk="1" hangingPunct="1"/>
            <a:r>
              <a:rPr lang="en-IN" altLang="en-US" sz="3600" dirty="0">
                <a:solidFill>
                  <a:schemeClr val="accent1"/>
                </a:solidFill>
                <a:latin typeface="Accord SF"/>
                <a:cs typeface="Times New Roman" panose="02020603050405020304" pitchFamily="18" charset="0"/>
              </a:rPr>
              <a:t>Transport Layer</a:t>
            </a:r>
          </a:p>
        </p:txBody>
      </p:sp>
      <p:sp>
        <p:nvSpPr>
          <p:cNvPr id="3" name="Content Placeholder 2">
            <a:extLst>
              <a:ext uri="{FF2B5EF4-FFF2-40B4-BE49-F238E27FC236}">
                <a16:creationId xmlns:a16="http://schemas.microsoft.com/office/drawing/2014/main" id="{CD5AF365-1F22-7D9E-7A5D-381D74B201B2}"/>
              </a:ext>
            </a:extLst>
          </p:cNvPr>
          <p:cNvSpPr>
            <a:spLocks noGrp="1"/>
          </p:cNvSpPr>
          <p:nvPr>
            <p:ph idx="1"/>
          </p:nvPr>
        </p:nvSpPr>
        <p:spPr>
          <a:xfrm>
            <a:off x="0" y="1253331"/>
            <a:ext cx="12192000" cy="2394842"/>
          </a:xfrm>
        </p:spPr>
        <p:txBody>
          <a:bodyPr rtlCol="0">
            <a:normAutofit/>
          </a:bodyPr>
          <a:lstStyle/>
          <a:p>
            <a:pPr eaLnBrk="1" fontAlgn="auto" hangingPunct="1">
              <a:lnSpc>
                <a:spcPct val="150000"/>
              </a:lnSpc>
              <a:spcAft>
                <a:spcPts val="0"/>
              </a:spcAft>
              <a:buFont typeface="Courier New" panose="02070309020205020404" pitchFamily="49" charset="0"/>
              <a:buChar char="o"/>
              <a:defRPr/>
            </a:pP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The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transport layer </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is responsible for the </a:t>
            </a:r>
            <a:r>
              <a:rPr lang="en-IN" sz="2400" b="1" dirty="0">
                <a:highlight>
                  <a:srgbClr val="FFFFFF"/>
                </a:highlight>
                <a:latin typeface="Times New Roman" panose="02020603050405020304" pitchFamily="18" charset="0"/>
                <a:cs typeface="Times New Roman" panose="02020603050405020304" pitchFamily="18" charset="0"/>
              </a:rPr>
              <a:t>reliability, flow control, and correction </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of data which is being sent over the network. </a:t>
            </a:r>
          </a:p>
          <a:p>
            <a:pPr eaLnBrk="1" fontAlgn="auto" hangingPunct="1">
              <a:lnSpc>
                <a:spcPct val="150000"/>
              </a:lnSpc>
              <a:spcAft>
                <a:spcPts val="0"/>
              </a:spcAft>
              <a:buFont typeface="Courier New" panose="02070309020205020404" pitchFamily="49" charset="0"/>
              <a:buChar char="o"/>
              <a:defRPr/>
            </a:pP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The two protocols used in the transport layer are </a:t>
            </a:r>
            <a:r>
              <a:rPr lang="en-IN" sz="2400" b="1" i="1" dirty="0">
                <a:highlight>
                  <a:srgbClr val="FFFFFF"/>
                </a:highlight>
                <a:latin typeface="Times New Roman" panose="02020603050405020304" pitchFamily="18" charset="0"/>
                <a:cs typeface="Times New Roman" panose="02020603050405020304" pitchFamily="18" charset="0"/>
              </a:rPr>
              <a:t>User Datagram protocol </a:t>
            </a:r>
            <a:r>
              <a:rPr lang="en-IN" sz="2400" i="1" dirty="0">
                <a:highlight>
                  <a:srgbClr val="FFFFFF"/>
                </a:highlight>
                <a:latin typeface="Times New Roman" panose="02020603050405020304" pitchFamily="18" charset="0"/>
                <a:cs typeface="Times New Roman" panose="02020603050405020304" pitchFamily="18" charset="0"/>
              </a:rPr>
              <a:t>(UDP)</a:t>
            </a:r>
            <a:r>
              <a:rPr lang="en-IN" sz="2400" b="1" dirty="0">
                <a:highlight>
                  <a:srgbClr val="FFFFFF"/>
                </a:highlight>
                <a:latin typeface="Times New Roman" panose="02020603050405020304" pitchFamily="18" charset="0"/>
                <a:cs typeface="Times New Roman" panose="02020603050405020304" pitchFamily="18" charset="0"/>
              </a:rPr>
              <a:t> </a:t>
            </a:r>
            <a:r>
              <a:rPr lang="en-IN" sz="2400" dirty="0">
                <a:highlight>
                  <a:srgbClr val="FFFFFF"/>
                </a:highlight>
                <a:latin typeface="Times New Roman" panose="02020603050405020304" pitchFamily="18" charset="0"/>
                <a:cs typeface="Times New Roman" panose="02020603050405020304" pitchFamily="18" charset="0"/>
              </a:rPr>
              <a:t>and</a:t>
            </a:r>
            <a:r>
              <a:rPr lang="en-IN" sz="2400" b="1" dirty="0">
                <a:highlight>
                  <a:srgbClr val="FFFFFF"/>
                </a:highlight>
                <a:latin typeface="Times New Roman" panose="02020603050405020304" pitchFamily="18" charset="0"/>
                <a:cs typeface="Times New Roman" panose="02020603050405020304" pitchFamily="18" charset="0"/>
              </a:rPr>
              <a:t> </a:t>
            </a:r>
            <a:r>
              <a:rPr lang="en-IN" sz="2400" b="1" i="1" dirty="0">
                <a:highlight>
                  <a:srgbClr val="FFFFFF"/>
                </a:highlight>
                <a:latin typeface="Times New Roman" panose="02020603050405020304" pitchFamily="18" charset="0"/>
                <a:cs typeface="Times New Roman" panose="02020603050405020304" pitchFamily="18" charset="0"/>
              </a:rPr>
              <a:t>Transmission control protocol (TCP)</a:t>
            </a:r>
            <a:r>
              <a:rPr lang="en-IN" sz="2400" b="1" dirty="0">
                <a:highlight>
                  <a:srgbClr val="FFFFFF"/>
                </a:highlight>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94295F-064A-A65B-37A0-D89F7F4BC193}"/>
              </a:ext>
            </a:extLst>
          </p:cNvPr>
          <p:cNvSpPr txBox="1"/>
          <p:nvPr/>
        </p:nvSpPr>
        <p:spPr>
          <a:xfrm>
            <a:off x="167640" y="3886200"/>
            <a:ext cx="11490960" cy="1938992"/>
          </a:xfrm>
          <a:prstGeom prst="rect">
            <a:avLst/>
          </a:prstGeom>
          <a:noFill/>
        </p:spPr>
        <p:txBody>
          <a:bodyPr wrap="square">
            <a:spAutoFit/>
          </a:bodyPr>
          <a:lstStyle/>
          <a:p>
            <a:pPr marL="342900" indent="-342900">
              <a:buFont typeface="Wingdings" panose="05000000000000000000" pitchFamily="2" charset="2"/>
              <a:buChar char="v"/>
            </a:pPr>
            <a:r>
              <a:rPr lang="en-US" sz="2400" b="0" i="0" dirty="0">
                <a:solidFill>
                  <a:srgbClr val="FF0000"/>
                </a:solidFill>
                <a:effectLst/>
                <a:latin typeface="Times New Roman" panose="02020603050405020304" pitchFamily="18" charset="0"/>
                <a:cs typeface="Times New Roman" panose="02020603050405020304" pitchFamily="18" charset="0"/>
              </a:rPr>
              <a:t>TCP (Transmission Control Protocol) </a:t>
            </a:r>
            <a:r>
              <a:rPr lang="en-US" sz="2400" b="0" i="0" dirty="0">
                <a:solidFill>
                  <a:srgbClr val="001D35"/>
                </a:solidFill>
                <a:effectLst/>
                <a:latin typeface="Times New Roman" panose="02020603050405020304" pitchFamily="18" charset="0"/>
                <a:cs typeface="Times New Roman" panose="02020603050405020304" pitchFamily="18" charset="0"/>
              </a:rPr>
              <a:t>is connection-oriented and ensures reliable, ordered, and error-checked delivery of data</a:t>
            </a:r>
            <a:r>
              <a:rPr lang="en-US" sz="2400" dirty="0">
                <a:solidFill>
                  <a:srgbClr val="001D35"/>
                </a:solidFill>
                <a:latin typeface="Times New Roman" panose="02020603050405020304" pitchFamily="18" charset="0"/>
                <a:cs typeface="Times New Roman" panose="02020603050405020304" pitchFamily="18" charset="0"/>
              </a:rPr>
              <a:t>.</a:t>
            </a:r>
          </a:p>
          <a:p>
            <a:endParaRPr lang="en-US" sz="2400" dirty="0">
              <a:solidFill>
                <a:srgbClr val="001D35"/>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0" i="0" dirty="0">
                <a:solidFill>
                  <a:srgbClr val="001D35"/>
                </a:solidFill>
                <a:effectLst/>
                <a:latin typeface="Times New Roman" panose="02020603050405020304" pitchFamily="18" charset="0"/>
                <a:cs typeface="Times New Roman" panose="02020603050405020304" pitchFamily="18" charset="0"/>
              </a:rPr>
              <a:t> </a:t>
            </a:r>
            <a:r>
              <a:rPr lang="en-US" sz="2400" b="0" i="0" dirty="0">
                <a:solidFill>
                  <a:srgbClr val="FF0000"/>
                </a:solidFill>
                <a:effectLst/>
                <a:latin typeface="Times New Roman" panose="02020603050405020304" pitchFamily="18" charset="0"/>
                <a:cs typeface="Times New Roman" panose="02020603050405020304" pitchFamily="18" charset="0"/>
              </a:rPr>
              <a:t>UDP (User Datagram Protocol) </a:t>
            </a:r>
            <a:r>
              <a:rPr lang="en-US" sz="2400" b="0" i="0" dirty="0">
                <a:solidFill>
                  <a:srgbClr val="001D35"/>
                </a:solidFill>
                <a:effectLst/>
                <a:latin typeface="Times New Roman" panose="02020603050405020304" pitchFamily="18" charset="0"/>
                <a:cs typeface="Times New Roman" panose="02020603050405020304" pitchFamily="18" charset="0"/>
              </a:rPr>
              <a:t>is connectionless and prioritizes speed and efficiency over guaranteed delivery.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8" name="Text Box 4">
            <a:extLst>
              <a:ext uri="{FF2B5EF4-FFF2-40B4-BE49-F238E27FC236}">
                <a16:creationId xmlns:a16="http://schemas.microsoft.com/office/drawing/2014/main" id="{86A9600E-BAB2-7637-AABC-683319CDE7BF}"/>
              </a:ext>
            </a:extLst>
          </p:cNvPr>
          <p:cNvSpPr txBox="1">
            <a:spLocks noChangeArrowheads="1"/>
          </p:cNvSpPr>
          <p:nvPr/>
        </p:nvSpPr>
        <p:spPr bwMode="auto">
          <a:xfrm>
            <a:off x="3886200" y="0"/>
            <a:ext cx="35585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rPr>
              <a:t>  </a:t>
            </a:r>
            <a:r>
              <a:rPr lang="en-US" altLang="en-US" sz="3200" i="1" dirty="0">
                <a:solidFill>
                  <a:srgbClr val="3366FF"/>
                </a:solidFill>
              </a:rPr>
              <a:t>Addresses in TCP/IP</a:t>
            </a:r>
            <a:endParaRPr lang="en-US" altLang="en-US" sz="2000" i="1" dirty="0">
              <a:solidFill>
                <a:srgbClr val="3366FF"/>
              </a:solidFill>
            </a:endParaRPr>
          </a:p>
        </p:txBody>
      </p:sp>
      <p:pic>
        <p:nvPicPr>
          <p:cNvPr id="651270" name="Picture 6">
            <a:extLst>
              <a:ext uri="{FF2B5EF4-FFF2-40B4-BE49-F238E27FC236}">
                <a16:creationId xmlns:a16="http://schemas.microsoft.com/office/drawing/2014/main" id="{10CBE527-A280-261D-D0C6-494228B95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584775"/>
            <a:ext cx="6362700" cy="162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6">
            <a:extLst>
              <a:ext uri="{FF2B5EF4-FFF2-40B4-BE49-F238E27FC236}">
                <a16:creationId xmlns:a16="http://schemas.microsoft.com/office/drawing/2014/main" id="{6C35CE61-106C-D676-70CB-3D9B0F94A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472321"/>
            <a:ext cx="6781800" cy="4385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7046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06BA9C-4EF4-946E-7883-43DB05423A4B}"/>
              </a:ext>
            </a:extLst>
          </p:cNvPr>
          <p:cNvSpPr>
            <a:spLocks noGrp="1"/>
          </p:cNvSpPr>
          <p:nvPr>
            <p:ph type="sldNum" sz="quarter" idx="12"/>
          </p:nvPr>
        </p:nvSpPr>
        <p:spPr/>
        <p:txBody>
          <a:bodyPr/>
          <a:lstStyle/>
          <a:p>
            <a:pPr>
              <a:defRPr/>
            </a:pPr>
            <a:r>
              <a:rPr lang="en-US" altLang="en-US"/>
              <a:t>1.</a:t>
            </a:r>
            <a:fld id="{02B82DCB-B3A4-48AA-BF22-24BB65F3C522}" type="slidenum">
              <a:rPr lang="en-US" altLang="en-US" smtClean="0"/>
              <a:pPr>
                <a:defRPr/>
              </a:pPr>
              <a:t>61</a:t>
            </a:fld>
            <a:endParaRPr lang="en-US" altLang="en-US"/>
          </a:p>
        </p:txBody>
      </p:sp>
      <p:sp>
        <p:nvSpPr>
          <p:cNvPr id="5" name="Title 4">
            <a:extLst>
              <a:ext uri="{FF2B5EF4-FFF2-40B4-BE49-F238E27FC236}">
                <a16:creationId xmlns:a16="http://schemas.microsoft.com/office/drawing/2014/main" id="{7D4BBAF8-15CB-908E-46F7-EF9234FAB1DE}"/>
              </a:ext>
            </a:extLst>
          </p:cNvPr>
          <p:cNvSpPr>
            <a:spLocks noGrp="1"/>
          </p:cNvSpPr>
          <p:nvPr>
            <p:ph type="title"/>
          </p:nvPr>
        </p:nvSpPr>
        <p:spPr/>
        <p:txBody>
          <a:bodyPr/>
          <a:lstStyle/>
          <a:p>
            <a:endParaRPr lang="en-IN"/>
          </a:p>
        </p:txBody>
      </p:sp>
      <p:sp>
        <p:nvSpPr>
          <p:cNvPr id="6" name="Scroll: Horizontal 5">
            <a:extLst>
              <a:ext uri="{FF2B5EF4-FFF2-40B4-BE49-F238E27FC236}">
                <a16:creationId xmlns:a16="http://schemas.microsoft.com/office/drawing/2014/main" id="{79456217-D6DD-5978-D5F1-37B5EBB3EB3D}"/>
              </a:ext>
            </a:extLst>
          </p:cNvPr>
          <p:cNvSpPr/>
          <p:nvPr/>
        </p:nvSpPr>
        <p:spPr>
          <a:xfrm>
            <a:off x="2773363" y="2241550"/>
            <a:ext cx="6645275" cy="2374900"/>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sz="6000" b="1" dirty="0">
                <a:latin typeface="BacktalkSerif BTN" panose="02060604050405040405" pitchFamily="18" charset="0"/>
                <a:cs typeface="Times New Roman" panose="02020603050405020304" pitchFamily="18" charset="0"/>
              </a:rPr>
              <a:t>Data &amp; Signal</a:t>
            </a:r>
          </a:p>
        </p:txBody>
      </p:sp>
    </p:spTree>
    <p:extLst>
      <p:ext uri="{BB962C8B-B14F-4D97-AF65-F5344CB8AC3E}">
        <p14:creationId xmlns:p14="http://schemas.microsoft.com/office/powerpoint/2010/main" val="7497837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3657600" y="0"/>
            <a:ext cx="10515600" cy="801384"/>
          </a:xfrm>
        </p:spPr>
        <p:txBody>
          <a:bodyPr>
            <a:normAutofit/>
          </a:bodyPr>
          <a:lstStyle/>
          <a:p>
            <a:r>
              <a:rPr lang="en-IN" sz="4400" b="1" i="0" u="none" strike="noStrike" baseline="0" dirty="0">
                <a:solidFill>
                  <a:schemeClr val="accent1"/>
                </a:solidFill>
                <a:latin typeface="Times-Bold"/>
              </a:rPr>
              <a:t>Data and Signals</a:t>
            </a:r>
            <a:endParaRPr lang="en-IN" dirty="0">
              <a:solidFill>
                <a:schemeClr val="accent1"/>
              </a:solidFill>
            </a:endParaRPr>
          </a:p>
        </p:txBody>
      </p:sp>
      <p:sp>
        <p:nvSpPr>
          <p:cNvPr id="3" name="Content Placeholder 2">
            <a:extLst>
              <a:ext uri="{FF2B5EF4-FFF2-40B4-BE49-F238E27FC236}">
                <a16:creationId xmlns:a16="http://schemas.microsoft.com/office/drawing/2014/main" id="{4543FFA9-25DB-F1E9-3BE8-AFC332D3494E}"/>
              </a:ext>
            </a:extLst>
          </p:cNvPr>
          <p:cNvSpPr>
            <a:spLocks noGrp="1"/>
          </p:cNvSpPr>
          <p:nvPr>
            <p:ph idx="1"/>
          </p:nvPr>
        </p:nvSpPr>
        <p:spPr>
          <a:xfrm>
            <a:off x="838200" y="952322"/>
            <a:ext cx="10515600" cy="2571714"/>
          </a:xfrm>
        </p:spPr>
        <p:txBody>
          <a:bodyPr>
            <a:normAutofit/>
          </a:bodyPr>
          <a:lstStyle/>
          <a:p>
            <a:pPr algn="l"/>
            <a:r>
              <a:rPr lang="en-IN" sz="2800" u="none" strike="noStrike" baseline="0" dirty="0">
                <a:solidFill>
                  <a:schemeClr val="accent1"/>
                </a:solidFill>
                <a:latin typeface="Times New Roman" panose="02020603050405020304" pitchFamily="18" charset="0"/>
                <a:cs typeface="Times New Roman" panose="02020603050405020304" pitchFamily="18" charset="0"/>
              </a:rPr>
              <a:t>Analog and Digital Data: </a:t>
            </a:r>
            <a:r>
              <a:rPr lang="en-US" sz="2800" b="0" i="0" u="none" strike="noStrike" baseline="0" dirty="0">
                <a:latin typeface="Times-Roman"/>
              </a:rPr>
              <a:t>The term </a:t>
            </a:r>
            <a:r>
              <a:rPr lang="en-US" sz="2800" b="1" i="0" u="none" strike="noStrike" baseline="0" dirty="0">
                <a:latin typeface="Times-Bold"/>
              </a:rPr>
              <a:t>analog data </a:t>
            </a:r>
            <a:r>
              <a:rPr lang="en-US" sz="2800" b="0" i="0" u="none" strike="noStrike" baseline="0" dirty="0">
                <a:latin typeface="Times-Roman"/>
              </a:rPr>
              <a:t>refers to information that is continuous; </a:t>
            </a:r>
            <a:r>
              <a:rPr lang="en-US" sz="2800" b="1" i="0" u="none" strike="noStrike" baseline="0" dirty="0">
                <a:latin typeface="Times-Bold"/>
              </a:rPr>
              <a:t>digital data </a:t>
            </a:r>
            <a:r>
              <a:rPr lang="en-US" sz="2800" b="0" i="0" u="none" strike="noStrike" baseline="0" dirty="0">
                <a:latin typeface="Times-Roman"/>
              </a:rPr>
              <a:t>refers to information that has discrete states.</a:t>
            </a:r>
          </a:p>
          <a:p>
            <a:pPr algn="l"/>
            <a:r>
              <a:rPr lang="en-US" b="0" i="0" u="none" strike="noStrike" baseline="0" dirty="0">
                <a:solidFill>
                  <a:schemeClr val="accent1"/>
                </a:solidFill>
                <a:latin typeface="Times-Roman"/>
              </a:rPr>
              <a:t>Analog and Digital Signals: </a:t>
            </a:r>
            <a:r>
              <a:rPr lang="en-IN" sz="2800" b="0" i="0" u="none" strike="noStrike" baseline="0" dirty="0">
                <a:latin typeface="Times-Roman"/>
              </a:rPr>
              <a:t>An </a:t>
            </a:r>
            <a:r>
              <a:rPr lang="en-IN" sz="2800" b="1" i="0" u="none" strike="noStrike" baseline="0" dirty="0" err="1">
                <a:latin typeface="Times-Bold"/>
              </a:rPr>
              <a:t>analog</a:t>
            </a:r>
            <a:r>
              <a:rPr lang="en-IN" sz="2800" b="1" i="0" u="none" strike="noStrike" baseline="0" dirty="0">
                <a:latin typeface="Times-Bold"/>
              </a:rPr>
              <a:t> signal </a:t>
            </a:r>
            <a:r>
              <a:rPr lang="en-US" sz="2800" b="0" i="0" u="none" strike="noStrike" baseline="0" dirty="0">
                <a:latin typeface="Times-Roman"/>
              </a:rPr>
              <a:t>has infinitely many levels of intensity over a period of time. A digital signal, on the other hand, can have only a limited number of defined values.</a:t>
            </a:r>
            <a:endParaRPr lang="en-US" b="0" i="0" u="none" strike="noStrike" baseline="0" dirty="0">
              <a:solidFill>
                <a:schemeClr val="accent1"/>
              </a:solidFill>
              <a:latin typeface="Times-Roman"/>
            </a:endParaRPr>
          </a:p>
          <a:p>
            <a:pPr marL="457200" lvl="1" indent="0">
              <a:buNone/>
            </a:pPr>
            <a:endParaRPr lang="en-IN" dirty="0"/>
          </a:p>
        </p:txBody>
      </p:sp>
      <p:pic>
        <p:nvPicPr>
          <p:cNvPr id="4" name="Picture 6">
            <a:extLst>
              <a:ext uri="{FF2B5EF4-FFF2-40B4-BE49-F238E27FC236}">
                <a16:creationId xmlns:a16="http://schemas.microsoft.com/office/drawing/2014/main" id="{0156490C-C247-2451-FB5F-D4091E5CE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975" y="3669894"/>
            <a:ext cx="8528050" cy="286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82159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4C033FD8-FC19-1DE3-B036-15B6751CBAEA}"/>
              </a:ext>
            </a:extLst>
          </p:cNvPr>
          <p:cNvSpPr>
            <a:spLocks noChangeArrowheads="1"/>
          </p:cNvSpPr>
          <p:nvPr/>
        </p:nvSpPr>
        <p:spPr bwMode="auto">
          <a:xfrm>
            <a:off x="289560" y="861695"/>
            <a:ext cx="11231880" cy="954107"/>
          </a:xfrm>
          <a:prstGeom prst="rect">
            <a:avLst/>
          </a:prstGeom>
          <a:noFill/>
          <a:ln w="9525">
            <a:noFill/>
            <a:miter lim="800000"/>
            <a:headEnd/>
            <a:tailEnd/>
          </a:ln>
          <a:effectLst/>
        </p:spPr>
        <p:txBody>
          <a:bodyPr wrap="square" anchor="ctr">
            <a:spAutoFit/>
          </a:bodyPr>
          <a:lstStyle/>
          <a:p>
            <a:pPr algn="just" eaLnBrk="1" hangingPunct="1">
              <a:defRPr/>
            </a:pPr>
            <a:r>
              <a:rPr lang="en-US" sz="2800" baseline="0" dirty="0">
                <a:latin typeface="Times New Roman" panose="02020603050405020304" pitchFamily="18" charset="0"/>
                <a:cs typeface="Times New Roman" panose="02020603050405020304" pitchFamily="18" charset="0"/>
              </a:rPr>
              <a:t>In data communications, we commonly use periodic analog signals and nonperiodic digital signals</a:t>
            </a:r>
            <a:r>
              <a:rPr lang="en-US" sz="2400" baseline="0" dirty="0">
                <a:latin typeface="Times New Roman" panose="02020603050405020304" pitchFamily="18" charset="0"/>
                <a:cs typeface="Times New Roman" panose="02020603050405020304" pitchFamily="18" charset="0"/>
              </a:rPr>
              <a:t>.</a:t>
            </a:r>
            <a:endParaRPr lang="en-US" sz="24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8AB8D0A-16CE-9582-CA74-9E88AD1348AE}"/>
              </a:ext>
            </a:extLst>
          </p:cNvPr>
          <p:cNvSpPr txBox="1"/>
          <p:nvPr/>
        </p:nvSpPr>
        <p:spPr>
          <a:xfrm>
            <a:off x="137160" y="1905000"/>
            <a:ext cx="4800600" cy="1938992"/>
          </a:xfrm>
          <a:prstGeom prst="rect">
            <a:avLst/>
          </a:prstGeom>
          <a:noFill/>
        </p:spPr>
        <p:txBody>
          <a:bodyPr wrap="square">
            <a:spAutoFit/>
          </a:bodyPr>
          <a:lstStyle/>
          <a:p>
            <a:pPr algn="just" eaLnBrk="1" hangingPunct="1">
              <a:defRPr/>
            </a:pPr>
            <a:r>
              <a:rPr lang="en-US" sz="24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Periodic analog signals can be classified as </a:t>
            </a:r>
            <a:r>
              <a:rPr lang="en-US" sz="2400" baseline="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simple</a:t>
            </a:r>
            <a:r>
              <a:rPr lang="en-US" sz="24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or </a:t>
            </a:r>
            <a:r>
              <a:rPr lang="en-US" sz="2400" baseline="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composite</a:t>
            </a:r>
            <a:r>
              <a:rPr lang="en-US" sz="24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 simple periodic analog signal, a </a:t>
            </a:r>
            <a:r>
              <a:rPr lang="en-US" sz="2400" baseline="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sine wave</a:t>
            </a:r>
            <a:r>
              <a:rPr lang="en-US" sz="24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cannot be decomposed into simpler signals. </a:t>
            </a:r>
          </a:p>
        </p:txBody>
      </p:sp>
      <p:sp>
        <p:nvSpPr>
          <p:cNvPr id="11" name="Rectangle 11">
            <a:extLst>
              <a:ext uri="{FF2B5EF4-FFF2-40B4-BE49-F238E27FC236}">
                <a16:creationId xmlns:a16="http://schemas.microsoft.com/office/drawing/2014/main" id="{6E572D1C-2534-30AA-2279-B6F39D7A08DC}"/>
              </a:ext>
            </a:extLst>
          </p:cNvPr>
          <p:cNvSpPr>
            <a:spLocks noChangeArrowheads="1"/>
          </p:cNvSpPr>
          <p:nvPr/>
        </p:nvSpPr>
        <p:spPr bwMode="auto">
          <a:xfrm>
            <a:off x="58896" y="4077414"/>
            <a:ext cx="4623753" cy="830997"/>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2400" i="0" baseline="0" dirty="0">
                <a:latin typeface="Arial" panose="020B0604020202020204" pitchFamily="34" charset="0"/>
              </a:rPr>
              <a:t>Frequency and period are the inverse of each other.</a:t>
            </a:r>
          </a:p>
        </p:txBody>
      </p:sp>
      <p:pic>
        <p:nvPicPr>
          <p:cNvPr id="12" name="Picture 15">
            <a:extLst>
              <a:ext uri="{FF2B5EF4-FFF2-40B4-BE49-F238E27FC236}">
                <a16:creationId xmlns:a16="http://schemas.microsoft.com/office/drawing/2014/main" id="{31E379E4-D74F-3009-DF7F-1D2F2F995B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329555"/>
            <a:ext cx="3375025" cy="666750"/>
          </a:xfrm>
          <a:prstGeom prst="rect">
            <a:avLst/>
          </a:prstGeom>
          <a:solidFill>
            <a:srgbClr val="3366FF"/>
          </a:solidFill>
          <a:ln w="28575">
            <a:solidFill>
              <a:srgbClr val="3366FF"/>
            </a:solidFill>
            <a:miter lim="800000"/>
            <a:headEnd/>
            <a:tailEnd/>
          </a:ln>
        </p:spPr>
      </p:pic>
      <p:pic>
        <p:nvPicPr>
          <p:cNvPr id="13" name="Picture 6">
            <a:extLst>
              <a:ext uri="{FF2B5EF4-FFF2-40B4-BE49-F238E27FC236}">
                <a16:creationId xmlns:a16="http://schemas.microsoft.com/office/drawing/2014/main" id="{2EFFCC73-02B8-602F-2A5D-C471C451E0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5038" y="1991642"/>
            <a:ext cx="6502162" cy="425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CCF105BC-5737-CB7C-7A0E-09962466746A}"/>
              </a:ext>
            </a:extLst>
          </p:cNvPr>
          <p:cNvSpPr txBox="1"/>
          <p:nvPr/>
        </p:nvSpPr>
        <p:spPr>
          <a:xfrm>
            <a:off x="3664585" y="220333"/>
            <a:ext cx="6096000" cy="523220"/>
          </a:xfrm>
          <a:prstGeom prst="rect">
            <a:avLst/>
          </a:prstGeom>
          <a:noFill/>
        </p:spPr>
        <p:txBody>
          <a:bodyPr wrap="square">
            <a:spAutoFit/>
          </a:bodyPr>
          <a:lstStyle/>
          <a:p>
            <a:r>
              <a:rPr lang="en-US" sz="2800" i="0" baseline="0" dirty="0">
                <a:solidFill>
                  <a:srgbClr val="0033CC"/>
                </a:solidFill>
                <a:effectLst>
                  <a:outerShdw blurRad="38100" dist="38100" dir="2700000" algn="tl">
                    <a:srgbClr val="C0C0C0"/>
                  </a:outerShdw>
                </a:effectLst>
                <a:latin typeface="Times" pitchFamily="1" charset="0"/>
              </a:rPr>
              <a:t>PERIODIC ANALOG SIGNALS</a:t>
            </a:r>
            <a:endParaRPr lang="en-IN" sz="2800" dirty="0">
              <a:solidFill>
                <a:srgbClr val="0033CC"/>
              </a:solidFill>
            </a:endParaRPr>
          </a:p>
        </p:txBody>
      </p:sp>
    </p:spTree>
    <p:extLst>
      <p:ext uri="{BB962C8B-B14F-4D97-AF65-F5344CB8AC3E}">
        <p14:creationId xmlns:p14="http://schemas.microsoft.com/office/powerpoint/2010/main" val="4628399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3988DD-B448-9E47-B663-149FACC0F8C3}"/>
              </a:ext>
            </a:extLst>
          </p:cNvPr>
          <p:cNvSpPr>
            <a:spLocks noGrp="1"/>
          </p:cNvSpPr>
          <p:nvPr>
            <p:ph type="sldNum" sz="quarter" idx="12"/>
          </p:nvPr>
        </p:nvSpPr>
        <p:spPr/>
        <p:txBody>
          <a:bodyPr/>
          <a:lstStyle/>
          <a:p>
            <a:pPr>
              <a:defRPr/>
            </a:pPr>
            <a:r>
              <a:rPr lang="en-US" altLang="en-US"/>
              <a:t>1.</a:t>
            </a:r>
            <a:fld id="{02B82DCB-B3A4-48AA-BF22-24BB65F3C522}" type="slidenum">
              <a:rPr lang="en-US" altLang="en-US" smtClean="0"/>
              <a:pPr>
                <a:defRPr/>
              </a:pPr>
              <a:t>64</a:t>
            </a:fld>
            <a:endParaRPr lang="en-US" altLang="en-US"/>
          </a:p>
        </p:txBody>
      </p:sp>
      <p:sp>
        <p:nvSpPr>
          <p:cNvPr id="5" name="Rectangle 11">
            <a:extLst>
              <a:ext uri="{FF2B5EF4-FFF2-40B4-BE49-F238E27FC236}">
                <a16:creationId xmlns:a16="http://schemas.microsoft.com/office/drawing/2014/main" id="{EE19F7C8-13D1-0378-35B7-CCEFE88EDE8D}"/>
              </a:ext>
            </a:extLst>
          </p:cNvPr>
          <p:cNvSpPr>
            <a:spLocks noChangeArrowheads="1"/>
          </p:cNvSpPr>
          <p:nvPr/>
        </p:nvSpPr>
        <p:spPr bwMode="auto">
          <a:xfrm>
            <a:off x="457200" y="1219200"/>
            <a:ext cx="10134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dirty="0"/>
              <a:t>The power we use at home has a frequency of </a:t>
            </a:r>
            <a:r>
              <a:rPr lang="en-US" altLang="en-US" baseline="0" dirty="0">
                <a:solidFill>
                  <a:schemeClr val="hlink"/>
                </a:solidFill>
              </a:rPr>
              <a:t>60 Hz</a:t>
            </a:r>
            <a:r>
              <a:rPr lang="en-US" altLang="en-US" baseline="0" dirty="0"/>
              <a:t>. The period of this sine wave can be determined as follows:</a:t>
            </a:r>
          </a:p>
        </p:txBody>
      </p:sp>
      <p:pic>
        <p:nvPicPr>
          <p:cNvPr id="6" name="Picture 14">
            <a:extLst>
              <a:ext uri="{FF2B5EF4-FFF2-40B4-BE49-F238E27FC236}">
                <a16:creationId xmlns:a16="http://schemas.microsoft.com/office/drawing/2014/main" id="{57F9AB83-A92F-5D8C-6CAD-F2E549FE4C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9713" y="2616200"/>
            <a:ext cx="6327775" cy="711200"/>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912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84B8F6-5630-8EBC-55E5-D98167CE2593}"/>
              </a:ext>
            </a:extLst>
          </p:cNvPr>
          <p:cNvSpPr>
            <a:spLocks noGrp="1"/>
          </p:cNvSpPr>
          <p:nvPr>
            <p:ph type="sldNum" sz="quarter" idx="12"/>
          </p:nvPr>
        </p:nvSpPr>
        <p:spPr/>
        <p:txBody>
          <a:bodyPr/>
          <a:lstStyle/>
          <a:p>
            <a:pPr>
              <a:defRPr/>
            </a:pPr>
            <a:r>
              <a:rPr lang="en-US" altLang="en-US" dirty="0"/>
              <a:t>1.</a:t>
            </a:r>
            <a:fld id="{02B82DCB-B3A4-48AA-BF22-24BB65F3C522}" type="slidenum">
              <a:rPr lang="en-US" altLang="en-US" smtClean="0"/>
              <a:pPr>
                <a:defRPr/>
              </a:pPr>
              <a:t>65</a:t>
            </a:fld>
            <a:endParaRPr lang="en-US" altLang="en-US" dirty="0"/>
          </a:p>
        </p:txBody>
      </p:sp>
      <p:sp>
        <p:nvSpPr>
          <p:cNvPr id="7" name="TextBox 6">
            <a:extLst>
              <a:ext uri="{FF2B5EF4-FFF2-40B4-BE49-F238E27FC236}">
                <a16:creationId xmlns:a16="http://schemas.microsoft.com/office/drawing/2014/main" id="{7131320F-16A2-430B-B971-1DC4BB9463F9}"/>
              </a:ext>
            </a:extLst>
          </p:cNvPr>
          <p:cNvSpPr txBox="1"/>
          <p:nvPr/>
        </p:nvSpPr>
        <p:spPr>
          <a:xfrm>
            <a:off x="20320" y="1333983"/>
            <a:ext cx="4914900" cy="1077218"/>
          </a:xfrm>
          <a:prstGeom prst="rect">
            <a:avLst/>
          </a:prstGeom>
          <a:noFill/>
        </p:spPr>
        <p:txBody>
          <a:bodyPr wrap="square">
            <a:spAutoFit/>
          </a:bodyPr>
          <a:lstStyle/>
          <a:p>
            <a:pPr algn="l"/>
            <a:r>
              <a:rPr lang="en-IN" sz="3200" b="0" i="0" u="none" strike="noStrike" baseline="0" dirty="0">
                <a:latin typeface="Times New Roman" panose="02020603050405020304" pitchFamily="18" charset="0"/>
                <a:cs typeface="Times New Roman" panose="02020603050405020304" pitchFamily="18" charset="0"/>
              </a:rPr>
              <a:t>A </a:t>
            </a:r>
            <a:r>
              <a:rPr lang="en-US" sz="3200" b="1" i="0" u="none" strike="noStrike" baseline="0" dirty="0">
                <a:latin typeface="Times New Roman" panose="02020603050405020304" pitchFamily="18" charset="0"/>
                <a:cs typeface="Times New Roman" panose="02020603050405020304" pitchFamily="18" charset="0"/>
              </a:rPr>
              <a:t>composite signal </a:t>
            </a:r>
            <a:r>
              <a:rPr lang="en-US" sz="3200" b="0" i="0" u="none" strike="noStrike" baseline="0" dirty="0">
                <a:latin typeface="Times New Roman" panose="02020603050405020304" pitchFamily="18" charset="0"/>
                <a:cs typeface="Times New Roman" panose="02020603050405020304" pitchFamily="18" charset="0"/>
              </a:rPr>
              <a:t>is made of many simple sine waves.</a:t>
            </a:r>
          </a:p>
        </p:txBody>
      </p:sp>
      <p:pic>
        <p:nvPicPr>
          <p:cNvPr id="15" name="Picture 8">
            <a:extLst>
              <a:ext uri="{FF2B5EF4-FFF2-40B4-BE49-F238E27FC236}">
                <a16:creationId xmlns:a16="http://schemas.microsoft.com/office/drawing/2014/main" id="{89C64D8C-B44A-1F4A-CC10-816A1C4CF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884" y="4504784"/>
            <a:ext cx="5140960" cy="18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6">
            <a:extLst>
              <a:ext uri="{FF2B5EF4-FFF2-40B4-BE49-F238E27FC236}">
                <a16:creationId xmlns:a16="http://schemas.microsoft.com/office/drawing/2014/main" id="{C587FBE2-6344-C3E2-8775-4C1566D89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3560" y="2572020"/>
            <a:ext cx="6355556" cy="406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2910F399-429E-538E-7AD1-74AEB136EDE1}"/>
              </a:ext>
            </a:extLst>
          </p:cNvPr>
          <p:cNvSpPr txBox="1"/>
          <p:nvPr/>
        </p:nvSpPr>
        <p:spPr>
          <a:xfrm>
            <a:off x="5720318" y="1369093"/>
            <a:ext cx="6162040" cy="830997"/>
          </a:xfrm>
          <a:prstGeom prst="rect">
            <a:avLst/>
          </a:prstGeom>
          <a:noFill/>
        </p:spPr>
        <p:txBody>
          <a:bodyPr wrap="square">
            <a:spAutoFit/>
          </a:bodyPr>
          <a:lstStyle/>
          <a:p>
            <a:r>
              <a:rPr lang="en-US" altLang="en-US" sz="2400" baseline="0" dirty="0">
                <a:solidFill>
                  <a:srgbClr val="0070C0"/>
                </a:solidFill>
                <a:latin typeface="Times New Roman" panose="02020603050405020304" pitchFamily="18" charset="0"/>
                <a:cs typeface="Times New Roman" panose="02020603050405020304" pitchFamily="18" charset="0"/>
              </a:rPr>
              <a:t>Decomposition of a composite periodic signal in the time and</a:t>
            </a:r>
            <a:r>
              <a:rPr lang="en-US" altLang="en-US" sz="2400" dirty="0">
                <a:solidFill>
                  <a:srgbClr val="0070C0"/>
                </a:solidFill>
                <a:latin typeface="Times New Roman" panose="02020603050405020304" pitchFamily="18" charset="0"/>
                <a:cs typeface="Times New Roman" panose="02020603050405020304" pitchFamily="18" charset="0"/>
              </a:rPr>
              <a:t> </a:t>
            </a:r>
            <a:r>
              <a:rPr lang="en-US" altLang="en-US" sz="2400" baseline="0" dirty="0">
                <a:solidFill>
                  <a:srgbClr val="0070C0"/>
                </a:solidFill>
                <a:latin typeface="Times New Roman" panose="02020603050405020304" pitchFamily="18" charset="0"/>
                <a:cs typeface="Times New Roman" panose="02020603050405020304" pitchFamily="18" charset="0"/>
              </a:rPr>
              <a:t>frequency domains</a:t>
            </a:r>
            <a:endParaRPr lang="en-IN" sz="2400" dirty="0">
              <a:solidFill>
                <a:srgbClr val="0070C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85DA70B2-48E0-7224-F519-09ED0DD62851}"/>
              </a:ext>
            </a:extLst>
          </p:cNvPr>
          <p:cNvSpPr txBox="1"/>
          <p:nvPr/>
        </p:nvSpPr>
        <p:spPr>
          <a:xfrm>
            <a:off x="3749040" y="220293"/>
            <a:ext cx="6207760" cy="646331"/>
          </a:xfrm>
          <a:prstGeom prst="rect">
            <a:avLst/>
          </a:prstGeom>
          <a:noFill/>
        </p:spPr>
        <p:txBody>
          <a:bodyPr wrap="square">
            <a:spAutoFit/>
          </a:bodyPr>
          <a:lstStyle/>
          <a:p>
            <a:r>
              <a:rPr lang="en-US" sz="3600" b="1" dirty="0">
                <a:solidFill>
                  <a:srgbClr val="0033CC"/>
                </a:solidFill>
                <a:latin typeface="Times New Roman" panose="02020603050405020304" pitchFamily="18" charset="0"/>
                <a:cs typeface="Times New Roman" panose="02020603050405020304" pitchFamily="18" charset="0"/>
              </a:rPr>
              <a:t>C</a:t>
            </a:r>
            <a:r>
              <a:rPr lang="en-US" sz="3600" b="1" i="0" u="none" strike="noStrike" baseline="0" dirty="0">
                <a:solidFill>
                  <a:srgbClr val="0033CC"/>
                </a:solidFill>
                <a:latin typeface="Times New Roman" panose="02020603050405020304" pitchFamily="18" charset="0"/>
                <a:cs typeface="Times New Roman" panose="02020603050405020304" pitchFamily="18" charset="0"/>
              </a:rPr>
              <a:t>omposite </a:t>
            </a:r>
            <a:r>
              <a:rPr lang="en-US" sz="3600" b="1" dirty="0">
                <a:solidFill>
                  <a:srgbClr val="0033CC"/>
                </a:solidFill>
                <a:latin typeface="Times New Roman" panose="02020603050405020304" pitchFamily="18" charset="0"/>
                <a:cs typeface="Times New Roman" panose="02020603050405020304" pitchFamily="18" charset="0"/>
              </a:rPr>
              <a:t>S</a:t>
            </a:r>
            <a:r>
              <a:rPr lang="en-US" sz="3600" b="1" i="0" u="none" strike="noStrike" baseline="0" dirty="0">
                <a:solidFill>
                  <a:srgbClr val="0033CC"/>
                </a:solidFill>
                <a:latin typeface="Times New Roman" panose="02020603050405020304" pitchFamily="18" charset="0"/>
                <a:cs typeface="Times New Roman" panose="02020603050405020304" pitchFamily="18" charset="0"/>
              </a:rPr>
              <a:t>ignal </a:t>
            </a:r>
            <a:endParaRPr lang="en-IN" sz="3600" dirty="0">
              <a:solidFill>
                <a:srgbClr val="0033CC"/>
              </a:solidFill>
            </a:endParaRPr>
          </a:p>
        </p:txBody>
      </p:sp>
      <p:sp>
        <p:nvSpPr>
          <p:cNvPr id="3" name="TextBox 2">
            <a:extLst>
              <a:ext uri="{FF2B5EF4-FFF2-40B4-BE49-F238E27FC236}">
                <a16:creationId xmlns:a16="http://schemas.microsoft.com/office/drawing/2014/main" id="{448573C2-2421-1153-7072-128A10B0CDDA}"/>
              </a:ext>
            </a:extLst>
          </p:cNvPr>
          <p:cNvSpPr txBox="1"/>
          <p:nvPr/>
        </p:nvSpPr>
        <p:spPr>
          <a:xfrm>
            <a:off x="40640" y="2534663"/>
            <a:ext cx="5140960" cy="1938992"/>
          </a:xfrm>
          <a:prstGeom prst="rect">
            <a:avLst/>
          </a:prstGeom>
          <a:noFill/>
        </p:spPr>
        <p:txBody>
          <a:bodyPr wrap="square">
            <a:spAutoFit/>
          </a:bodyPr>
          <a:lstStyle/>
          <a:p>
            <a:r>
              <a:rPr lang="en-US" sz="2400" i="1" dirty="0">
                <a:solidFill>
                  <a:srgbClr val="000000"/>
                </a:solidFill>
                <a:effectLst/>
                <a:latin typeface="Times New Roman" panose="02020603050405020304" pitchFamily="18" charset="0"/>
                <a:cs typeface="Times New Roman" panose="02020603050405020304" pitchFamily="18" charset="0"/>
              </a:rPr>
              <a:t>According to Fourier analysis, any composite signal is a combination of simple sine waves with different frequencies, amplitudes, and phases.</a:t>
            </a:r>
            <a:r>
              <a:rPr lang="en-US" sz="2400" i="1" dirty="0">
                <a:latin typeface="Times New Roman" panose="02020603050405020304" pitchFamily="18" charset="0"/>
                <a:cs typeface="Times New Roman" panose="02020603050405020304" pitchFamily="18" charset="0"/>
              </a:rPr>
              <a:t> </a:t>
            </a:r>
            <a:br>
              <a:rPr lang="en-US" sz="2400" i="1" dirty="0"/>
            </a:br>
            <a:endParaRPr lang="en-IN" sz="2400" i="1" dirty="0"/>
          </a:p>
        </p:txBody>
      </p:sp>
    </p:spTree>
    <p:extLst>
      <p:ext uri="{BB962C8B-B14F-4D97-AF65-F5344CB8AC3E}">
        <p14:creationId xmlns:p14="http://schemas.microsoft.com/office/powerpoint/2010/main" val="25782534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0" y="-1"/>
            <a:ext cx="8178229" cy="585628"/>
          </a:xfrm>
        </p:spPr>
        <p:txBody>
          <a:bodyPr>
            <a:normAutofit fontScale="90000"/>
          </a:bodyPr>
          <a:lstStyle/>
          <a:p>
            <a:r>
              <a:rPr lang="en-IN" sz="4400" b="1" i="0" u="none" strike="noStrike" baseline="0" dirty="0">
                <a:solidFill>
                  <a:schemeClr val="accent1"/>
                </a:solidFill>
                <a:latin typeface="Times-Bold"/>
              </a:rPr>
              <a:t>Aperiodic Analog Composite Signals</a:t>
            </a:r>
            <a:endParaRPr lang="en-IN" dirty="0">
              <a:solidFill>
                <a:schemeClr val="accent1"/>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43FFA9-25DB-F1E9-3BE8-AFC332D3494E}"/>
                  </a:ext>
                </a:extLst>
              </p:cNvPr>
              <p:cNvSpPr>
                <a:spLocks noGrp="1"/>
              </p:cNvSpPr>
              <p:nvPr>
                <p:ph idx="1"/>
              </p:nvPr>
            </p:nvSpPr>
            <p:spPr>
              <a:xfrm>
                <a:off x="511567" y="1024848"/>
                <a:ext cx="10810554" cy="1636159"/>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In a time-domain representation of this composite signal, infinite sine frequencies.</a:t>
                </a:r>
              </a:p>
              <a:p>
                <a:r>
                  <a:rPr lang="en-US" dirty="0">
                    <a:latin typeface="Times New Roman" panose="02020603050405020304" pitchFamily="18" charset="0"/>
                    <a:cs typeface="Times New Roman" panose="02020603050405020304" pitchFamily="18" charset="0"/>
                  </a:rPr>
                  <a:t>A normal human being can create a continuous range of frequencies [0, 4] kHz.</a:t>
                </a:r>
              </a:p>
              <a:p>
                <a:r>
                  <a:rPr lang="en-US" dirty="0">
                    <a:latin typeface="Times New Roman" panose="02020603050405020304" pitchFamily="18" charset="0"/>
                    <a:cs typeface="Times New Roman" panose="02020603050405020304" pitchFamily="18" charset="0"/>
                  </a:rPr>
                  <a:t>To find the amplitude related to frequency </a:t>
                </a:r>
                <a14:m>
                  <m:oMath xmlns:m="http://schemas.openxmlformats.org/officeDocument/2006/math">
                    <m:r>
                      <a:rPr lang="en-US" i="1" dirty="0" smtClean="0">
                        <a:latin typeface="Cambria Math" panose="02040503050406030204" pitchFamily="18" charset="0"/>
                        <a:cs typeface="Times New Roman" panose="02020603050405020304" pitchFamily="18" charset="0"/>
                      </a:rPr>
                      <m:t>𝑓</m:t>
                    </m:r>
                  </m:oMath>
                </a14:m>
                <a:r>
                  <a:rPr lang="en-US" dirty="0">
                    <a:latin typeface="Times New Roman" panose="02020603050405020304" pitchFamily="18" charset="0"/>
                    <a:cs typeface="Times New Roman" panose="02020603050405020304" pitchFamily="18" charset="0"/>
                  </a:rPr>
                  <a:t>, we draw a vertical intercept line at </a:t>
                </a:r>
                <a14:m>
                  <m:oMath xmlns:m="http://schemas.openxmlformats.org/officeDocument/2006/math">
                    <m:r>
                      <a:rPr lang="en-US" i="1" dirty="0" smtClean="0">
                        <a:latin typeface="Cambria Math" panose="02040503050406030204" pitchFamily="18" charset="0"/>
                        <a:cs typeface="Times New Roman" panose="02020603050405020304" pitchFamily="18" charset="0"/>
                      </a:rPr>
                      <m:t>𝑓</m:t>
                    </m:r>
                  </m:oMath>
                </a14:m>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543FFA9-25DB-F1E9-3BE8-AFC332D3494E}"/>
                  </a:ext>
                </a:extLst>
              </p:cNvPr>
              <p:cNvSpPr>
                <a:spLocks noGrp="1" noRot="1" noChangeAspect="1" noMove="1" noResize="1" noEditPoints="1" noAdjustHandles="1" noChangeArrowheads="1" noChangeShapeType="1" noTextEdit="1"/>
              </p:cNvSpPr>
              <p:nvPr>
                <p:ph idx="1"/>
              </p:nvPr>
            </p:nvSpPr>
            <p:spPr>
              <a:xfrm>
                <a:off x="511567" y="1024848"/>
                <a:ext cx="10810554" cy="1636159"/>
              </a:xfrm>
              <a:blipFill>
                <a:blip r:embed="rId2"/>
                <a:stretch>
                  <a:fillRect l="-790" t="-7435"/>
                </a:stretch>
              </a:blipFill>
            </p:spPr>
            <p:txBody>
              <a:bodyPr/>
              <a:lstStyle/>
              <a:p>
                <a:r>
                  <a:rPr lang="en-IN">
                    <a:noFill/>
                  </a:rPr>
                  <a:t> </a:t>
                </a:r>
              </a:p>
            </p:txBody>
          </p:sp>
        </mc:Fallback>
      </mc:AlternateContent>
      <p:pic>
        <p:nvPicPr>
          <p:cNvPr id="4" name="Picture 6">
            <a:extLst>
              <a:ext uri="{FF2B5EF4-FFF2-40B4-BE49-F238E27FC236}">
                <a16:creationId xmlns:a16="http://schemas.microsoft.com/office/drawing/2014/main" id="{DA0B8951-6C32-8FAE-EC57-F5363E429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418840"/>
            <a:ext cx="8345487"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3454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2AFA1D-D019-999F-8C84-E5B94E7F716B}"/>
              </a:ext>
            </a:extLst>
          </p:cNvPr>
          <p:cNvSpPr txBox="1"/>
          <p:nvPr/>
        </p:nvSpPr>
        <p:spPr>
          <a:xfrm>
            <a:off x="2895600" y="228600"/>
            <a:ext cx="6096000" cy="584775"/>
          </a:xfrm>
          <a:prstGeom prst="rect">
            <a:avLst/>
          </a:prstGeom>
          <a:noFill/>
        </p:spPr>
        <p:txBody>
          <a:bodyPr wrap="square">
            <a:spAutoFit/>
          </a:bodyPr>
          <a:lstStyle/>
          <a:p>
            <a:r>
              <a:rPr lang="en-US" altLang="en-US" sz="3200" dirty="0">
                <a:solidFill>
                  <a:srgbClr val="0070C0"/>
                </a:solidFill>
              </a:rPr>
              <a:t>Bandwidth and Signal Frequency</a:t>
            </a:r>
            <a:endParaRPr lang="en-IN" sz="3200" dirty="0">
              <a:solidFill>
                <a:srgbClr val="0070C0"/>
              </a:solidFill>
            </a:endParaRPr>
          </a:p>
        </p:txBody>
      </p:sp>
      <p:sp>
        <p:nvSpPr>
          <p:cNvPr id="8" name="TextBox 7">
            <a:extLst>
              <a:ext uri="{FF2B5EF4-FFF2-40B4-BE49-F238E27FC236}">
                <a16:creationId xmlns:a16="http://schemas.microsoft.com/office/drawing/2014/main" id="{844AD9E2-4EFF-1EDF-6B6D-25A8A849D025}"/>
              </a:ext>
            </a:extLst>
          </p:cNvPr>
          <p:cNvSpPr txBox="1"/>
          <p:nvPr/>
        </p:nvSpPr>
        <p:spPr>
          <a:xfrm>
            <a:off x="194310" y="985390"/>
            <a:ext cx="11616690" cy="830997"/>
          </a:xfrm>
          <a:prstGeom prst="rect">
            <a:avLst/>
          </a:prstGeom>
          <a:noFill/>
        </p:spPr>
        <p:txBody>
          <a:bodyPr wrap="square">
            <a:spAutoFit/>
          </a:bodyPr>
          <a:lstStyle/>
          <a:p>
            <a:pPr eaLnBrk="1" hangingPunct="1"/>
            <a:r>
              <a:rPr lang="en-US" altLang="en-US" sz="2400" dirty="0">
                <a:latin typeface="Times New Roman" panose="02020603050405020304" pitchFamily="18" charset="0"/>
                <a:cs typeface="Times New Roman" panose="02020603050405020304" pitchFamily="18" charset="0"/>
              </a:rPr>
              <a:t>The </a:t>
            </a:r>
            <a:r>
              <a:rPr lang="en-US" altLang="en-US" sz="2400" dirty="0">
                <a:solidFill>
                  <a:srgbClr val="FF0000"/>
                </a:solidFill>
                <a:latin typeface="Times New Roman" panose="02020603050405020304" pitchFamily="18" charset="0"/>
                <a:cs typeface="Times New Roman" panose="02020603050405020304" pitchFamily="18" charset="0"/>
              </a:rPr>
              <a:t>bandwidth</a:t>
            </a:r>
            <a:r>
              <a:rPr lang="en-US" altLang="en-US" sz="2400" dirty="0">
                <a:latin typeface="Times New Roman" panose="02020603050405020304" pitchFamily="18" charset="0"/>
                <a:cs typeface="Times New Roman" panose="02020603050405020304" pitchFamily="18" charset="0"/>
              </a:rPr>
              <a:t> of a composite signal is the </a:t>
            </a:r>
            <a:r>
              <a:rPr lang="en-US" altLang="en-US" sz="2400" dirty="0">
                <a:solidFill>
                  <a:srgbClr val="FF0000"/>
                </a:solidFill>
                <a:latin typeface="Times New Roman" panose="02020603050405020304" pitchFamily="18" charset="0"/>
                <a:cs typeface="Times New Roman" panose="02020603050405020304" pitchFamily="18" charset="0"/>
              </a:rPr>
              <a:t>difference</a:t>
            </a:r>
            <a:r>
              <a:rPr lang="en-US" altLang="en-US" sz="2400" dirty="0">
                <a:latin typeface="Times New Roman" panose="02020603050405020304" pitchFamily="18" charset="0"/>
                <a:cs typeface="Times New Roman" panose="02020603050405020304" pitchFamily="18" charset="0"/>
              </a:rPr>
              <a:t> between the </a:t>
            </a:r>
            <a:r>
              <a:rPr lang="en-US" altLang="en-US" sz="2400" dirty="0">
                <a:solidFill>
                  <a:srgbClr val="FF0000"/>
                </a:solidFill>
                <a:latin typeface="Times New Roman" panose="02020603050405020304" pitchFamily="18" charset="0"/>
                <a:cs typeface="Times New Roman" panose="02020603050405020304" pitchFamily="18" charset="0"/>
              </a:rPr>
              <a:t>highest </a:t>
            </a:r>
            <a:r>
              <a:rPr lang="en-US" altLang="en-US" sz="2400" dirty="0">
                <a:latin typeface="Times New Roman" panose="02020603050405020304" pitchFamily="18" charset="0"/>
                <a:cs typeface="Times New Roman" panose="02020603050405020304" pitchFamily="18" charset="0"/>
              </a:rPr>
              <a:t>and the </a:t>
            </a:r>
            <a:r>
              <a:rPr lang="en-US" altLang="en-US" sz="2400" dirty="0">
                <a:solidFill>
                  <a:srgbClr val="FF0000"/>
                </a:solidFill>
                <a:latin typeface="Times New Roman" panose="02020603050405020304" pitchFamily="18" charset="0"/>
                <a:cs typeface="Times New Roman" panose="02020603050405020304" pitchFamily="18" charset="0"/>
              </a:rPr>
              <a:t>lowest frequencies </a:t>
            </a:r>
            <a:r>
              <a:rPr lang="en-US" altLang="en-US" sz="2400" dirty="0">
                <a:latin typeface="Times New Roman" panose="02020603050405020304" pitchFamily="18" charset="0"/>
                <a:cs typeface="Times New Roman" panose="02020603050405020304" pitchFamily="18" charset="0"/>
              </a:rPr>
              <a:t>contained in that signal.</a:t>
            </a:r>
          </a:p>
        </p:txBody>
      </p:sp>
      <p:pic>
        <p:nvPicPr>
          <p:cNvPr id="9" name="Picture 6">
            <a:extLst>
              <a:ext uri="{FF2B5EF4-FFF2-40B4-BE49-F238E27FC236}">
                <a16:creationId xmlns:a16="http://schemas.microsoft.com/office/drawing/2014/main" id="{2495FA93-6738-DF05-7CE2-FF60E1374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640" y="1752600"/>
            <a:ext cx="61150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3762B1EC-9301-F20E-7F34-F72D845D960B}"/>
              </a:ext>
            </a:extLst>
          </p:cNvPr>
          <p:cNvSpPr txBox="1"/>
          <p:nvPr/>
        </p:nvSpPr>
        <p:spPr>
          <a:xfrm>
            <a:off x="228600" y="2286000"/>
            <a:ext cx="5486400" cy="2677656"/>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bandwidth of the </a:t>
            </a:r>
            <a:r>
              <a:rPr lang="en-US" sz="2400" b="1" dirty="0">
                <a:latin typeface="Times New Roman" panose="02020603050405020304" pitchFamily="18" charset="0"/>
                <a:cs typeface="Times New Roman" panose="02020603050405020304" pitchFamily="18" charset="0"/>
              </a:rPr>
              <a:t>periodic signal </a:t>
            </a:r>
            <a:r>
              <a:rPr lang="en-US" sz="2400" dirty="0">
                <a:latin typeface="Times New Roman" panose="02020603050405020304" pitchFamily="18" charset="0"/>
                <a:cs typeface="Times New Roman" panose="02020603050405020304" pitchFamily="18" charset="0"/>
              </a:rPr>
              <a:t>contains all </a:t>
            </a:r>
            <a:r>
              <a:rPr lang="en-US" sz="2400" b="1" dirty="0">
                <a:latin typeface="Times New Roman" panose="02020603050405020304" pitchFamily="18" charset="0"/>
                <a:cs typeface="Times New Roman" panose="02020603050405020304" pitchFamily="18" charset="0"/>
              </a:rPr>
              <a:t>integer frequencies </a:t>
            </a:r>
            <a:r>
              <a:rPr lang="en-US" sz="2400" dirty="0">
                <a:latin typeface="Times New Roman" panose="02020603050405020304" pitchFamily="18" charset="0"/>
                <a:cs typeface="Times New Roman" panose="02020603050405020304" pitchFamily="18" charset="0"/>
              </a:rPr>
              <a:t>between 1000 and 5000 (1000, 1001, 1002, . . .).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bandwidth of the </a:t>
            </a:r>
            <a:r>
              <a:rPr lang="en-US" sz="2400" b="1" dirty="0">
                <a:latin typeface="Times New Roman" panose="02020603050405020304" pitchFamily="18" charset="0"/>
                <a:cs typeface="Times New Roman" panose="02020603050405020304" pitchFamily="18" charset="0"/>
              </a:rPr>
              <a:t>nonperiodic signals </a:t>
            </a:r>
            <a:r>
              <a:rPr lang="en-US" sz="2400" dirty="0">
                <a:latin typeface="Times New Roman" panose="02020603050405020304" pitchFamily="18" charset="0"/>
                <a:cs typeface="Times New Roman" panose="02020603050405020304" pitchFamily="18" charset="0"/>
              </a:rPr>
              <a:t>has the same range, but the frequencies are </a:t>
            </a:r>
            <a:r>
              <a:rPr lang="en-US" sz="2400" b="1" dirty="0">
                <a:latin typeface="Times New Roman" panose="02020603050405020304" pitchFamily="18" charset="0"/>
                <a:cs typeface="Times New Roman" panose="02020603050405020304" pitchFamily="18" charset="0"/>
              </a:rPr>
              <a:t>continuous</a:t>
            </a:r>
            <a:r>
              <a:rPr lang="en-US" sz="2400" dirty="0">
                <a:latin typeface="Times New Roman" panose="02020603050405020304" pitchFamily="18" charset="0"/>
                <a:cs typeface="Times New Roman" panose="02020603050405020304" pitchFamily="18" charset="0"/>
              </a:rPr>
              <a:t>.</a:t>
            </a:r>
            <a:endParaRPr lang="en-US" sz="24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9387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9B3B3EAA-308E-17A3-08A2-99CEBDE41E41}"/>
              </a:ext>
            </a:extLst>
          </p:cNvPr>
          <p:cNvSpPr>
            <a:spLocks noChangeArrowheads="1"/>
          </p:cNvSpPr>
          <p:nvPr/>
        </p:nvSpPr>
        <p:spPr bwMode="auto">
          <a:xfrm>
            <a:off x="457200" y="347662"/>
            <a:ext cx="108204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dirty="0">
                <a:solidFill>
                  <a:srgbClr val="FF0000"/>
                </a:solidFill>
              </a:rPr>
              <a:t>If a periodic signal is decomposed into five sine waves with frequencies of 100, 300, 500, 700, and 900 Hz, what is its bandwidth? Draw the spectrum, assuming all components have a maximum amplitude of 10 V.</a:t>
            </a:r>
          </a:p>
          <a:p>
            <a:pPr algn="just"/>
            <a:endParaRPr lang="en-US" altLang="en-US" baseline="0" dirty="0">
              <a:solidFill>
                <a:schemeClr val="hlink"/>
              </a:solidFill>
            </a:endParaRPr>
          </a:p>
          <a:p>
            <a:pPr algn="just"/>
            <a:r>
              <a:rPr lang="en-US" altLang="en-US" baseline="0" dirty="0">
                <a:solidFill>
                  <a:schemeClr val="hlink"/>
                </a:solidFill>
              </a:rPr>
              <a:t>Solution</a:t>
            </a:r>
          </a:p>
          <a:p>
            <a:pPr algn="just"/>
            <a:r>
              <a:rPr lang="en-US" altLang="en-US" baseline="0" dirty="0"/>
              <a:t>Let </a:t>
            </a:r>
            <a:r>
              <a:rPr lang="en-US" altLang="en-US" baseline="0" dirty="0" err="1">
                <a:solidFill>
                  <a:schemeClr val="hlink"/>
                </a:solidFill>
              </a:rPr>
              <a:t>f</a:t>
            </a:r>
            <a:r>
              <a:rPr lang="en-US" altLang="en-US" baseline="-14000" dirty="0" err="1">
                <a:solidFill>
                  <a:schemeClr val="hlink"/>
                </a:solidFill>
              </a:rPr>
              <a:t>h</a:t>
            </a:r>
            <a:r>
              <a:rPr lang="en-US" altLang="en-US" baseline="0" dirty="0"/>
              <a:t> be the highest frequency, </a:t>
            </a:r>
            <a:r>
              <a:rPr lang="en-US" altLang="en-US" baseline="0" dirty="0" err="1">
                <a:solidFill>
                  <a:schemeClr val="hlink"/>
                </a:solidFill>
              </a:rPr>
              <a:t>f</a:t>
            </a:r>
            <a:r>
              <a:rPr lang="en-US" altLang="en-US" baseline="-14000" dirty="0" err="1">
                <a:solidFill>
                  <a:schemeClr val="hlink"/>
                </a:solidFill>
              </a:rPr>
              <a:t>l</a:t>
            </a:r>
            <a:r>
              <a:rPr lang="en-US" altLang="en-US" baseline="0" dirty="0"/>
              <a:t> the lowest frequency, and </a:t>
            </a:r>
            <a:r>
              <a:rPr lang="en-US" altLang="en-US" baseline="0" dirty="0">
                <a:solidFill>
                  <a:schemeClr val="hlink"/>
                </a:solidFill>
              </a:rPr>
              <a:t>B</a:t>
            </a:r>
            <a:r>
              <a:rPr lang="en-US" altLang="en-US" baseline="0" dirty="0"/>
              <a:t> the bandwidth. Then</a:t>
            </a:r>
          </a:p>
        </p:txBody>
      </p:sp>
      <p:pic>
        <p:nvPicPr>
          <p:cNvPr id="6" name="Picture 14">
            <a:extLst>
              <a:ext uri="{FF2B5EF4-FFF2-40B4-BE49-F238E27FC236}">
                <a16:creationId xmlns:a16="http://schemas.microsoft.com/office/drawing/2014/main" id="{7A8DC8F0-F0E3-2EC8-9728-F853045A6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557596"/>
            <a:ext cx="3751262" cy="458788"/>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15">
            <a:extLst>
              <a:ext uri="{FF2B5EF4-FFF2-40B4-BE49-F238E27FC236}">
                <a16:creationId xmlns:a16="http://schemas.microsoft.com/office/drawing/2014/main" id="{60B0D5B8-FC56-D006-78C9-5F8908FAC656}"/>
              </a:ext>
            </a:extLst>
          </p:cNvPr>
          <p:cNvSpPr>
            <a:spLocks noChangeArrowheads="1"/>
          </p:cNvSpPr>
          <p:nvPr/>
        </p:nvSpPr>
        <p:spPr bwMode="auto">
          <a:xfrm>
            <a:off x="457200" y="4462462"/>
            <a:ext cx="4495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dirty="0"/>
              <a:t>The spectrum has only five spikes, at 100, 300, 500, 700, and 900 Hz</a:t>
            </a:r>
          </a:p>
        </p:txBody>
      </p:sp>
      <p:pic>
        <p:nvPicPr>
          <p:cNvPr id="8" name="Picture 6">
            <a:extLst>
              <a:ext uri="{FF2B5EF4-FFF2-40B4-BE49-F238E27FC236}">
                <a16:creationId xmlns:a16="http://schemas.microsoft.com/office/drawing/2014/main" id="{C5B0C9BA-7A6B-3C6C-7448-FC7B2D24F9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402" y="3886200"/>
            <a:ext cx="6929438"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80278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8868-91A4-EA58-1725-1FCD299E62C4}"/>
              </a:ext>
            </a:extLst>
          </p:cNvPr>
          <p:cNvSpPr>
            <a:spLocks noGrp="1"/>
          </p:cNvSpPr>
          <p:nvPr>
            <p:ph type="title"/>
          </p:nvPr>
        </p:nvSpPr>
        <p:spPr>
          <a:xfrm>
            <a:off x="4267200" y="0"/>
            <a:ext cx="3124200" cy="762000"/>
          </a:xfrm>
        </p:spPr>
        <p:txBody>
          <a:bodyPr/>
          <a:lstStyle/>
          <a:p>
            <a:r>
              <a:rPr lang="en-US" b="1" dirty="0">
                <a:solidFill>
                  <a:srgbClr val="0033CC"/>
                </a:solidFill>
              </a:rPr>
              <a:t>Digital Signal</a:t>
            </a:r>
            <a:endParaRPr lang="en-IN" b="1" dirty="0">
              <a:solidFill>
                <a:srgbClr val="0033CC"/>
              </a:solidFill>
            </a:endParaRPr>
          </a:p>
        </p:txBody>
      </p:sp>
      <p:sp>
        <p:nvSpPr>
          <p:cNvPr id="4" name="Slide Number Placeholder 3">
            <a:extLst>
              <a:ext uri="{FF2B5EF4-FFF2-40B4-BE49-F238E27FC236}">
                <a16:creationId xmlns:a16="http://schemas.microsoft.com/office/drawing/2014/main" id="{E7A12473-A74B-82C5-B532-CC47D4AFFF88}"/>
              </a:ext>
            </a:extLst>
          </p:cNvPr>
          <p:cNvSpPr>
            <a:spLocks noGrp="1"/>
          </p:cNvSpPr>
          <p:nvPr>
            <p:ph type="sldNum" sz="quarter" idx="12"/>
          </p:nvPr>
        </p:nvSpPr>
        <p:spPr/>
        <p:txBody>
          <a:bodyPr/>
          <a:lstStyle/>
          <a:p>
            <a:pPr>
              <a:defRPr/>
            </a:pPr>
            <a:r>
              <a:rPr lang="en-US" altLang="en-US"/>
              <a:t>1.</a:t>
            </a:r>
            <a:fld id="{02B82DCB-B3A4-48AA-BF22-24BB65F3C522}" type="slidenum">
              <a:rPr lang="en-US" altLang="en-US" smtClean="0"/>
              <a:pPr>
                <a:defRPr/>
              </a:pPr>
              <a:t>69</a:t>
            </a:fld>
            <a:endParaRPr lang="en-US" altLang="en-US"/>
          </a:p>
        </p:txBody>
      </p:sp>
      <p:sp>
        <p:nvSpPr>
          <p:cNvPr id="5" name="Rectangle 5">
            <a:extLst>
              <a:ext uri="{FF2B5EF4-FFF2-40B4-BE49-F238E27FC236}">
                <a16:creationId xmlns:a16="http://schemas.microsoft.com/office/drawing/2014/main" id="{EFC3787F-8F2A-BAF1-8EA6-C09795BF3B6B}"/>
              </a:ext>
            </a:extLst>
          </p:cNvPr>
          <p:cNvSpPr>
            <a:spLocks noChangeArrowheads="1"/>
          </p:cNvSpPr>
          <p:nvPr/>
        </p:nvSpPr>
        <p:spPr bwMode="auto">
          <a:xfrm>
            <a:off x="110808" y="809416"/>
            <a:ext cx="110905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defRPr/>
            </a:pPr>
            <a:r>
              <a:rPr lang="en-US" sz="2400" dirty="0">
                <a:solidFill>
                  <a:srgbClr val="7030A0"/>
                </a:solidFill>
                <a:latin typeface="Times New Roman" panose="02020603050405020304" pitchFamily="18" charset="0"/>
                <a:cs typeface="Times New Roman" panose="02020603050405020304" pitchFamily="18" charset="0"/>
              </a:rPr>
              <a:t>A </a:t>
            </a:r>
            <a:r>
              <a:rPr lang="en-US" sz="2400" b="1" dirty="0">
                <a:solidFill>
                  <a:srgbClr val="7030A0"/>
                </a:solidFill>
                <a:latin typeface="Times New Roman" panose="02020603050405020304" pitchFamily="18" charset="0"/>
                <a:cs typeface="Times New Roman" panose="02020603050405020304" pitchFamily="18" charset="0"/>
              </a:rPr>
              <a:t>digital signal</a:t>
            </a:r>
            <a:r>
              <a:rPr lang="en-US" sz="2400" dirty="0">
                <a:solidFill>
                  <a:srgbClr val="7030A0"/>
                </a:solidFill>
                <a:latin typeface="Times New Roman" panose="02020603050405020304" pitchFamily="18" charset="0"/>
                <a:cs typeface="Times New Roman" panose="02020603050405020304" pitchFamily="18" charset="0"/>
              </a:rPr>
              <a:t> is a signal that represents data as a sequence of </a:t>
            </a:r>
            <a:r>
              <a:rPr lang="en-US" sz="2400" dirty="0">
                <a:solidFill>
                  <a:srgbClr val="7030A0"/>
                </a:solidFill>
                <a:latin typeface="Times New Roman" panose="02020603050405020304" pitchFamily="18" charset="0"/>
                <a:cs typeface="Times New Roman" panose="02020603050405020304" pitchFamily="18" charset="0"/>
                <a:hlinkClick r:id="rId2" tooltip="Discrete variable">
                  <a:extLst>
                    <a:ext uri="{A12FA001-AC4F-418D-AE19-62706E023703}">
                      <ahyp:hlinkClr xmlns:ahyp="http://schemas.microsoft.com/office/drawing/2018/hyperlinkcolor" val="tx"/>
                    </a:ext>
                  </a:extLst>
                </a:hlinkClick>
              </a:rPr>
              <a:t>discrete</a:t>
            </a:r>
            <a:r>
              <a:rPr lang="en-US" sz="2400" dirty="0">
                <a:solidFill>
                  <a:srgbClr val="7030A0"/>
                </a:solidFill>
                <a:latin typeface="Times New Roman" panose="02020603050405020304" pitchFamily="18" charset="0"/>
                <a:cs typeface="Times New Roman" panose="02020603050405020304" pitchFamily="18" charset="0"/>
              </a:rPr>
              <a:t> values; at any given time.</a:t>
            </a:r>
            <a:endParaRPr lang="en-US" altLang="en-US" sz="2400" baseline="0" dirty="0">
              <a:solidFill>
                <a:srgbClr val="7030A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pic>
        <p:nvPicPr>
          <p:cNvPr id="6" name="Picture 7">
            <a:extLst>
              <a:ext uri="{FF2B5EF4-FFF2-40B4-BE49-F238E27FC236}">
                <a16:creationId xmlns:a16="http://schemas.microsoft.com/office/drawing/2014/main" id="{90BABB2C-473B-8C5C-D362-B36096286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5520" y="1657350"/>
            <a:ext cx="5703888" cy="506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6EFA9218-929F-4613-8D70-A07E0787F184}"/>
              </a:ext>
            </a:extLst>
          </p:cNvPr>
          <p:cNvSpPr txBox="1"/>
          <p:nvPr/>
        </p:nvSpPr>
        <p:spPr>
          <a:xfrm>
            <a:off x="35560" y="1946755"/>
            <a:ext cx="6096000" cy="3970318"/>
          </a:xfrm>
          <a:prstGeom prst="rect">
            <a:avLst/>
          </a:prstGeom>
          <a:noFill/>
        </p:spPr>
        <p:txBody>
          <a:bodyPr wrap="square">
            <a:spAutoFit/>
          </a:bodyPr>
          <a:lstStyle/>
          <a:p>
            <a:pPr marL="457200" indent="-457200">
              <a:buFont typeface="Wingdings" panose="05000000000000000000" pitchFamily="2" charset="2"/>
              <a:buChar char="ü"/>
            </a:pPr>
            <a:r>
              <a:rPr lang="en-US"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For example, a 1 can be encoded as a positive voltage and a 0 as zero voltage. </a:t>
            </a:r>
          </a:p>
          <a:p>
            <a:pPr marL="457200" indent="-457200">
              <a:buFont typeface="Wingdings" panose="05000000000000000000" pitchFamily="2" charset="2"/>
              <a:buChar char="ü"/>
            </a:pPr>
            <a:r>
              <a:rPr lang="en-US"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 digital signal can have more than two levels. In this case, we can send more than 1 bit for each level. </a:t>
            </a:r>
          </a:p>
          <a:p>
            <a:pPr marL="457200" indent="-457200">
              <a:buFont typeface="Wingdings" panose="05000000000000000000" pitchFamily="2" charset="2"/>
              <a:buChar char="ü"/>
            </a:pPr>
            <a:r>
              <a:rPr lang="en-US" altLang="en-US" sz="2800" baseline="0" dirty="0">
                <a:solidFill>
                  <a:srgbClr val="FF0000"/>
                </a:solidFill>
                <a:latin typeface="Times New Roman" panose="02020603050405020304" pitchFamily="18" charset="0"/>
                <a:cs typeface="Times New Roman" panose="02020603050405020304" pitchFamily="18" charset="0"/>
              </a:rPr>
              <a:t>Two digital signals: one with two signal levels and the other</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baseline="0" dirty="0">
                <a:solidFill>
                  <a:srgbClr val="FF0000"/>
                </a:solidFill>
                <a:latin typeface="Times New Roman" panose="02020603050405020304" pitchFamily="18" charset="0"/>
                <a:cs typeface="Times New Roman" panose="02020603050405020304" pitchFamily="18" charset="0"/>
              </a:rPr>
              <a:t>with four signal levels</a:t>
            </a:r>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53062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342471" y="265840"/>
            <a:ext cx="8559209" cy="585628"/>
          </a:xfrm>
        </p:spPr>
        <p:txBody>
          <a:bodyPr>
            <a:normAutofit fontScale="90000"/>
          </a:bodyPr>
          <a:lstStyle/>
          <a:p>
            <a:r>
              <a:rPr lang="en-US" b="1" dirty="0">
                <a:solidFill>
                  <a:schemeClr val="accent1"/>
                </a:solidFill>
                <a:latin typeface="Times-Bold"/>
              </a:rPr>
              <a:t>D</a:t>
            </a:r>
            <a:r>
              <a:rPr lang="en-IN" b="1" dirty="0" err="1">
                <a:solidFill>
                  <a:schemeClr val="accent1"/>
                </a:solidFill>
                <a:latin typeface="Times-Bold"/>
              </a:rPr>
              <a:t>ata</a:t>
            </a:r>
            <a:r>
              <a:rPr lang="en-IN" b="1" dirty="0">
                <a:solidFill>
                  <a:schemeClr val="accent1"/>
                </a:solidFill>
                <a:latin typeface="Times-Bold"/>
              </a:rPr>
              <a:t> Rate Limits</a:t>
            </a:r>
            <a:endParaRPr lang="en-IN" dirty="0">
              <a:solidFill>
                <a:schemeClr val="accent1"/>
              </a:solidFill>
            </a:endParaRPr>
          </a:p>
        </p:txBody>
      </p:sp>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5BEBE65A-F824-710E-5988-CD351E145ADB}"/>
                  </a:ext>
                </a:extLst>
              </p:cNvPr>
              <p:cNvSpPr txBox="1">
                <a:spLocks/>
              </p:cNvSpPr>
              <p:nvPr/>
            </p:nvSpPr>
            <p:spPr>
              <a:xfrm>
                <a:off x="609600" y="5106318"/>
                <a:ext cx="10808413" cy="10319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Where </a:t>
                </a:r>
                <a14:m>
                  <m:oMath xmlns:m="http://schemas.openxmlformats.org/officeDocument/2006/math">
                    <m:r>
                      <a:rPr lang="en-US" i="1" dirty="0" smtClean="0">
                        <a:latin typeface="Cambria Math" panose="02040503050406030204" pitchFamily="18" charset="0"/>
                        <a:cs typeface="Times New Roman" panose="02020603050405020304" pitchFamily="18" charset="0"/>
                      </a:rPr>
                      <m:t>𝐿</m:t>
                    </m:r>
                  </m:oMath>
                </a14:m>
                <a:r>
                  <a:rPr lang="en-US" dirty="0">
                    <a:latin typeface="Times New Roman" panose="02020603050405020304" pitchFamily="18" charset="0"/>
                    <a:cs typeface="Times New Roman" panose="02020603050405020304" pitchFamily="18" charset="0"/>
                  </a:rPr>
                  <a:t> is the number of signal levels used to represent data.</a:t>
                </a:r>
              </a:p>
              <a:p>
                <a:pPr marL="0" indent="0">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mc:Choice>
        <mc:Fallback xmlns="">
          <p:sp>
            <p:nvSpPr>
              <p:cNvPr id="8" name="Content Placeholder 3">
                <a:extLst>
                  <a:ext uri="{FF2B5EF4-FFF2-40B4-BE49-F238E27FC236}">
                    <a16:creationId xmlns:a16="http://schemas.microsoft.com/office/drawing/2014/main" id="{5BEBE65A-F824-710E-5988-CD351E145ADB}"/>
                  </a:ext>
                </a:extLst>
              </p:cNvPr>
              <p:cNvSpPr txBox="1">
                <a:spLocks noRot="1" noChangeAspect="1" noMove="1" noResize="1" noEditPoints="1" noAdjustHandles="1" noChangeArrowheads="1" noChangeShapeType="1" noTextEdit="1"/>
              </p:cNvSpPr>
              <p:nvPr/>
            </p:nvSpPr>
            <p:spPr>
              <a:xfrm>
                <a:off x="609600" y="5106318"/>
                <a:ext cx="10808413" cy="1031968"/>
              </a:xfrm>
              <a:prstGeom prst="rect">
                <a:avLst/>
              </a:prstGeom>
              <a:blipFill>
                <a:blip r:embed="rId2"/>
                <a:stretch>
                  <a:fillRect l="-1015" t="-106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D9C8DD4-5308-16B2-14AD-B61B8E13454E}"/>
                  </a:ext>
                </a:extLst>
              </p:cNvPr>
              <p:cNvSpPr txBox="1"/>
              <p:nvPr/>
            </p:nvSpPr>
            <p:spPr>
              <a:xfrm>
                <a:off x="1295400" y="4343400"/>
                <a:ext cx="7978139" cy="461665"/>
              </a:xfrm>
              <a:prstGeom prst="rect">
                <a:avLst/>
              </a:prstGeom>
              <a:noFill/>
            </p:spPr>
            <p:txBody>
              <a:bodyPr wrap="square">
                <a:spAutoFit/>
              </a:body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400" b="1" i="1" smtClean="0">
                          <a:solidFill>
                            <a:srgbClr val="FF0000"/>
                          </a:solidFill>
                          <a:latin typeface="Cambria Math" panose="02040503050406030204" pitchFamily="18" charset="0"/>
                          <a:cs typeface="Times New Roman" panose="02020603050405020304" pitchFamily="18" charset="0"/>
                        </a:rPr>
                        <m:t>𝑩𝒊𝒕</m:t>
                      </m:r>
                      <m:r>
                        <a:rPr lang="en-US" sz="2400" b="1" i="1" smtClean="0">
                          <a:solidFill>
                            <a:srgbClr val="FF0000"/>
                          </a:solidFill>
                          <a:latin typeface="Cambria Math" panose="02040503050406030204" pitchFamily="18" charset="0"/>
                          <a:cs typeface="Times New Roman" panose="02020603050405020304" pitchFamily="18" charset="0"/>
                        </a:rPr>
                        <m:t> </m:t>
                      </m:r>
                      <m:r>
                        <a:rPr lang="en-US" sz="2400" b="1" i="1" smtClean="0">
                          <a:solidFill>
                            <a:srgbClr val="FF0000"/>
                          </a:solidFill>
                          <a:latin typeface="Cambria Math" panose="02040503050406030204" pitchFamily="18" charset="0"/>
                          <a:cs typeface="Times New Roman" panose="02020603050405020304" pitchFamily="18" charset="0"/>
                        </a:rPr>
                        <m:t>𝑹𝒂𝒕𝒆</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𝟐</m:t>
                      </m:r>
                      <m:r>
                        <a:rPr lang="en-US" sz="2400" b="1" i="1" smtClean="0">
                          <a:solidFill>
                            <a:srgbClr val="FF0000"/>
                          </a:solidFill>
                          <a:latin typeface="Cambria Math" panose="02040503050406030204" pitchFamily="18" charset="0"/>
                          <a:cs typeface="Times New Roman" panose="02020603050405020304" pitchFamily="18" charset="0"/>
                        </a:rPr>
                        <m:t> ×</m:t>
                      </m:r>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𝑪𝒉𝒂𝒏𝒏𝒆𝒍</m:t>
                      </m:r>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𝑩𝒂𝒏𝒅𝒘𝒊𝒅𝒕𝒉</m:t>
                      </m:r>
                      <m:r>
                        <a:rPr lang="en-US" sz="2400"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𝒍𝒐𝒈</m:t>
                          </m:r>
                        </m:e>
                        <m:sub>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US"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𝑳</m:t>
                      </m:r>
                    </m:oMath>
                  </m:oMathPara>
                </a14:m>
                <a:endParaRPr lang="en-US" sz="2400" b="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7D9C8DD4-5308-16B2-14AD-B61B8E13454E}"/>
                  </a:ext>
                </a:extLst>
              </p:cNvPr>
              <p:cNvSpPr txBox="1">
                <a:spLocks noRot="1" noChangeAspect="1" noMove="1" noResize="1" noEditPoints="1" noAdjustHandles="1" noChangeArrowheads="1" noChangeShapeType="1" noTextEdit="1"/>
              </p:cNvSpPr>
              <p:nvPr/>
            </p:nvSpPr>
            <p:spPr>
              <a:xfrm>
                <a:off x="1295400" y="4343400"/>
                <a:ext cx="7978139" cy="461665"/>
              </a:xfrm>
              <a:prstGeom prst="rect">
                <a:avLst/>
              </a:prstGeom>
              <a:blipFill>
                <a:blip r:embed="rId3"/>
                <a:stretch>
                  <a:fillRect b="-20000"/>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A4A752B4-14EA-9230-BAFD-4F5FAA320275}"/>
              </a:ext>
            </a:extLst>
          </p:cNvPr>
          <p:cNvSpPr txBox="1"/>
          <p:nvPr/>
        </p:nvSpPr>
        <p:spPr>
          <a:xfrm>
            <a:off x="609600" y="836228"/>
            <a:ext cx="10591800" cy="2585323"/>
          </a:xfrm>
          <a:prstGeom prst="rect">
            <a:avLst/>
          </a:prstGeom>
          <a:noFill/>
        </p:spPr>
        <p:txBody>
          <a:bodyPr wrap="square">
            <a:spAutoFit/>
          </a:bodyPr>
          <a:lstStyle/>
          <a:p>
            <a:r>
              <a:rPr lang="en-US" sz="2400" b="0" i="0" dirty="0">
                <a:solidFill>
                  <a:srgbClr val="242021"/>
                </a:solidFill>
                <a:effectLst/>
                <a:latin typeface="Times New Roman" panose="02020603050405020304" pitchFamily="18" charset="0"/>
                <a:cs typeface="Times New Roman" panose="02020603050405020304" pitchFamily="18" charset="0"/>
              </a:rPr>
              <a:t>Data rate </a:t>
            </a:r>
            <a:r>
              <a:rPr lang="en-US" sz="2400" dirty="0">
                <a:solidFill>
                  <a:srgbClr val="242021"/>
                </a:solidFill>
                <a:latin typeface="Times New Roman" panose="02020603050405020304" pitchFamily="18" charset="0"/>
                <a:cs typeface="Times New Roman" panose="02020603050405020304" pitchFamily="18" charset="0"/>
              </a:rPr>
              <a:t>limit means </a:t>
            </a:r>
            <a:r>
              <a:rPr lang="en-US" sz="2400" b="0" i="0" dirty="0">
                <a:solidFill>
                  <a:srgbClr val="242021"/>
                </a:solidFill>
                <a:effectLst/>
                <a:latin typeface="Times New Roman" panose="02020603050405020304" pitchFamily="18" charset="0"/>
                <a:cs typeface="Times New Roman" panose="02020603050405020304" pitchFamily="18" charset="0"/>
              </a:rPr>
              <a:t>how fast we can send data in bits per second, over a channel. </a:t>
            </a:r>
          </a:p>
          <a:p>
            <a:endParaRPr lang="en-US" sz="2400" dirty="0">
              <a:solidFill>
                <a:srgbClr val="242021"/>
              </a:solidFill>
              <a:latin typeface="Times New Roman" panose="02020603050405020304" pitchFamily="18" charset="0"/>
              <a:cs typeface="Times New Roman" panose="02020603050405020304" pitchFamily="18" charset="0"/>
            </a:endParaRPr>
          </a:p>
          <a:p>
            <a:r>
              <a:rPr lang="en-US" sz="2400" b="0" i="0" dirty="0">
                <a:solidFill>
                  <a:srgbClr val="242021"/>
                </a:solidFill>
                <a:effectLst/>
                <a:latin typeface="Times New Roman" panose="02020603050405020304" pitchFamily="18" charset="0"/>
                <a:cs typeface="Times New Roman" panose="02020603050405020304" pitchFamily="18" charset="0"/>
              </a:rPr>
              <a:t>Data rate depends on three factors:</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              - bandwidth available</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              - level of the signals we use</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              - quality of the channel (the level of noise)</a:t>
            </a:r>
            <a:r>
              <a:rPr lang="en-US" sz="2400" dirty="0">
                <a:latin typeface="Times New Roman" panose="02020603050405020304" pitchFamily="18" charset="0"/>
                <a:cs typeface="Times New Roman" panose="02020603050405020304" pitchFamily="18" charset="0"/>
              </a:rPr>
              <a:t> </a:t>
            </a:r>
            <a:br>
              <a:rPr lang="en-US" dirty="0"/>
            </a:br>
            <a:endParaRPr lang="en-IN" dirty="0"/>
          </a:p>
        </p:txBody>
      </p:sp>
      <p:sp>
        <p:nvSpPr>
          <p:cNvPr id="10" name="TextBox 9">
            <a:extLst>
              <a:ext uri="{FF2B5EF4-FFF2-40B4-BE49-F238E27FC236}">
                <a16:creationId xmlns:a16="http://schemas.microsoft.com/office/drawing/2014/main" id="{B0EE7FEE-16E6-7817-383B-A9172F59688C}"/>
              </a:ext>
            </a:extLst>
          </p:cNvPr>
          <p:cNvSpPr txBox="1"/>
          <p:nvPr/>
        </p:nvSpPr>
        <p:spPr>
          <a:xfrm>
            <a:off x="372951" y="3753284"/>
            <a:ext cx="6096000" cy="523220"/>
          </a:xfrm>
          <a:prstGeom prst="rect">
            <a:avLst/>
          </a:prstGeom>
          <a:noFill/>
        </p:spPr>
        <p:txBody>
          <a:bodyPr wrap="square">
            <a:spAutoFit/>
          </a:bodyPr>
          <a:lstStyle/>
          <a:p>
            <a:pPr marL="0" indent="0">
              <a:buNone/>
            </a:pPr>
            <a:r>
              <a:rPr lang="en-US" sz="2800" b="1" dirty="0">
                <a:solidFill>
                  <a:srgbClr val="00B050"/>
                </a:solidFill>
                <a:latin typeface="Times New Roman" panose="02020603050405020304" pitchFamily="18" charset="0"/>
                <a:cs typeface="Times New Roman" panose="02020603050405020304" pitchFamily="18" charset="0"/>
              </a:rPr>
              <a:t>Noiseless Channel: Nyquist Bit Rate</a:t>
            </a:r>
            <a:endParaRPr lang="en-IN" sz="28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5773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609600" y="120292"/>
            <a:ext cx="8559209" cy="585628"/>
          </a:xfrm>
        </p:spPr>
        <p:txBody>
          <a:bodyPr>
            <a:normAutofit fontScale="90000"/>
          </a:bodyPr>
          <a:lstStyle/>
          <a:p>
            <a:r>
              <a:rPr lang="en-US" b="1" dirty="0">
                <a:solidFill>
                  <a:schemeClr val="accent1"/>
                </a:solidFill>
                <a:latin typeface="Times-Bold"/>
              </a:rPr>
              <a:t>D</a:t>
            </a:r>
            <a:r>
              <a:rPr lang="en-IN" b="1" dirty="0" err="1">
                <a:solidFill>
                  <a:schemeClr val="accent1"/>
                </a:solidFill>
                <a:latin typeface="Times-Bold"/>
              </a:rPr>
              <a:t>ata</a:t>
            </a:r>
            <a:r>
              <a:rPr lang="en-IN" b="1" dirty="0">
                <a:solidFill>
                  <a:schemeClr val="accent1"/>
                </a:solidFill>
                <a:latin typeface="Times-Bold"/>
              </a:rPr>
              <a:t> Rate Limits</a:t>
            </a:r>
            <a:endParaRPr lang="en-IN" dirty="0">
              <a:solidFill>
                <a:schemeClr val="accent1"/>
              </a:solidFill>
            </a:endParaRPr>
          </a:p>
        </p:txBody>
      </p:sp>
      <p:sp>
        <p:nvSpPr>
          <p:cNvPr id="3" name="Content Placeholder 3">
            <a:extLst>
              <a:ext uri="{FF2B5EF4-FFF2-40B4-BE49-F238E27FC236}">
                <a16:creationId xmlns:a16="http://schemas.microsoft.com/office/drawing/2014/main" id="{98CF0449-70AA-779A-ECEC-B882F917E825}"/>
              </a:ext>
            </a:extLst>
          </p:cNvPr>
          <p:cNvSpPr>
            <a:spLocks noGrp="1"/>
          </p:cNvSpPr>
          <p:nvPr>
            <p:ph idx="1"/>
          </p:nvPr>
        </p:nvSpPr>
        <p:spPr>
          <a:xfrm>
            <a:off x="412678" y="926383"/>
            <a:ext cx="5524927" cy="871595"/>
          </a:xfrm>
        </p:spPr>
        <p:txBody>
          <a:bodyPr>
            <a:normAutofit/>
          </a:bodyPr>
          <a:lstStyle/>
          <a:p>
            <a:pPr marL="0" indent="0">
              <a:buNone/>
            </a:pPr>
            <a:r>
              <a:rPr lang="en-US" dirty="0">
                <a:solidFill>
                  <a:srgbClr val="00B050"/>
                </a:solidFill>
                <a:latin typeface="Times New Roman" panose="02020603050405020304" pitchFamily="18" charset="0"/>
                <a:cs typeface="Times New Roman" panose="02020603050405020304" pitchFamily="18" charset="0"/>
              </a:rPr>
              <a:t>Noisy Channel: Shannon Capacity</a:t>
            </a:r>
            <a:endParaRPr lang="en-IN" dirty="0">
              <a:solidFill>
                <a:srgbClr val="00B05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5BEBE65A-F824-710E-5988-CD351E145ADB}"/>
                  </a:ext>
                </a:extLst>
              </p:cNvPr>
              <p:cNvSpPr txBox="1">
                <a:spLocks/>
              </p:cNvSpPr>
              <p:nvPr/>
            </p:nvSpPr>
            <p:spPr>
              <a:xfrm>
                <a:off x="691793" y="1890445"/>
                <a:ext cx="11652607" cy="10813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cs typeface="Times New Roman" panose="02020603050405020304" pitchFamily="18" charset="0"/>
                        </a:rPr>
                        <m:t>𝑪𝒂𝒑𝒂𝒄𝒊𝒕𝒚</m:t>
                      </m:r>
                      <m:r>
                        <a:rPr lang="en-US" b="1" i="1" smtClean="0">
                          <a:solidFill>
                            <a:srgbClr val="FF0000"/>
                          </a:solidFill>
                          <a:latin typeface="Cambria Math" panose="02040503050406030204" pitchFamily="18" charset="0"/>
                          <a:cs typeface="Times New Roman" panose="02020603050405020304" pitchFamily="18" charset="0"/>
                        </a:rPr>
                        <m:t> =</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𝑪𝒉𝒂𝒏𝒏𝒆𝒍</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𝑩𝒂𝒏𝒅𝒘𝒊𝒅𝒕𝒉</m:t>
                      </m:r>
                      <m:r>
                        <a:rPr lang="en-US"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𝒍𝒐𝒈</m:t>
                          </m:r>
                        </m:e>
                        <m:sub>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𝟐</m:t>
                          </m:r>
                        </m:sub>
                      </m:sSub>
                      <m:d>
                        <m:dPr>
                          <m:ctrlP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𝑺𝑵𝑹</m:t>
                          </m:r>
                        </m:e>
                      </m:d>
                      <m:r>
                        <a:rPr 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oMath>
                  </m:oMathPara>
                </a14:m>
                <a:endParaRPr lang="en-US" b="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dirty="0">
                    <a:latin typeface="Times New Roman" panose="02020603050405020304" pitchFamily="18" charset="0"/>
                    <a:ea typeface="Cambria Math" panose="02040503050406030204" pitchFamily="18" charset="0"/>
                    <a:cs typeface="Times New Roman" panose="02020603050405020304" pitchFamily="18" charset="0"/>
                  </a:rPr>
                  <a:t>- It is measured in </a:t>
                </a:r>
                <a:r>
                  <a:rPr lang="en-US" dirty="0">
                    <a:latin typeface="Times New Roman" panose="02020603050405020304" pitchFamily="18" charset="0"/>
                    <a:cs typeface="Times New Roman" panose="02020603050405020304" pitchFamily="18" charset="0"/>
                  </a:rPr>
                  <a:t>bps.</a:t>
                </a:r>
              </a:p>
              <a:p>
                <a:pPr marL="0" indent="0">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mc:Choice>
        <mc:Fallback xmlns="">
          <p:sp>
            <p:nvSpPr>
              <p:cNvPr id="8" name="Content Placeholder 3">
                <a:extLst>
                  <a:ext uri="{FF2B5EF4-FFF2-40B4-BE49-F238E27FC236}">
                    <a16:creationId xmlns:a16="http://schemas.microsoft.com/office/drawing/2014/main" id="{5BEBE65A-F824-710E-5988-CD351E145ADB}"/>
                  </a:ext>
                </a:extLst>
              </p:cNvPr>
              <p:cNvSpPr txBox="1">
                <a:spLocks noRot="1" noChangeAspect="1" noMove="1" noResize="1" noEditPoints="1" noAdjustHandles="1" noChangeArrowheads="1" noChangeShapeType="1" noTextEdit="1"/>
              </p:cNvSpPr>
              <p:nvPr/>
            </p:nvSpPr>
            <p:spPr>
              <a:xfrm>
                <a:off x="691793" y="1890445"/>
                <a:ext cx="11652607" cy="1081355"/>
              </a:xfrm>
              <a:prstGeom prst="rect">
                <a:avLst/>
              </a:prstGeom>
              <a:blipFill>
                <a:blip r:embed="rId2"/>
                <a:stretch>
                  <a:fillRect l="-1046" b="-6742"/>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DAC4F5F3-7E2D-A70E-653C-A8F778894383}"/>
              </a:ext>
            </a:extLst>
          </p:cNvPr>
          <p:cNvSpPr txBox="1"/>
          <p:nvPr/>
        </p:nvSpPr>
        <p:spPr>
          <a:xfrm>
            <a:off x="260705" y="3581400"/>
            <a:ext cx="11353800" cy="1200329"/>
          </a:xfrm>
          <a:prstGeom prst="rect">
            <a:avLst/>
          </a:prstGeom>
          <a:noFill/>
        </p:spPr>
        <p:txBody>
          <a:bodyPr wrap="square">
            <a:spAutoFit/>
          </a:body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Example: Calculate the theoretical highest bit rate of a regular telephone line. A telephone line normally has a bandwidth of 3000 Hz (300 to 3300 Hz) assigned for data communications. The signal-to-noise ratio is usually 3162.</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AD81DF8-85F7-C148-726E-F76A0153AC08}"/>
              </a:ext>
            </a:extLst>
          </p:cNvPr>
          <p:cNvPicPr>
            <a:picLocks noChangeAspect="1"/>
          </p:cNvPicPr>
          <p:nvPr/>
        </p:nvPicPr>
        <p:blipFill>
          <a:blip r:embed="rId3"/>
          <a:stretch>
            <a:fillRect/>
          </a:stretch>
        </p:blipFill>
        <p:spPr>
          <a:xfrm>
            <a:off x="2057400" y="5150743"/>
            <a:ext cx="8887522" cy="457200"/>
          </a:xfrm>
          <a:prstGeom prst="rect">
            <a:avLst/>
          </a:prstGeom>
        </p:spPr>
      </p:pic>
    </p:spTree>
    <p:extLst>
      <p:ext uri="{BB962C8B-B14F-4D97-AF65-F5344CB8AC3E}">
        <p14:creationId xmlns:p14="http://schemas.microsoft.com/office/powerpoint/2010/main" val="42938121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0" name="Rectangle 10">
            <a:extLst>
              <a:ext uri="{FF2B5EF4-FFF2-40B4-BE49-F238E27FC236}">
                <a16:creationId xmlns:a16="http://schemas.microsoft.com/office/drawing/2014/main" id="{20FAE45A-CD0F-7C5E-F776-CB3752720F07}"/>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39691" name="Rectangle 11">
            <a:extLst>
              <a:ext uri="{FF2B5EF4-FFF2-40B4-BE49-F238E27FC236}">
                <a16:creationId xmlns:a16="http://schemas.microsoft.com/office/drawing/2014/main" id="{C36ED660-FC6B-D541-0B34-A6E7AA780C84}"/>
              </a:ext>
            </a:extLst>
          </p:cNvPr>
          <p:cNvSpPr>
            <a:spLocks noChangeArrowheads="1"/>
          </p:cNvSpPr>
          <p:nvPr/>
        </p:nvSpPr>
        <p:spPr bwMode="auto">
          <a:xfrm>
            <a:off x="457200" y="686304"/>
            <a:ext cx="11125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aseline="0" dirty="0">
                <a:solidFill>
                  <a:srgbClr val="FF0000"/>
                </a:solidFill>
                <a:latin typeface="Times New Roman" panose="02020603050405020304" pitchFamily="18" charset="0"/>
                <a:cs typeface="Times New Roman" panose="02020603050405020304" pitchFamily="18" charset="0"/>
              </a:rPr>
              <a:t>We need to send 265 kbps over a noiseless channel with a bandwidth of 20 kHz. How many signal levels do we need?</a:t>
            </a:r>
          </a:p>
          <a:p>
            <a:pPr algn="just"/>
            <a:r>
              <a:rPr lang="en-US" altLang="en-US" sz="2400" baseline="0" dirty="0">
                <a:solidFill>
                  <a:schemeClr val="hlink"/>
                </a:solidFill>
                <a:latin typeface="Times New Roman" panose="02020603050405020304" pitchFamily="18" charset="0"/>
                <a:cs typeface="Times New Roman" panose="02020603050405020304" pitchFamily="18" charset="0"/>
              </a:rPr>
              <a:t>Solution</a:t>
            </a:r>
          </a:p>
          <a:p>
            <a:pPr algn="just"/>
            <a:r>
              <a:rPr lang="en-US" altLang="en-US" sz="2400" baseline="0" dirty="0">
                <a:latin typeface="Times New Roman" panose="02020603050405020304" pitchFamily="18" charset="0"/>
                <a:cs typeface="Times New Roman" panose="02020603050405020304" pitchFamily="18" charset="0"/>
              </a:rPr>
              <a:t>We can use the Nyquist formula as shown:</a:t>
            </a:r>
          </a:p>
        </p:txBody>
      </p:sp>
      <p:pic>
        <p:nvPicPr>
          <p:cNvPr id="839694" name="Picture 14">
            <a:extLst>
              <a:ext uri="{FF2B5EF4-FFF2-40B4-BE49-F238E27FC236}">
                <a16:creationId xmlns:a16="http://schemas.microsoft.com/office/drawing/2014/main" id="{0C4358F3-391B-70B9-CFDC-AA90300815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696432"/>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695" name="Rectangle 15">
            <a:extLst>
              <a:ext uri="{FF2B5EF4-FFF2-40B4-BE49-F238E27FC236}">
                <a16:creationId xmlns:a16="http://schemas.microsoft.com/office/drawing/2014/main" id="{9EEA8258-9908-3DDF-BB8F-388BAF826B11}"/>
              </a:ext>
            </a:extLst>
          </p:cNvPr>
          <p:cNvSpPr>
            <a:spLocks noChangeArrowheads="1"/>
          </p:cNvSpPr>
          <p:nvPr/>
        </p:nvSpPr>
        <p:spPr bwMode="auto">
          <a:xfrm>
            <a:off x="381000" y="4011662"/>
            <a:ext cx="10591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aseline="0" dirty="0">
                <a:latin typeface="Times New Roman" panose="02020603050405020304" pitchFamily="18" charset="0"/>
                <a:cs typeface="Times New Roman" panose="02020603050405020304" pitchFamily="18" charset="0"/>
              </a:rPr>
              <a:t>Since this result is not a power of 2, we need to either increase the number of levels or reduce the bit rate. If we have 128 levels, the bit rate is 280 kbps. If we have 64 levels, the bit rate is 240 kbps.</a:t>
            </a:r>
          </a:p>
        </p:txBody>
      </p:sp>
    </p:spTree>
    <p:extLst>
      <p:ext uri="{BB962C8B-B14F-4D97-AF65-F5344CB8AC3E}">
        <p14:creationId xmlns:p14="http://schemas.microsoft.com/office/powerpoint/2010/main" val="7251288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8" name="Rectangle 10">
            <a:extLst>
              <a:ext uri="{FF2B5EF4-FFF2-40B4-BE49-F238E27FC236}">
                <a16:creationId xmlns:a16="http://schemas.microsoft.com/office/drawing/2014/main" id="{584CA080-5EA3-4A1D-A909-DD0076A40611}"/>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41739" name="Rectangle 11">
            <a:extLst>
              <a:ext uri="{FF2B5EF4-FFF2-40B4-BE49-F238E27FC236}">
                <a16:creationId xmlns:a16="http://schemas.microsoft.com/office/drawing/2014/main" id="{944EA5CE-3D55-1F44-2BED-04B5DD929894}"/>
              </a:ext>
            </a:extLst>
          </p:cNvPr>
          <p:cNvSpPr>
            <a:spLocks noChangeArrowheads="1"/>
          </p:cNvSpPr>
          <p:nvPr/>
        </p:nvSpPr>
        <p:spPr bwMode="auto">
          <a:xfrm>
            <a:off x="685800" y="349250"/>
            <a:ext cx="10363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aseline="0" dirty="0">
                <a:solidFill>
                  <a:srgbClr val="FF0000"/>
                </a:solidFill>
                <a:latin typeface="Times New Roman" panose="02020603050405020304" pitchFamily="18" charset="0"/>
                <a:cs typeface="Times New Roman" panose="02020603050405020304" pitchFamily="18" charset="0"/>
              </a:rPr>
              <a:t>We can calculate the theoretical highest bit rate of a regular telephone line. A telephone line normally has a bandwidth of 3000. The signal-to-noise ratio is usually 3162. For this channel the capacity is calculated as</a:t>
            </a:r>
          </a:p>
        </p:txBody>
      </p:sp>
      <p:pic>
        <p:nvPicPr>
          <p:cNvPr id="841742" name="Picture 14">
            <a:extLst>
              <a:ext uri="{FF2B5EF4-FFF2-40B4-BE49-F238E27FC236}">
                <a16:creationId xmlns:a16="http://schemas.microsoft.com/office/drawing/2014/main" id="{218C78AF-93FF-0994-8B5E-FEB642C79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543" y="2620963"/>
            <a:ext cx="7046913" cy="6746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1743" name="Rectangle 15">
            <a:extLst>
              <a:ext uri="{FF2B5EF4-FFF2-40B4-BE49-F238E27FC236}">
                <a16:creationId xmlns:a16="http://schemas.microsoft.com/office/drawing/2014/main" id="{F93FC647-54EC-CACE-D627-F5A7E762E46A}"/>
              </a:ext>
            </a:extLst>
          </p:cNvPr>
          <p:cNvSpPr>
            <a:spLocks noChangeArrowheads="1"/>
          </p:cNvSpPr>
          <p:nvPr/>
        </p:nvSpPr>
        <p:spPr bwMode="auto">
          <a:xfrm>
            <a:off x="1143000" y="4077791"/>
            <a:ext cx="10363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aseline="0" dirty="0">
                <a:latin typeface="Times New Roman" panose="02020603050405020304" pitchFamily="18" charset="0"/>
                <a:cs typeface="Times New Roman" panose="02020603050405020304" pitchFamily="18" charset="0"/>
              </a:rPr>
              <a:t>This means that the highest bit rate for a telephone line is 34.860 kbps. If we want to send data faster than this, we can either increase the bandwidth of the line or improve the signal-to-noise ratio</a:t>
            </a:r>
            <a:r>
              <a:rPr lang="en-US" altLang="en-US" baseline="0" dirty="0"/>
              <a:t>.</a:t>
            </a:r>
          </a:p>
        </p:txBody>
      </p:sp>
    </p:spTree>
    <p:extLst>
      <p:ext uri="{BB962C8B-B14F-4D97-AF65-F5344CB8AC3E}">
        <p14:creationId xmlns:p14="http://schemas.microsoft.com/office/powerpoint/2010/main" val="32640564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62" name="Rectangle 10">
            <a:extLst>
              <a:ext uri="{FF2B5EF4-FFF2-40B4-BE49-F238E27FC236}">
                <a16:creationId xmlns:a16="http://schemas.microsoft.com/office/drawing/2014/main" id="{C5792E20-A697-45FD-FE5A-566661079D50}"/>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42763" name="Rectangle 11">
            <a:extLst>
              <a:ext uri="{FF2B5EF4-FFF2-40B4-BE49-F238E27FC236}">
                <a16:creationId xmlns:a16="http://schemas.microsoft.com/office/drawing/2014/main" id="{365DEA1D-B2A8-B12E-8ADF-E79469534F40}"/>
              </a:ext>
            </a:extLst>
          </p:cNvPr>
          <p:cNvSpPr>
            <a:spLocks noChangeArrowheads="1"/>
          </p:cNvSpPr>
          <p:nvPr/>
        </p:nvSpPr>
        <p:spPr bwMode="auto">
          <a:xfrm>
            <a:off x="381000" y="1000035"/>
            <a:ext cx="10896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aseline="0" dirty="0">
                <a:solidFill>
                  <a:srgbClr val="FF0000"/>
                </a:solidFill>
                <a:latin typeface="Times New Roman" panose="02020603050405020304" pitchFamily="18" charset="0"/>
                <a:cs typeface="Times New Roman" panose="02020603050405020304" pitchFamily="18" charset="0"/>
              </a:rPr>
              <a:t>The signal-to-noise ratio is often given in decibels. Assume that </a:t>
            </a:r>
            <a:r>
              <a:rPr lang="en-US" altLang="en-US" sz="2400" baseline="0" dirty="0" err="1">
                <a:solidFill>
                  <a:srgbClr val="FF0000"/>
                </a:solidFill>
                <a:latin typeface="Times New Roman" panose="02020603050405020304" pitchFamily="18" charset="0"/>
                <a:cs typeface="Times New Roman" panose="02020603050405020304" pitchFamily="18" charset="0"/>
              </a:rPr>
              <a:t>SNR</a:t>
            </a:r>
            <a:r>
              <a:rPr lang="en-US" altLang="en-US" sz="2400" baseline="-25000" dirty="0" err="1">
                <a:solidFill>
                  <a:srgbClr val="FF0000"/>
                </a:solidFill>
                <a:latin typeface="Times New Roman" panose="02020603050405020304" pitchFamily="18" charset="0"/>
                <a:cs typeface="Times New Roman" panose="02020603050405020304" pitchFamily="18" charset="0"/>
              </a:rPr>
              <a:t>dB</a:t>
            </a:r>
            <a:r>
              <a:rPr lang="en-US" altLang="en-US" sz="2400" baseline="0" dirty="0">
                <a:solidFill>
                  <a:srgbClr val="FF0000"/>
                </a:solidFill>
                <a:latin typeface="Times New Roman" panose="02020603050405020304" pitchFamily="18" charset="0"/>
                <a:cs typeface="Times New Roman" panose="02020603050405020304" pitchFamily="18" charset="0"/>
              </a:rPr>
              <a:t> = 36 and the channel bandwidth is 2 </a:t>
            </a:r>
            <a:r>
              <a:rPr lang="en-US" altLang="en-US" sz="2400" baseline="0" dirty="0" err="1">
                <a:solidFill>
                  <a:srgbClr val="FF0000"/>
                </a:solidFill>
                <a:latin typeface="Times New Roman" panose="02020603050405020304" pitchFamily="18" charset="0"/>
                <a:cs typeface="Times New Roman" panose="02020603050405020304" pitchFamily="18" charset="0"/>
              </a:rPr>
              <a:t>MHz.</a:t>
            </a:r>
            <a:r>
              <a:rPr lang="en-US" altLang="en-US" sz="2400" baseline="0" dirty="0">
                <a:solidFill>
                  <a:srgbClr val="FF0000"/>
                </a:solidFill>
                <a:latin typeface="Times New Roman" panose="02020603050405020304" pitchFamily="18" charset="0"/>
                <a:cs typeface="Times New Roman" panose="02020603050405020304" pitchFamily="18" charset="0"/>
              </a:rPr>
              <a:t> The theoretical channel capacity can be calculated as</a:t>
            </a:r>
          </a:p>
        </p:txBody>
      </p:sp>
      <p:pic>
        <p:nvPicPr>
          <p:cNvPr id="842766" name="Picture 14">
            <a:extLst>
              <a:ext uri="{FF2B5EF4-FFF2-40B4-BE49-F238E27FC236}">
                <a16:creationId xmlns:a16="http://schemas.microsoft.com/office/drawing/2014/main" id="{48DE9679-A803-9510-C9DA-8727AE328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644775"/>
            <a:ext cx="8364537" cy="8096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063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304801" y="145188"/>
            <a:ext cx="8559209" cy="585628"/>
          </a:xfrm>
        </p:spPr>
        <p:txBody>
          <a:bodyPr>
            <a:normAutofit fontScale="90000"/>
          </a:bodyPr>
          <a:lstStyle/>
          <a:p>
            <a:r>
              <a:rPr lang="en-IN" sz="4400" b="1" i="0" u="none" strike="noStrike" baseline="0" dirty="0">
                <a:solidFill>
                  <a:schemeClr val="accent1"/>
                </a:solidFill>
                <a:latin typeface="Times-Bold"/>
              </a:rPr>
              <a:t>Transmission of Digital Signals</a:t>
            </a:r>
            <a:endParaRPr lang="en-IN" dirty="0">
              <a:solidFill>
                <a:schemeClr val="accent1"/>
              </a:solidFill>
            </a:endParaRPr>
          </a:p>
        </p:txBody>
      </p:sp>
      <p:sp>
        <p:nvSpPr>
          <p:cNvPr id="3" name="Content Placeholder 2">
            <a:extLst>
              <a:ext uri="{FF2B5EF4-FFF2-40B4-BE49-F238E27FC236}">
                <a16:creationId xmlns:a16="http://schemas.microsoft.com/office/drawing/2014/main" id="{4543FFA9-25DB-F1E9-3BE8-AFC332D3494E}"/>
              </a:ext>
            </a:extLst>
          </p:cNvPr>
          <p:cNvSpPr>
            <a:spLocks noGrp="1"/>
          </p:cNvSpPr>
          <p:nvPr>
            <p:ph idx="1"/>
          </p:nvPr>
        </p:nvSpPr>
        <p:spPr>
          <a:xfrm>
            <a:off x="304801" y="943511"/>
            <a:ext cx="6019800" cy="580490"/>
          </a:xfrm>
        </p:spPr>
        <p:txBody>
          <a:bodyPr>
            <a:normAutofit fontScale="92500"/>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Low-Pass Channel with Wide Bandwidth</a:t>
            </a:r>
          </a:p>
        </p:txBody>
      </p:sp>
      <p:pic>
        <p:nvPicPr>
          <p:cNvPr id="5" name="Picture 4">
            <a:extLst>
              <a:ext uri="{FF2B5EF4-FFF2-40B4-BE49-F238E27FC236}">
                <a16:creationId xmlns:a16="http://schemas.microsoft.com/office/drawing/2014/main" id="{5B664E26-E92B-C4ED-4269-7509E3E58E47}"/>
              </a:ext>
            </a:extLst>
          </p:cNvPr>
          <p:cNvPicPr>
            <a:picLocks noChangeAspect="1"/>
          </p:cNvPicPr>
          <p:nvPr/>
        </p:nvPicPr>
        <p:blipFill>
          <a:blip r:embed="rId2"/>
          <a:stretch>
            <a:fillRect/>
          </a:stretch>
        </p:blipFill>
        <p:spPr>
          <a:xfrm>
            <a:off x="838200" y="1524000"/>
            <a:ext cx="10238194" cy="2981325"/>
          </a:xfrm>
          <a:prstGeom prst="rect">
            <a:avLst/>
          </a:prstGeom>
        </p:spPr>
      </p:pic>
      <p:sp>
        <p:nvSpPr>
          <p:cNvPr id="8" name="TextBox 7">
            <a:extLst>
              <a:ext uri="{FF2B5EF4-FFF2-40B4-BE49-F238E27FC236}">
                <a16:creationId xmlns:a16="http://schemas.microsoft.com/office/drawing/2014/main" id="{C04C15A3-7F81-018F-1A56-76E75C4F1DB1}"/>
              </a:ext>
            </a:extLst>
          </p:cNvPr>
          <p:cNvSpPr txBox="1"/>
          <p:nvPr/>
        </p:nvSpPr>
        <p:spPr>
          <a:xfrm>
            <a:off x="2819400" y="5010834"/>
            <a:ext cx="7421880" cy="738664"/>
          </a:xfrm>
          <a:prstGeom prst="rect">
            <a:avLst/>
          </a:prstGeom>
          <a:noFill/>
        </p:spPr>
        <p:txBody>
          <a:bodyPr wrap="square">
            <a:spAutoFit/>
          </a:bodyPr>
          <a:lstStyle/>
          <a:p>
            <a:r>
              <a:rPr lang="en-US" sz="2400" b="0" i="1" dirty="0">
                <a:solidFill>
                  <a:srgbClr val="0033CC"/>
                </a:solidFill>
                <a:effectLst/>
                <a:latin typeface="Times New Roman" panose="02020603050405020304" pitchFamily="18" charset="0"/>
                <a:cs typeface="Times New Roman" panose="02020603050405020304" pitchFamily="18" charset="0"/>
              </a:rPr>
              <a:t>Baseband transmission using a dedicated medium</a:t>
            </a:r>
            <a:r>
              <a:rPr lang="en-US" sz="2400" dirty="0">
                <a:solidFill>
                  <a:srgbClr val="0033CC"/>
                </a:solidFill>
                <a:latin typeface="Times New Roman" panose="02020603050405020304" pitchFamily="18" charset="0"/>
                <a:cs typeface="Times New Roman" panose="02020603050405020304" pitchFamily="18" charset="0"/>
              </a:rPr>
              <a:t> </a:t>
            </a:r>
            <a:br>
              <a:rPr lang="en-US" dirty="0"/>
            </a:br>
            <a:endParaRPr lang="en-IN" dirty="0"/>
          </a:p>
        </p:txBody>
      </p:sp>
    </p:spTree>
    <p:extLst>
      <p:ext uri="{BB962C8B-B14F-4D97-AF65-F5344CB8AC3E}">
        <p14:creationId xmlns:p14="http://schemas.microsoft.com/office/powerpoint/2010/main" val="2645552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228600" y="199578"/>
            <a:ext cx="8559209" cy="585628"/>
          </a:xfrm>
        </p:spPr>
        <p:txBody>
          <a:bodyPr>
            <a:normAutofit fontScale="90000"/>
          </a:bodyPr>
          <a:lstStyle/>
          <a:p>
            <a:r>
              <a:rPr lang="en-IN" sz="4400" b="1" i="0" u="none" strike="noStrike" baseline="0" dirty="0">
                <a:solidFill>
                  <a:schemeClr val="accent1"/>
                </a:solidFill>
                <a:latin typeface="Times-Bold"/>
              </a:rPr>
              <a:t>Transmission Impairments</a:t>
            </a:r>
            <a:endParaRPr lang="en-IN" dirty="0">
              <a:solidFill>
                <a:schemeClr val="accent1"/>
              </a:solidFill>
            </a:endParaRPr>
          </a:p>
        </p:txBody>
      </p:sp>
      <p:sp>
        <p:nvSpPr>
          <p:cNvPr id="7" name="TextBox 6">
            <a:extLst>
              <a:ext uri="{FF2B5EF4-FFF2-40B4-BE49-F238E27FC236}">
                <a16:creationId xmlns:a16="http://schemas.microsoft.com/office/drawing/2014/main" id="{D6D380E2-E1E3-4247-7BD7-C772C7034DA4}"/>
              </a:ext>
            </a:extLst>
          </p:cNvPr>
          <p:cNvSpPr txBox="1"/>
          <p:nvPr/>
        </p:nvSpPr>
        <p:spPr>
          <a:xfrm>
            <a:off x="533400" y="959384"/>
            <a:ext cx="11125200" cy="1938992"/>
          </a:xfrm>
          <a:prstGeom prst="rect">
            <a:avLst/>
          </a:prstGeom>
          <a:noFill/>
        </p:spPr>
        <p:txBody>
          <a:bodyPr wrap="square">
            <a:spAutoFit/>
          </a:bodyPr>
          <a:lstStyle/>
          <a:p>
            <a:pPr marL="342900" indent="-342900">
              <a:buFont typeface="Wingdings" panose="05000000000000000000" pitchFamily="2" charset="2"/>
              <a:buChar char="v"/>
            </a:pPr>
            <a:r>
              <a:rPr lang="en-US" sz="2400" b="0" i="0" dirty="0">
                <a:effectLst/>
                <a:latin typeface="Times New Roman" panose="02020603050405020304" pitchFamily="18" charset="0"/>
                <a:cs typeface="Times New Roman" panose="02020603050405020304" pitchFamily="18" charset="0"/>
              </a:rPr>
              <a:t>Signals travel through transmission media, which are not perfect. The imperfection causes signal impairment. </a:t>
            </a:r>
          </a:p>
          <a:p>
            <a:pPr marL="342900" indent="-342900">
              <a:buFont typeface="Wingdings" panose="05000000000000000000" pitchFamily="2" charset="2"/>
              <a:buChar char="v"/>
            </a:pPr>
            <a:r>
              <a:rPr lang="en-US" sz="2400" b="0" i="0" dirty="0">
                <a:effectLst/>
                <a:latin typeface="Times New Roman" panose="02020603050405020304" pitchFamily="18" charset="0"/>
                <a:cs typeface="Times New Roman" panose="02020603050405020304" pitchFamily="18" charset="0"/>
              </a:rPr>
              <a:t>This means that the signal at the beginning of the medium is not the same as the signal at the end of the medium.</a:t>
            </a:r>
          </a:p>
          <a:p>
            <a:pPr marL="342900" indent="-342900">
              <a:buFont typeface="Wingdings" panose="05000000000000000000" pitchFamily="2" charset="2"/>
              <a:buChar char="v"/>
            </a:pPr>
            <a:r>
              <a:rPr lang="en-US" sz="2400" b="0" i="0" dirty="0">
                <a:effectLst/>
                <a:latin typeface="Times New Roman" panose="02020603050405020304" pitchFamily="18" charset="0"/>
                <a:cs typeface="Times New Roman" panose="02020603050405020304" pitchFamily="18" charset="0"/>
              </a:rPr>
              <a:t> Three causes of impairment are </a:t>
            </a:r>
            <a:r>
              <a:rPr lang="en-US" sz="2400" b="1" i="0" u="none" strike="noStrike" dirty="0">
                <a:effectLst/>
                <a:latin typeface="Times New Roman" panose="02020603050405020304" pitchFamily="18" charset="0"/>
                <a:cs typeface="Times New Roman" panose="02020603050405020304" pitchFamily="18" charset="0"/>
              </a:rPr>
              <a:t>attenuation,</a:t>
            </a:r>
            <a:r>
              <a:rPr lang="en-US" sz="2400" b="0" i="0" u="none" strike="noStrike" dirty="0">
                <a:effectLst/>
                <a:latin typeface="Times New Roman" panose="02020603050405020304" pitchFamily="18" charset="0"/>
                <a:cs typeface="Times New Roman" panose="02020603050405020304" pitchFamily="18" charset="0"/>
              </a:rPr>
              <a:t> </a:t>
            </a:r>
            <a:r>
              <a:rPr lang="en-US" sz="2400" b="1" i="0" u="none" strike="noStrike" dirty="0">
                <a:effectLst/>
                <a:latin typeface="Times New Roman" panose="02020603050405020304" pitchFamily="18" charset="0"/>
                <a:cs typeface="Times New Roman" panose="02020603050405020304" pitchFamily="18" charset="0"/>
              </a:rPr>
              <a:t>distortion</a:t>
            </a:r>
            <a:r>
              <a:rPr lang="en-US" sz="2400" b="0" i="0" dirty="0">
                <a:effectLst/>
                <a:latin typeface="Times New Roman" panose="02020603050405020304" pitchFamily="18" charset="0"/>
                <a:cs typeface="Times New Roman" panose="02020603050405020304" pitchFamily="18" charset="0"/>
              </a:rPr>
              <a:t>, and </a:t>
            </a:r>
            <a:r>
              <a:rPr lang="en-US" sz="2400" b="1" i="0" u="none" strike="noStrike" dirty="0">
                <a:effectLst/>
                <a:latin typeface="Times New Roman" panose="02020603050405020304" pitchFamily="18" charset="0"/>
                <a:cs typeface="Times New Roman" panose="02020603050405020304" pitchFamily="18" charset="0"/>
              </a:rPr>
              <a:t>noise.</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4947BA2-2F25-FC9C-C06A-FDD7005B8802}"/>
              </a:ext>
            </a:extLst>
          </p:cNvPr>
          <p:cNvPicPr>
            <a:picLocks noChangeAspect="1"/>
          </p:cNvPicPr>
          <p:nvPr/>
        </p:nvPicPr>
        <p:blipFill>
          <a:blip r:embed="rId2"/>
          <a:stretch>
            <a:fillRect/>
          </a:stretch>
        </p:blipFill>
        <p:spPr>
          <a:xfrm>
            <a:off x="2362200" y="3042074"/>
            <a:ext cx="7040131" cy="2544467"/>
          </a:xfrm>
          <a:prstGeom prst="rect">
            <a:avLst/>
          </a:prstGeom>
        </p:spPr>
      </p:pic>
    </p:spTree>
    <p:extLst>
      <p:ext uri="{BB962C8B-B14F-4D97-AF65-F5344CB8AC3E}">
        <p14:creationId xmlns:p14="http://schemas.microsoft.com/office/powerpoint/2010/main" val="29526185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0" y="-1"/>
            <a:ext cx="8559209" cy="585628"/>
          </a:xfrm>
        </p:spPr>
        <p:txBody>
          <a:bodyPr>
            <a:normAutofit fontScale="90000"/>
          </a:bodyPr>
          <a:lstStyle/>
          <a:p>
            <a:r>
              <a:rPr lang="en-IN" sz="4400" b="1" i="0" u="none" strike="noStrike" baseline="0" dirty="0">
                <a:solidFill>
                  <a:schemeClr val="accent1"/>
                </a:solidFill>
                <a:latin typeface="Times-Bold"/>
              </a:rPr>
              <a:t>Transmission Impairments</a:t>
            </a:r>
            <a:endParaRPr lang="en-IN" dirty="0">
              <a:solidFill>
                <a:schemeClr val="accent1"/>
              </a:solidFill>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C0310D4-6721-D1CC-E995-D0B9D2E68B53}"/>
                  </a:ext>
                </a:extLst>
              </p:cNvPr>
              <p:cNvSpPr>
                <a:spLocks noGrp="1"/>
              </p:cNvSpPr>
              <p:nvPr>
                <p:ph idx="1"/>
              </p:nvPr>
            </p:nvSpPr>
            <p:spPr>
              <a:xfrm>
                <a:off x="457200" y="585627"/>
                <a:ext cx="10515600" cy="1934718"/>
              </a:xfrm>
            </p:spPr>
            <p:txBody>
              <a:bodyPr>
                <a:normAutofit fontScale="92500" lnSpcReduction="10000"/>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Attenuation (loss of energy)</a:t>
                </a:r>
              </a:p>
              <a:p>
                <a:r>
                  <a:rPr lang="en-US" dirty="0">
                    <a:latin typeface="Times New Roman" panose="02020603050405020304" pitchFamily="18" charset="0"/>
                    <a:cs typeface="Times New Roman" panose="02020603050405020304" pitchFamily="18" charset="0"/>
                  </a:rPr>
                  <a:t>The decibel (dB) measures the relative strengths of two signals or one signal at two different points.</a:t>
                </a:r>
              </a:p>
              <a:p>
                <a14:m>
                  <m:oMath xmlns:m="http://schemas.openxmlformats.org/officeDocument/2006/math">
                    <m:r>
                      <a:rPr lang="en-US" b="0" i="1" smtClean="0">
                        <a:latin typeface="Cambria Math" panose="02040503050406030204" pitchFamily="18" charset="0"/>
                        <a:cs typeface="Times New Roman" panose="02020603050405020304" pitchFamily="18" charset="0"/>
                      </a:rPr>
                      <m:t>𝑑𝑏</m:t>
                    </m:r>
                    <m:r>
                      <a:rPr lang="en-US" b="0" i="1" smtClean="0">
                        <a:latin typeface="Cambria Math" panose="02040503050406030204" pitchFamily="18" charset="0"/>
                        <a:cs typeface="Times New Roman" panose="02020603050405020304" pitchFamily="18" charset="0"/>
                      </a:rPr>
                      <m:t>= </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10 </m:t>
                        </m:r>
                        <m:r>
                          <a:rPr lang="en-US" b="0" i="1" smtClean="0">
                            <a:latin typeface="Cambria Math" panose="02040503050406030204" pitchFamily="18" charset="0"/>
                            <a:cs typeface="Times New Roman" panose="02020603050405020304" pitchFamily="18" charset="0"/>
                          </a:rPr>
                          <m:t>𝑙𝑜𝑔</m:t>
                        </m:r>
                      </m:e>
                      <m:sub>
                        <m:r>
                          <a:rPr lang="en-US" b="0" i="1" smtClean="0">
                            <a:latin typeface="Cambria Math" panose="02040503050406030204" pitchFamily="18" charset="0"/>
                            <a:cs typeface="Times New Roman" panose="02020603050405020304" pitchFamily="18" charset="0"/>
                          </a:rPr>
                          <m:t>10</m:t>
                        </m:r>
                      </m:sub>
                    </m:sSub>
                    <m:f>
                      <m:fPr>
                        <m:ctrlPr>
                          <a:rPr lang="en-US" b="0" i="1" smtClean="0">
                            <a:latin typeface="Cambria Math" panose="02040503050406030204" pitchFamily="18" charset="0"/>
                            <a:cs typeface="Times New Roman" panose="02020603050405020304" pitchFamily="18" charset="0"/>
                          </a:rPr>
                        </m:ctrlPr>
                      </m:fPr>
                      <m:num>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𝑃</m:t>
                            </m:r>
                          </m:e>
                          <m:sub>
                            <m:r>
                              <a:rPr lang="en-US" b="0" i="1" smtClean="0">
                                <a:latin typeface="Cambria Math" panose="02040503050406030204" pitchFamily="18" charset="0"/>
                                <a:cs typeface="Times New Roman" panose="02020603050405020304" pitchFamily="18" charset="0"/>
                              </a:rPr>
                              <m:t>2</m:t>
                            </m:r>
                          </m:sub>
                        </m:sSub>
                      </m:num>
                      <m:den>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𝑃</m:t>
                            </m:r>
                          </m:e>
                          <m:sub>
                            <m:r>
                              <a:rPr lang="en-US" b="0" i="1" smtClean="0">
                                <a:latin typeface="Cambria Math" panose="02040503050406030204" pitchFamily="18" charset="0"/>
                                <a:cs typeface="Times New Roman" panose="02020603050405020304" pitchFamily="18" charset="0"/>
                              </a:rPr>
                              <m:t>1</m:t>
                            </m:r>
                          </m:sub>
                        </m:sSub>
                      </m:den>
                    </m:f>
                  </m:oMath>
                </a14:m>
                <a:endParaRPr lang="en-IN" dirty="0">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5C0310D4-6721-D1CC-E995-D0B9D2E68B53}"/>
                  </a:ext>
                </a:extLst>
              </p:cNvPr>
              <p:cNvSpPr>
                <a:spLocks noGrp="1" noRot="1" noChangeAspect="1" noMove="1" noResize="1" noEditPoints="1" noAdjustHandles="1" noChangeArrowheads="1" noChangeShapeType="1" noTextEdit="1"/>
              </p:cNvSpPr>
              <p:nvPr>
                <p:ph idx="1"/>
              </p:nvPr>
            </p:nvSpPr>
            <p:spPr>
              <a:xfrm>
                <a:off x="457200" y="585627"/>
                <a:ext cx="10515600" cy="1934718"/>
              </a:xfrm>
              <a:blipFill>
                <a:blip r:embed="rId2"/>
                <a:stretch>
                  <a:fillRect l="-1043" t="-6940" r="-179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6C0A3420-C03B-8AEB-83CE-FF7517EBF0A8}"/>
              </a:ext>
            </a:extLst>
          </p:cNvPr>
          <p:cNvPicPr>
            <a:picLocks noChangeAspect="1"/>
          </p:cNvPicPr>
          <p:nvPr/>
        </p:nvPicPr>
        <p:blipFill>
          <a:blip r:embed="rId3"/>
          <a:stretch>
            <a:fillRect/>
          </a:stretch>
        </p:blipFill>
        <p:spPr>
          <a:xfrm>
            <a:off x="1828800" y="3105973"/>
            <a:ext cx="8095268" cy="3429000"/>
          </a:xfrm>
          <a:prstGeom prst="rect">
            <a:avLst/>
          </a:prstGeom>
        </p:spPr>
      </p:pic>
    </p:spTree>
    <p:extLst>
      <p:ext uri="{BB962C8B-B14F-4D97-AF65-F5344CB8AC3E}">
        <p14:creationId xmlns:p14="http://schemas.microsoft.com/office/powerpoint/2010/main" val="914313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CE9A1B-0184-3610-7F13-E7613913E978}"/>
              </a:ext>
            </a:extLst>
          </p:cNvPr>
          <p:cNvSpPr>
            <a:spLocks noGrp="1"/>
          </p:cNvSpPr>
          <p:nvPr>
            <p:ph type="sldNum" sz="quarter" idx="12"/>
          </p:nvPr>
        </p:nvSpPr>
        <p:spPr/>
        <p:txBody>
          <a:bodyPr/>
          <a:lstStyle/>
          <a:p>
            <a:pPr>
              <a:defRPr/>
            </a:pPr>
            <a:r>
              <a:rPr lang="en-US" altLang="en-US"/>
              <a:t>1.</a:t>
            </a:r>
            <a:fld id="{02B82DCB-B3A4-48AA-BF22-24BB65F3C522}" type="slidenum">
              <a:rPr lang="en-US" altLang="en-US" smtClean="0"/>
              <a:pPr>
                <a:defRPr/>
              </a:pPr>
              <a:t>78</a:t>
            </a:fld>
            <a:endParaRPr lang="en-US" altLang="en-US"/>
          </a:p>
        </p:txBody>
      </p:sp>
      <p:pic>
        <p:nvPicPr>
          <p:cNvPr id="6" name="Picture 5">
            <a:extLst>
              <a:ext uri="{FF2B5EF4-FFF2-40B4-BE49-F238E27FC236}">
                <a16:creationId xmlns:a16="http://schemas.microsoft.com/office/drawing/2014/main" id="{81E8F2F0-DC46-97A2-C11A-AE634003656A}"/>
              </a:ext>
            </a:extLst>
          </p:cNvPr>
          <p:cNvPicPr>
            <a:picLocks noChangeAspect="1"/>
          </p:cNvPicPr>
          <p:nvPr/>
        </p:nvPicPr>
        <p:blipFill>
          <a:blip r:embed="rId2"/>
          <a:stretch>
            <a:fillRect/>
          </a:stretch>
        </p:blipFill>
        <p:spPr>
          <a:xfrm>
            <a:off x="914400" y="685800"/>
            <a:ext cx="10554536" cy="1841646"/>
          </a:xfrm>
          <a:prstGeom prst="rect">
            <a:avLst/>
          </a:prstGeom>
        </p:spPr>
      </p:pic>
      <p:sp>
        <p:nvSpPr>
          <p:cNvPr id="7" name="TextBox 6">
            <a:extLst>
              <a:ext uri="{FF2B5EF4-FFF2-40B4-BE49-F238E27FC236}">
                <a16:creationId xmlns:a16="http://schemas.microsoft.com/office/drawing/2014/main" id="{5C0E1843-C5F6-63F5-30EB-3AD377D4F6BA}"/>
              </a:ext>
            </a:extLst>
          </p:cNvPr>
          <p:cNvSpPr txBox="1"/>
          <p:nvPr/>
        </p:nvSpPr>
        <p:spPr>
          <a:xfrm>
            <a:off x="381000" y="0"/>
            <a:ext cx="6096000" cy="584775"/>
          </a:xfrm>
          <a:prstGeom prst="rect">
            <a:avLst/>
          </a:prstGeom>
          <a:noFill/>
        </p:spPr>
        <p:txBody>
          <a:bodyPr wrap="square">
            <a:spAutoFit/>
          </a:bodyPr>
          <a:lstStyle/>
          <a:p>
            <a:pPr marL="0" indent="0">
              <a:buNone/>
            </a:pPr>
            <a:r>
              <a:rPr lang="en-US" sz="3200" dirty="0">
                <a:solidFill>
                  <a:srgbClr val="FF0000"/>
                </a:solidFill>
                <a:latin typeface="Times New Roman" panose="02020603050405020304" pitchFamily="18" charset="0"/>
                <a:cs typeface="Times New Roman" panose="02020603050405020304" pitchFamily="18" charset="0"/>
              </a:rPr>
              <a:t>Numerical on Attenuation</a:t>
            </a:r>
          </a:p>
        </p:txBody>
      </p:sp>
      <p:pic>
        <p:nvPicPr>
          <p:cNvPr id="9" name="Picture 8">
            <a:extLst>
              <a:ext uri="{FF2B5EF4-FFF2-40B4-BE49-F238E27FC236}">
                <a16:creationId xmlns:a16="http://schemas.microsoft.com/office/drawing/2014/main" id="{4E03E54D-0BA0-BC79-37A1-62183398FAFB}"/>
              </a:ext>
            </a:extLst>
          </p:cNvPr>
          <p:cNvPicPr>
            <a:picLocks noChangeAspect="1"/>
          </p:cNvPicPr>
          <p:nvPr/>
        </p:nvPicPr>
        <p:blipFill>
          <a:blip r:embed="rId3"/>
          <a:stretch>
            <a:fillRect/>
          </a:stretch>
        </p:blipFill>
        <p:spPr>
          <a:xfrm>
            <a:off x="1143000" y="2726517"/>
            <a:ext cx="8514715" cy="3812395"/>
          </a:xfrm>
          <a:prstGeom prst="rect">
            <a:avLst/>
          </a:prstGeom>
        </p:spPr>
      </p:pic>
    </p:spTree>
    <p:extLst>
      <p:ext uri="{BB962C8B-B14F-4D97-AF65-F5344CB8AC3E}">
        <p14:creationId xmlns:p14="http://schemas.microsoft.com/office/powerpoint/2010/main" val="28113806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152400" y="292813"/>
            <a:ext cx="8559209" cy="585628"/>
          </a:xfrm>
        </p:spPr>
        <p:txBody>
          <a:bodyPr>
            <a:normAutofit fontScale="90000"/>
          </a:bodyPr>
          <a:lstStyle/>
          <a:p>
            <a:r>
              <a:rPr lang="en-IN" sz="4400" b="1" i="0" u="none" strike="noStrike" baseline="0" dirty="0">
                <a:solidFill>
                  <a:schemeClr val="accent1"/>
                </a:solidFill>
                <a:latin typeface="Times-Bold"/>
              </a:rPr>
              <a:t>Transmission Impairments</a:t>
            </a:r>
            <a:endParaRPr lang="en-IN" dirty="0">
              <a:solidFill>
                <a:schemeClr val="accent1"/>
              </a:solidFill>
            </a:endParaRPr>
          </a:p>
        </p:txBody>
      </p:sp>
      <p:sp>
        <p:nvSpPr>
          <p:cNvPr id="4" name="Content Placeholder 3">
            <a:extLst>
              <a:ext uri="{FF2B5EF4-FFF2-40B4-BE49-F238E27FC236}">
                <a16:creationId xmlns:a16="http://schemas.microsoft.com/office/drawing/2014/main" id="{5C0310D4-6721-D1CC-E995-D0B9D2E68B53}"/>
              </a:ext>
            </a:extLst>
          </p:cNvPr>
          <p:cNvSpPr>
            <a:spLocks noGrp="1"/>
          </p:cNvSpPr>
          <p:nvPr>
            <p:ph idx="1"/>
          </p:nvPr>
        </p:nvSpPr>
        <p:spPr>
          <a:xfrm>
            <a:off x="540250" y="1155845"/>
            <a:ext cx="10515600" cy="662682"/>
          </a:xfrm>
        </p:spPr>
        <p:txBody>
          <a:bodyPr>
            <a:normAutofit/>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Distortion (Signal changes its form or shape)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7F3AAD-6355-6147-9C7E-AF8CF50D8966}"/>
              </a:ext>
            </a:extLst>
          </p:cNvPr>
          <p:cNvSpPr txBox="1"/>
          <p:nvPr/>
        </p:nvSpPr>
        <p:spPr>
          <a:xfrm>
            <a:off x="28575" y="1818527"/>
            <a:ext cx="4648200" cy="4339650"/>
          </a:xfrm>
          <a:prstGeom prst="rect">
            <a:avLst/>
          </a:prstGeom>
          <a:noFill/>
        </p:spPr>
        <p:txBody>
          <a:bodyPr wrap="square">
            <a:spAutoFit/>
          </a:bodyPr>
          <a:lstStyle/>
          <a:p>
            <a:pPr algn="just" fontAlgn="base">
              <a:buNone/>
            </a:pPr>
            <a:r>
              <a:rPr lang="en-US" sz="2400" i="0" strike="noStrike" dirty="0">
                <a:effectLst/>
                <a:latin typeface="Times New Roman" panose="02020603050405020304" pitchFamily="18" charset="0"/>
                <a:cs typeface="Times New Roman" panose="02020603050405020304" pitchFamily="18" charset="0"/>
              </a:rPr>
              <a:t>Distortion occurs in composite signals.</a:t>
            </a:r>
            <a:r>
              <a:rPr lang="en-US" sz="2400" dirty="0">
                <a:latin typeface="Times New Roman" panose="02020603050405020304" pitchFamily="18" charset="0"/>
                <a:cs typeface="Times New Roman" panose="02020603050405020304" pitchFamily="18" charset="0"/>
              </a:rPr>
              <a:t> </a:t>
            </a:r>
            <a:r>
              <a:rPr lang="en-US" sz="2400" i="0" strike="noStrike" dirty="0">
                <a:effectLst/>
                <a:latin typeface="Times New Roman" panose="02020603050405020304" pitchFamily="18" charset="0"/>
                <a:cs typeface="Times New Roman" panose="02020603050405020304" pitchFamily="18" charset="0"/>
              </a:rPr>
              <a:t>Each frequency component has its own </a:t>
            </a:r>
            <a:r>
              <a:rPr lang="en-US" sz="2400" i="0" strike="noStrike" dirty="0">
                <a:solidFill>
                  <a:srgbClr val="3366FF"/>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propagation</a:t>
            </a:r>
            <a:r>
              <a:rPr lang="en-US" sz="2400" i="0" strike="noStrike" dirty="0">
                <a:effectLst/>
                <a:latin typeface="Times New Roman" panose="02020603050405020304" pitchFamily="18" charset="0"/>
                <a:cs typeface="Times New Roman" panose="02020603050405020304" pitchFamily="18" charset="0"/>
              </a:rPr>
              <a:t> speed traveling through a medium.</a:t>
            </a:r>
          </a:p>
          <a:p>
            <a:pPr algn="just" fontAlgn="base">
              <a:buNone/>
            </a:pPr>
            <a:endParaRPr lang="en-US" sz="2400" b="0" i="0" u="none" strike="noStrike" dirty="0">
              <a:solidFill>
                <a:srgbClr val="5B6C77"/>
              </a:solidFill>
              <a:effectLst/>
              <a:latin typeface="Times New Roman" panose="02020603050405020304" pitchFamily="18" charset="0"/>
              <a:cs typeface="Times New Roman" panose="02020603050405020304" pitchFamily="18" charset="0"/>
            </a:endParaRPr>
          </a:p>
          <a:p>
            <a:pPr algn="just" fontAlgn="base">
              <a:buNone/>
            </a:pPr>
            <a:r>
              <a:rPr lang="en-US" sz="2400" b="0" i="0" u="none" strike="noStrike" dirty="0">
                <a:effectLst/>
                <a:latin typeface="Times New Roman" panose="02020603050405020304" pitchFamily="18" charset="0"/>
                <a:cs typeface="Times New Roman" panose="02020603050405020304" pitchFamily="18" charset="0"/>
              </a:rPr>
              <a:t>The different components therefore arrive with different delays at the receiver. That means that the signals have different phases at the receiver than they did at the source.</a:t>
            </a:r>
          </a:p>
          <a:p>
            <a:pPr>
              <a:buNone/>
            </a:pPr>
            <a:br>
              <a:rPr lang="en-US" dirty="0"/>
            </a:br>
            <a:endParaRPr lang="en-IN" dirty="0"/>
          </a:p>
        </p:txBody>
      </p:sp>
      <p:pic>
        <p:nvPicPr>
          <p:cNvPr id="10" name="Picture 9">
            <a:extLst>
              <a:ext uri="{FF2B5EF4-FFF2-40B4-BE49-F238E27FC236}">
                <a16:creationId xmlns:a16="http://schemas.microsoft.com/office/drawing/2014/main" id="{9B3F224D-8130-3A62-F41F-4C7C1541790B}"/>
              </a:ext>
            </a:extLst>
          </p:cNvPr>
          <p:cNvPicPr>
            <a:picLocks noChangeAspect="1"/>
          </p:cNvPicPr>
          <p:nvPr/>
        </p:nvPicPr>
        <p:blipFill>
          <a:blip r:embed="rId3"/>
          <a:stretch>
            <a:fillRect/>
          </a:stretch>
        </p:blipFill>
        <p:spPr>
          <a:xfrm>
            <a:off x="4676775" y="2388745"/>
            <a:ext cx="7362825" cy="2771775"/>
          </a:xfrm>
          <a:prstGeom prst="rect">
            <a:avLst/>
          </a:prstGeom>
        </p:spPr>
      </p:pic>
    </p:spTree>
    <p:extLst>
      <p:ext uri="{BB962C8B-B14F-4D97-AF65-F5344CB8AC3E}">
        <p14:creationId xmlns:p14="http://schemas.microsoft.com/office/powerpoint/2010/main" val="39868347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998-0722-535C-BFFD-5505C3A44E0B}"/>
              </a:ext>
            </a:extLst>
          </p:cNvPr>
          <p:cNvSpPr>
            <a:spLocks noGrp="1"/>
          </p:cNvSpPr>
          <p:nvPr>
            <p:ph type="title"/>
          </p:nvPr>
        </p:nvSpPr>
        <p:spPr>
          <a:xfrm>
            <a:off x="304800" y="181452"/>
            <a:ext cx="8559209" cy="585628"/>
          </a:xfrm>
        </p:spPr>
        <p:txBody>
          <a:bodyPr>
            <a:normAutofit fontScale="90000"/>
          </a:bodyPr>
          <a:lstStyle/>
          <a:p>
            <a:r>
              <a:rPr lang="en-IN" sz="4400" b="1" i="0" u="none" strike="noStrike" baseline="0" dirty="0">
                <a:solidFill>
                  <a:schemeClr val="accent1"/>
                </a:solidFill>
                <a:latin typeface="Times-Bold"/>
              </a:rPr>
              <a:t>Transmission Impairments</a:t>
            </a:r>
            <a:endParaRPr lang="en-IN" dirty="0">
              <a:solidFill>
                <a:schemeClr val="accent1"/>
              </a:solidFill>
            </a:endParaRPr>
          </a:p>
        </p:txBody>
      </p:sp>
      <p:sp>
        <p:nvSpPr>
          <p:cNvPr id="7" name="Content Placeholder 3">
            <a:extLst>
              <a:ext uri="{FF2B5EF4-FFF2-40B4-BE49-F238E27FC236}">
                <a16:creationId xmlns:a16="http://schemas.microsoft.com/office/drawing/2014/main" id="{72AAA847-8898-378E-413A-2669ACC5FE0E}"/>
              </a:ext>
            </a:extLst>
          </p:cNvPr>
          <p:cNvSpPr txBox="1">
            <a:spLocks/>
          </p:cNvSpPr>
          <p:nvPr/>
        </p:nvSpPr>
        <p:spPr>
          <a:xfrm>
            <a:off x="990600" y="914400"/>
            <a:ext cx="5524927" cy="1926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latin typeface="Times New Roman" panose="02020603050405020304" pitchFamily="18" charset="0"/>
                <a:cs typeface="Times New Roman" panose="02020603050405020304" pitchFamily="18" charset="0"/>
              </a:rPr>
              <a:t>Noise (Absolutely unwanted signals)</a:t>
            </a:r>
          </a:p>
          <a:p>
            <a:r>
              <a:rPr lang="en-IN" dirty="0">
                <a:latin typeface="Times New Roman" panose="02020603050405020304" pitchFamily="18" charset="0"/>
                <a:cs typeface="Times New Roman" panose="02020603050405020304" pitchFamily="18" charset="0"/>
              </a:rPr>
              <a:t>Thermal noise (Electrons)</a:t>
            </a:r>
          </a:p>
          <a:p>
            <a:r>
              <a:rPr lang="en-IN" dirty="0">
                <a:latin typeface="Times New Roman" panose="02020603050405020304" pitchFamily="18" charset="0"/>
                <a:cs typeface="Times New Roman" panose="02020603050405020304" pitchFamily="18" charset="0"/>
              </a:rPr>
              <a:t>Induced noise (Ignition)</a:t>
            </a:r>
          </a:p>
          <a:p>
            <a:r>
              <a:rPr lang="en-IN" dirty="0">
                <a:latin typeface="Times New Roman" panose="02020603050405020304" pitchFamily="18" charset="0"/>
                <a:cs typeface="Times New Roman" panose="02020603050405020304" pitchFamily="18" charset="0"/>
              </a:rPr>
              <a:t>Impulse noise (lightning)</a:t>
            </a:r>
          </a:p>
        </p:txBody>
      </p:sp>
      <p:pic>
        <p:nvPicPr>
          <p:cNvPr id="10" name="Picture 9">
            <a:extLst>
              <a:ext uri="{FF2B5EF4-FFF2-40B4-BE49-F238E27FC236}">
                <a16:creationId xmlns:a16="http://schemas.microsoft.com/office/drawing/2014/main" id="{96D4FC9B-6783-0839-4598-D1B77E1E54D0}"/>
              </a:ext>
            </a:extLst>
          </p:cNvPr>
          <p:cNvPicPr>
            <a:picLocks noChangeAspect="1"/>
          </p:cNvPicPr>
          <p:nvPr/>
        </p:nvPicPr>
        <p:blipFill>
          <a:blip r:embed="rId2"/>
          <a:stretch>
            <a:fillRect/>
          </a:stretch>
        </p:blipFill>
        <p:spPr>
          <a:xfrm>
            <a:off x="3200400" y="3276600"/>
            <a:ext cx="6276975" cy="2514600"/>
          </a:xfrm>
          <a:prstGeom prst="rect">
            <a:avLst/>
          </a:prstGeom>
        </p:spPr>
      </p:pic>
    </p:spTree>
    <p:extLst>
      <p:ext uri="{BB962C8B-B14F-4D97-AF65-F5344CB8AC3E}">
        <p14:creationId xmlns:p14="http://schemas.microsoft.com/office/powerpoint/2010/main" val="11435027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70" name="Rectangle 10">
            <a:extLst>
              <a:ext uri="{FF2B5EF4-FFF2-40B4-BE49-F238E27FC236}">
                <a16:creationId xmlns:a16="http://schemas.microsoft.com/office/drawing/2014/main" id="{39A0524B-F90B-21EA-A96E-2858EA1AE90B}"/>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34571" name="Rectangle 11">
            <a:extLst>
              <a:ext uri="{FF2B5EF4-FFF2-40B4-BE49-F238E27FC236}">
                <a16:creationId xmlns:a16="http://schemas.microsoft.com/office/drawing/2014/main" id="{CE55CA16-C7C4-9638-D84B-8D3A3D230C0A}"/>
              </a:ext>
            </a:extLst>
          </p:cNvPr>
          <p:cNvSpPr>
            <a:spLocks noChangeArrowheads="1"/>
          </p:cNvSpPr>
          <p:nvPr/>
        </p:nvSpPr>
        <p:spPr bwMode="auto">
          <a:xfrm>
            <a:off x="1143000" y="136525"/>
            <a:ext cx="8534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baseline="0" dirty="0">
                <a:solidFill>
                  <a:srgbClr val="FF0000"/>
                </a:solidFill>
                <a:latin typeface="Times New Roman" panose="02020603050405020304" pitchFamily="18" charset="0"/>
                <a:cs typeface="Times New Roman" panose="02020603050405020304" pitchFamily="18" charset="0"/>
              </a:rPr>
              <a:t>The power of a signal is 10 </a:t>
            </a:r>
            <a:r>
              <a:rPr lang="en-US" altLang="en-US" sz="2400" baseline="0" dirty="0" err="1">
                <a:solidFill>
                  <a:srgbClr val="FF0000"/>
                </a:solidFill>
                <a:latin typeface="Times New Roman" panose="02020603050405020304" pitchFamily="18" charset="0"/>
                <a:cs typeface="Times New Roman" panose="02020603050405020304" pitchFamily="18" charset="0"/>
              </a:rPr>
              <a:t>mW</a:t>
            </a:r>
            <a:r>
              <a:rPr lang="en-US" altLang="en-US" sz="2400" baseline="0" dirty="0">
                <a:solidFill>
                  <a:srgbClr val="FF0000"/>
                </a:solidFill>
                <a:latin typeface="Times New Roman" panose="02020603050405020304" pitchFamily="18" charset="0"/>
                <a:cs typeface="Times New Roman" panose="02020603050405020304" pitchFamily="18" charset="0"/>
              </a:rPr>
              <a:t> and the power of the noise is 1 </a:t>
            </a:r>
            <a:r>
              <a:rPr lang="en-US" altLang="en-US" sz="2400" baseline="0" dirty="0" err="1">
                <a:solidFill>
                  <a:srgbClr val="FF0000"/>
                </a:solidFill>
                <a:latin typeface="Times New Roman" panose="02020603050405020304" pitchFamily="18" charset="0"/>
                <a:cs typeface="Times New Roman" panose="02020603050405020304" pitchFamily="18" charset="0"/>
              </a:rPr>
              <a:t>μW</a:t>
            </a:r>
            <a:r>
              <a:rPr lang="en-US" altLang="en-US" sz="2400" baseline="0" dirty="0">
                <a:solidFill>
                  <a:srgbClr val="FF0000"/>
                </a:solidFill>
                <a:latin typeface="Times New Roman" panose="02020603050405020304" pitchFamily="18" charset="0"/>
                <a:cs typeface="Times New Roman" panose="02020603050405020304" pitchFamily="18" charset="0"/>
              </a:rPr>
              <a:t>; what are the values of SNR and </a:t>
            </a:r>
            <a:r>
              <a:rPr lang="en-US" altLang="en-US" sz="2400" baseline="0" dirty="0" err="1">
                <a:solidFill>
                  <a:srgbClr val="FF0000"/>
                </a:solidFill>
                <a:latin typeface="Times New Roman" panose="02020603050405020304" pitchFamily="18" charset="0"/>
                <a:cs typeface="Times New Roman" panose="02020603050405020304" pitchFamily="18" charset="0"/>
              </a:rPr>
              <a:t>SNR</a:t>
            </a:r>
            <a:r>
              <a:rPr lang="en-US" altLang="en-US" sz="2400" baseline="-25000" dirty="0" err="1">
                <a:solidFill>
                  <a:srgbClr val="FF0000"/>
                </a:solidFill>
                <a:latin typeface="Times New Roman" panose="02020603050405020304" pitchFamily="18" charset="0"/>
                <a:cs typeface="Times New Roman" panose="02020603050405020304" pitchFamily="18" charset="0"/>
              </a:rPr>
              <a:t>dB</a:t>
            </a:r>
            <a:r>
              <a:rPr lang="en-US" altLang="en-US" sz="2400" baseline="-25000" dirty="0">
                <a:solidFill>
                  <a:srgbClr val="FF0000"/>
                </a:solidFill>
                <a:latin typeface="Times New Roman" panose="02020603050405020304" pitchFamily="18" charset="0"/>
                <a:cs typeface="Times New Roman" panose="02020603050405020304" pitchFamily="18" charset="0"/>
              </a:rPr>
              <a:t> </a:t>
            </a:r>
            <a:r>
              <a:rPr lang="en-US" altLang="en-US" sz="2400" baseline="0" dirty="0">
                <a:solidFill>
                  <a:srgbClr val="FF0000"/>
                </a:solidFill>
                <a:latin typeface="Times New Roman" panose="02020603050405020304" pitchFamily="18" charset="0"/>
                <a:cs typeface="Times New Roman" panose="02020603050405020304" pitchFamily="18" charset="0"/>
              </a:rPr>
              <a:t>?</a:t>
            </a:r>
          </a:p>
          <a:p>
            <a:pPr algn="just"/>
            <a:endParaRPr lang="en-US" altLang="en-US" sz="2400" baseline="0" dirty="0">
              <a:latin typeface="Times New Roman" panose="02020603050405020304" pitchFamily="18" charset="0"/>
              <a:cs typeface="Times New Roman" panose="02020603050405020304" pitchFamily="18" charset="0"/>
            </a:endParaRPr>
          </a:p>
          <a:p>
            <a:pPr algn="just"/>
            <a:r>
              <a:rPr lang="en-US" altLang="en-US" sz="2400" baseline="0" dirty="0">
                <a:latin typeface="Times New Roman" panose="02020603050405020304" pitchFamily="18" charset="0"/>
                <a:cs typeface="Times New Roman" panose="02020603050405020304" pitchFamily="18" charset="0"/>
              </a:rPr>
              <a:t>Solution</a:t>
            </a:r>
          </a:p>
          <a:p>
            <a:pPr algn="just"/>
            <a:r>
              <a:rPr lang="en-US" altLang="en-US" sz="2400" baseline="0" dirty="0">
                <a:latin typeface="Times New Roman" panose="02020603050405020304" pitchFamily="18" charset="0"/>
                <a:cs typeface="Times New Roman" panose="02020603050405020304" pitchFamily="18" charset="0"/>
              </a:rPr>
              <a:t>The values of SNR and </a:t>
            </a:r>
            <a:r>
              <a:rPr lang="en-US" altLang="en-US" sz="2400" baseline="0" dirty="0" err="1">
                <a:latin typeface="Times New Roman" panose="02020603050405020304" pitchFamily="18" charset="0"/>
                <a:cs typeface="Times New Roman" panose="02020603050405020304" pitchFamily="18" charset="0"/>
              </a:rPr>
              <a:t>SNR</a:t>
            </a:r>
            <a:r>
              <a:rPr lang="en-US" altLang="en-US" sz="2400" dirty="0" err="1">
                <a:latin typeface="Times New Roman" panose="02020603050405020304" pitchFamily="18" charset="0"/>
                <a:cs typeface="Times New Roman" panose="02020603050405020304" pitchFamily="18" charset="0"/>
              </a:rPr>
              <a:t>dB</a:t>
            </a:r>
            <a:r>
              <a:rPr lang="en-US" altLang="en-US" sz="2400" baseline="0" dirty="0">
                <a:latin typeface="Times New Roman" panose="02020603050405020304" pitchFamily="18" charset="0"/>
                <a:cs typeface="Times New Roman" panose="02020603050405020304" pitchFamily="18" charset="0"/>
              </a:rPr>
              <a:t> can be calculated as follows:</a:t>
            </a:r>
          </a:p>
        </p:txBody>
      </p:sp>
      <p:pic>
        <p:nvPicPr>
          <p:cNvPr id="834577" name="Picture 17">
            <a:extLst>
              <a:ext uri="{FF2B5EF4-FFF2-40B4-BE49-F238E27FC236}">
                <a16:creationId xmlns:a16="http://schemas.microsoft.com/office/drawing/2014/main" id="{35416DC0-AF85-64EA-50F4-46F64DC723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376488"/>
            <a:ext cx="5391150" cy="1052512"/>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A436405-6A9E-BEA6-7DA8-2D348811239E}"/>
              </a:ext>
            </a:extLst>
          </p:cNvPr>
          <p:cNvSpPr/>
          <p:nvPr/>
        </p:nvSpPr>
        <p:spPr>
          <a:xfrm>
            <a:off x="2681288" y="2582863"/>
            <a:ext cx="6829425" cy="1931987"/>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6000" dirty="0">
                <a:latin typeface="Accord SF" panose="020BE200000000000000" pitchFamily="34" charset="0"/>
              </a:rPr>
              <a:t>LINE CODING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7D80038B-8DFB-A20D-239C-3EC8B527E006}"/>
              </a:ext>
            </a:extLst>
          </p:cNvPr>
          <p:cNvSpPr>
            <a:spLocks noGrp="1" noChangeArrowheads="1"/>
          </p:cNvSpPr>
          <p:nvPr>
            <p:ph type="title"/>
          </p:nvPr>
        </p:nvSpPr>
        <p:spPr>
          <a:xfrm>
            <a:off x="4267200" y="-152400"/>
            <a:ext cx="3459163" cy="990600"/>
          </a:xfrm>
        </p:spPr>
        <p:txBody>
          <a:bodyPr/>
          <a:lstStyle/>
          <a:p>
            <a:r>
              <a:rPr lang="en-IN" altLang="en-US" sz="3600" dirty="0">
                <a:solidFill>
                  <a:schemeClr val="accent1"/>
                </a:solidFill>
                <a:latin typeface="Accord SF"/>
              </a:rPr>
              <a:t>Line Coding</a:t>
            </a:r>
          </a:p>
        </p:txBody>
      </p:sp>
      <p:sp>
        <p:nvSpPr>
          <p:cNvPr id="105475" name="TextBox 5">
            <a:extLst>
              <a:ext uri="{FF2B5EF4-FFF2-40B4-BE49-F238E27FC236}">
                <a16:creationId xmlns:a16="http://schemas.microsoft.com/office/drawing/2014/main" id="{A83EB0F0-0946-5B88-6686-A47BA0F1D80B}"/>
              </a:ext>
            </a:extLst>
          </p:cNvPr>
          <p:cNvSpPr txBox="1">
            <a:spLocks noChangeArrowheads="1"/>
          </p:cNvSpPr>
          <p:nvPr/>
        </p:nvSpPr>
        <p:spPr bwMode="auto">
          <a:xfrm>
            <a:off x="76200" y="795278"/>
            <a:ext cx="115824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A computer network is designed to send information from one point to another. This information needs to be converted to either a digital signal or an analog signal for transmission.</a:t>
            </a:r>
          </a:p>
          <a:p>
            <a:pPr>
              <a:lnSpc>
                <a:spcPct val="100000"/>
              </a:lnSpc>
              <a:spcBef>
                <a:spcPct val="0"/>
              </a:spcBef>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a:t>
            </a:r>
            <a:r>
              <a:rPr lang="en-IN" altLang="en-US" sz="2400" dirty="0">
                <a:latin typeface="Times New Roman" panose="02020603050405020304" pitchFamily="18" charset="0"/>
                <a:cs typeface="Times New Roman" panose="02020603050405020304" pitchFamily="18" charset="0"/>
              </a:rPr>
              <a:t>Line coding is the process of converting </a:t>
            </a:r>
            <a:r>
              <a:rPr lang="en-IN" altLang="en-US" sz="2400" i="1" dirty="0">
                <a:solidFill>
                  <a:schemeClr val="accent1"/>
                </a:solidFill>
                <a:latin typeface="Times New Roman" panose="02020603050405020304" pitchFamily="18" charset="0"/>
                <a:cs typeface="Times New Roman" panose="02020603050405020304" pitchFamily="18" charset="0"/>
              </a:rPr>
              <a:t>digital data </a:t>
            </a:r>
            <a:r>
              <a:rPr lang="en-IN" altLang="en-US" sz="2400" dirty="0">
                <a:latin typeface="Times New Roman" panose="02020603050405020304" pitchFamily="18" charset="0"/>
                <a:cs typeface="Times New Roman" panose="02020603050405020304" pitchFamily="18" charset="0"/>
              </a:rPr>
              <a:t>to </a:t>
            </a:r>
            <a:r>
              <a:rPr lang="en-IN" altLang="en-US" sz="2400" i="1" dirty="0">
                <a:solidFill>
                  <a:schemeClr val="accent1"/>
                </a:solidFill>
                <a:latin typeface="Times New Roman" panose="02020603050405020304" pitchFamily="18" charset="0"/>
                <a:cs typeface="Times New Roman" panose="02020603050405020304" pitchFamily="18" charset="0"/>
              </a:rPr>
              <a:t>digital signals</a:t>
            </a:r>
            <a:r>
              <a:rPr lang="en-IN" altLang="en-US" sz="2400" dirty="0">
                <a:latin typeface="Times New Roman" panose="02020603050405020304" pitchFamily="18" charset="0"/>
                <a:cs typeface="Times New Roman" panose="02020603050405020304" pitchFamily="18" charset="0"/>
              </a:rPr>
              <a:t>.</a:t>
            </a:r>
          </a:p>
          <a:p>
            <a:pPr algn="just">
              <a:lnSpc>
                <a:spcPct val="150000"/>
              </a:lnSpc>
              <a:spcBef>
                <a:spcPct val="0"/>
              </a:spcBef>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Line coding converts a sequence of </a:t>
            </a:r>
            <a:r>
              <a:rPr lang="en-IN" altLang="en-US" sz="2400" i="1" dirty="0">
                <a:solidFill>
                  <a:schemeClr val="accent1"/>
                </a:solidFill>
                <a:latin typeface="Times New Roman" panose="02020603050405020304" pitchFamily="18" charset="0"/>
                <a:cs typeface="Times New Roman" panose="02020603050405020304" pitchFamily="18" charset="0"/>
              </a:rPr>
              <a:t>bits</a:t>
            </a:r>
            <a:r>
              <a:rPr lang="en-IN" altLang="en-US" sz="2400" dirty="0">
                <a:latin typeface="Times New Roman" panose="02020603050405020304" pitchFamily="18" charset="0"/>
                <a:cs typeface="Times New Roman" panose="02020603050405020304" pitchFamily="18" charset="0"/>
              </a:rPr>
              <a:t> to a </a:t>
            </a:r>
            <a:r>
              <a:rPr lang="en-IN" altLang="en-US" sz="2400" i="1" dirty="0">
                <a:solidFill>
                  <a:schemeClr val="accent1"/>
                </a:solidFill>
                <a:latin typeface="Times New Roman" panose="02020603050405020304" pitchFamily="18" charset="0"/>
                <a:cs typeface="Times New Roman" panose="02020603050405020304" pitchFamily="18" charset="0"/>
              </a:rPr>
              <a:t>digital signal</a:t>
            </a:r>
            <a:r>
              <a:rPr lang="en-IN" altLang="en-US" sz="2400" dirty="0">
                <a:latin typeface="Times New Roman" panose="02020603050405020304" pitchFamily="18" charset="0"/>
                <a:cs typeface="Times New Roman" panose="02020603050405020304" pitchFamily="18" charset="0"/>
              </a:rPr>
              <a:t>.</a:t>
            </a:r>
          </a:p>
          <a:p>
            <a:pPr algn="just">
              <a:lnSpc>
                <a:spcPct val="100000"/>
              </a:lnSpc>
              <a:spcBef>
                <a:spcPct val="0"/>
              </a:spcBef>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At the sender, </a:t>
            </a:r>
            <a:r>
              <a:rPr lang="en-IN" altLang="en-US" sz="2400" i="1" dirty="0">
                <a:solidFill>
                  <a:schemeClr val="accent1"/>
                </a:solidFill>
                <a:latin typeface="Times New Roman" panose="02020603050405020304" pitchFamily="18" charset="0"/>
                <a:cs typeface="Times New Roman" panose="02020603050405020304" pitchFamily="18" charset="0"/>
              </a:rPr>
              <a:t>digital data </a:t>
            </a:r>
            <a:r>
              <a:rPr lang="en-IN" altLang="en-US" sz="2400" dirty="0">
                <a:latin typeface="Times New Roman" panose="02020603050405020304" pitchFamily="18" charset="0"/>
                <a:cs typeface="Times New Roman" panose="02020603050405020304" pitchFamily="18" charset="0"/>
              </a:rPr>
              <a:t>are encoded into a </a:t>
            </a:r>
            <a:r>
              <a:rPr lang="en-IN" altLang="en-US" sz="2400" i="1" dirty="0">
                <a:solidFill>
                  <a:schemeClr val="accent1"/>
                </a:solidFill>
                <a:latin typeface="Times New Roman" panose="02020603050405020304" pitchFamily="18" charset="0"/>
                <a:cs typeface="Times New Roman" panose="02020603050405020304" pitchFamily="18" charset="0"/>
              </a:rPr>
              <a:t>digital signal</a:t>
            </a:r>
            <a:r>
              <a:rPr lang="en-IN" altLang="en-US" sz="2400" dirty="0">
                <a:latin typeface="Times New Roman" panose="02020603050405020304" pitchFamily="18" charset="0"/>
                <a:cs typeface="Times New Roman" panose="02020603050405020304" pitchFamily="18" charset="0"/>
              </a:rPr>
              <a:t>; at the receiver, the </a:t>
            </a:r>
            <a:r>
              <a:rPr lang="en-IN" altLang="en-US" sz="2400" i="1" dirty="0">
                <a:solidFill>
                  <a:schemeClr val="accent1"/>
                </a:solidFill>
                <a:latin typeface="Times New Roman" panose="02020603050405020304" pitchFamily="18" charset="0"/>
                <a:cs typeface="Times New Roman" panose="02020603050405020304" pitchFamily="18" charset="0"/>
              </a:rPr>
              <a:t>digital data </a:t>
            </a:r>
            <a:r>
              <a:rPr lang="en-IN" altLang="en-US" sz="2400" dirty="0">
                <a:latin typeface="Times New Roman" panose="02020603050405020304" pitchFamily="18" charset="0"/>
                <a:cs typeface="Times New Roman" panose="02020603050405020304" pitchFamily="18" charset="0"/>
              </a:rPr>
              <a:t>are recreated by decoding the </a:t>
            </a:r>
            <a:r>
              <a:rPr lang="en-IN" altLang="en-US" sz="2400" i="1" dirty="0">
                <a:solidFill>
                  <a:schemeClr val="accent1"/>
                </a:solidFill>
                <a:latin typeface="Times New Roman" panose="02020603050405020304" pitchFamily="18" charset="0"/>
                <a:cs typeface="Times New Roman" panose="02020603050405020304" pitchFamily="18" charset="0"/>
              </a:rPr>
              <a:t>digital signal</a:t>
            </a:r>
            <a:r>
              <a:rPr lang="en-IN" altLang="en-US" sz="2400" dirty="0">
                <a:latin typeface="Times New Roman" panose="02020603050405020304" pitchFamily="18" charset="0"/>
                <a:cs typeface="Times New Roman" panose="02020603050405020304" pitchFamily="18" charset="0"/>
              </a:rPr>
              <a:t>.  </a:t>
            </a:r>
          </a:p>
        </p:txBody>
      </p:sp>
      <p:pic>
        <p:nvPicPr>
          <p:cNvPr id="105476" name="Picture 6">
            <a:extLst>
              <a:ext uri="{FF2B5EF4-FFF2-40B4-BE49-F238E27FC236}">
                <a16:creationId xmlns:a16="http://schemas.microsoft.com/office/drawing/2014/main" id="{CC29248E-1F42-69AF-F468-24607D8E0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3962400"/>
            <a:ext cx="8775700"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TextBox 3">
            <a:extLst>
              <a:ext uri="{FF2B5EF4-FFF2-40B4-BE49-F238E27FC236}">
                <a16:creationId xmlns:a16="http://schemas.microsoft.com/office/drawing/2014/main" id="{340B7D99-33CC-A28A-10D5-F2C77C99C776}"/>
              </a:ext>
            </a:extLst>
          </p:cNvPr>
          <p:cNvSpPr txBox="1">
            <a:spLocks noChangeArrowheads="1"/>
          </p:cNvSpPr>
          <p:nvPr/>
        </p:nvSpPr>
        <p:spPr bwMode="auto">
          <a:xfrm>
            <a:off x="1828801" y="152400"/>
            <a:ext cx="64682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IN" altLang="en-US" sz="3600" i="1" dirty="0">
                <a:solidFill>
                  <a:srgbClr val="3366FF"/>
                </a:solidFill>
                <a:latin typeface="Times New Roman" panose="02020603050405020304" pitchFamily="18" charset="0"/>
                <a:cs typeface="Times New Roman" panose="02020603050405020304" pitchFamily="18" charset="0"/>
              </a:rPr>
              <a:t>Signal Element Vs. Data Element</a:t>
            </a:r>
          </a:p>
        </p:txBody>
      </p:sp>
      <p:sp>
        <p:nvSpPr>
          <p:cNvPr id="106500" name="TextBox 4">
            <a:extLst>
              <a:ext uri="{FF2B5EF4-FFF2-40B4-BE49-F238E27FC236}">
                <a16:creationId xmlns:a16="http://schemas.microsoft.com/office/drawing/2014/main" id="{49DDC4AC-FA21-B3D0-D5AE-C19C638A5D31}"/>
              </a:ext>
            </a:extLst>
          </p:cNvPr>
          <p:cNvSpPr txBox="1">
            <a:spLocks noChangeArrowheads="1"/>
          </p:cNvSpPr>
          <p:nvPr/>
        </p:nvSpPr>
        <p:spPr bwMode="auto">
          <a:xfrm>
            <a:off x="-10160" y="1043731"/>
            <a:ext cx="5895975"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A </a:t>
            </a:r>
            <a:r>
              <a:rPr lang="en-IN" altLang="en-US" sz="2400" i="1" dirty="0">
                <a:solidFill>
                  <a:schemeClr val="accent1"/>
                </a:solidFill>
                <a:latin typeface="Times New Roman" panose="02020603050405020304" pitchFamily="18" charset="0"/>
                <a:cs typeface="Times New Roman" panose="02020603050405020304" pitchFamily="18" charset="0"/>
              </a:rPr>
              <a:t>data element </a:t>
            </a:r>
            <a:r>
              <a:rPr lang="en-IN" altLang="en-US" sz="2400" dirty="0">
                <a:latin typeface="Times New Roman" panose="02020603050405020304" pitchFamily="18" charset="0"/>
                <a:cs typeface="Times New Roman" panose="02020603050405020304" pitchFamily="18" charset="0"/>
              </a:rPr>
              <a:t>is the smallest entity that can represent a piece of information </a:t>
            </a:r>
            <a:r>
              <a:rPr lang="en-IN" altLang="en-US" sz="2400" dirty="0">
                <a:solidFill>
                  <a:schemeClr val="accent1"/>
                </a:solidFill>
                <a:latin typeface="Times New Roman" panose="02020603050405020304" pitchFamily="18" charset="0"/>
                <a:cs typeface="Times New Roman" panose="02020603050405020304" pitchFamily="18" charset="0"/>
              </a:rPr>
              <a:t>(</a:t>
            </a:r>
            <a:r>
              <a:rPr lang="en-IN" altLang="en-US" sz="2400" i="1" dirty="0">
                <a:solidFill>
                  <a:schemeClr val="accent1"/>
                </a:solidFill>
                <a:latin typeface="Times New Roman" panose="02020603050405020304" pitchFamily="18" charset="0"/>
                <a:cs typeface="Times New Roman" panose="02020603050405020304" pitchFamily="18" charset="0"/>
              </a:rPr>
              <a:t>bit</a:t>
            </a:r>
            <a:r>
              <a:rPr lang="en-IN" altLang="en-US" sz="2400" dirty="0">
                <a:solidFill>
                  <a:schemeClr val="accent1"/>
                </a:solidFill>
                <a:latin typeface="Times New Roman" panose="02020603050405020304" pitchFamily="18" charset="0"/>
                <a:cs typeface="Times New Roman" panose="02020603050405020304" pitchFamily="18" charset="0"/>
              </a:rPr>
              <a:t>).</a:t>
            </a:r>
          </a:p>
          <a:p>
            <a:pPr algn="just">
              <a:lnSpc>
                <a:spcPct val="10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A </a:t>
            </a:r>
            <a:r>
              <a:rPr lang="en-IN" altLang="en-US" sz="2400" i="1" dirty="0">
                <a:solidFill>
                  <a:schemeClr val="accent1"/>
                </a:solidFill>
                <a:latin typeface="Times New Roman" panose="02020603050405020304" pitchFamily="18" charset="0"/>
                <a:cs typeface="Times New Roman" panose="02020603050405020304" pitchFamily="18" charset="0"/>
              </a:rPr>
              <a:t>signal element </a:t>
            </a:r>
            <a:r>
              <a:rPr lang="en-IN" altLang="en-US" sz="2400" dirty="0">
                <a:latin typeface="Times New Roman" panose="02020603050405020304" pitchFamily="18" charset="0"/>
                <a:cs typeface="Times New Roman" panose="02020603050405020304" pitchFamily="18" charset="0"/>
              </a:rPr>
              <a:t>is the shortest unit (time wise) of a digital signal. </a:t>
            </a:r>
          </a:p>
          <a:p>
            <a:pPr algn="just">
              <a:lnSpc>
                <a:spcPct val="10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In digital data communications, a signal element carries data elements. </a:t>
            </a:r>
          </a:p>
          <a:p>
            <a:pPr>
              <a:lnSpc>
                <a:spcPct val="10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Data elements are what we need to send; signal elements are what we can send. </a:t>
            </a:r>
          </a:p>
          <a:p>
            <a:pPr>
              <a:lnSpc>
                <a:spcPct val="10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elements are being carried; signal elements are the carriers. </a:t>
            </a:r>
            <a:br>
              <a:rPr lang="en-US" sz="2400" dirty="0"/>
            </a:br>
            <a:r>
              <a:rPr lang="en-IN" altLang="en-US" sz="2400" dirty="0">
                <a:latin typeface="Times New Roman" panose="02020603050405020304" pitchFamily="18" charset="0"/>
                <a:cs typeface="Times New Roman" panose="02020603050405020304" pitchFamily="18" charset="0"/>
              </a:rPr>
              <a:t>  </a:t>
            </a:r>
          </a:p>
        </p:txBody>
      </p:sp>
      <p:pic>
        <p:nvPicPr>
          <p:cNvPr id="3" name="Picture 6">
            <a:extLst>
              <a:ext uri="{FF2B5EF4-FFF2-40B4-BE49-F238E27FC236}">
                <a16:creationId xmlns:a16="http://schemas.microsoft.com/office/drawing/2014/main" id="{14BC263E-7A56-F3B5-7EB3-6614A10F2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2010" y="1168400"/>
            <a:ext cx="6105525" cy="488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218A20-D0BB-6EB3-3156-FFBB2E5ED2FE}"/>
              </a:ext>
            </a:extLst>
          </p:cNvPr>
          <p:cNvSpPr>
            <a:spLocks noGrp="1"/>
          </p:cNvSpPr>
          <p:nvPr>
            <p:ph idx="1"/>
          </p:nvPr>
        </p:nvSpPr>
        <p:spPr>
          <a:xfrm>
            <a:off x="2971800" y="164306"/>
            <a:ext cx="6248400" cy="928688"/>
          </a:xfrm>
        </p:spPr>
        <p:txBody>
          <a:bodyPr>
            <a:normAutofit/>
          </a:bodyPr>
          <a:lstStyle/>
          <a:p>
            <a:pPr marL="0" indent="0">
              <a:buFont typeface="Arial" panose="020B0604020202020204" pitchFamily="34" charset="0"/>
              <a:buNone/>
              <a:defRPr/>
            </a:pPr>
            <a:r>
              <a:rPr lang="en-IN" sz="3600" b="1" i="1" dirty="0">
                <a:solidFill>
                  <a:srgbClr val="3366FF"/>
                </a:solidFill>
                <a:latin typeface="Times New Roman" panose="02020603050405020304" pitchFamily="18" charset="0"/>
                <a:cs typeface="Times New Roman" panose="02020603050405020304" pitchFamily="18" charset="0"/>
              </a:rPr>
              <a:t>Data Rate Vs. Signal Rate</a:t>
            </a:r>
          </a:p>
        </p:txBody>
      </p:sp>
      <p:sp>
        <p:nvSpPr>
          <p:cNvPr id="107524" name="TextBox 3">
            <a:extLst>
              <a:ext uri="{FF2B5EF4-FFF2-40B4-BE49-F238E27FC236}">
                <a16:creationId xmlns:a16="http://schemas.microsoft.com/office/drawing/2014/main" id="{0B1BE7EA-1F15-9119-0973-E400D0048877}"/>
              </a:ext>
            </a:extLst>
          </p:cNvPr>
          <p:cNvSpPr txBox="1">
            <a:spLocks noChangeArrowheads="1"/>
          </p:cNvSpPr>
          <p:nvPr/>
        </p:nvSpPr>
        <p:spPr bwMode="auto">
          <a:xfrm>
            <a:off x="38100" y="851303"/>
            <a:ext cx="1150620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The </a:t>
            </a:r>
            <a:r>
              <a:rPr lang="en-IN" altLang="en-US" sz="2400" i="1" dirty="0">
                <a:solidFill>
                  <a:srgbClr val="FF0000"/>
                </a:solidFill>
                <a:latin typeface="Times New Roman" panose="02020603050405020304" pitchFamily="18" charset="0"/>
                <a:cs typeface="Times New Roman" panose="02020603050405020304" pitchFamily="18" charset="0"/>
              </a:rPr>
              <a:t>data rate </a:t>
            </a:r>
            <a:r>
              <a:rPr lang="en-IN" altLang="en-US" sz="2400" dirty="0">
                <a:latin typeface="Times New Roman" panose="02020603050405020304" pitchFamily="18" charset="0"/>
                <a:cs typeface="Times New Roman" panose="02020603050405020304" pitchFamily="18" charset="0"/>
              </a:rPr>
              <a:t>defines the number of data elements </a:t>
            </a:r>
            <a:r>
              <a:rPr lang="en-IN" altLang="en-US" sz="2400" i="1" dirty="0">
                <a:solidFill>
                  <a:srgbClr val="7030A0"/>
                </a:solidFill>
                <a:latin typeface="Times New Roman" panose="02020603050405020304" pitchFamily="18" charset="0"/>
                <a:cs typeface="Times New Roman" panose="02020603050405020304" pitchFamily="18" charset="0"/>
              </a:rPr>
              <a:t>(bits) </a:t>
            </a:r>
            <a:r>
              <a:rPr lang="en-IN" altLang="en-US" sz="2400" dirty="0">
                <a:latin typeface="Times New Roman" panose="02020603050405020304" pitchFamily="18" charset="0"/>
                <a:cs typeface="Times New Roman" panose="02020603050405020304" pitchFamily="18" charset="0"/>
              </a:rPr>
              <a:t>sent in </a:t>
            </a:r>
            <a:r>
              <a:rPr lang="en-IN" altLang="en-US" sz="2400" i="1" dirty="0">
                <a:solidFill>
                  <a:schemeClr val="accent1"/>
                </a:solidFill>
                <a:latin typeface="Times New Roman" panose="02020603050405020304" pitchFamily="18" charset="0"/>
                <a:cs typeface="Times New Roman" panose="02020603050405020304" pitchFamily="18" charset="0"/>
              </a:rPr>
              <a:t>1s</a:t>
            </a:r>
            <a:r>
              <a:rPr lang="en-IN" altLang="en-US" sz="2400" dirty="0">
                <a:latin typeface="Times New Roman" panose="02020603050405020304" pitchFamily="18" charset="0"/>
                <a:cs typeface="Times New Roman" panose="02020603050405020304" pitchFamily="18" charset="0"/>
              </a:rPr>
              <a:t>. The unit is bits per second </a:t>
            </a:r>
            <a:r>
              <a:rPr lang="en-IN" altLang="en-US" sz="2400" i="1" dirty="0">
                <a:solidFill>
                  <a:schemeClr val="accent1"/>
                </a:solidFill>
                <a:latin typeface="Times New Roman" panose="02020603050405020304" pitchFamily="18" charset="0"/>
                <a:cs typeface="Times New Roman" panose="02020603050405020304" pitchFamily="18" charset="0"/>
              </a:rPr>
              <a:t>(bps)</a:t>
            </a:r>
            <a:r>
              <a:rPr lang="en-IN" altLang="en-US" sz="2400" dirty="0">
                <a:latin typeface="Times New Roman" panose="02020603050405020304" pitchFamily="18" charset="0"/>
                <a:cs typeface="Times New Roman" panose="02020603050405020304" pitchFamily="18" charset="0"/>
              </a:rPr>
              <a:t>.</a:t>
            </a:r>
          </a:p>
          <a:p>
            <a:pPr>
              <a:lnSpc>
                <a:spcPct val="15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The </a:t>
            </a:r>
            <a:r>
              <a:rPr lang="en-IN" altLang="en-US" sz="2400" i="1" dirty="0">
                <a:solidFill>
                  <a:srgbClr val="FF0000"/>
                </a:solidFill>
                <a:latin typeface="Times New Roman" panose="02020603050405020304" pitchFamily="18" charset="0"/>
                <a:cs typeface="Times New Roman" panose="02020603050405020304" pitchFamily="18" charset="0"/>
              </a:rPr>
              <a:t>signal rate </a:t>
            </a:r>
            <a:r>
              <a:rPr lang="en-IN" altLang="en-US" sz="2400" dirty="0">
                <a:latin typeface="Times New Roman" panose="02020603050405020304" pitchFamily="18" charset="0"/>
                <a:cs typeface="Times New Roman" panose="02020603050405020304" pitchFamily="18" charset="0"/>
              </a:rPr>
              <a:t>is the number of signal elements sent in </a:t>
            </a:r>
            <a:r>
              <a:rPr lang="en-IN" altLang="en-US" sz="2400" i="1" dirty="0">
                <a:solidFill>
                  <a:schemeClr val="accent1"/>
                </a:solidFill>
                <a:latin typeface="Times New Roman" panose="02020603050405020304" pitchFamily="18" charset="0"/>
                <a:cs typeface="Times New Roman" panose="02020603050405020304" pitchFamily="18" charset="0"/>
              </a:rPr>
              <a:t>1s</a:t>
            </a:r>
            <a:r>
              <a:rPr lang="en-IN" altLang="en-US" sz="2400" dirty="0">
                <a:latin typeface="Times New Roman" panose="02020603050405020304" pitchFamily="18" charset="0"/>
                <a:cs typeface="Times New Roman" panose="02020603050405020304" pitchFamily="18" charset="0"/>
              </a:rPr>
              <a:t>. The unit is the </a:t>
            </a:r>
            <a:r>
              <a:rPr lang="en-IN" altLang="en-US" sz="2400" i="1" dirty="0">
                <a:solidFill>
                  <a:schemeClr val="accent1"/>
                </a:solidFill>
                <a:latin typeface="Times New Roman" panose="02020603050405020304" pitchFamily="18" charset="0"/>
                <a:cs typeface="Times New Roman" panose="02020603050405020304" pitchFamily="18" charset="0"/>
              </a:rPr>
              <a:t>baud</a:t>
            </a:r>
            <a:r>
              <a:rPr lang="en-IN" altLang="en-US" sz="2400" dirty="0">
                <a:latin typeface="Times New Roman" panose="02020603050405020304" pitchFamily="18" charset="0"/>
                <a:cs typeface="Times New Roman" panose="02020603050405020304" pitchFamily="18" charset="0"/>
              </a:rPr>
              <a:t>.</a:t>
            </a:r>
          </a:p>
          <a:p>
            <a:pPr>
              <a:lnSpc>
                <a:spcPct val="100000"/>
              </a:lnSpc>
              <a:spcBef>
                <a:spcPts val="600"/>
              </a:spcBef>
              <a:spcAft>
                <a:spcPts val="600"/>
              </a:spcAft>
              <a:buFont typeface="Wingdings" panose="05000000000000000000" pitchFamily="2" charset="2"/>
              <a:buChar char="Ø"/>
            </a:pPr>
            <a:r>
              <a:rPr lang="en-IN" altLang="en-US" sz="2400" dirty="0">
                <a:latin typeface="Times New Roman" panose="02020603050405020304" pitchFamily="18" charset="0"/>
                <a:cs typeface="Times New Roman" panose="02020603050405020304" pitchFamily="18" charset="0"/>
              </a:rPr>
              <a:t>The </a:t>
            </a:r>
            <a:r>
              <a:rPr lang="en-IN" altLang="en-US" sz="2400" i="1" dirty="0">
                <a:solidFill>
                  <a:schemeClr val="accent1"/>
                </a:solidFill>
                <a:latin typeface="Times New Roman" panose="02020603050405020304" pitchFamily="18" charset="0"/>
                <a:cs typeface="Times New Roman" panose="02020603050405020304" pitchFamily="18" charset="0"/>
              </a:rPr>
              <a:t>data rate </a:t>
            </a:r>
            <a:r>
              <a:rPr lang="en-IN" altLang="en-US" sz="2400" dirty="0">
                <a:latin typeface="Times New Roman" panose="02020603050405020304" pitchFamily="18" charset="0"/>
                <a:cs typeface="Times New Roman" panose="02020603050405020304" pitchFamily="18" charset="0"/>
              </a:rPr>
              <a:t>is sometimes called the </a:t>
            </a:r>
            <a:r>
              <a:rPr lang="en-IN" altLang="en-US" sz="2400" i="1" dirty="0">
                <a:solidFill>
                  <a:schemeClr val="accent1"/>
                </a:solidFill>
                <a:latin typeface="Times New Roman" panose="02020603050405020304" pitchFamily="18" charset="0"/>
                <a:cs typeface="Times New Roman" panose="02020603050405020304" pitchFamily="18" charset="0"/>
              </a:rPr>
              <a:t>bit rate</a:t>
            </a:r>
            <a:r>
              <a:rPr lang="en-IN" altLang="en-US" sz="2400" dirty="0">
                <a:latin typeface="Times New Roman" panose="02020603050405020304" pitchFamily="18" charset="0"/>
                <a:cs typeface="Times New Roman" panose="02020603050405020304" pitchFamily="18" charset="0"/>
              </a:rPr>
              <a:t>; the </a:t>
            </a:r>
            <a:r>
              <a:rPr lang="en-IN" altLang="en-US" sz="2400" i="1" dirty="0">
                <a:solidFill>
                  <a:schemeClr val="accent1"/>
                </a:solidFill>
                <a:latin typeface="Times New Roman" panose="02020603050405020304" pitchFamily="18" charset="0"/>
                <a:cs typeface="Times New Roman" panose="02020603050405020304" pitchFamily="18" charset="0"/>
              </a:rPr>
              <a:t>signal rate </a:t>
            </a:r>
            <a:r>
              <a:rPr lang="en-IN" altLang="en-US" sz="2400" dirty="0">
                <a:latin typeface="Times New Roman" panose="02020603050405020304" pitchFamily="18" charset="0"/>
                <a:cs typeface="Times New Roman" panose="02020603050405020304" pitchFamily="18" charset="0"/>
              </a:rPr>
              <a:t>is sometimes called the </a:t>
            </a:r>
            <a:r>
              <a:rPr lang="en-IN" altLang="en-US" sz="2400" i="1" dirty="0">
                <a:solidFill>
                  <a:schemeClr val="accent1"/>
                </a:solidFill>
                <a:latin typeface="Times New Roman" panose="02020603050405020304" pitchFamily="18" charset="0"/>
                <a:cs typeface="Times New Roman" panose="02020603050405020304" pitchFamily="18" charset="0"/>
              </a:rPr>
              <a:t>pulse rate</a:t>
            </a:r>
            <a:r>
              <a:rPr lang="en-IN" altLang="en-US" sz="2400" dirty="0">
                <a:latin typeface="Times New Roman" panose="02020603050405020304" pitchFamily="18" charset="0"/>
                <a:cs typeface="Times New Roman" panose="02020603050405020304" pitchFamily="18" charset="0"/>
              </a:rPr>
              <a:t>, the </a:t>
            </a:r>
            <a:r>
              <a:rPr lang="en-IN" altLang="en-US" sz="2400" i="1" dirty="0">
                <a:solidFill>
                  <a:schemeClr val="accent1"/>
                </a:solidFill>
                <a:latin typeface="Times New Roman" panose="02020603050405020304" pitchFamily="18" charset="0"/>
                <a:cs typeface="Times New Roman" panose="02020603050405020304" pitchFamily="18" charset="0"/>
              </a:rPr>
              <a:t>modulation rate</a:t>
            </a:r>
            <a:r>
              <a:rPr lang="en-IN" altLang="en-US" sz="2400" dirty="0">
                <a:latin typeface="Times New Roman" panose="02020603050405020304" pitchFamily="18" charset="0"/>
                <a:cs typeface="Times New Roman" panose="02020603050405020304" pitchFamily="18" charset="0"/>
              </a:rPr>
              <a:t>, or the </a:t>
            </a:r>
            <a:r>
              <a:rPr lang="en-IN" altLang="en-US" sz="2400" i="1" dirty="0">
                <a:solidFill>
                  <a:schemeClr val="accent1"/>
                </a:solidFill>
                <a:latin typeface="Times New Roman" panose="02020603050405020304" pitchFamily="18" charset="0"/>
                <a:cs typeface="Times New Roman" panose="02020603050405020304" pitchFamily="18" charset="0"/>
              </a:rPr>
              <a:t>baud rate</a:t>
            </a:r>
            <a:r>
              <a:rPr lang="en-IN" altLang="en-US" sz="2400" dirty="0">
                <a:latin typeface="Times New Roman" panose="02020603050405020304" pitchFamily="18" charset="0"/>
                <a:cs typeface="Times New Roman" panose="02020603050405020304" pitchFamily="18" charset="0"/>
              </a:rPr>
              <a:t>. </a:t>
            </a:r>
          </a:p>
        </p:txBody>
      </p:sp>
      <p:sp>
        <p:nvSpPr>
          <p:cNvPr id="107525" name="TextBox 4">
            <a:extLst>
              <a:ext uri="{FF2B5EF4-FFF2-40B4-BE49-F238E27FC236}">
                <a16:creationId xmlns:a16="http://schemas.microsoft.com/office/drawing/2014/main" id="{19889C6C-5E92-D751-D28A-59458FB7C424}"/>
              </a:ext>
            </a:extLst>
          </p:cNvPr>
          <p:cNvSpPr txBox="1">
            <a:spLocks noChangeArrowheads="1"/>
          </p:cNvSpPr>
          <p:nvPr/>
        </p:nvSpPr>
        <p:spPr bwMode="auto">
          <a:xfrm>
            <a:off x="3657599" y="3807695"/>
            <a:ext cx="3632201" cy="492443"/>
          </a:xfrm>
          <a:prstGeom prst="rect">
            <a:avLst/>
          </a:prstGeom>
          <a:solidFill>
            <a:schemeClr val="bg1">
              <a:lumMod val="85000"/>
            </a:schemeClr>
          </a:solidFill>
          <a:ln>
            <a:noFill/>
          </a:ln>
        </p:spPr>
        <p:txBody>
          <a:bodyPr wrap="squar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IN" altLang="en-US" sz="3200" i="1" dirty="0">
                <a:latin typeface="Times New Roman" panose="02020603050405020304" pitchFamily="18" charset="0"/>
                <a:cs typeface="Times New Roman" panose="02020603050405020304" pitchFamily="18" charset="0"/>
              </a:rPr>
              <a:t>S=C</a:t>
            </a:r>
            <a:r>
              <a:rPr lang="en-IN" altLang="en-US" sz="3200" dirty="0">
                <a:latin typeface="Times New Roman" panose="02020603050405020304" pitchFamily="18" charset="0"/>
                <a:cs typeface="Times New Roman" panose="02020603050405020304" pitchFamily="18" charset="0"/>
              </a:rPr>
              <a:t> × </a:t>
            </a:r>
            <a:r>
              <a:rPr lang="en-IN" altLang="en-US" sz="3200" i="1" dirty="0">
                <a:latin typeface="Times New Roman" panose="02020603050405020304" pitchFamily="18" charset="0"/>
                <a:cs typeface="Times New Roman" panose="02020603050405020304" pitchFamily="18" charset="0"/>
              </a:rPr>
              <a:t>N</a:t>
            </a:r>
            <a:r>
              <a:rPr lang="en-IN" altLang="en-US" sz="3200" dirty="0">
                <a:latin typeface="Times New Roman" panose="02020603050405020304" pitchFamily="18" charset="0"/>
                <a:cs typeface="Times New Roman" panose="02020603050405020304" pitchFamily="18" charset="0"/>
              </a:rPr>
              <a:t> × </a:t>
            </a:r>
            <a:r>
              <a:rPr lang="en-IN" altLang="en-US" sz="3200" i="1" dirty="0">
                <a:latin typeface="Times New Roman" panose="02020603050405020304" pitchFamily="18" charset="0"/>
                <a:cs typeface="Times New Roman" panose="02020603050405020304" pitchFamily="18" charset="0"/>
              </a:rPr>
              <a:t>1/r   </a:t>
            </a:r>
            <a:r>
              <a:rPr lang="en-IN" altLang="en-US" sz="3200" i="1" dirty="0">
                <a:solidFill>
                  <a:srgbClr val="00B050"/>
                </a:solidFill>
                <a:latin typeface="Times New Roman" panose="02020603050405020304" pitchFamily="18" charset="0"/>
                <a:cs typeface="Times New Roman" panose="02020603050405020304" pitchFamily="18" charset="0"/>
              </a:rPr>
              <a:t>baud</a:t>
            </a:r>
          </a:p>
        </p:txBody>
      </p:sp>
      <p:sp>
        <p:nvSpPr>
          <p:cNvPr id="107527" name="TextBox 6">
            <a:extLst>
              <a:ext uri="{FF2B5EF4-FFF2-40B4-BE49-F238E27FC236}">
                <a16:creationId xmlns:a16="http://schemas.microsoft.com/office/drawing/2014/main" id="{91478573-C9CD-29FF-04B2-810A88E36B5E}"/>
              </a:ext>
            </a:extLst>
          </p:cNvPr>
          <p:cNvSpPr txBox="1">
            <a:spLocks noChangeArrowheads="1"/>
          </p:cNvSpPr>
          <p:nvPr/>
        </p:nvSpPr>
        <p:spPr bwMode="auto">
          <a:xfrm>
            <a:off x="-2540" y="4443798"/>
            <a:ext cx="59436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IN" altLang="en-US" sz="2400" i="1" dirty="0">
                <a:solidFill>
                  <a:schemeClr val="accent1"/>
                </a:solidFill>
                <a:latin typeface="Times New Roman" panose="02020603050405020304" pitchFamily="18" charset="0"/>
                <a:cs typeface="Times New Roman" panose="02020603050405020304" pitchFamily="18" charset="0"/>
              </a:rPr>
              <a:t>N</a:t>
            </a:r>
            <a:r>
              <a:rPr lang="en-IN" altLang="en-US" sz="2400" dirty="0">
                <a:latin typeface="Times New Roman" panose="02020603050405020304" pitchFamily="18" charset="0"/>
                <a:cs typeface="Times New Roman" panose="02020603050405020304" pitchFamily="18" charset="0"/>
              </a:rPr>
              <a:t>= Data rate </a:t>
            </a:r>
            <a:r>
              <a:rPr lang="en-IN" altLang="en-US" sz="2400" i="1" dirty="0">
                <a:solidFill>
                  <a:schemeClr val="accent1"/>
                </a:solidFill>
                <a:latin typeface="Times New Roman" panose="02020603050405020304" pitchFamily="18" charset="0"/>
                <a:cs typeface="Times New Roman" panose="02020603050405020304" pitchFamily="18" charset="0"/>
              </a:rPr>
              <a:t>(bps)</a:t>
            </a:r>
            <a:r>
              <a:rPr lang="en-IN" altLang="en-US" sz="2400" dirty="0">
                <a:latin typeface="Times New Roman" panose="02020603050405020304" pitchFamily="18" charset="0"/>
                <a:cs typeface="Times New Roman" panose="02020603050405020304" pitchFamily="18" charset="0"/>
              </a:rPr>
              <a:t>; </a:t>
            </a:r>
          </a:p>
          <a:p>
            <a:pPr algn="just">
              <a:lnSpc>
                <a:spcPct val="100000"/>
              </a:lnSpc>
              <a:spcBef>
                <a:spcPct val="0"/>
              </a:spcBef>
              <a:buFontTx/>
              <a:buNone/>
            </a:pPr>
            <a:r>
              <a:rPr lang="en-IN" altLang="en-US" sz="2400" i="1" dirty="0">
                <a:solidFill>
                  <a:schemeClr val="accent1"/>
                </a:solidFill>
                <a:latin typeface="Times New Roman" panose="02020603050405020304" pitchFamily="18" charset="0"/>
                <a:cs typeface="Times New Roman" panose="02020603050405020304" pitchFamily="18" charset="0"/>
              </a:rPr>
              <a:t>C</a:t>
            </a:r>
            <a:r>
              <a:rPr lang="en-IN" altLang="en-US" sz="2400" dirty="0">
                <a:latin typeface="Times New Roman" panose="02020603050405020304" pitchFamily="18" charset="0"/>
                <a:cs typeface="Times New Roman" panose="02020603050405020304" pitchFamily="18" charset="0"/>
              </a:rPr>
              <a:t> = the case factor, which varies for each case; </a:t>
            </a:r>
          </a:p>
        </p:txBody>
      </p:sp>
      <p:sp>
        <p:nvSpPr>
          <p:cNvPr id="4" name="TextBox 3">
            <a:extLst>
              <a:ext uri="{FF2B5EF4-FFF2-40B4-BE49-F238E27FC236}">
                <a16:creationId xmlns:a16="http://schemas.microsoft.com/office/drawing/2014/main" id="{231046B7-EB64-B54B-51B5-2A6AEC11ADD7}"/>
              </a:ext>
            </a:extLst>
          </p:cNvPr>
          <p:cNvSpPr txBox="1"/>
          <p:nvPr/>
        </p:nvSpPr>
        <p:spPr>
          <a:xfrm>
            <a:off x="232411" y="3205317"/>
            <a:ext cx="9742011" cy="523220"/>
          </a:xfrm>
          <a:prstGeom prst="rect">
            <a:avLst/>
          </a:prstGeom>
          <a:noFill/>
        </p:spPr>
        <p:txBody>
          <a:bodyPr wrap="square">
            <a:spAutoFit/>
          </a:bodyPr>
          <a:lstStyle/>
          <a:p>
            <a:r>
              <a:rPr lang="en-IN" altLang="en-US" sz="2800" dirty="0">
                <a:solidFill>
                  <a:srgbClr val="FF0000"/>
                </a:solidFill>
                <a:latin typeface="Times New Roman" panose="02020603050405020304" pitchFamily="18" charset="0"/>
                <a:cs typeface="Times New Roman" panose="02020603050405020304" pitchFamily="18" charset="0"/>
              </a:rPr>
              <a:t>The relationship between </a:t>
            </a:r>
            <a:r>
              <a:rPr lang="en-IN" altLang="en-US" sz="2800" i="1" dirty="0">
                <a:solidFill>
                  <a:srgbClr val="FF0000"/>
                </a:solidFill>
                <a:latin typeface="Times New Roman" panose="02020603050405020304" pitchFamily="18" charset="0"/>
                <a:cs typeface="Times New Roman" panose="02020603050405020304" pitchFamily="18" charset="0"/>
              </a:rPr>
              <a:t>data rate</a:t>
            </a:r>
            <a:r>
              <a:rPr lang="en-IN" altLang="en-US" sz="2800" dirty="0">
                <a:solidFill>
                  <a:srgbClr val="FF0000"/>
                </a:solidFill>
                <a:latin typeface="Times New Roman" panose="02020603050405020304" pitchFamily="18" charset="0"/>
                <a:cs typeface="Times New Roman" panose="02020603050405020304" pitchFamily="18" charset="0"/>
              </a:rPr>
              <a:t> and </a:t>
            </a:r>
            <a:r>
              <a:rPr lang="en-IN" altLang="en-US" sz="2800" i="1" dirty="0">
                <a:solidFill>
                  <a:srgbClr val="FF0000"/>
                </a:solidFill>
                <a:latin typeface="Times New Roman" panose="02020603050405020304" pitchFamily="18" charset="0"/>
                <a:cs typeface="Times New Roman" panose="02020603050405020304" pitchFamily="18" charset="0"/>
              </a:rPr>
              <a:t>signal rate </a:t>
            </a:r>
            <a:r>
              <a:rPr lang="en-IN" altLang="en-US" sz="2800" dirty="0">
                <a:solidFill>
                  <a:srgbClr val="FF0000"/>
                </a:solidFill>
                <a:latin typeface="Times New Roman" panose="02020603050405020304" pitchFamily="18" charset="0"/>
                <a:cs typeface="Times New Roman" panose="02020603050405020304" pitchFamily="18" charset="0"/>
              </a:rPr>
              <a:t>is given by </a:t>
            </a:r>
            <a:endParaRPr lang="en-IN" sz="2800" dirty="0">
              <a:solidFill>
                <a:srgbClr val="FF0000"/>
              </a:solidFill>
            </a:endParaRPr>
          </a:p>
        </p:txBody>
      </p:sp>
      <p:sp>
        <p:nvSpPr>
          <p:cNvPr id="6" name="TextBox 5">
            <a:extLst>
              <a:ext uri="{FF2B5EF4-FFF2-40B4-BE49-F238E27FC236}">
                <a16:creationId xmlns:a16="http://schemas.microsoft.com/office/drawing/2014/main" id="{220F4119-FBEC-DCD0-D069-598C76FA1E95}"/>
              </a:ext>
            </a:extLst>
          </p:cNvPr>
          <p:cNvSpPr txBox="1"/>
          <p:nvPr/>
        </p:nvSpPr>
        <p:spPr>
          <a:xfrm>
            <a:off x="5910581" y="4502360"/>
            <a:ext cx="6477000" cy="830997"/>
          </a:xfrm>
          <a:prstGeom prst="rect">
            <a:avLst/>
          </a:prstGeom>
          <a:noFill/>
        </p:spPr>
        <p:txBody>
          <a:bodyPr wrap="square">
            <a:spAutoFit/>
          </a:bodyPr>
          <a:lstStyle/>
          <a:p>
            <a:r>
              <a:rPr lang="en-IN" altLang="en-US" sz="2400" i="1" dirty="0">
                <a:solidFill>
                  <a:schemeClr val="accent1"/>
                </a:solidFill>
                <a:latin typeface="Times New Roman" panose="02020603050405020304" pitchFamily="18" charset="0"/>
                <a:cs typeface="Times New Roman" panose="02020603050405020304" pitchFamily="18" charset="0"/>
              </a:rPr>
              <a:t>S</a:t>
            </a:r>
            <a:r>
              <a:rPr lang="en-IN" altLang="en-US" sz="2400" dirty="0">
                <a:latin typeface="Times New Roman" panose="02020603050405020304" pitchFamily="18" charset="0"/>
                <a:cs typeface="Times New Roman" panose="02020603050405020304" pitchFamily="18" charset="0"/>
              </a:rPr>
              <a:t> = Signal rate</a:t>
            </a:r>
          </a:p>
          <a:p>
            <a:r>
              <a:rPr lang="en-IN" altLang="en-US" sz="2400" i="1" dirty="0">
                <a:solidFill>
                  <a:schemeClr val="accent1"/>
                </a:solidFill>
                <a:latin typeface="Times New Roman" panose="02020603050405020304" pitchFamily="18" charset="0"/>
                <a:cs typeface="Times New Roman" panose="02020603050405020304" pitchFamily="18" charset="0"/>
              </a:rPr>
              <a:t>r</a:t>
            </a:r>
            <a:r>
              <a:rPr lang="en-IN" altLang="en-US" sz="2400" dirty="0">
                <a:latin typeface="Times New Roman" panose="02020603050405020304" pitchFamily="18" charset="0"/>
                <a:cs typeface="Times New Roman" panose="02020603050405020304" pitchFamily="18" charset="0"/>
              </a:rPr>
              <a:t> = ratio of no. data element to no. signal element</a:t>
            </a:r>
            <a:endParaRPr lang="en-IN" sz="2400" dirty="0"/>
          </a:p>
        </p:txBody>
      </p:sp>
      <p:sp>
        <p:nvSpPr>
          <p:cNvPr id="8" name="TextBox 7">
            <a:extLst>
              <a:ext uri="{FF2B5EF4-FFF2-40B4-BE49-F238E27FC236}">
                <a16:creationId xmlns:a16="http://schemas.microsoft.com/office/drawing/2014/main" id="{E11230BF-B773-9E09-1387-5C2422D3A54C}"/>
              </a:ext>
            </a:extLst>
          </p:cNvPr>
          <p:cNvSpPr txBox="1"/>
          <p:nvPr/>
        </p:nvSpPr>
        <p:spPr>
          <a:xfrm>
            <a:off x="232411" y="5482671"/>
            <a:ext cx="11427460" cy="461665"/>
          </a:xfrm>
          <a:prstGeom prst="rect">
            <a:avLst/>
          </a:prstGeom>
          <a:noFill/>
        </p:spPr>
        <p:txBody>
          <a:bodyPr wrap="square">
            <a:spAutoFit/>
          </a:bodyPr>
          <a:lstStyle/>
          <a:p>
            <a:pPr marL="342900" indent="-34290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Bandwidth is proportional to the signal rate. The minimum bandwidth is given by</a:t>
            </a:r>
            <a:endParaRPr lang="en-IN" sz="2400" dirty="0"/>
          </a:p>
        </p:txBody>
      </p:sp>
      <p:sp>
        <p:nvSpPr>
          <p:cNvPr id="10" name="TextBox 9">
            <a:extLst>
              <a:ext uri="{FF2B5EF4-FFF2-40B4-BE49-F238E27FC236}">
                <a16:creationId xmlns:a16="http://schemas.microsoft.com/office/drawing/2014/main" id="{7E2FD016-52AA-73E0-F5BF-9221222D3659}"/>
              </a:ext>
            </a:extLst>
          </p:cNvPr>
          <p:cNvSpPr txBox="1"/>
          <p:nvPr/>
        </p:nvSpPr>
        <p:spPr>
          <a:xfrm>
            <a:off x="4491354" y="6018138"/>
            <a:ext cx="2520952" cy="587148"/>
          </a:xfrm>
          <a:prstGeom prst="rect">
            <a:avLst/>
          </a:prstGeom>
          <a:solidFill>
            <a:srgbClr val="FFFF00"/>
          </a:solidFill>
        </p:spPr>
        <p:txBody>
          <a:bodyPr wrap="square">
            <a:spAutoFit/>
          </a:bodyPr>
          <a:lstStyle/>
          <a:p>
            <a:pPr marL="0" indent="0" algn="just">
              <a:lnSpc>
                <a:spcPct val="150000"/>
              </a:lnSpc>
              <a:buFont typeface="Arial" panose="020B0604020202020204" pitchFamily="34" charset="0"/>
              <a:buNone/>
              <a:defRPr/>
            </a:pPr>
            <a:r>
              <a:rPr lang="en-IN" sz="2400" i="1" kern="100" dirty="0" err="1">
                <a:latin typeface="Times New Roman" panose="02020603050405020304" pitchFamily="18" charset="0"/>
                <a:ea typeface="Calibri" panose="020F0502020204030204" pitchFamily="34" charset="0"/>
                <a:cs typeface="Times New Roman" panose="02020603050405020304" pitchFamily="18" charset="0"/>
              </a:rPr>
              <a:t>B</a:t>
            </a:r>
            <a:r>
              <a:rPr lang="en-IN" sz="2400" kern="100" baseline="-25000" dirty="0" err="1">
                <a:latin typeface="Times New Roman" panose="02020603050405020304" pitchFamily="18" charset="0"/>
                <a:ea typeface="Calibri" panose="020F0502020204030204" pitchFamily="34" charset="0"/>
                <a:cs typeface="Times New Roman" panose="02020603050405020304" pitchFamily="18" charset="0"/>
              </a:rPr>
              <a:t>min</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2400" i="1" kern="100" dirty="0">
                <a:latin typeface="Times New Roman" panose="02020603050405020304" pitchFamily="18" charset="0"/>
                <a:ea typeface="Calibri" panose="020F0502020204030204" pitchFamily="34" charset="0"/>
                <a:cs typeface="Times New Roman" panose="02020603050405020304" pitchFamily="18" charset="0"/>
              </a:rPr>
              <a:t>C</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 </a:t>
            </a:r>
            <a:r>
              <a:rPr lang="en-IN" sz="2400" i="1" kern="100" dirty="0">
                <a:latin typeface="Times New Roman" panose="02020603050405020304" pitchFamily="18" charset="0"/>
                <a:ea typeface="Calibri" panose="020F0502020204030204" pitchFamily="34" charset="0"/>
                <a:cs typeface="Times New Roman" panose="02020603050405020304" pitchFamily="18" charset="0"/>
              </a:rPr>
              <a:t>N</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 </a:t>
            </a:r>
            <a:r>
              <a:rPr lang="en-IN" sz="2400" i="1" kern="100" dirty="0">
                <a:latin typeface="Times New Roman" panose="02020603050405020304" pitchFamily="18" charset="0"/>
                <a:ea typeface="Calibri" panose="020F0502020204030204" pitchFamily="34" charset="0"/>
                <a:cs typeface="Times New Roman" panose="02020603050405020304" pitchFamily="18" charset="0"/>
              </a:rPr>
              <a:t>1/r</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B51A239A-A744-F118-1A0F-6B05BCD9F0B1}"/>
              </a:ext>
            </a:extLst>
          </p:cNvPr>
          <p:cNvSpPr>
            <a:spLocks noGrp="1" noChangeArrowheads="1"/>
          </p:cNvSpPr>
          <p:nvPr>
            <p:ph type="title"/>
          </p:nvPr>
        </p:nvSpPr>
        <p:spPr>
          <a:xfrm>
            <a:off x="112713" y="111125"/>
            <a:ext cx="3460750" cy="1104900"/>
          </a:xfrm>
        </p:spPr>
        <p:txBody>
          <a:bodyPr/>
          <a:lstStyle/>
          <a:p>
            <a:r>
              <a:rPr lang="en-IN" altLang="en-US" sz="3600" b="1" i="1">
                <a:solidFill>
                  <a:srgbClr val="FF0000"/>
                </a:solidFill>
                <a:latin typeface="Times New Roman" panose="02020603050405020304" pitchFamily="18" charset="0"/>
                <a:cs typeface="Times New Roman" panose="02020603050405020304" pitchFamily="18" charset="0"/>
              </a:rPr>
              <a:t>Example</a:t>
            </a:r>
          </a:p>
        </p:txBody>
      </p:sp>
      <p:sp>
        <p:nvSpPr>
          <p:cNvPr id="108547" name="Content Placeholder 2">
            <a:extLst>
              <a:ext uri="{FF2B5EF4-FFF2-40B4-BE49-F238E27FC236}">
                <a16:creationId xmlns:a16="http://schemas.microsoft.com/office/drawing/2014/main" id="{6D441D0C-EA42-4878-14AE-559EBBB33202}"/>
              </a:ext>
            </a:extLst>
          </p:cNvPr>
          <p:cNvSpPr>
            <a:spLocks noGrp="1" noChangeArrowheads="1"/>
          </p:cNvSpPr>
          <p:nvPr>
            <p:ph idx="1"/>
          </p:nvPr>
        </p:nvSpPr>
        <p:spPr>
          <a:xfrm>
            <a:off x="0" y="1216025"/>
            <a:ext cx="12192000" cy="1303338"/>
          </a:xfrm>
        </p:spPr>
        <p:txBody>
          <a:bodyPr/>
          <a:lstStyle/>
          <a:p>
            <a:pPr marL="0" indent="0">
              <a:lnSpc>
                <a:spcPct val="150000"/>
              </a:lnSpc>
              <a:buFont typeface="Arial" panose="020B0604020202020204" pitchFamily="34" charset="0"/>
              <a:buNone/>
            </a:pPr>
            <a:r>
              <a:rPr lang="en-IN" altLang="en-US" sz="2400">
                <a:solidFill>
                  <a:srgbClr val="FF0000"/>
                </a:solidFill>
                <a:latin typeface="Times New Roman" panose="02020603050405020304" pitchFamily="18" charset="0"/>
                <a:cs typeface="Times New Roman" panose="02020603050405020304" pitchFamily="18" charset="0"/>
              </a:rPr>
              <a:t>A signal is carrying data in which one data element is encoded as one signal element (</a:t>
            </a:r>
            <a:r>
              <a:rPr lang="en-IN" altLang="en-US" sz="2400" i="1">
                <a:solidFill>
                  <a:srgbClr val="FF0000"/>
                </a:solidFill>
                <a:latin typeface="Times New Roman" panose="02020603050405020304" pitchFamily="18" charset="0"/>
                <a:cs typeface="Times New Roman" panose="02020603050405020304" pitchFamily="18" charset="0"/>
              </a:rPr>
              <a:t>r</a:t>
            </a:r>
            <a:r>
              <a:rPr lang="en-IN" altLang="en-US" sz="2400">
                <a:solidFill>
                  <a:srgbClr val="FF0000"/>
                </a:solidFill>
                <a:latin typeface="Times New Roman" panose="02020603050405020304" pitchFamily="18" charset="0"/>
                <a:cs typeface="Times New Roman" panose="02020603050405020304" pitchFamily="18" charset="0"/>
              </a:rPr>
              <a:t>=1). If the bit rate is 100 Kbps, what is the average value of the baud rate if </a:t>
            </a:r>
            <a:r>
              <a:rPr lang="en-IN" altLang="en-US" sz="2400" i="1">
                <a:solidFill>
                  <a:srgbClr val="FF0000"/>
                </a:solidFill>
                <a:latin typeface="Times New Roman" panose="02020603050405020304" pitchFamily="18" charset="0"/>
                <a:cs typeface="Times New Roman" panose="02020603050405020304" pitchFamily="18" charset="0"/>
              </a:rPr>
              <a:t>c</a:t>
            </a:r>
            <a:r>
              <a:rPr lang="en-IN" altLang="en-US" sz="2400">
                <a:solidFill>
                  <a:srgbClr val="FF0000"/>
                </a:solidFill>
                <a:latin typeface="Times New Roman" panose="02020603050405020304" pitchFamily="18" charset="0"/>
                <a:cs typeface="Times New Roman" panose="02020603050405020304" pitchFamily="18" charset="0"/>
              </a:rPr>
              <a:t> is between 0 and 1?</a:t>
            </a:r>
          </a:p>
        </p:txBody>
      </p:sp>
      <p:sp>
        <p:nvSpPr>
          <p:cNvPr id="6" name="TextBox 5">
            <a:extLst>
              <a:ext uri="{FF2B5EF4-FFF2-40B4-BE49-F238E27FC236}">
                <a16:creationId xmlns:a16="http://schemas.microsoft.com/office/drawing/2014/main" id="{DE420ADD-665A-3146-33F0-6E9267B8C129}"/>
              </a:ext>
            </a:extLst>
          </p:cNvPr>
          <p:cNvSpPr txBox="1">
            <a:spLocks noChangeArrowheads="1"/>
          </p:cNvSpPr>
          <p:nvPr/>
        </p:nvSpPr>
        <p:spPr bwMode="auto">
          <a:xfrm>
            <a:off x="904875" y="2519363"/>
            <a:ext cx="978535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50000"/>
              </a:lnSpc>
              <a:spcBef>
                <a:spcPct val="0"/>
              </a:spcBef>
              <a:buFontTx/>
              <a:buNone/>
            </a:pPr>
            <a:r>
              <a:rPr lang="en-IN" altLang="en-US" sz="2400" i="1">
                <a:solidFill>
                  <a:schemeClr val="accent1"/>
                </a:solidFill>
                <a:latin typeface="Times New Roman" panose="02020603050405020304" pitchFamily="18" charset="0"/>
                <a:cs typeface="Times New Roman" panose="02020603050405020304" pitchFamily="18" charset="0"/>
              </a:rPr>
              <a:t>Solution:</a:t>
            </a:r>
            <a:r>
              <a:rPr lang="en-IN" altLang="en-US" sz="2400">
                <a:latin typeface="Times New Roman" panose="02020603050405020304" pitchFamily="18" charset="0"/>
                <a:cs typeface="Times New Roman" panose="02020603050405020304" pitchFamily="18" charset="0"/>
              </a:rPr>
              <a:t> </a:t>
            </a:r>
          </a:p>
          <a:p>
            <a:pPr>
              <a:lnSpc>
                <a:spcPct val="150000"/>
              </a:lnSpc>
              <a:spcBef>
                <a:spcPct val="0"/>
              </a:spcBef>
              <a:buFontTx/>
              <a:buNone/>
            </a:pPr>
            <a:r>
              <a:rPr lang="en-IN" altLang="en-US" sz="2400">
                <a:latin typeface="Times New Roman" panose="02020603050405020304" pitchFamily="18" charset="0"/>
                <a:cs typeface="Times New Roman" panose="02020603050405020304" pitchFamily="18" charset="0"/>
              </a:rPr>
              <a:t>          We assume that the average value of </a:t>
            </a:r>
            <a:r>
              <a:rPr lang="en-IN" altLang="en-US" sz="2400" i="1">
                <a:latin typeface="Times New Roman" panose="02020603050405020304" pitchFamily="18" charset="0"/>
                <a:cs typeface="Times New Roman" panose="02020603050405020304" pitchFamily="18" charset="0"/>
              </a:rPr>
              <a:t>C </a:t>
            </a:r>
            <a:r>
              <a:rPr lang="en-IN" altLang="en-US" sz="2400">
                <a:latin typeface="Times New Roman" panose="02020603050405020304" pitchFamily="18" charset="0"/>
                <a:cs typeface="Times New Roman" panose="02020603050405020304" pitchFamily="18" charset="0"/>
              </a:rPr>
              <a:t>is 1/2. The baud rate is then</a:t>
            </a:r>
          </a:p>
          <a:p>
            <a:pPr>
              <a:lnSpc>
                <a:spcPct val="150000"/>
              </a:lnSpc>
              <a:spcBef>
                <a:spcPct val="0"/>
              </a:spcBef>
              <a:buFontTx/>
              <a:buNone/>
            </a:pPr>
            <a:r>
              <a:rPr lang="en-IN" altLang="en-US" sz="2400">
                <a:latin typeface="Times New Roman" panose="02020603050405020304" pitchFamily="18" charset="0"/>
                <a:cs typeface="Times New Roman" panose="02020603050405020304" pitchFamily="18" charset="0"/>
              </a:rPr>
              <a:t>                       </a:t>
            </a:r>
            <a:r>
              <a:rPr lang="en-IN" altLang="en-US" sz="2400" i="1">
                <a:latin typeface="Times New Roman" panose="02020603050405020304" pitchFamily="18" charset="0"/>
                <a:cs typeface="Times New Roman" panose="02020603050405020304" pitchFamily="18" charset="0"/>
              </a:rPr>
              <a:t>S</a:t>
            </a:r>
            <a:r>
              <a:rPr lang="en-IN" altLang="en-US" sz="2400">
                <a:latin typeface="Times New Roman" panose="02020603050405020304" pitchFamily="18" charset="0"/>
                <a:cs typeface="Times New Roman" panose="02020603050405020304" pitchFamily="18" charset="0"/>
              </a:rPr>
              <a:t>= </a:t>
            </a:r>
            <a:r>
              <a:rPr lang="en-IN" altLang="en-US" sz="2400" i="1">
                <a:latin typeface="Times New Roman" panose="02020603050405020304" pitchFamily="18" charset="0"/>
                <a:cs typeface="Times New Roman" panose="02020603050405020304" pitchFamily="18" charset="0"/>
              </a:rPr>
              <a:t>c</a:t>
            </a:r>
            <a:r>
              <a:rPr lang="en-IN" altLang="en-US" sz="2400">
                <a:latin typeface="Times New Roman" panose="02020603050405020304" pitchFamily="18" charset="0"/>
                <a:cs typeface="Times New Roman" panose="02020603050405020304" pitchFamily="18" charset="0"/>
              </a:rPr>
              <a:t> × N×1/r =1/2 × 100000 ×1/1 =50,000= 50 kbaud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4">
            <a:extLst>
              <a:ext uri="{FF2B5EF4-FFF2-40B4-BE49-F238E27FC236}">
                <a16:creationId xmlns:a16="http://schemas.microsoft.com/office/drawing/2014/main" id="{77B82C23-4C39-0D89-5E40-6187286D1321}"/>
              </a:ext>
            </a:extLst>
          </p:cNvPr>
          <p:cNvSpPr txBox="1">
            <a:spLocks noChangeArrowheads="1"/>
          </p:cNvSpPr>
          <p:nvPr/>
        </p:nvSpPr>
        <p:spPr bwMode="auto">
          <a:xfrm>
            <a:off x="1828800" y="762000"/>
            <a:ext cx="38766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b="1">
                <a:solidFill>
                  <a:schemeClr val="accent1"/>
                </a:solidFill>
                <a:latin typeface="Times New Roman" panose="02020603050405020304" pitchFamily="18" charset="0"/>
                <a:cs typeface="Times New Roman" panose="02020603050405020304" pitchFamily="18" charset="0"/>
              </a:rPr>
              <a:t>Figure: </a:t>
            </a:r>
            <a:r>
              <a:rPr lang="en-US" altLang="en-US" sz="2400" b="1" i="1">
                <a:latin typeface="Times New Roman" panose="02020603050405020304" pitchFamily="18" charset="0"/>
                <a:cs typeface="Times New Roman" panose="02020603050405020304" pitchFamily="18" charset="0"/>
              </a:rPr>
              <a:t>Line coding schemes</a:t>
            </a:r>
          </a:p>
        </p:txBody>
      </p:sp>
      <p:pic>
        <p:nvPicPr>
          <p:cNvPr id="113667" name="Picture 6">
            <a:extLst>
              <a:ext uri="{FF2B5EF4-FFF2-40B4-BE49-F238E27FC236}">
                <a16:creationId xmlns:a16="http://schemas.microsoft.com/office/drawing/2014/main" id="{214AC784-7EDC-2E77-01E9-924E6DF90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639888"/>
            <a:ext cx="848995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DA4ECFB5-8AB1-B6B3-F99B-CF545AE792AB}"/>
              </a:ext>
            </a:extLst>
          </p:cNvPr>
          <p:cNvSpPr>
            <a:spLocks noGrp="1" noChangeArrowheads="1"/>
          </p:cNvSpPr>
          <p:nvPr>
            <p:ph type="title"/>
          </p:nvPr>
        </p:nvSpPr>
        <p:spPr>
          <a:xfrm>
            <a:off x="4523581" y="250508"/>
            <a:ext cx="2514600" cy="68103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r>
              <a:rPr lang="en-US" altLang="en-US" sz="3600" dirty="0">
                <a:solidFill>
                  <a:srgbClr val="3366FF"/>
                </a:solidFill>
                <a:latin typeface="Accord SF"/>
              </a:rPr>
              <a:t>Unipolar</a:t>
            </a:r>
          </a:p>
        </p:txBody>
      </p:sp>
      <p:sp>
        <p:nvSpPr>
          <p:cNvPr id="115715" name="Rectangle 3">
            <a:extLst>
              <a:ext uri="{FF2B5EF4-FFF2-40B4-BE49-F238E27FC236}">
                <a16:creationId xmlns:a16="http://schemas.microsoft.com/office/drawing/2014/main" id="{6AA41702-B341-83DA-2807-6EFB50D99813}"/>
              </a:ext>
            </a:extLst>
          </p:cNvPr>
          <p:cNvSpPr>
            <a:spLocks noGrp="1" noChangeArrowheads="1"/>
          </p:cNvSpPr>
          <p:nvPr>
            <p:ph type="body" idx="1"/>
          </p:nvPr>
        </p:nvSpPr>
        <p:spPr>
          <a:xfrm>
            <a:off x="188913" y="931545"/>
            <a:ext cx="12003087" cy="30114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5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All signal levels are on one side of the time axis - either above or below</a:t>
            </a:r>
          </a:p>
          <a:p>
            <a:pPr algn="just">
              <a:lnSpc>
                <a:spcPct val="150000"/>
              </a:lnSpc>
              <a:buFont typeface="Courier New" panose="02070309020205020404" pitchFamily="49" charset="0"/>
              <a:buChar char="o"/>
            </a:pPr>
            <a:r>
              <a:rPr lang="en-US" altLang="en-US" sz="2400" i="1" dirty="0">
                <a:solidFill>
                  <a:schemeClr val="accent1"/>
                </a:solidFill>
                <a:latin typeface="Times New Roman" panose="02020603050405020304" pitchFamily="18" charset="0"/>
                <a:cs typeface="Times New Roman" panose="02020603050405020304" pitchFamily="18" charset="0"/>
              </a:rPr>
              <a:t>NRZ - Non Return to Zero </a:t>
            </a:r>
            <a:r>
              <a:rPr lang="en-US" altLang="en-US" sz="2400" dirty="0">
                <a:latin typeface="Times New Roman" panose="02020603050405020304" pitchFamily="18" charset="0"/>
                <a:cs typeface="Times New Roman" panose="02020603050405020304" pitchFamily="18" charset="0"/>
              </a:rPr>
              <a:t>scheme is an example of this code. The signal level does not return to zero at the middle of the bit.</a:t>
            </a:r>
          </a:p>
          <a:p>
            <a:pPr algn="just">
              <a:lnSpc>
                <a:spcPct val="15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 In this scheme, </a:t>
            </a:r>
            <a:r>
              <a:rPr lang="en-US" altLang="en-US" sz="2400" i="1" dirty="0">
                <a:solidFill>
                  <a:schemeClr val="accent1"/>
                </a:solidFill>
                <a:latin typeface="Times New Roman" panose="02020603050405020304" pitchFamily="18" charset="0"/>
                <a:cs typeface="Times New Roman" panose="02020603050405020304" pitchFamily="18" charset="0"/>
              </a:rPr>
              <a:t>positive voltage </a:t>
            </a:r>
            <a:r>
              <a:rPr lang="en-US" altLang="en-US" sz="2400" dirty="0">
                <a:latin typeface="Times New Roman" panose="02020603050405020304" pitchFamily="18" charset="0"/>
                <a:cs typeface="Times New Roman" panose="02020603050405020304" pitchFamily="18" charset="0"/>
              </a:rPr>
              <a:t>defines </a:t>
            </a:r>
            <a:r>
              <a:rPr lang="en-US" altLang="en-US" sz="2400" i="1" dirty="0">
                <a:solidFill>
                  <a:schemeClr val="accent1"/>
                </a:solidFill>
                <a:latin typeface="Times New Roman" panose="02020603050405020304" pitchFamily="18" charset="0"/>
                <a:cs typeface="Times New Roman" panose="02020603050405020304" pitchFamily="18" charset="0"/>
              </a:rPr>
              <a:t>bit 1</a:t>
            </a:r>
            <a:r>
              <a:rPr lang="en-US" altLang="en-US" sz="2400" dirty="0">
                <a:latin typeface="Times New Roman" panose="02020603050405020304" pitchFamily="18" charset="0"/>
                <a:cs typeface="Times New Roman" panose="02020603050405020304" pitchFamily="18" charset="0"/>
              </a:rPr>
              <a:t> and </a:t>
            </a:r>
            <a:r>
              <a:rPr lang="en-US" altLang="en-US" sz="2400" i="1" dirty="0">
                <a:solidFill>
                  <a:schemeClr val="accent1"/>
                </a:solidFill>
                <a:latin typeface="Times New Roman" panose="02020603050405020304" pitchFamily="18" charset="0"/>
                <a:cs typeface="Times New Roman" panose="02020603050405020304" pitchFamily="18" charset="0"/>
              </a:rPr>
              <a:t>zero voltage </a:t>
            </a:r>
            <a:r>
              <a:rPr lang="en-US" altLang="en-US" sz="2400" dirty="0">
                <a:latin typeface="Times New Roman" panose="02020603050405020304" pitchFamily="18" charset="0"/>
                <a:cs typeface="Times New Roman" panose="02020603050405020304" pitchFamily="18" charset="0"/>
              </a:rPr>
              <a:t>defines </a:t>
            </a:r>
            <a:r>
              <a:rPr lang="en-US" altLang="en-US" sz="2400" i="1" dirty="0">
                <a:solidFill>
                  <a:schemeClr val="accent1"/>
                </a:solidFill>
                <a:latin typeface="Times New Roman" panose="02020603050405020304" pitchFamily="18" charset="0"/>
                <a:cs typeface="Times New Roman" panose="02020603050405020304" pitchFamily="18" charset="0"/>
              </a:rPr>
              <a:t>bit 0</a:t>
            </a:r>
            <a:r>
              <a:rPr lang="en-US" altLang="en-US" sz="2400" dirty="0">
                <a:latin typeface="Times New Roman" panose="02020603050405020304" pitchFamily="18" charset="0"/>
                <a:cs typeface="Times New Roman" panose="02020603050405020304" pitchFamily="18" charset="0"/>
              </a:rPr>
              <a:t>.</a:t>
            </a:r>
          </a:p>
        </p:txBody>
      </p:sp>
      <p:pic>
        <p:nvPicPr>
          <p:cNvPr id="115716" name="Picture 6">
            <a:extLst>
              <a:ext uri="{FF2B5EF4-FFF2-40B4-BE49-F238E27FC236}">
                <a16:creationId xmlns:a16="http://schemas.microsoft.com/office/drawing/2014/main" id="{2502E83D-1E6C-4EA3-8B85-2AB184C9D0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114800"/>
            <a:ext cx="7294562"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1B74-AE7D-2B28-675C-E48E25D9FEDD}"/>
              </a:ext>
            </a:extLst>
          </p:cNvPr>
          <p:cNvSpPr>
            <a:spLocks noGrp="1"/>
          </p:cNvSpPr>
          <p:nvPr>
            <p:ph type="title"/>
          </p:nvPr>
        </p:nvSpPr>
        <p:spPr>
          <a:xfrm>
            <a:off x="4648200" y="35560"/>
            <a:ext cx="3733800" cy="802778"/>
          </a:xfrm>
        </p:spPr>
        <p:txBody>
          <a:bodyPr/>
          <a:lstStyle/>
          <a:p>
            <a:r>
              <a:rPr lang="en-US" dirty="0">
                <a:solidFill>
                  <a:srgbClr val="3366FF"/>
                </a:solidFill>
                <a:latin typeface="Times New Roman" panose="02020603050405020304" pitchFamily="18" charset="0"/>
                <a:cs typeface="Times New Roman" panose="02020603050405020304" pitchFamily="18" charset="0"/>
              </a:rPr>
              <a:t>Polar NRZ</a:t>
            </a:r>
            <a:endParaRPr lang="en-IN" dirty="0">
              <a:solidFill>
                <a:srgbClr val="3366FF"/>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455CDF4-C414-ADE6-C4AF-B640F68C9D82}"/>
              </a:ext>
            </a:extLst>
          </p:cNvPr>
          <p:cNvSpPr txBox="1"/>
          <p:nvPr/>
        </p:nvSpPr>
        <p:spPr>
          <a:xfrm>
            <a:off x="114300" y="681990"/>
            <a:ext cx="11963400" cy="2585323"/>
          </a:xfrm>
          <a:prstGeom prst="rect">
            <a:avLst/>
          </a:prstGeom>
          <a:noFill/>
        </p:spPr>
        <p:txBody>
          <a:bodyPr wrap="square">
            <a:spAutoFit/>
          </a:bodyPr>
          <a:lstStyle/>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polar schemes, the voltages are on both sides of the time axis.</a:t>
            </a:r>
          </a:p>
          <a:p>
            <a:pPr marL="342900" indent="-342900">
              <a:spcBef>
                <a:spcPts val="600"/>
              </a:spcBef>
              <a:spcAft>
                <a:spcPts val="600"/>
              </a:spcAft>
              <a:buFont typeface="Wingdings" panose="05000000000000000000" pitchFamily="2" charset="2"/>
              <a:buChar char="Ø"/>
            </a:pPr>
            <a:r>
              <a:rPr lang="en-US" altLang="en-US" sz="2400" i="1" dirty="0">
                <a:solidFill>
                  <a:schemeClr val="accent1"/>
                </a:solidFill>
                <a:latin typeface="Times New Roman" panose="02020603050405020304" pitchFamily="18" charset="0"/>
                <a:cs typeface="Times New Roman" panose="02020603050405020304" pitchFamily="18" charset="0"/>
              </a:rPr>
              <a:t>Polar NRZ </a:t>
            </a:r>
            <a:r>
              <a:rPr lang="en-US" altLang="en-US" sz="2400" dirty="0">
                <a:latin typeface="Times New Roman" panose="02020603050405020304" pitchFamily="18" charset="0"/>
                <a:cs typeface="Times New Roman" panose="02020603050405020304" pitchFamily="18" charset="0"/>
              </a:rPr>
              <a:t>scheme can be implemented with two voltages. E.g. +V for 1 and -V for 0.</a:t>
            </a:r>
          </a:p>
          <a:p>
            <a:pPr marL="342900" indent="-342900" algn="just">
              <a:lnSpc>
                <a:spcPct val="15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There are two versions:  </a:t>
            </a:r>
            <a:r>
              <a:rPr lang="en-US" altLang="en-US" sz="2400" dirty="0">
                <a:solidFill>
                  <a:srgbClr val="FF0000"/>
                </a:solidFill>
                <a:latin typeface="Times New Roman" panose="02020603050405020304" pitchFamily="18" charset="0"/>
                <a:cs typeface="Times New Roman" panose="02020603050405020304" pitchFamily="18" charset="0"/>
              </a:rPr>
              <a:t>NRZ - Level (NRZ-L) , NRZ - Inversion (NRZ-I)</a:t>
            </a:r>
            <a:endParaRPr lang="en-US" sz="2400" dirty="0">
              <a:solidFill>
                <a:srgbClr val="FF0000"/>
              </a:solidFill>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there is a long sequence of 0s or 1s in NRZ-L, the average signal power becomes skewed.</a:t>
            </a: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DC components that carry a high level of energy. </a:t>
            </a:r>
          </a:p>
        </p:txBody>
      </p:sp>
      <p:pic>
        <p:nvPicPr>
          <p:cNvPr id="7" name="Picture 6">
            <a:extLst>
              <a:ext uri="{FF2B5EF4-FFF2-40B4-BE49-F238E27FC236}">
                <a16:creationId xmlns:a16="http://schemas.microsoft.com/office/drawing/2014/main" id="{6AD04C6E-C321-0D32-2255-39DA24B13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306" y="3267313"/>
            <a:ext cx="8866187"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A80E8904-BB3A-D260-F6DE-8B31A5EAD486}"/>
              </a:ext>
            </a:extLst>
          </p:cNvPr>
          <p:cNvSpPr txBox="1"/>
          <p:nvPr/>
        </p:nvSpPr>
        <p:spPr>
          <a:xfrm>
            <a:off x="7162800" y="5766911"/>
            <a:ext cx="3048000" cy="369332"/>
          </a:xfrm>
          <a:prstGeom prst="rect">
            <a:avLst/>
          </a:prstGeom>
          <a:noFill/>
        </p:spPr>
        <p:txBody>
          <a:bodyPr wrap="square">
            <a:spAutoFit/>
          </a:bodyPr>
          <a:lstStyle/>
          <a:p>
            <a:r>
              <a:rPr lang="en-US" b="1" dirty="0">
                <a:solidFill>
                  <a:srgbClr val="FF0000"/>
                </a:solidFill>
              </a:rPr>
              <a:t>f/N</a:t>
            </a:r>
            <a:r>
              <a:rPr lang="en-US" dirty="0">
                <a:solidFill>
                  <a:srgbClr val="FF0000"/>
                </a:solidFill>
              </a:rPr>
              <a:t> — Normalized Frequency</a:t>
            </a:r>
            <a:endParaRPr lang="en-IN" dirty="0">
              <a:solidFill>
                <a:srgbClr val="FF0000"/>
              </a:solidFill>
            </a:endParaRPr>
          </a:p>
        </p:txBody>
      </p:sp>
      <p:sp>
        <p:nvSpPr>
          <p:cNvPr id="9" name="TextBox 8">
            <a:extLst>
              <a:ext uri="{FF2B5EF4-FFF2-40B4-BE49-F238E27FC236}">
                <a16:creationId xmlns:a16="http://schemas.microsoft.com/office/drawing/2014/main" id="{775AA45B-F127-5AF8-7EF0-DDAFE483EB99}"/>
              </a:ext>
            </a:extLst>
          </p:cNvPr>
          <p:cNvSpPr txBox="1"/>
          <p:nvPr/>
        </p:nvSpPr>
        <p:spPr>
          <a:xfrm>
            <a:off x="7239000" y="6121678"/>
            <a:ext cx="3048000" cy="369332"/>
          </a:xfrm>
          <a:prstGeom prst="rect">
            <a:avLst/>
          </a:prstGeom>
          <a:noFill/>
        </p:spPr>
        <p:txBody>
          <a:bodyPr wrap="square">
            <a:spAutoFit/>
          </a:bodyPr>
          <a:lstStyle/>
          <a:p>
            <a:r>
              <a:rPr lang="en-US" b="1" dirty="0">
                <a:solidFill>
                  <a:srgbClr val="FF0000"/>
                </a:solidFill>
              </a:rPr>
              <a:t>f</a:t>
            </a:r>
            <a:r>
              <a:rPr lang="en-US" dirty="0">
                <a:solidFill>
                  <a:srgbClr val="FF0000"/>
                </a:solidFill>
              </a:rPr>
              <a:t> —  Frequency</a:t>
            </a:r>
            <a:endParaRPr lang="en-IN" dirty="0">
              <a:solidFill>
                <a:srgbClr val="FF0000"/>
              </a:solidFill>
            </a:endParaRPr>
          </a:p>
        </p:txBody>
      </p:sp>
      <p:sp>
        <p:nvSpPr>
          <p:cNvPr id="10" name="TextBox 9">
            <a:extLst>
              <a:ext uri="{FF2B5EF4-FFF2-40B4-BE49-F238E27FC236}">
                <a16:creationId xmlns:a16="http://schemas.microsoft.com/office/drawing/2014/main" id="{DE7F0703-A97E-ACE3-779F-968CEA43B571}"/>
              </a:ext>
            </a:extLst>
          </p:cNvPr>
          <p:cNvSpPr txBox="1"/>
          <p:nvPr/>
        </p:nvSpPr>
        <p:spPr>
          <a:xfrm>
            <a:off x="7178040" y="6502678"/>
            <a:ext cx="3048000" cy="369332"/>
          </a:xfrm>
          <a:prstGeom prst="rect">
            <a:avLst/>
          </a:prstGeom>
          <a:noFill/>
        </p:spPr>
        <p:txBody>
          <a:bodyPr wrap="square">
            <a:spAutoFit/>
          </a:bodyPr>
          <a:lstStyle/>
          <a:p>
            <a:r>
              <a:rPr lang="en-US" b="1" dirty="0">
                <a:solidFill>
                  <a:srgbClr val="FF0000"/>
                </a:solidFill>
              </a:rPr>
              <a:t>N </a:t>
            </a:r>
            <a:r>
              <a:rPr lang="en-US" dirty="0">
                <a:solidFill>
                  <a:srgbClr val="FF0000"/>
                </a:solidFill>
              </a:rPr>
              <a:t>—  Data Rate (bps)</a:t>
            </a:r>
            <a:endParaRPr lang="en-IN" dirty="0">
              <a:solidFill>
                <a:srgbClr val="FF0000"/>
              </a:solidFill>
            </a:endParaRPr>
          </a:p>
        </p:txBody>
      </p:sp>
    </p:spTree>
    <p:extLst>
      <p:ext uri="{BB962C8B-B14F-4D97-AF65-F5344CB8AC3E}">
        <p14:creationId xmlns:p14="http://schemas.microsoft.com/office/powerpoint/2010/main" val="31604796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9">
            <a:extLst>
              <a:ext uri="{FF2B5EF4-FFF2-40B4-BE49-F238E27FC236}">
                <a16:creationId xmlns:a16="http://schemas.microsoft.com/office/drawing/2014/main" id="{542411E3-0DB1-5707-F3F0-7863FBC1F14E}"/>
              </a:ext>
            </a:extLst>
          </p:cNvPr>
          <p:cNvSpPr>
            <a:spLocks noChangeArrowheads="1"/>
          </p:cNvSpPr>
          <p:nvPr/>
        </p:nvSpPr>
        <p:spPr bwMode="auto">
          <a:xfrm>
            <a:off x="0" y="973138"/>
            <a:ext cx="12192000"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en-US" altLang="en-US" sz="2400">
                <a:solidFill>
                  <a:srgbClr val="FF0000"/>
                </a:solidFill>
                <a:latin typeface="Times New Roman" panose="02020603050405020304" pitchFamily="18" charset="0"/>
                <a:cs typeface="Times New Roman" panose="02020603050405020304" pitchFamily="18" charset="0"/>
              </a:rPr>
              <a:t>A system is using NRZ-I to transfer 1-Mbps data. What are the average signal rate and minimum bandwidth?</a:t>
            </a:r>
          </a:p>
        </p:txBody>
      </p:sp>
      <p:sp>
        <p:nvSpPr>
          <p:cNvPr id="916490" name="Rectangle 10">
            <a:extLst>
              <a:ext uri="{FF2B5EF4-FFF2-40B4-BE49-F238E27FC236}">
                <a16:creationId xmlns:a16="http://schemas.microsoft.com/office/drawing/2014/main" id="{74FA0279-7A2C-E873-38B5-E6A752D78BA2}"/>
              </a:ext>
            </a:extLst>
          </p:cNvPr>
          <p:cNvSpPr>
            <a:spLocks noChangeArrowheads="1"/>
          </p:cNvSpPr>
          <p:nvPr/>
        </p:nvSpPr>
        <p:spPr bwMode="auto">
          <a:xfrm>
            <a:off x="0" y="2551113"/>
            <a:ext cx="12268200" cy="22415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en-US" altLang="en-US" sz="2400" dirty="0">
                <a:solidFill>
                  <a:schemeClr val="hlink"/>
                </a:solidFill>
                <a:latin typeface="Times New Roman" panose="02020603050405020304" pitchFamily="18" charset="0"/>
                <a:cs typeface="Times New Roman" panose="02020603050405020304" pitchFamily="18" charset="0"/>
              </a:rPr>
              <a:t>Solution</a:t>
            </a:r>
          </a:p>
          <a:p>
            <a:pPr algn="just">
              <a:lnSpc>
                <a:spcPct val="150000"/>
              </a:lnSpc>
              <a:spcBef>
                <a:spcPct val="0"/>
              </a:spcBef>
              <a:buFontTx/>
              <a:buNone/>
            </a:pPr>
            <a:r>
              <a:rPr lang="en-US" altLang="en-US" sz="2400" dirty="0">
                <a:latin typeface="Times New Roman" panose="02020603050405020304" pitchFamily="18" charset="0"/>
                <a:cs typeface="Times New Roman" panose="02020603050405020304" pitchFamily="18" charset="0"/>
              </a:rPr>
              <a:t>The average signal rate is </a:t>
            </a:r>
            <a:r>
              <a:rPr lang="en-US" altLang="en-US" sz="2400" i="1" dirty="0">
                <a:latin typeface="Times New Roman" panose="02020603050405020304" pitchFamily="18" charset="0"/>
                <a:cs typeface="Times New Roman" panose="02020603050405020304" pitchFamily="18" charset="0"/>
              </a:rPr>
              <a:t>S</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c</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×1/</a:t>
            </a:r>
            <a:r>
              <a:rPr lang="en-US" altLang="en-US" sz="2400" i="1" dirty="0">
                <a:latin typeface="Times New Roman" panose="02020603050405020304" pitchFamily="18" charset="0"/>
                <a:cs typeface="Times New Roman" panose="02020603050405020304" pitchFamily="18" charset="0"/>
              </a:rPr>
              <a:t>R</a:t>
            </a:r>
            <a:r>
              <a:rPr lang="en-US" altLang="en-US" sz="2400" dirty="0">
                <a:latin typeface="Times New Roman" panose="02020603050405020304" pitchFamily="18" charset="0"/>
                <a:cs typeface="Times New Roman" panose="02020603050405020304" pitchFamily="18" charset="0"/>
              </a:rPr>
              <a:t> = 1/2 × N × 1 = 500 </a:t>
            </a:r>
            <a:r>
              <a:rPr lang="en-US" altLang="en-US" sz="2400" dirty="0" err="1">
                <a:latin typeface="Times New Roman" panose="02020603050405020304" pitchFamily="18" charset="0"/>
                <a:cs typeface="Times New Roman" panose="02020603050405020304" pitchFamily="18" charset="0"/>
              </a:rPr>
              <a:t>kbaud</a:t>
            </a:r>
            <a:r>
              <a:rPr lang="en-US" altLang="en-US" sz="2400" dirty="0">
                <a:latin typeface="Times New Roman" panose="02020603050405020304" pitchFamily="18" charset="0"/>
                <a:cs typeface="Times New Roman" panose="02020603050405020304" pitchFamily="18" charset="0"/>
              </a:rPr>
              <a:t>. The minimum bandwidth for this average baud rate is </a:t>
            </a:r>
            <a:r>
              <a:rPr lang="en-US" altLang="en-US" sz="2400" dirty="0" err="1">
                <a:latin typeface="Times New Roman" panose="02020603050405020304" pitchFamily="18" charset="0"/>
                <a:cs typeface="Times New Roman" panose="02020603050405020304" pitchFamily="18" charset="0"/>
              </a:rPr>
              <a:t>Bmin</a:t>
            </a:r>
            <a:r>
              <a:rPr lang="en-US" altLang="en-US" sz="2400" dirty="0">
                <a:latin typeface="Times New Roman" panose="02020603050405020304" pitchFamily="18" charset="0"/>
                <a:cs typeface="Times New Roman" panose="02020603050405020304" pitchFamily="18" charset="0"/>
              </a:rPr>
              <a:t> = S = 500 kHz.</a:t>
            </a:r>
          </a:p>
          <a:p>
            <a:pPr algn="just">
              <a:lnSpc>
                <a:spcPct val="150000"/>
              </a:lnSpc>
              <a:spcBef>
                <a:spcPct val="0"/>
              </a:spcBef>
              <a:buFontTx/>
              <a:buNone/>
            </a:pPr>
            <a:r>
              <a:rPr lang="en-US" altLang="en-US" sz="2400" dirty="0">
                <a:latin typeface="Times New Roman" panose="02020603050405020304" pitchFamily="18" charset="0"/>
                <a:cs typeface="Times New Roman" panose="02020603050405020304" pitchFamily="18" charset="0"/>
              </a:rPr>
              <a:t>Note c = 1/2 for the avg. case as worst case is 1 and best case is 0</a:t>
            </a:r>
          </a:p>
        </p:txBody>
      </p:sp>
      <p:sp>
        <p:nvSpPr>
          <p:cNvPr id="120836" name="Text Box 11">
            <a:extLst>
              <a:ext uri="{FF2B5EF4-FFF2-40B4-BE49-F238E27FC236}">
                <a16:creationId xmlns:a16="http://schemas.microsoft.com/office/drawing/2014/main" id="{4211DC7D-8877-3B7A-083D-B358739B2A48}"/>
              </a:ext>
            </a:extLst>
          </p:cNvPr>
          <p:cNvSpPr txBox="1">
            <a:spLocks noChangeArrowheads="1"/>
          </p:cNvSpPr>
          <p:nvPr/>
        </p:nvSpPr>
        <p:spPr bwMode="auto">
          <a:xfrm>
            <a:off x="838200" y="395288"/>
            <a:ext cx="1878013"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3600" b="1" i="1">
                <a:solidFill>
                  <a:srgbClr val="FF0000"/>
                </a:solidFill>
                <a:latin typeface="Times New Roman" panose="02020603050405020304" pitchFamily="18" charset="0"/>
                <a:cs typeface="Times New Roman" panose="02020603050405020304" pitchFamily="18" charset="0"/>
              </a:rPr>
              <a:t>Example</a:t>
            </a:r>
          </a:p>
        </p:txBody>
      </p:sp>
    </p:spTree>
    <p:extLst>
      <p:ext uri="{BB962C8B-B14F-4D97-AF65-F5344CB8AC3E}">
        <p14:creationId xmlns:p14="http://schemas.microsoft.com/office/powerpoint/2010/main" val="2203995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16490"/>
                                        </p:tgtEl>
                                        <p:attrNameLst>
                                          <p:attrName>style.visibility</p:attrName>
                                        </p:attrNameLst>
                                      </p:cBhvr>
                                      <p:to>
                                        <p:strVal val="visible"/>
                                      </p:to>
                                    </p:set>
                                    <p:animEffect transition="in" filter="fade">
                                      <p:cBhvr>
                                        <p:cTn id="7" dur="500"/>
                                        <p:tgtEl>
                                          <p:spTgt spid="916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9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28225843-1C1B-FF3E-D9F3-3F90FC367C50}"/>
              </a:ext>
            </a:extLst>
          </p:cNvPr>
          <p:cNvSpPr>
            <a:spLocks noGrp="1" noChangeArrowheads="1"/>
          </p:cNvSpPr>
          <p:nvPr>
            <p:ph type="title"/>
          </p:nvPr>
        </p:nvSpPr>
        <p:spPr>
          <a:xfrm>
            <a:off x="4455160" y="96520"/>
            <a:ext cx="7772400" cy="838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r>
              <a:rPr lang="en-US" altLang="en-US" sz="3600">
                <a:solidFill>
                  <a:schemeClr val="accent1"/>
                </a:solidFill>
                <a:latin typeface="Accord SF"/>
              </a:rPr>
              <a:t>Polar - RZ</a:t>
            </a:r>
          </a:p>
        </p:txBody>
      </p:sp>
      <p:sp>
        <p:nvSpPr>
          <p:cNvPr id="122883" name="Rectangle 3">
            <a:extLst>
              <a:ext uri="{FF2B5EF4-FFF2-40B4-BE49-F238E27FC236}">
                <a16:creationId xmlns:a16="http://schemas.microsoft.com/office/drawing/2014/main" id="{49F1B219-80C0-C730-7A98-C578F2073836}"/>
              </a:ext>
            </a:extLst>
          </p:cNvPr>
          <p:cNvSpPr>
            <a:spLocks noGrp="1" noChangeArrowheads="1"/>
          </p:cNvSpPr>
          <p:nvPr>
            <p:ph type="body" idx="1"/>
          </p:nvPr>
        </p:nvSpPr>
        <p:spPr>
          <a:xfrm>
            <a:off x="228601" y="914400"/>
            <a:ext cx="11506200" cy="28194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The </a:t>
            </a:r>
            <a:r>
              <a:rPr lang="en-US" altLang="en-US" sz="2400" i="1" dirty="0">
                <a:solidFill>
                  <a:schemeClr val="accent1"/>
                </a:solidFill>
                <a:latin typeface="Times New Roman" panose="02020603050405020304" pitchFamily="18" charset="0"/>
                <a:cs typeface="Times New Roman" panose="02020603050405020304" pitchFamily="18" charset="0"/>
              </a:rPr>
              <a:t>Return to Zero (RZ)</a:t>
            </a:r>
            <a:r>
              <a:rPr lang="en-US" altLang="en-US" sz="2400" dirty="0">
                <a:latin typeface="Times New Roman" panose="02020603050405020304" pitchFamily="18" charset="0"/>
                <a:cs typeface="Times New Roman" panose="02020603050405020304" pitchFamily="18" charset="0"/>
              </a:rPr>
              <a:t> scheme uses three voltage values. +, 0, -. </a:t>
            </a:r>
          </a:p>
          <a:p>
            <a:pPr algn="just">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Each symbol has a transition in the middle. Either from high to zero or from low to zero.</a:t>
            </a:r>
          </a:p>
          <a:p>
            <a:pPr algn="just">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This scheme has more signal transitions (two per symbol) and therefore requires a wider bandwidth.</a:t>
            </a:r>
          </a:p>
          <a:p>
            <a:pPr algn="just">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No DC components or baseline wandering.</a:t>
            </a:r>
          </a:p>
          <a:p>
            <a:pPr algn="just">
              <a:lnSpc>
                <a:spcPct val="10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More complex as it uses three voltage level. </a:t>
            </a:r>
          </a:p>
        </p:txBody>
      </p:sp>
      <p:pic>
        <p:nvPicPr>
          <p:cNvPr id="2" name="Picture 6">
            <a:extLst>
              <a:ext uri="{FF2B5EF4-FFF2-40B4-BE49-F238E27FC236}">
                <a16:creationId xmlns:a16="http://schemas.microsoft.com/office/drawing/2014/main" id="{777BE87E-CD6A-09D8-4FD2-3F70300F4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991" y="3810000"/>
            <a:ext cx="9548018" cy="289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6493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a:extLst>
              <a:ext uri="{FF2B5EF4-FFF2-40B4-BE49-F238E27FC236}">
                <a16:creationId xmlns:a16="http://schemas.microsoft.com/office/drawing/2014/main" id="{67FDBDF0-9A05-9F92-09CF-38BF66E376A6}"/>
              </a:ext>
            </a:extLst>
          </p:cNvPr>
          <p:cNvSpPr>
            <a:spLocks noGrp="1" noChangeArrowheads="1"/>
          </p:cNvSpPr>
          <p:nvPr>
            <p:ph type="title"/>
          </p:nvPr>
        </p:nvSpPr>
        <p:spPr>
          <a:xfrm>
            <a:off x="152400" y="229553"/>
            <a:ext cx="11688763" cy="522287"/>
          </a:xfrm>
        </p:spPr>
        <p:txBody>
          <a:bodyPr rtlCol="0" anchor="t">
            <a:normAutofit fontScale="90000"/>
          </a:bodyPr>
          <a:lstStyle/>
          <a:p>
            <a:pPr>
              <a:defRPr/>
            </a:pPr>
            <a:r>
              <a:rPr lang="en-US" altLang="en-US" sz="4000" dirty="0">
                <a:solidFill>
                  <a:schemeClr val="accent1"/>
                </a:solidFill>
                <a:latin typeface="Accord SF" panose="020BE200000000000000" pitchFamily="34" charset="0"/>
              </a:rPr>
              <a:t>Polar - Biphase: Manchester and Differential Manchester</a:t>
            </a:r>
            <a:endParaRPr lang="en-US" altLang="en-US" dirty="0">
              <a:solidFill>
                <a:schemeClr val="accent1"/>
              </a:solidFill>
              <a:latin typeface="Accord SF" panose="020BE200000000000000" pitchFamily="34" charset="0"/>
            </a:endParaRPr>
          </a:p>
        </p:txBody>
      </p:sp>
      <p:pic>
        <p:nvPicPr>
          <p:cNvPr id="2" name="Picture 7">
            <a:extLst>
              <a:ext uri="{FF2B5EF4-FFF2-40B4-BE49-F238E27FC236}">
                <a16:creationId xmlns:a16="http://schemas.microsoft.com/office/drawing/2014/main" id="{4A7FBE0A-E972-E6FF-1E33-9E4310448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542222"/>
            <a:ext cx="8510588"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4FED804E-29D9-0B8C-6BEC-DA89EB340CE7}"/>
              </a:ext>
            </a:extLst>
          </p:cNvPr>
          <p:cNvSpPr txBox="1"/>
          <p:nvPr/>
        </p:nvSpPr>
        <p:spPr>
          <a:xfrm>
            <a:off x="142240" y="844421"/>
            <a:ext cx="11887200" cy="1569660"/>
          </a:xfrm>
          <a:prstGeom prst="rect">
            <a:avLst/>
          </a:prstGeom>
          <a:noFill/>
        </p:spPr>
        <p:txBody>
          <a:bodyPr wrap="square">
            <a:spAutoFit/>
          </a:bodyPr>
          <a:lstStyle/>
          <a:p>
            <a:pPr marL="342900" indent="-3429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In Manchester and differential Manchester encoding, the transition at the middle of the bit is used for synchronization.</a:t>
            </a:r>
          </a:p>
          <a:p>
            <a:pPr marL="342900" indent="-342900">
              <a:buFont typeface="Wingdings" panose="05000000000000000000" pitchFamily="2" charset="2"/>
              <a:buChar char="Ø"/>
            </a:pPr>
            <a:r>
              <a:rPr lang="en-US" sz="2400" dirty="0">
                <a:latin typeface="Times-Roman"/>
              </a:rPr>
              <a:t>No baseline wondering.</a:t>
            </a:r>
          </a:p>
          <a:p>
            <a:pPr marL="342900" indent="-342900">
              <a:buFont typeface="Wingdings" panose="05000000000000000000" pitchFamily="2" charset="2"/>
              <a:buChar char="Ø"/>
            </a:pPr>
            <a:r>
              <a:rPr lang="en-US" sz="2400" dirty="0">
                <a:latin typeface="Times-Roman"/>
                <a:cs typeface="Times New Roman" panose="02020603050405020304" pitchFamily="18" charset="0"/>
              </a:rPr>
              <a:t>There is no DC component because each bit has a positive and negative voltage contribution.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30836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57779A9-90AA-9BC7-CCF8-B56FEBC440F8}"/>
              </a:ext>
            </a:extLst>
          </p:cNvPr>
          <p:cNvSpPr>
            <a:spLocks noGrp="1" noChangeArrowheads="1"/>
          </p:cNvSpPr>
          <p:nvPr>
            <p:ph type="title"/>
          </p:nvPr>
        </p:nvSpPr>
        <p:spPr>
          <a:xfrm>
            <a:off x="2590800" y="116840"/>
            <a:ext cx="9366250" cy="762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r>
              <a:rPr lang="en-US" altLang="en-US" sz="3600" dirty="0">
                <a:solidFill>
                  <a:srgbClr val="3366FF"/>
                </a:solidFill>
                <a:latin typeface="Accord SF"/>
              </a:rPr>
              <a:t>Bipolar - AMI and </a:t>
            </a:r>
            <a:r>
              <a:rPr lang="en-US" altLang="en-US" sz="3600" dirty="0" err="1">
                <a:solidFill>
                  <a:srgbClr val="3366FF"/>
                </a:solidFill>
                <a:latin typeface="Accord SF"/>
              </a:rPr>
              <a:t>Pseudoternary</a:t>
            </a:r>
            <a:endParaRPr lang="en-US" altLang="en-US" sz="3600" dirty="0">
              <a:solidFill>
                <a:srgbClr val="3366FF"/>
              </a:solidFill>
              <a:latin typeface="Accord SF"/>
            </a:endParaRPr>
          </a:p>
        </p:txBody>
      </p:sp>
      <p:sp>
        <p:nvSpPr>
          <p:cNvPr id="133123" name="Rectangle 3">
            <a:extLst>
              <a:ext uri="{FF2B5EF4-FFF2-40B4-BE49-F238E27FC236}">
                <a16:creationId xmlns:a16="http://schemas.microsoft.com/office/drawing/2014/main" id="{B2B1C1ED-7FB0-26BD-0E4A-E90391C5EFA5}"/>
              </a:ext>
            </a:extLst>
          </p:cNvPr>
          <p:cNvSpPr>
            <a:spLocks noGrp="1" noChangeArrowheads="1"/>
          </p:cNvSpPr>
          <p:nvPr>
            <p:ph type="body" idx="1"/>
          </p:nvPr>
        </p:nvSpPr>
        <p:spPr>
          <a:xfrm>
            <a:off x="234950" y="762000"/>
            <a:ext cx="11049000" cy="2667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three voltage levels: positive, negative, and zero. </a:t>
            </a:r>
            <a:r>
              <a:rPr lang="en-US" altLang="en-US" sz="2400" dirty="0">
                <a:latin typeface="Times New Roman" panose="02020603050405020304" pitchFamily="18" charset="0"/>
                <a:cs typeface="Times New Roman" panose="02020603050405020304" pitchFamily="18" charset="0"/>
              </a:rPr>
              <a:t>Voltage level for one symbol is at “0” and the other alternates between + &amp; -.</a:t>
            </a:r>
          </a:p>
          <a:p>
            <a:pPr algn="just">
              <a:lnSpc>
                <a:spcPct val="10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Bipolar Alternate Mark Inversion (AMI) - the “0” symbol is represented by zero voltage and the “1” symbol alternates between +V and -V.</a:t>
            </a:r>
          </a:p>
          <a:p>
            <a:pPr algn="just">
              <a:lnSpc>
                <a:spcPct val="10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a:t>
            </a:r>
            <a:r>
              <a:rPr lang="en-US" altLang="en-US" sz="2400" b="1" i="1" dirty="0" err="1">
                <a:solidFill>
                  <a:schemeClr val="accent2">
                    <a:lumMod val="50000"/>
                  </a:schemeClr>
                </a:solidFill>
                <a:latin typeface="Times New Roman" panose="02020603050405020304" pitchFamily="18" charset="0"/>
                <a:cs typeface="Times New Roman" panose="02020603050405020304" pitchFamily="18" charset="0"/>
              </a:rPr>
              <a:t>Pseudoternary</a:t>
            </a:r>
            <a:r>
              <a:rPr lang="en-US" altLang="en-US" sz="2400" b="1" i="1" dirty="0">
                <a:solidFill>
                  <a:schemeClr val="accent2">
                    <a:lumMod val="50000"/>
                  </a:schemeClr>
                </a:solidFill>
                <a:latin typeface="Times New Roman" panose="02020603050405020304" pitchFamily="18" charset="0"/>
                <a:cs typeface="Times New Roman" panose="02020603050405020304" pitchFamily="18" charset="0"/>
              </a:rPr>
              <a:t> </a:t>
            </a:r>
            <a:r>
              <a:rPr lang="en-US" altLang="en-US" sz="2400" b="1" dirty="0">
                <a:solidFill>
                  <a:schemeClr val="accent2">
                    <a:lumMod val="50000"/>
                  </a:schemeClr>
                </a:solidFill>
                <a:latin typeface="Times New Roman" panose="02020603050405020304" pitchFamily="18" charset="0"/>
                <a:cs typeface="Times New Roman" panose="02020603050405020304" pitchFamily="18" charset="0"/>
              </a:rPr>
              <a:t>is the reverse of AMI.</a:t>
            </a:r>
          </a:p>
          <a:p>
            <a:pPr algn="just">
              <a:lnSpc>
                <a:spcPct val="10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It has no DC component or baseline wandering.</a:t>
            </a:r>
          </a:p>
          <a:p>
            <a:pPr algn="just">
              <a:lnSpc>
                <a:spcPct val="100000"/>
              </a:lnSpc>
              <a:buFont typeface="Wingdings" panose="05000000000000000000" pitchFamily="2" charset="2"/>
              <a:buChar char="Ø"/>
            </a:pPr>
            <a:endParaRPr lang="en-US" altLang="en-US" sz="2400" b="1" dirty="0">
              <a:solidFill>
                <a:schemeClr val="accent2">
                  <a:lumMod val="50000"/>
                </a:schemeClr>
              </a:solidFill>
              <a:latin typeface="Times New Roman" panose="02020603050405020304" pitchFamily="18" charset="0"/>
              <a:cs typeface="Times New Roman" panose="02020603050405020304" pitchFamily="18" charset="0"/>
            </a:endParaRPr>
          </a:p>
        </p:txBody>
      </p:sp>
      <p:pic>
        <p:nvPicPr>
          <p:cNvPr id="2" name="Picture 7">
            <a:extLst>
              <a:ext uri="{FF2B5EF4-FFF2-40B4-BE49-F238E27FC236}">
                <a16:creationId xmlns:a16="http://schemas.microsoft.com/office/drawing/2014/main" id="{E6654C07-F31E-952B-A46B-AE84337433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3683697"/>
            <a:ext cx="10934700" cy="304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5861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831BD85-73CD-C197-DB63-7467031C963B}"/>
              </a:ext>
            </a:extLst>
          </p:cNvPr>
          <p:cNvSpPr/>
          <p:nvPr/>
        </p:nvSpPr>
        <p:spPr>
          <a:xfrm>
            <a:off x="2844800" y="2713038"/>
            <a:ext cx="6908800" cy="2544762"/>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6000" b="1" dirty="0">
                <a:latin typeface="Times New Roman" panose="02020603050405020304" pitchFamily="18" charset="0"/>
                <a:cs typeface="Times New Roman" panose="02020603050405020304" pitchFamily="18" charset="0"/>
              </a:rPr>
              <a:t>Analog to Digital Conversion</a:t>
            </a:r>
            <a:endParaRPr lang="en-IN" sz="6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DAE82-CE86-38A9-AE34-F607113C7CEE}"/>
              </a:ext>
            </a:extLst>
          </p:cNvPr>
          <p:cNvSpPr>
            <a:spLocks noGrp="1"/>
          </p:cNvSpPr>
          <p:nvPr>
            <p:ph type="sldNum" sz="quarter" idx="10"/>
          </p:nvPr>
        </p:nvSpPr>
        <p:spPr/>
        <p:txBody>
          <a:bodyPr/>
          <a:lstStyle/>
          <a:p>
            <a:r>
              <a:rPr lang="en-US" altLang="en-US"/>
              <a:t>4.</a:t>
            </a:r>
            <a:fld id="{70A9F0BE-F936-4929-BCB1-0953DB774B22}" type="slidenum">
              <a:rPr lang="en-US" altLang="en-US"/>
              <a:pPr/>
              <a:t>95</a:t>
            </a:fld>
            <a:endParaRPr lang="en-US" altLang="en-US"/>
          </a:p>
        </p:txBody>
      </p:sp>
      <p:sp>
        <p:nvSpPr>
          <p:cNvPr id="858115" name="Text Box 3">
            <a:extLst>
              <a:ext uri="{FF2B5EF4-FFF2-40B4-BE49-F238E27FC236}">
                <a16:creationId xmlns:a16="http://schemas.microsoft.com/office/drawing/2014/main" id="{127A6AB2-E94F-C44B-C1DE-E6F7C4B66C91}"/>
              </a:ext>
            </a:extLst>
          </p:cNvPr>
          <p:cNvSpPr txBox="1">
            <a:spLocks noChangeArrowheads="1"/>
          </p:cNvSpPr>
          <p:nvPr/>
        </p:nvSpPr>
        <p:spPr bwMode="auto">
          <a:xfrm>
            <a:off x="1752601" y="406400"/>
            <a:ext cx="74578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dirty="0">
                <a:solidFill>
                  <a:srgbClr val="3366FF"/>
                </a:solidFill>
                <a:effectLst>
                  <a:outerShdw blurRad="38100" dist="38100" dir="2700000" algn="tl">
                    <a:srgbClr val="C0C0C0"/>
                  </a:outerShdw>
                </a:effectLst>
                <a:latin typeface="Times" panose="02020603050405020304" pitchFamily="18" charset="0"/>
              </a:rPr>
              <a:t>ANALOG-TO-DIGITAL CONVERSION</a:t>
            </a:r>
          </a:p>
        </p:txBody>
      </p:sp>
      <p:sp>
        <p:nvSpPr>
          <p:cNvPr id="858116" name="Text Box 4">
            <a:extLst>
              <a:ext uri="{FF2B5EF4-FFF2-40B4-BE49-F238E27FC236}">
                <a16:creationId xmlns:a16="http://schemas.microsoft.com/office/drawing/2014/main" id="{68EF4AE0-983E-9085-14D9-908D86A249F2}"/>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p>
        </p:txBody>
      </p:sp>
      <p:sp>
        <p:nvSpPr>
          <p:cNvPr id="858117" name="Rectangle 5">
            <a:extLst>
              <a:ext uri="{FF2B5EF4-FFF2-40B4-BE49-F238E27FC236}">
                <a16:creationId xmlns:a16="http://schemas.microsoft.com/office/drawing/2014/main" id="{8F9BB777-D0B3-F1F3-A40C-1070E7C35FB7}"/>
              </a:ext>
            </a:extLst>
          </p:cNvPr>
          <p:cNvSpPr>
            <a:spLocks noChangeArrowheads="1"/>
          </p:cNvSpPr>
          <p:nvPr/>
        </p:nvSpPr>
        <p:spPr bwMode="auto">
          <a:xfrm>
            <a:off x="381000" y="1079957"/>
            <a:ext cx="11201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 digital signal is superior to an analog signal because it is more robust to noise and can easily be recovered, corrected and amplified. For this reason, the tendency today is to change an analog signal to digital data. </a:t>
            </a:r>
          </a:p>
          <a:p>
            <a:pPr algn="just" eaLnBrk="1" hangingPunct="1"/>
            <a:r>
              <a:rPr lang="en-US" sz="2800" dirty="0">
                <a:latin typeface="Times New Roman" panose="02020603050405020304" pitchFamily="18" charset="0"/>
                <a:cs typeface="Times New Roman" panose="02020603050405020304" pitchFamily="18" charset="0"/>
              </a:rPr>
              <a:t>The techniques used to change an analog signal to digital data are  </a:t>
            </a:r>
            <a:r>
              <a:rPr lang="en-US" sz="2800" dirty="0">
                <a:solidFill>
                  <a:srgbClr val="FF0000"/>
                </a:solidFill>
                <a:latin typeface="Times New Roman" panose="02020603050405020304" pitchFamily="18" charset="0"/>
                <a:cs typeface="Times New Roman" panose="02020603050405020304" pitchFamily="18" charset="0"/>
              </a:rPr>
              <a:t>pulse code modulation (PCM), Delta Modulation (DM), Differential Pulse Code modulation (DPCM).</a:t>
            </a:r>
            <a:endParaRPr lang="en-US" altLang="en-US" sz="28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a:extLst>
              <a:ext uri="{FF2B5EF4-FFF2-40B4-BE49-F238E27FC236}">
                <a16:creationId xmlns:a16="http://schemas.microsoft.com/office/drawing/2014/main" id="{39DA0331-66CC-0A25-742F-AF6A40E954C1}"/>
              </a:ext>
            </a:extLst>
          </p:cNvPr>
          <p:cNvSpPr>
            <a:spLocks noGrp="1" noChangeArrowheads="1"/>
          </p:cNvSpPr>
          <p:nvPr>
            <p:ph type="title"/>
          </p:nvPr>
        </p:nvSpPr>
        <p:spPr bwMode="auto">
          <a:xfrm>
            <a:off x="2133600" y="141446"/>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en-US" dirty="0">
                <a:solidFill>
                  <a:srgbClr val="3366FF"/>
                </a:solidFill>
                <a:effectLst>
                  <a:outerShdw blurRad="38100" dist="38100" dir="2700000" algn="tl">
                    <a:srgbClr val="C0C0C0"/>
                  </a:outerShdw>
                </a:effectLst>
              </a:rPr>
              <a:t>Pulse Code Modulation (</a:t>
            </a:r>
            <a:r>
              <a:rPr lang="en-US" altLang="en-US" dirty="0">
                <a:solidFill>
                  <a:srgbClr val="3366FF"/>
                </a:solidFill>
              </a:rPr>
              <a:t>PCM)</a:t>
            </a:r>
          </a:p>
        </p:txBody>
      </p:sp>
      <p:sp>
        <p:nvSpPr>
          <p:cNvPr id="1005571" name="Rectangle 3">
            <a:extLst>
              <a:ext uri="{FF2B5EF4-FFF2-40B4-BE49-F238E27FC236}">
                <a16:creationId xmlns:a16="http://schemas.microsoft.com/office/drawing/2014/main" id="{2A8648D3-FDCF-6B24-BE86-B3A5B272AEE9}"/>
              </a:ext>
            </a:extLst>
          </p:cNvPr>
          <p:cNvSpPr>
            <a:spLocks noGrp="1" noChangeArrowheads="1"/>
          </p:cNvSpPr>
          <p:nvPr>
            <p:ph type="body" idx="1"/>
          </p:nvPr>
        </p:nvSpPr>
        <p:spPr bwMode="auto">
          <a:xfrm>
            <a:off x="457200" y="990600"/>
            <a:ext cx="10972800" cy="3505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609600" indent="-609600"/>
            <a:r>
              <a:rPr lang="en-US" altLang="en-US" dirty="0"/>
              <a:t>PCM consists of three steps to digitize an analog signal:</a:t>
            </a:r>
          </a:p>
          <a:p>
            <a:pPr marL="990600" lvl="1" indent="-533400">
              <a:buFont typeface="Arial" panose="020B0604020202020204" pitchFamily="34" charset="0"/>
              <a:buAutoNum type="arabicPeriod"/>
            </a:pPr>
            <a:r>
              <a:rPr lang="en-US" altLang="en-US" dirty="0"/>
              <a:t>Sampling</a:t>
            </a:r>
          </a:p>
          <a:p>
            <a:pPr marL="990600" lvl="1" indent="-533400">
              <a:buFont typeface="Arial" panose="020B0604020202020204" pitchFamily="34" charset="0"/>
              <a:buAutoNum type="arabicPeriod"/>
            </a:pPr>
            <a:r>
              <a:rPr lang="en-US" altLang="en-US" dirty="0"/>
              <a:t>Quantization</a:t>
            </a:r>
          </a:p>
          <a:p>
            <a:pPr marL="990600" lvl="1" indent="-533400">
              <a:buFont typeface="Arial" panose="020B0604020202020204" pitchFamily="34" charset="0"/>
              <a:buAutoNum type="arabicPeriod"/>
            </a:pPr>
            <a:r>
              <a:rPr lang="en-US" altLang="en-US" dirty="0"/>
              <a:t>Binary encoding</a:t>
            </a:r>
          </a:p>
        </p:txBody>
      </p:sp>
      <p:pic>
        <p:nvPicPr>
          <p:cNvPr id="3" name="Picture 6">
            <a:extLst>
              <a:ext uri="{FF2B5EF4-FFF2-40B4-BE49-F238E27FC236}">
                <a16:creationId xmlns:a16="http://schemas.microsoft.com/office/drawing/2014/main" id="{A23C55CD-346B-B1D0-2E67-2B49A87FA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730342"/>
            <a:ext cx="8821737" cy="398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a:extLst>
              <a:ext uri="{FF2B5EF4-FFF2-40B4-BE49-F238E27FC236}">
                <a16:creationId xmlns:a16="http://schemas.microsoft.com/office/drawing/2014/main" id="{DE73F7A3-0FE9-2189-505D-66D89BE8555B}"/>
              </a:ext>
            </a:extLst>
          </p:cNvPr>
          <p:cNvSpPr>
            <a:spLocks noGrp="1" noChangeArrowheads="1"/>
          </p:cNvSpPr>
          <p:nvPr>
            <p:ph type="title"/>
          </p:nvPr>
        </p:nvSpPr>
        <p:spPr bwMode="auto">
          <a:xfrm>
            <a:off x="2133600" y="162560"/>
            <a:ext cx="7772400" cy="914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en-US" b="1" dirty="0">
                <a:solidFill>
                  <a:srgbClr val="3366FF"/>
                </a:solidFill>
              </a:rPr>
              <a:t>Sampling</a:t>
            </a:r>
          </a:p>
        </p:txBody>
      </p:sp>
      <p:sp>
        <p:nvSpPr>
          <p:cNvPr id="1006595" name="Rectangle 3">
            <a:extLst>
              <a:ext uri="{FF2B5EF4-FFF2-40B4-BE49-F238E27FC236}">
                <a16:creationId xmlns:a16="http://schemas.microsoft.com/office/drawing/2014/main" id="{10ECBD2C-6283-27CC-B0CF-49421467A4D5}"/>
              </a:ext>
            </a:extLst>
          </p:cNvPr>
          <p:cNvSpPr>
            <a:spLocks noGrp="1" noChangeArrowheads="1"/>
          </p:cNvSpPr>
          <p:nvPr>
            <p:ph type="body" idx="1"/>
          </p:nvPr>
        </p:nvSpPr>
        <p:spPr bwMode="auto">
          <a:xfrm>
            <a:off x="838200" y="1066800"/>
            <a:ext cx="10134600" cy="5257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en-US" altLang="en-US" dirty="0">
                <a:latin typeface="Times New Roman" panose="02020603050405020304" pitchFamily="18" charset="0"/>
                <a:cs typeface="Times New Roman" panose="02020603050405020304" pitchFamily="18" charset="0"/>
              </a:rPr>
              <a:t>Analog signal is sampled every T</a:t>
            </a:r>
            <a:r>
              <a:rPr lang="en-US" altLang="en-US" baseline="-25000"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 secs.</a:t>
            </a:r>
          </a:p>
          <a:p>
            <a:pPr>
              <a:lnSpc>
                <a:spcPct val="90000"/>
              </a:lnSpc>
            </a:pPr>
            <a:r>
              <a:rPr lang="en-US" altLang="en-US" dirty="0">
                <a:latin typeface="Times New Roman" panose="02020603050405020304" pitchFamily="18" charset="0"/>
                <a:cs typeface="Times New Roman" panose="02020603050405020304" pitchFamily="18" charset="0"/>
              </a:rPr>
              <a:t>T</a:t>
            </a:r>
            <a:r>
              <a:rPr lang="en-US" altLang="en-US" baseline="-25000"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 is referred to as the sampling interval. </a:t>
            </a:r>
          </a:p>
          <a:p>
            <a:pPr>
              <a:lnSpc>
                <a:spcPct val="90000"/>
              </a:lnSpc>
            </a:pPr>
            <a:r>
              <a:rPr lang="en-US" altLang="en-US" dirty="0">
                <a:latin typeface="Times New Roman" panose="02020603050405020304" pitchFamily="18" charset="0"/>
                <a:cs typeface="Times New Roman" panose="02020603050405020304" pitchFamily="18" charset="0"/>
              </a:rPr>
              <a:t>f</a:t>
            </a:r>
            <a:r>
              <a:rPr lang="en-US" altLang="en-US" baseline="-25000"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 = 1/T</a:t>
            </a:r>
            <a:r>
              <a:rPr lang="en-US" altLang="en-US" baseline="-25000"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 is called the sampling rate or sampling frequency.</a:t>
            </a:r>
          </a:p>
          <a:p>
            <a:pPr>
              <a:lnSpc>
                <a:spcPct val="90000"/>
              </a:lnSpc>
            </a:pPr>
            <a:r>
              <a:rPr lang="en-US" altLang="en-US" dirty="0">
                <a:latin typeface="Times New Roman" panose="02020603050405020304" pitchFamily="18" charset="0"/>
                <a:cs typeface="Times New Roman" panose="02020603050405020304" pitchFamily="18" charset="0"/>
              </a:rPr>
              <a:t>There are 3 sampling methods:</a:t>
            </a:r>
          </a:p>
          <a:p>
            <a:pPr lvl="1">
              <a:lnSpc>
                <a:spcPct val="90000"/>
              </a:lnSpc>
            </a:pPr>
            <a:r>
              <a:rPr lang="en-US" altLang="en-US" dirty="0">
                <a:latin typeface="Times New Roman" panose="02020603050405020304" pitchFamily="18" charset="0"/>
                <a:cs typeface="Times New Roman" panose="02020603050405020304" pitchFamily="18" charset="0"/>
              </a:rPr>
              <a:t>Ideal - an impulse at each sampling instant</a:t>
            </a:r>
          </a:p>
          <a:p>
            <a:pPr lvl="1">
              <a:lnSpc>
                <a:spcPct val="90000"/>
              </a:lnSpc>
            </a:pPr>
            <a:r>
              <a:rPr lang="en-US" altLang="en-US" dirty="0">
                <a:latin typeface="Times New Roman" panose="02020603050405020304" pitchFamily="18" charset="0"/>
                <a:cs typeface="Times New Roman" panose="02020603050405020304" pitchFamily="18" charset="0"/>
              </a:rPr>
              <a:t>Natural - a pulse of short width with varying amplitude</a:t>
            </a:r>
          </a:p>
          <a:p>
            <a:pPr lvl="1">
              <a:lnSpc>
                <a:spcPct val="90000"/>
              </a:lnSpc>
            </a:pPr>
            <a:r>
              <a:rPr lang="en-US" altLang="en-US" dirty="0">
                <a:latin typeface="Times New Roman" panose="02020603050405020304" pitchFamily="18" charset="0"/>
                <a:cs typeface="Times New Roman" panose="02020603050405020304" pitchFamily="18" charset="0"/>
              </a:rPr>
              <a:t>Flattop - sample and hold, like natural but with single amplitude value</a:t>
            </a:r>
          </a:p>
          <a:p>
            <a:pPr>
              <a:lnSpc>
                <a:spcPct val="90000"/>
              </a:lnSpc>
            </a:pPr>
            <a:r>
              <a:rPr lang="en-US" altLang="en-US" dirty="0">
                <a:latin typeface="Times New Roman" panose="02020603050405020304" pitchFamily="18" charset="0"/>
                <a:cs typeface="Times New Roman" panose="02020603050405020304" pitchFamily="18" charset="0"/>
              </a:rPr>
              <a:t>The process is referred to as pulse amplitude modulation PAM and the outcome is a signal with analog (non integer) values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8" name="Text Box 4">
            <a:extLst>
              <a:ext uri="{FF2B5EF4-FFF2-40B4-BE49-F238E27FC236}">
                <a16:creationId xmlns:a16="http://schemas.microsoft.com/office/drawing/2014/main" id="{3C25C546-C365-84CD-2B2D-B51D7B43317D}"/>
              </a:ext>
            </a:extLst>
          </p:cNvPr>
          <p:cNvSpPr txBox="1">
            <a:spLocks noChangeArrowheads="1"/>
          </p:cNvSpPr>
          <p:nvPr/>
        </p:nvSpPr>
        <p:spPr bwMode="auto">
          <a:xfrm>
            <a:off x="3265371" y="112893"/>
            <a:ext cx="59660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baseline="0" dirty="0">
                <a:solidFill>
                  <a:srgbClr val="3366FF"/>
                </a:solidFill>
              </a:rPr>
              <a:t>Three different sampling methods</a:t>
            </a:r>
          </a:p>
        </p:txBody>
      </p:sp>
      <p:pic>
        <p:nvPicPr>
          <p:cNvPr id="881670" name="Picture 6">
            <a:extLst>
              <a:ext uri="{FF2B5EF4-FFF2-40B4-BE49-F238E27FC236}">
                <a16:creationId xmlns:a16="http://schemas.microsoft.com/office/drawing/2014/main" id="{5DA93666-98C9-7076-7D2D-9EF6737B3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037" y="859096"/>
            <a:ext cx="8543925" cy="4667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6EFAC587-D737-E80B-4436-76F26BC76BA6}"/>
              </a:ext>
            </a:extLst>
          </p:cNvPr>
          <p:cNvSpPr txBox="1"/>
          <p:nvPr/>
        </p:nvSpPr>
        <p:spPr>
          <a:xfrm>
            <a:off x="685800" y="5728593"/>
            <a:ext cx="11125200" cy="954107"/>
          </a:xfrm>
          <a:prstGeom prst="rect">
            <a:avLst/>
          </a:prstGeom>
          <a:noFill/>
        </p:spPr>
        <p:txBody>
          <a:bodyPr wrap="square">
            <a:spAutoFit/>
          </a:bodyPr>
          <a:lstStyle/>
          <a:p>
            <a:pPr algn="just">
              <a:defRPr/>
            </a:pPr>
            <a:r>
              <a:rPr lang="en-US" altLang="en-US" sz="2800" dirty="0">
                <a:latin typeface="Times New Roman" panose="02020603050405020304" pitchFamily="18" charset="0"/>
                <a:cs typeface="Times New Roman" panose="02020603050405020304" pitchFamily="18" charset="0"/>
              </a:rPr>
              <a:t>According to the </a:t>
            </a:r>
            <a:r>
              <a:rPr lang="en-US" altLang="en-US" sz="2800" i="1" dirty="0">
                <a:latin typeface="Times New Roman" panose="02020603050405020304" pitchFamily="18" charset="0"/>
                <a:cs typeface="Times New Roman" panose="02020603050405020304" pitchFamily="18" charset="0"/>
              </a:rPr>
              <a:t>Nyquist theorem</a:t>
            </a:r>
            <a:r>
              <a:rPr lang="en-US" altLang="en-US" sz="2800" dirty="0">
                <a:latin typeface="Times New Roman" panose="02020603050405020304" pitchFamily="18" charset="0"/>
                <a:cs typeface="Times New Roman" panose="02020603050405020304" pitchFamily="18" charset="0"/>
              </a:rPr>
              <a:t>, the sampling rate must be at least 2 times the highest frequency contained in the signal i.e. </a:t>
            </a:r>
            <a:r>
              <a:rPr lang="en-IN" altLang="en-US" sz="2800" i="1" kern="100" dirty="0">
                <a:solidFill>
                  <a:srgbClr val="FF0000"/>
                </a:solidFill>
                <a:latin typeface="Times New Roman" panose="02020603050405020304" pitchFamily="18" charset="0"/>
                <a:cs typeface="Times New Roman" panose="02020603050405020304" pitchFamily="18" charset="0"/>
              </a:rPr>
              <a:t>f</a:t>
            </a:r>
            <a:r>
              <a:rPr lang="en-IN" sz="2800" kern="100"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a:t>
            </a:r>
            <a:r>
              <a:rPr lang="en-IN" sz="28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2 × </a:t>
            </a:r>
            <a:r>
              <a:rPr lang="en-IN" sz="2800" i="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a:t>
            </a:r>
            <a:r>
              <a:rPr lang="en-IN" sz="2800" kern="100"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max</a:t>
            </a:r>
            <a:endParaRPr lang="en-US" altLang="en-US"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756E2E84-E612-A0DF-6C1E-C845E8D255CB}"/>
              </a:ext>
            </a:extLst>
          </p:cNvPr>
          <p:cNvSpPr/>
          <p:nvPr/>
        </p:nvSpPr>
        <p:spPr>
          <a:xfrm>
            <a:off x="1447800" y="870148"/>
            <a:ext cx="8839200" cy="5302052"/>
          </a:xfrm>
          <a:prstGeom prst="rect">
            <a:avLst/>
          </a:prstGeom>
          <a:blipFill>
            <a:blip r:embed="rId2" cstate="print"/>
            <a:stretch>
              <a:fillRect/>
            </a:stretch>
          </a:blipFill>
        </p:spPr>
        <p:txBody>
          <a:bodyPr wrap="square" lIns="0" tIns="0" rIns="0" bIns="0" rtlCol="0"/>
          <a:lstStyle/>
          <a:p>
            <a:endParaRPr/>
          </a:p>
        </p:txBody>
      </p:sp>
      <p:sp>
        <p:nvSpPr>
          <p:cNvPr id="4" name="object 2">
            <a:extLst>
              <a:ext uri="{FF2B5EF4-FFF2-40B4-BE49-F238E27FC236}">
                <a16:creationId xmlns:a16="http://schemas.microsoft.com/office/drawing/2014/main" id="{09825872-EB28-DA62-EAD9-2291C25A0E4F}"/>
              </a:ext>
            </a:extLst>
          </p:cNvPr>
          <p:cNvSpPr txBox="1">
            <a:spLocks/>
          </p:cNvSpPr>
          <p:nvPr/>
        </p:nvSpPr>
        <p:spPr>
          <a:xfrm>
            <a:off x="4572000" y="303967"/>
            <a:ext cx="5467207" cy="566181"/>
          </a:xfrm>
          <a:prstGeom prst="rect">
            <a:avLst/>
          </a:prstGeom>
        </p:spPr>
        <p:txBody>
          <a:bodyPr vert="horz" wrap="square" lIns="0" tIns="12065" rIns="0" bIns="0" rtlCol="0">
            <a:sp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defTabSz="914400">
              <a:lnSpc>
                <a:spcPct val="100000"/>
              </a:lnSpc>
              <a:spcBef>
                <a:spcPts val="95"/>
              </a:spcBef>
              <a:tabLst>
                <a:tab pos="534035" algn="l"/>
              </a:tabLst>
            </a:pPr>
            <a:r>
              <a:rPr lang="en-IN" sz="3600" b="1" spc="-5" dirty="0">
                <a:solidFill>
                  <a:srgbClr val="3366FF"/>
                </a:solidFill>
              </a:rPr>
              <a:t>The PCM</a:t>
            </a:r>
            <a:r>
              <a:rPr lang="en-IN" sz="3600" b="1" spc="445" dirty="0">
                <a:solidFill>
                  <a:srgbClr val="3366FF"/>
                </a:solidFill>
              </a:rPr>
              <a:t> </a:t>
            </a:r>
            <a:r>
              <a:rPr lang="en-IN" sz="3600" b="1" spc="-5" dirty="0">
                <a:solidFill>
                  <a:srgbClr val="3366FF"/>
                </a:solidFill>
              </a:rPr>
              <a:t>process</a:t>
            </a:r>
            <a:endParaRPr lang="en-IN" sz="3600" b="1" dirty="0">
              <a:solidFill>
                <a:srgbClr val="3366FF"/>
              </a:solidFill>
            </a:endParaRPr>
          </a:p>
        </p:txBody>
      </p:sp>
    </p:spTree>
    <p:extLst>
      <p:ext uri="{BB962C8B-B14F-4D97-AF65-F5344CB8AC3E}">
        <p14:creationId xmlns:p14="http://schemas.microsoft.com/office/powerpoint/2010/main" val="19956613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33" name="Rectangle 9">
            <a:extLst>
              <a:ext uri="{FF2B5EF4-FFF2-40B4-BE49-F238E27FC236}">
                <a16:creationId xmlns:a16="http://schemas.microsoft.com/office/drawing/2014/main" id="{2731A2BC-7BA6-8487-68BE-3F924508686C}"/>
              </a:ext>
            </a:extLst>
          </p:cNvPr>
          <p:cNvSpPr>
            <a:spLocks noChangeArrowheads="1"/>
          </p:cNvSpPr>
          <p:nvPr/>
        </p:nvSpPr>
        <p:spPr bwMode="auto">
          <a:xfrm>
            <a:off x="381000" y="1143000"/>
            <a:ext cx="10058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b="1" i="1" dirty="0">
                <a:solidFill>
                  <a:srgbClr val="FF0000"/>
                </a:solidFill>
              </a:rPr>
              <a:t>A complex low-pass signal has a bandwidth of 200 kHz. What is the minimum sampling rate for this signal?</a:t>
            </a:r>
          </a:p>
        </p:txBody>
      </p:sp>
      <p:sp>
        <p:nvSpPr>
          <p:cNvPr id="922636" name="Rectangle 12">
            <a:extLst>
              <a:ext uri="{FF2B5EF4-FFF2-40B4-BE49-F238E27FC236}">
                <a16:creationId xmlns:a16="http://schemas.microsoft.com/office/drawing/2014/main" id="{42EAFD5F-0F69-EE45-D4C4-7C8AC51C757E}"/>
              </a:ext>
            </a:extLst>
          </p:cNvPr>
          <p:cNvSpPr>
            <a:spLocks noChangeArrowheads="1"/>
          </p:cNvSpPr>
          <p:nvPr/>
        </p:nvSpPr>
        <p:spPr bwMode="auto">
          <a:xfrm>
            <a:off x="314960" y="2438400"/>
            <a:ext cx="11125200" cy="224676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b="1" i="1" dirty="0">
                <a:solidFill>
                  <a:schemeClr val="hlink"/>
                </a:solidFill>
              </a:rPr>
              <a:t>Solution</a:t>
            </a:r>
          </a:p>
          <a:p>
            <a:pPr algn="just"/>
            <a:r>
              <a:rPr lang="en-US" altLang="en-US" sz="2800" b="1" i="1" dirty="0">
                <a:latin typeface="Times" panose="02020603050405020304" pitchFamily="18" charset="0"/>
              </a:rPr>
              <a:t>The bandwidth of a low-pass signal is between 0 and f, where f is the maximum frequency in the signal. Therefore, we can sample this signal at 2 times the highest frequency (200 kHz). The sampling rate is therefore 400,000 samples per second.</a:t>
            </a:r>
          </a:p>
        </p:txBody>
      </p:sp>
      <p:sp>
        <p:nvSpPr>
          <p:cNvPr id="4" name="TextBox 3">
            <a:extLst>
              <a:ext uri="{FF2B5EF4-FFF2-40B4-BE49-F238E27FC236}">
                <a16:creationId xmlns:a16="http://schemas.microsoft.com/office/drawing/2014/main" id="{C9ACE8D4-8862-7E64-355C-F4B79AE0217E}"/>
              </a:ext>
            </a:extLst>
          </p:cNvPr>
          <p:cNvSpPr txBox="1"/>
          <p:nvPr/>
        </p:nvSpPr>
        <p:spPr>
          <a:xfrm>
            <a:off x="2209800" y="363022"/>
            <a:ext cx="6096000" cy="584775"/>
          </a:xfrm>
          <a:prstGeom prst="rect">
            <a:avLst/>
          </a:prstGeom>
          <a:noFill/>
        </p:spPr>
        <p:txBody>
          <a:bodyPr wrap="square">
            <a:spAutoFit/>
          </a:bodyPr>
          <a:lstStyle/>
          <a:p>
            <a:r>
              <a:rPr lang="en-IN" sz="3200" b="1" spc="-5" dirty="0">
                <a:solidFill>
                  <a:srgbClr val="3366FF"/>
                </a:solidFill>
                <a:latin typeface="Times New Roman" panose="02020603050405020304" pitchFamily="18" charset="0"/>
                <a:cs typeface="Times New Roman" panose="02020603050405020304" pitchFamily="18" charset="0"/>
              </a:rPr>
              <a:t>PCM</a:t>
            </a:r>
            <a:r>
              <a:rPr lang="en-IN" sz="3200" b="1" spc="445" dirty="0">
                <a:solidFill>
                  <a:srgbClr val="3366FF"/>
                </a:solidFill>
                <a:latin typeface="Times New Roman" panose="02020603050405020304" pitchFamily="18" charset="0"/>
                <a:cs typeface="Times New Roman" panose="02020603050405020304" pitchFamily="18" charset="0"/>
              </a:rPr>
              <a:t> </a:t>
            </a:r>
            <a:r>
              <a:rPr lang="en-IN" sz="3200" b="1" spc="-5" dirty="0">
                <a:solidFill>
                  <a:srgbClr val="3366FF"/>
                </a:solidFill>
                <a:latin typeface="Times New Roman" panose="02020603050405020304" pitchFamily="18" charset="0"/>
                <a:cs typeface="Times New Roman" panose="02020603050405020304" pitchFamily="18" charset="0"/>
              </a:rPr>
              <a:t>Numerical </a:t>
            </a:r>
            <a:endParaRPr lang="en-IN" sz="3200" dirty="0">
              <a:solidFill>
                <a:srgbClr val="3366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1FD2653-501B-5A1E-5F0F-A4C5F16B6320}"/>
              </a:ext>
            </a:extLst>
          </p:cNvPr>
          <p:cNvSpPr/>
          <p:nvPr/>
        </p:nvSpPr>
        <p:spPr>
          <a:xfrm>
            <a:off x="1395413" y="2640013"/>
            <a:ext cx="9199562" cy="144145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IN" sz="5600" b="1" dirty="0">
                <a:latin typeface="Times New Roman" panose="02020603050405020304" pitchFamily="18" charset="0"/>
                <a:cs typeface="Times New Roman" panose="02020603050405020304" pitchFamily="18" charset="0"/>
              </a:rPr>
              <a:t>TRANSMISSION MODES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itle 1">
            <a:extLst>
              <a:ext uri="{FF2B5EF4-FFF2-40B4-BE49-F238E27FC236}">
                <a16:creationId xmlns:a16="http://schemas.microsoft.com/office/drawing/2014/main" id="{88FD6807-27F5-E64F-AC03-4786AEB90934}"/>
              </a:ext>
            </a:extLst>
          </p:cNvPr>
          <p:cNvSpPr>
            <a:spLocks noGrp="1" noChangeArrowheads="1"/>
          </p:cNvSpPr>
          <p:nvPr>
            <p:ph type="title"/>
          </p:nvPr>
        </p:nvSpPr>
        <p:spPr>
          <a:xfrm>
            <a:off x="234950" y="-3175"/>
            <a:ext cx="2886075" cy="1096963"/>
          </a:xfrm>
        </p:spPr>
        <p:txBody>
          <a:bodyPr/>
          <a:lstStyle/>
          <a:p>
            <a:r>
              <a:rPr lang="en-IN" altLang="en-US" sz="3600" b="1">
                <a:solidFill>
                  <a:schemeClr val="accent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6396939-CC39-4F77-1389-6B54808AF2FA}"/>
              </a:ext>
            </a:extLst>
          </p:cNvPr>
          <p:cNvSpPr>
            <a:spLocks noGrp="1"/>
          </p:cNvSpPr>
          <p:nvPr>
            <p:ph idx="1"/>
          </p:nvPr>
        </p:nvSpPr>
        <p:spPr>
          <a:xfrm>
            <a:off x="0" y="763588"/>
            <a:ext cx="12192000" cy="5764212"/>
          </a:xfrm>
        </p:spPr>
        <p:txBody>
          <a:bodyPr>
            <a:normAutofit/>
          </a:bodyPr>
          <a:lstStyle/>
          <a:p>
            <a:pPr algn="just">
              <a:lnSpc>
                <a:spcPct val="150000"/>
              </a:lnSpc>
              <a:buFont typeface="Courier New" panose="02070309020205020404" pitchFamily="49" charset="0"/>
              <a:buChar char="o"/>
              <a:defRPr/>
            </a:pPr>
            <a:r>
              <a:rPr lang="en-IN" sz="2400" dirty="0">
                <a:latin typeface="Times New Roman" panose="02020603050405020304" pitchFamily="18" charset="0"/>
                <a:cs typeface="Times New Roman" panose="02020603050405020304" pitchFamily="18" charset="0"/>
              </a:rPr>
              <a:t>The transmission of binary data across a link can be accomplished in either parallel or serial mode. </a:t>
            </a:r>
          </a:p>
        </p:txBody>
      </p:sp>
      <p:pic>
        <p:nvPicPr>
          <p:cNvPr id="168964" name="Picture 4">
            <a:extLst>
              <a:ext uri="{FF2B5EF4-FFF2-40B4-BE49-F238E27FC236}">
                <a16:creationId xmlns:a16="http://schemas.microsoft.com/office/drawing/2014/main" id="{1FB5799E-2FD8-1E4E-80CB-CACF798F6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238375"/>
            <a:ext cx="8058150" cy="314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a:extLst>
              <a:ext uri="{FF2B5EF4-FFF2-40B4-BE49-F238E27FC236}">
                <a16:creationId xmlns:a16="http://schemas.microsoft.com/office/drawing/2014/main" id="{91F562EC-D4F7-C338-C82B-4417463E0097}"/>
              </a:ext>
            </a:extLst>
          </p:cNvPr>
          <p:cNvSpPr>
            <a:spLocks noGrp="1" noChangeArrowheads="1"/>
          </p:cNvSpPr>
          <p:nvPr>
            <p:ph type="title"/>
          </p:nvPr>
        </p:nvSpPr>
        <p:spPr>
          <a:xfrm>
            <a:off x="0" y="101600"/>
            <a:ext cx="4487863" cy="1255713"/>
          </a:xfrm>
        </p:spPr>
        <p:txBody>
          <a:bodyPr/>
          <a:lstStyle/>
          <a:p>
            <a:r>
              <a:rPr lang="en-IN" altLang="en-US" sz="3600" b="1">
                <a:solidFill>
                  <a:schemeClr val="accent1"/>
                </a:solidFill>
                <a:latin typeface="Times New Roman" panose="02020603050405020304" pitchFamily="18" charset="0"/>
                <a:cs typeface="Times New Roman" panose="02020603050405020304" pitchFamily="18" charset="0"/>
              </a:rPr>
              <a:t>Parallel Transmission</a:t>
            </a:r>
          </a:p>
        </p:txBody>
      </p:sp>
      <p:sp>
        <p:nvSpPr>
          <p:cNvPr id="3" name="Content Placeholder 2">
            <a:extLst>
              <a:ext uri="{FF2B5EF4-FFF2-40B4-BE49-F238E27FC236}">
                <a16:creationId xmlns:a16="http://schemas.microsoft.com/office/drawing/2014/main" id="{92DD5F7B-C109-DC0E-851E-871B76436DD4}"/>
              </a:ext>
            </a:extLst>
          </p:cNvPr>
          <p:cNvSpPr>
            <a:spLocks noGrp="1"/>
          </p:cNvSpPr>
          <p:nvPr>
            <p:ph idx="1"/>
          </p:nvPr>
        </p:nvSpPr>
        <p:spPr>
          <a:xfrm>
            <a:off x="0" y="864092"/>
            <a:ext cx="6975835" cy="5367026"/>
          </a:xfrm>
        </p:spPr>
        <p:txBody>
          <a:bodyPr>
            <a:normAutofit/>
          </a:bodyPr>
          <a:lstStyle/>
          <a:p>
            <a:pPr algn="just">
              <a:lnSpc>
                <a:spcPct val="150000"/>
              </a:lnSpc>
              <a:buFont typeface="Courier New" panose="02070309020205020404" pitchFamily="49" charset="0"/>
              <a:buChar char="o"/>
              <a:defRPr/>
            </a:pP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In </a:t>
            </a:r>
            <a:r>
              <a:rPr lang="en-IN" sz="2400" i="1" dirty="0">
                <a:solidFill>
                  <a:schemeClr val="accent5"/>
                </a:solidFill>
                <a:highlight>
                  <a:srgbClr val="FFFFFF"/>
                </a:highlight>
                <a:latin typeface="Times New Roman" panose="02020603050405020304" pitchFamily="18" charset="0"/>
                <a:cs typeface="Times New Roman" panose="02020603050405020304" pitchFamily="18" charset="0"/>
              </a:rPr>
              <a:t>parallel transmission </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we use </a:t>
            </a:r>
            <a:r>
              <a:rPr lang="en-IN" sz="2400" i="1" dirty="0">
                <a:solidFill>
                  <a:srgbClr val="333333"/>
                </a:solidFill>
                <a:highlight>
                  <a:srgbClr val="FFFFFF"/>
                </a:highlight>
                <a:latin typeface="Times New Roman" panose="02020603050405020304" pitchFamily="18" charset="0"/>
                <a:cs typeface="Times New Roman" panose="02020603050405020304" pitchFamily="18" charset="0"/>
              </a:rPr>
              <a:t>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wires to send </a:t>
            </a:r>
            <a:r>
              <a:rPr lang="en-IN" sz="2400" i="1" dirty="0">
                <a:solidFill>
                  <a:schemeClr val="accent5"/>
                </a:solidFill>
                <a:highlight>
                  <a:srgbClr val="FFFFFF"/>
                </a:highlight>
                <a:latin typeface="Times New Roman" panose="02020603050405020304" pitchFamily="18" charset="0"/>
                <a:cs typeface="Times New Roman" panose="02020603050405020304" pitchFamily="18" charset="0"/>
              </a:rPr>
              <a:t>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bits at one time. That way each bit has its own wire, and all </a:t>
            </a:r>
            <a:r>
              <a:rPr lang="en-IN" sz="2400" i="1" dirty="0">
                <a:solidFill>
                  <a:srgbClr val="333333"/>
                </a:solidFill>
                <a:highlight>
                  <a:srgbClr val="FFFFFF"/>
                </a:highlight>
                <a:latin typeface="Times New Roman" panose="02020603050405020304" pitchFamily="18" charset="0"/>
                <a:cs typeface="Times New Roman" panose="02020603050405020304" pitchFamily="18" charset="0"/>
              </a:rPr>
              <a:t>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bits of one group can be transmitted with each clock tick from one device to another. </a:t>
            </a:r>
          </a:p>
          <a:p>
            <a:pPr algn="just">
              <a:lnSpc>
                <a:spcPct val="150000"/>
              </a:lnSpc>
              <a:buFont typeface="Courier New" panose="02070309020205020404" pitchFamily="49" charset="0"/>
              <a:buChar char="o"/>
              <a:defRPr/>
            </a:pP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The advantage of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parallel transmission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is speed. But the disadvantage is cost. </a:t>
            </a:r>
            <a:r>
              <a:rPr lang="en-IN" sz="2400" dirty="0">
                <a:highlight>
                  <a:srgbClr val="FFFFFF"/>
                </a:highlight>
                <a:latin typeface="Times New Roman" panose="02020603050405020304" pitchFamily="18" charset="0"/>
                <a:cs typeface="Times New Roman" panose="02020603050405020304" pitchFamily="18" charset="0"/>
              </a:rPr>
              <a:t>Parallel</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transmission requires </a:t>
            </a:r>
            <a:r>
              <a:rPr lang="en-IN" sz="2400" i="1" dirty="0">
                <a:solidFill>
                  <a:schemeClr val="accent5"/>
                </a:solidFill>
                <a:highlight>
                  <a:srgbClr val="FFFFFF"/>
                </a:highlight>
                <a:latin typeface="Times New Roman" panose="02020603050405020304" pitchFamily="18" charset="0"/>
                <a:cs typeface="Times New Roman" panose="02020603050405020304" pitchFamily="18" charset="0"/>
              </a:rPr>
              <a:t>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communication lines just to transmit the data stream. Because this is expensive, </a:t>
            </a:r>
            <a:r>
              <a:rPr lang="en-IN" sz="2400" i="1" dirty="0">
                <a:solidFill>
                  <a:schemeClr val="accent1"/>
                </a:solidFill>
                <a:highlight>
                  <a:srgbClr val="FFFFFF"/>
                </a:highlight>
                <a:latin typeface="Times New Roman" panose="02020603050405020304" pitchFamily="18" charset="0"/>
                <a:cs typeface="Times New Roman" panose="02020603050405020304" pitchFamily="18" charset="0"/>
              </a:rPr>
              <a:t>parallel transmission</a:t>
            </a:r>
            <a:r>
              <a:rPr lang="en-IN" sz="2400" dirty="0">
                <a:solidFill>
                  <a:srgbClr val="333333"/>
                </a:solidFill>
                <a:highlight>
                  <a:srgbClr val="FFFFFF"/>
                </a:highlight>
                <a:latin typeface="Times New Roman" panose="02020603050405020304" pitchFamily="18" charset="0"/>
                <a:cs typeface="Times New Roman" panose="02020603050405020304" pitchFamily="18" charset="0"/>
              </a:rPr>
              <a:t> is usually limited to short distances.</a:t>
            </a:r>
            <a:endParaRPr lang="en-IN" sz="2400" dirty="0">
              <a:latin typeface="Times New Roman" panose="02020603050405020304" pitchFamily="18" charset="0"/>
              <a:cs typeface="Times New Roman" panose="02020603050405020304" pitchFamily="18" charset="0"/>
            </a:endParaRPr>
          </a:p>
        </p:txBody>
      </p:sp>
      <p:pic>
        <p:nvPicPr>
          <p:cNvPr id="169988" name="Picture 6">
            <a:extLst>
              <a:ext uri="{FF2B5EF4-FFF2-40B4-BE49-F238E27FC236}">
                <a16:creationId xmlns:a16="http://schemas.microsoft.com/office/drawing/2014/main" id="{0EA68977-FDAB-3649-D383-ADE0AC915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4850" y="1658938"/>
            <a:ext cx="4946650" cy="299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E96454D-CD9B-A719-26ED-8D27F060A085}"/>
              </a:ext>
            </a:extLst>
          </p:cNvPr>
          <p:cNvSpPr txBox="1"/>
          <p:nvPr/>
        </p:nvSpPr>
        <p:spPr>
          <a:xfrm>
            <a:off x="7710488" y="4657725"/>
            <a:ext cx="3743325" cy="400050"/>
          </a:xfrm>
          <a:prstGeom prst="rect">
            <a:avLst/>
          </a:prstGeom>
          <a:noFill/>
        </p:spPr>
        <p:txBody>
          <a:bodyPr>
            <a:spAutoFit/>
          </a:bodyPr>
          <a:lstStyle/>
          <a:p>
            <a:pPr algn="ctr">
              <a:defRPr/>
            </a:pPr>
            <a:r>
              <a:rPr lang="en-IN" sz="2000" b="1" dirty="0">
                <a:solidFill>
                  <a:schemeClr val="accent5"/>
                </a:solidFill>
                <a:latin typeface="Times New Roman" panose="02020603050405020304" pitchFamily="18" charset="0"/>
                <a:cs typeface="Times New Roman" panose="02020603050405020304" pitchFamily="18" charset="0"/>
              </a:rPr>
              <a:t>Fig.: </a:t>
            </a:r>
            <a:r>
              <a:rPr lang="en-IN" sz="2000" dirty="0">
                <a:latin typeface="Times New Roman" panose="02020603050405020304" pitchFamily="18" charset="0"/>
                <a:cs typeface="Times New Roman" panose="02020603050405020304" pitchFamily="18" charset="0"/>
              </a:rPr>
              <a:t>Parallel Transmission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itle 1">
            <a:extLst>
              <a:ext uri="{FF2B5EF4-FFF2-40B4-BE49-F238E27FC236}">
                <a16:creationId xmlns:a16="http://schemas.microsoft.com/office/drawing/2014/main" id="{873B9C7E-1715-6B43-235C-54FE86B6EB88}"/>
              </a:ext>
            </a:extLst>
          </p:cNvPr>
          <p:cNvSpPr>
            <a:spLocks noGrp="1" noChangeArrowheads="1"/>
          </p:cNvSpPr>
          <p:nvPr>
            <p:ph type="title"/>
          </p:nvPr>
        </p:nvSpPr>
        <p:spPr>
          <a:xfrm>
            <a:off x="838200" y="365125"/>
            <a:ext cx="4176713" cy="1152525"/>
          </a:xfrm>
        </p:spPr>
        <p:txBody>
          <a:bodyPr/>
          <a:lstStyle/>
          <a:p>
            <a:r>
              <a:rPr lang="en-IN" altLang="en-US" sz="3600" b="1">
                <a:solidFill>
                  <a:schemeClr val="accent1"/>
                </a:solidFill>
                <a:latin typeface="Times New Roman" panose="02020603050405020304" pitchFamily="18" charset="0"/>
                <a:cs typeface="Times New Roman" panose="02020603050405020304" pitchFamily="18" charset="0"/>
              </a:rPr>
              <a:t>Serial Transmission</a:t>
            </a:r>
          </a:p>
        </p:txBody>
      </p:sp>
      <p:sp>
        <p:nvSpPr>
          <p:cNvPr id="3" name="Content Placeholder 2">
            <a:extLst>
              <a:ext uri="{FF2B5EF4-FFF2-40B4-BE49-F238E27FC236}">
                <a16:creationId xmlns:a16="http://schemas.microsoft.com/office/drawing/2014/main" id="{0DB4A593-7D7F-82F9-57D5-0E1C1246495C}"/>
              </a:ext>
            </a:extLst>
          </p:cNvPr>
          <p:cNvSpPr>
            <a:spLocks noGrp="1"/>
          </p:cNvSpPr>
          <p:nvPr>
            <p:ph idx="1"/>
          </p:nvPr>
        </p:nvSpPr>
        <p:spPr>
          <a:xfrm>
            <a:off x="0" y="1263650"/>
            <a:ext cx="5999163" cy="5060950"/>
          </a:xfrm>
        </p:spPr>
        <p:txBody>
          <a:bodyPr>
            <a:normAutofit/>
          </a:bodyPr>
          <a:lstStyle/>
          <a:p>
            <a:pPr algn="just">
              <a:lnSpc>
                <a:spcPct val="150000"/>
              </a:lnSpc>
              <a:buFont typeface="Courier New" panose="02070309020205020404" pitchFamily="49" charset="0"/>
              <a:buChar char="o"/>
              <a:defRPr/>
            </a:pPr>
            <a:r>
              <a:rPr lang="en-IN" sz="2400" dirty="0">
                <a:latin typeface="Times New Roman" panose="02020603050405020304" pitchFamily="18" charset="0"/>
                <a:cs typeface="Times New Roman" panose="02020603050405020304" pitchFamily="18" charset="0"/>
              </a:rPr>
              <a:t>In </a:t>
            </a:r>
            <a:r>
              <a:rPr lang="en-IN" sz="2400" i="1" dirty="0">
                <a:solidFill>
                  <a:schemeClr val="accent1"/>
                </a:solidFill>
                <a:latin typeface="Times New Roman" panose="02020603050405020304" pitchFamily="18" charset="0"/>
                <a:cs typeface="Times New Roman" panose="02020603050405020304" pitchFamily="18" charset="0"/>
              </a:rPr>
              <a:t>serial transmission </a:t>
            </a:r>
            <a:r>
              <a:rPr lang="en-IN" sz="2400" dirty="0">
                <a:latin typeface="Times New Roman" panose="02020603050405020304" pitchFamily="18" charset="0"/>
                <a:cs typeface="Times New Roman" panose="02020603050405020304" pitchFamily="18" charset="0"/>
              </a:rPr>
              <a:t>one bit follows another, so we need only one communication channel rather than n to transmit data between two communicating devices. </a:t>
            </a:r>
          </a:p>
          <a:p>
            <a:pPr algn="just">
              <a:lnSpc>
                <a:spcPct val="150000"/>
              </a:lnSpc>
              <a:buFont typeface="Courier New" panose="02070309020205020404" pitchFamily="49" charset="0"/>
              <a:buChar char="o"/>
              <a:defRPr/>
            </a:pPr>
            <a:r>
              <a:rPr lang="en-IN" sz="2400" dirty="0">
                <a:latin typeface="Times New Roman" panose="02020603050405020304" pitchFamily="18" charset="0"/>
                <a:cs typeface="Times New Roman" panose="02020603050405020304" pitchFamily="18" charset="0"/>
              </a:rPr>
              <a:t> </a:t>
            </a:r>
            <a:r>
              <a:rPr lang="en-IN" sz="2400" i="1" dirty="0">
                <a:solidFill>
                  <a:schemeClr val="accent1"/>
                </a:solidFill>
                <a:latin typeface="Times New Roman" panose="02020603050405020304" pitchFamily="18" charset="0"/>
                <a:cs typeface="Times New Roman" panose="02020603050405020304" pitchFamily="18" charset="0"/>
              </a:rPr>
              <a:t>Serial transmission </a:t>
            </a:r>
            <a:r>
              <a:rPr lang="en-IN" sz="2400" dirty="0">
                <a:latin typeface="Times New Roman" panose="02020603050405020304" pitchFamily="18" charset="0"/>
                <a:cs typeface="Times New Roman" panose="02020603050405020304" pitchFamily="18" charset="0"/>
              </a:rPr>
              <a:t>reduces the cost of transmission. </a:t>
            </a:r>
          </a:p>
          <a:p>
            <a:pPr marL="0" indent="0" algn="just">
              <a:lnSpc>
                <a:spcPct val="150000"/>
              </a:lnSpc>
              <a:buFont typeface="Arial" panose="020B0604020202020204" pitchFamily="34" charset="0"/>
              <a:buNone/>
              <a:defRPr/>
            </a:pPr>
            <a:r>
              <a:rPr lang="en-IN" sz="2400" dirty="0">
                <a:latin typeface="Times New Roman" panose="02020603050405020304" pitchFamily="18" charset="0"/>
                <a:cs typeface="Times New Roman" panose="02020603050405020304" pitchFamily="18" charset="0"/>
              </a:rPr>
              <a:t> </a:t>
            </a:r>
          </a:p>
        </p:txBody>
      </p:sp>
      <p:pic>
        <p:nvPicPr>
          <p:cNvPr id="171012" name="Picture 4">
            <a:extLst>
              <a:ext uri="{FF2B5EF4-FFF2-40B4-BE49-F238E27FC236}">
                <a16:creationId xmlns:a16="http://schemas.microsoft.com/office/drawing/2014/main" id="{C4ECA056-60D0-3865-8B99-AD7447B38D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10" t="6744" r="4013" b="3719"/>
          <a:stretch>
            <a:fillRect/>
          </a:stretch>
        </p:blipFill>
        <p:spPr bwMode="auto">
          <a:xfrm>
            <a:off x="5999163" y="1639888"/>
            <a:ext cx="6126162"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1">
            <a:extLst>
              <a:ext uri="{FF2B5EF4-FFF2-40B4-BE49-F238E27FC236}">
                <a16:creationId xmlns:a16="http://schemas.microsoft.com/office/drawing/2014/main" id="{9EA4305B-AC0E-7BCB-09CE-01B2EDE17075}"/>
              </a:ext>
            </a:extLst>
          </p:cNvPr>
          <p:cNvSpPr>
            <a:spLocks noGrp="1" noChangeArrowheads="1"/>
          </p:cNvSpPr>
          <p:nvPr>
            <p:ph type="title"/>
          </p:nvPr>
        </p:nvSpPr>
        <p:spPr>
          <a:xfrm>
            <a:off x="2870200" y="-76200"/>
            <a:ext cx="7070725" cy="1011238"/>
          </a:xfrm>
        </p:spPr>
        <p:txBody>
          <a:bodyPr/>
          <a:lstStyle/>
          <a:p>
            <a:r>
              <a:rPr lang="en-IN" altLang="en-US" b="1" dirty="0">
                <a:solidFill>
                  <a:schemeClr val="accent1"/>
                </a:solidFill>
                <a:latin typeface="Times New Roman" panose="02020603050405020304" pitchFamily="18" charset="0"/>
                <a:cs typeface="Times New Roman" panose="02020603050405020304" pitchFamily="18" charset="0"/>
              </a:rPr>
              <a:t>Asynchronous Transmission</a:t>
            </a:r>
          </a:p>
        </p:txBody>
      </p:sp>
      <p:sp>
        <p:nvSpPr>
          <p:cNvPr id="172035" name="Content Placeholder 2">
            <a:extLst>
              <a:ext uri="{FF2B5EF4-FFF2-40B4-BE49-F238E27FC236}">
                <a16:creationId xmlns:a16="http://schemas.microsoft.com/office/drawing/2014/main" id="{E626D79B-75EC-B7E1-AD9E-B7EF2A11EFC3}"/>
              </a:ext>
            </a:extLst>
          </p:cNvPr>
          <p:cNvSpPr>
            <a:spLocks noGrp="1" noChangeArrowheads="1"/>
          </p:cNvSpPr>
          <p:nvPr>
            <p:ph idx="1"/>
          </p:nvPr>
        </p:nvSpPr>
        <p:spPr>
          <a:xfrm>
            <a:off x="0" y="1219201"/>
            <a:ext cx="11506200" cy="2362200"/>
          </a:xfrm>
        </p:spPr>
        <p:txBody>
          <a:bodyPr/>
          <a:lstStyle/>
          <a:p>
            <a:pPr algn="just">
              <a:lnSpc>
                <a:spcPct val="150000"/>
              </a:lnSpc>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In </a:t>
            </a:r>
            <a:r>
              <a:rPr lang="en-IN" altLang="en-US" sz="2400" i="1" dirty="0">
                <a:solidFill>
                  <a:schemeClr val="accent1"/>
                </a:solidFill>
                <a:latin typeface="Times New Roman" panose="02020603050405020304" pitchFamily="18" charset="0"/>
                <a:cs typeface="Times New Roman" panose="02020603050405020304" pitchFamily="18" charset="0"/>
              </a:rPr>
              <a:t>asynchronous transmission</a:t>
            </a:r>
            <a:r>
              <a:rPr lang="en-IN" altLang="en-US" sz="2400" dirty="0">
                <a:latin typeface="Times New Roman" panose="02020603050405020304" pitchFamily="18" charset="0"/>
                <a:cs typeface="Times New Roman" panose="02020603050405020304" pitchFamily="18" charset="0"/>
              </a:rPr>
              <a:t>, we send 1 start bit (0) at the beginning and 1 or more stop bits (1s) at the end of each byte. There may be a gap between each byte. </a:t>
            </a:r>
          </a:p>
          <a:p>
            <a:pPr algn="just">
              <a:lnSpc>
                <a:spcPct val="150000"/>
              </a:lnSpc>
              <a:buFont typeface="Courier New" panose="02070309020205020404" pitchFamily="49" charset="0"/>
              <a:buChar char="o"/>
            </a:pPr>
            <a:r>
              <a:rPr lang="en-IN" altLang="en-US" sz="2400" dirty="0">
                <a:latin typeface="Times New Roman" panose="02020603050405020304" pitchFamily="18" charset="0"/>
                <a:cs typeface="Times New Roman" panose="02020603050405020304" pitchFamily="18" charset="0"/>
              </a:rPr>
              <a:t> </a:t>
            </a:r>
            <a:r>
              <a:rPr lang="en-IN" altLang="en-US" sz="2400" i="1" dirty="0">
                <a:solidFill>
                  <a:schemeClr val="accent1"/>
                </a:solidFill>
                <a:latin typeface="Times New Roman" panose="02020603050405020304" pitchFamily="18" charset="0"/>
                <a:cs typeface="Times New Roman" panose="02020603050405020304" pitchFamily="18" charset="0"/>
              </a:rPr>
              <a:t>Asynchronous</a:t>
            </a:r>
            <a:r>
              <a:rPr lang="en-IN" altLang="en-US" sz="2400" dirty="0">
                <a:latin typeface="Times New Roman" panose="02020603050405020304" pitchFamily="18" charset="0"/>
                <a:cs typeface="Times New Roman" panose="02020603050405020304" pitchFamily="18" charset="0"/>
              </a:rPr>
              <a:t> means “</a:t>
            </a:r>
            <a:r>
              <a:rPr lang="en-IN" altLang="en-US" sz="2400" i="1" dirty="0">
                <a:solidFill>
                  <a:schemeClr val="accent1"/>
                </a:solidFill>
                <a:latin typeface="Times New Roman" panose="02020603050405020304" pitchFamily="18" charset="0"/>
                <a:cs typeface="Times New Roman" panose="02020603050405020304" pitchFamily="18" charset="0"/>
              </a:rPr>
              <a:t>asynchronous</a:t>
            </a:r>
            <a:r>
              <a:rPr lang="en-IN" altLang="en-US" sz="2400" dirty="0">
                <a:latin typeface="Times New Roman" panose="02020603050405020304" pitchFamily="18" charset="0"/>
                <a:cs typeface="Times New Roman" panose="02020603050405020304" pitchFamily="18" charset="0"/>
              </a:rPr>
              <a:t> at the byte level,” but the bits are still synchronized; their durations are the same. </a:t>
            </a:r>
          </a:p>
        </p:txBody>
      </p:sp>
      <p:pic>
        <p:nvPicPr>
          <p:cNvPr id="2" name="Picture 6">
            <a:extLst>
              <a:ext uri="{FF2B5EF4-FFF2-40B4-BE49-F238E27FC236}">
                <a16:creationId xmlns:a16="http://schemas.microsoft.com/office/drawing/2014/main" id="{82BA72E7-4852-B146-F592-71C59C512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791268"/>
            <a:ext cx="7805737"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3501AD8-3C64-EBA4-58D6-C4B5F9656EDC}"/>
              </a:ext>
            </a:extLst>
          </p:cNvPr>
          <p:cNvSpPr txBox="1"/>
          <p:nvPr/>
        </p:nvSpPr>
        <p:spPr>
          <a:xfrm>
            <a:off x="457200" y="990600"/>
            <a:ext cx="10515600" cy="1723549"/>
          </a:xfrm>
          <a:prstGeom prst="rect">
            <a:avLst/>
          </a:prstGeom>
          <a:noFill/>
        </p:spPr>
        <p:txBody>
          <a:bodyPr wrap="square">
            <a:spAutoFit/>
          </a:bodyPr>
          <a:lstStyle/>
          <a:p>
            <a:pPr marL="342900" indent="-342900">
              <a:spcBef>
                <a:spcPts val="600"/>
              </a:spcBef>
              <a:spcAft>
                <a:spcPts val="600"/>
              </a:spcAft>
              <a:buFont typeface="Wingdings" panose="05000000000000000000" pitchFamily="2" charset="2"/>
              <a:buChar char="Ø"/>
            </a:pPr>
            <a:r>
              <a:rPr lang="en-US" altLang="en-US" sz="2400" baseline="0" dirty="0">
                <a:latin typeface="Times New Roman" panose="02020603050405020304" pitchFamily="18" charset="0"/>
                <a:cs typeface="Times New Roman" panose="02020603050405020304" pitchFamily="18" charset="0"/>
              </a:rPr>
              <a:t>In </a:t>
            </a:r>
            <a:r>
              <a:rPr lang="en-US" altLang="en-US" sz="2400" baseline="0" dirty="0">
                <a:solidFill>
                  <a:srgbClr val="0070C0"/>
                </a:solidFill>
                <a:latin typeface="Times New Roman" panose="02020603050405020304" pitchFamily="18" charset="0"/>
                <a:cs typeface="Times New Roman" panose="02020603050405020304" pitchFamily="18" charset="0"/>
              </a:rPr>
              <a:t>synchronous transmission</a:t>
            </a:r>
            <a:r>
              <a:rPr lang="en-US" altLang="en-US" sz="2400" baseline="0" dirty="0">
                <a:latin typeface="Times New Roman" panose="02020603050405020304" pitchFamily="18" charset="0"/>
                <a:cs typeface="Times New Roman" panose="02020603050405020304" pitchFamily="18" charset="0"/>
              </a:rPr>
              <a:t>, we send bits one after another without start or stop bits or gaps. It is the responsibility of the receiver to group the bits.</a:t>
            </a:r>
          </a:p>
          <a:p>
            <a:pPr marL="342900" indent="-342900">
              <a:spcBef>
                <a:spcPts val="600"/>
              </a:spcBef>
              <a:spcAft>
                <a:spcPts val="600"/>
              </a:spcAft>
              <a:buFont typeface="Wingdings" panose="05000000000000000000" pitchFamily="2" charset="2"/>
              <a:buChar char="Ø"/>
            </a:pPr>
            <a:r>
              <a:rPr lang="en-US" altLang="en-US" sz="2400" baseline="0" dirty="0">
                <a:latin typeface="Times New Roman" panose="02020603050405020304" pitchFamily="18" charset="0"/>
                <a:cs typeface="Times New Roman" panose="02020603050405020304" pitchFamily="18" charset="0"/>
              </a:rPr>
              <a:t> The bits are usually sent as bytes and many bytes are grouped in a frame. A frame is identified with a start and an end byte.</a:t>
            </a:r>
          </a:p>
        </p:txBody>
      </p:sp>
      <p:sp>
        <p:nvSpPr>
          <p:cNvPr id="7" name="Title 1">
            <a:extLst>
              <a:ext uri="{FF2B5EF4-FFF2-40B4-BE49-F238E27FC236}">
                <a16:creationId xmlns:a16="http://schemas.microsoft.com/office/drawing/2014/main" id="{6ECBE8DA-C4F5-4444-5DB3-D8EF6527A868}"/>
              </a:ext>
            </a:extLst>
          </p:cNvPr>
          <p:cNvSpPr>
            <a:spLocks noGrp="1" noChangeArrowheads="1"/>
          </p:cNvSpPr>
          <p:nvPr>
            <p:ph type="title"/>
          </p:nvPr>
        </p:nvSpPr>
        <p:spPr>
          <a:xfrm>
            <a:off x="914400" y="-152400"/>
            <a:ext cx="10515600" cy="1325563"/>
          </a:xfrm>
        </p:spPr>
        <p:txBody>
          <a:bodyPr/>
          <a:lstStyle/>
          <a:p>
            <a:r>
              <a:rPr lang="en-IN" altLang="en-US" b="1" dirty="0">
                <a:solidFill>
                  <a:schemeClr val="accent1"/>
                </a:solidFill>
                <a:latin typeface="Times New Roman" panose="02020603050405020304" pitchFamily="18" charset="0"/>
                <a:cs typeface="Times New Roman" panose="02020603050405020304" pitchFamily="18" charset="0"/>
              </a:rPr>
              <a:t>Synchronous Transmission</a:t>
            </a:r>
          </a:p>
        </p:txBody>
      </p:sp>
      <p:pic>
        <p:nvPicPr>
          <p:cNvPr id="8" name="Picture 7">
            <a:extLst>
              <a:ext uri="{FF2B5EF4-FFF2-40B4-BE49-F238E27FC236}">
                <a16:creationId xmlns:a16="http://schemas.microsoft.com/office/drawing/2014/main" id="{F08C464E-CEF0-DABF-22C5-33C124C4D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3048000"/>
            <a:ext cx="8839201" cy="2290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22785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5327</TotalTime>
  <Words>6080</Words>
  <Application>Microsoft Office PowerPoint</Application>
  <PresentationFormat>Widescreen</PresentationFormat>
  <Paragraphs>619</Paragraphs>
  <Slides>106</Slides>
  <Notes>40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106</vt:i4>
      </vt:variant>
    </vt:vector>
  </HeadingPairs>
  <TitlesOfParts>
    <vt:vector size="123" baseType="lpstr">
      <vt:lpstr>Accord SF</vt:lpstr>
      <vt:lpstr>BacktalkSerif BTN</vt:lpstr>
      <vt:lpstr>McGrawHill-Italic</vt:lpstr>
      <vt:lpstr>Times-Bold</vt:lpstr>
      <vt:lpstr>Times-BoldItalic</vt:lpstr>
      <vt:lpstr>Times-Roman</vt:lpstr>
      <vt:lpstr>Arial</vt:lpstr>
      <vt:lpstr>Arial Black</vt:lpstr>
      <vt:lpstr>Bookman Old Style</vt:lpstr>
      <vt:lpstr>Calibri</vt:lpstr>
      <vt:lpstr>Calibri Light</vt:lpstr>
      <vt:lpstr>Cambria Math</vt:lpstr>
      <vt:lpstr>Courier New</vt:lpstr>
      <vt:lpstr>Times</vt:lpstr>
      <vt:lpstr>Times New Roman</vt:lpstr>
      <vt:lpstr>Wingdings</vt:lpstr>
      <vt:lpstr>Office Theme</vt:lpstr>
      <vt:lpstr>DATA COMMUNICATION &amp; COMPUTER NETWORK (DCCN)</vt:lpstr>
      <vt:lpstr>Syllabus</vt:lpstr>
      <vt:lpstr>Syllabus</vt:lpstr>
      <vt:lpstr>Text / References Book</vt:lpstr>
      <vt:lpstr>PowerPoint Presentation</vt:lpstr>
      <vt:lpstr>Course outcomes</vt:lpstr>
      <vt:lpstr>PowerPoint Presentation</vt:lpstr>
      <vt:lpstr>PowerPoint Presentation</vt:lpstr>
      <vt:lpstr>Fundamental Characteristics  </vt:lpstr>
      <vt:lpstr>PowerPoint Presentation</vt:lpstr>
      <vt:lpstr>PowerPoint Presentation</vt:lpstr>
      <vt:lpstr>Data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Mesh Topology</vt:lpstr>
      <vt:lpstr>Star Topology</vt:lpstr>
      <vt:lpstr>Bus Topology</vt:lpstr>
      <vt:lpstr>Ring Topology</vt:lpstr>
      <vt:lpstr>PowerPoint Presentation</vt:lpstr>
      <vt:lpstr>Network Categories</vt:lpstr>
      <vt:lpstr>Local area network (LAN)</vt:lpstr>
      <vt:lpstr>Wide area network (WAN)</vt:lpstr>
      <vt:lpstr>Metropolitan area network (MAN) </vt:lpstr>
      <vt:lpstr>PowerPoint Presentation</vt:lpstr>
      <vt:lpstr>Internet Today</vt:lpstr>
      <vt:lpstr>PowerPoint Presentation</vt:lpstr>
      <vt:lpstr>Protocols</vt:lpstr>
      <vt:lpstr>Standards</vt:lpstr>
      <vt:lpstr>Standards</vt:lpstr>
      <vt:lpstr>PowerPoint Presentation</vt:lpstr>
      <vt:lpstr>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TCP/IP Protocol Suite</vt:lpstr>
      <vt:lpstr>PowerPoint Presentation</vt:lpstr>
      <vt:lpstr>Host-to-network Layer</vt:lpstr>
      <vt:lpstr>PowerPoint Presentation</vt:lpstr>
      <vt:lpstr>PowerPoint Presentation</vt:lpstr>
      <vt:lpstr>PowerPoint Presentation</vt:lpstr>
      <vt:lpstr>Transport Layer</vt:lpstr>
      <vt:lpstr>PowerPoint Presentation</vt:lpstr>
      <vt:lpstr>PowerPoint Presentation</vt:lpstr>
      <vt:lpstr>Data and Signals</vt:lpstr>
      <vt:lpstr>PowerPoint Presentation</vt:lpstr>
      <vt:lpstr>PowerPoint Presentation</vt:lpstr>
      <vt:lpstr>PowerPoint Presentation</vt:lpstr>
      <vt:lpstr>Aperiodic Analog Composite Signals</vt:lpstr>
      <vt:lpstr>PowerPoint Presentation</vt:lpstr>
      <vt:lpstr>PowerPoint Presentation</vt:lpstr>
      <vt:lpstr>Digital Signal</vt:lpstr>
      <vt:lpstr>Data Rate Limits</vt:lpstr>
      <vt:lpstr>Data Rate Limits</vt:lpstr>
      <vt:lpstr>PowerPoint Presentation</vt:lpstr>
      <vt:lpstr>PowerPoint Presentation</vt:lpstr>
      <vt:lpstr>PowerPoint Presentation</vt:lpstr>
      <vt:lpstr>Transmission of Digital Signals</vt:lpstr>
      <vt:lpstr>Transmission Impairments</vt:lpstr>
      <vt:lpstr>Transmission Impairments</vt:lpstr>
      <vt:lpstr>PowerPoint Presentation</vt:lpstr>
      <vt:lpstr>Transmission Impairments</vt:lpstr>
      <vt:lpstr>Transmission Impairments</vt:lpstr>
      <vt:lpstr>PowerPoint Presentation</vt:lpstr>
      <vt:lpstr>PowerPoint Presentation</vt:lpstr>
      <vt:lpstr>Line Coding</vt:lpstr>
      <vt:lpstr>PowerPoint Presentation</vt:lpstr>
      <vt:lpstr>PowerPoint Presentation</vt:lpstr>
      <vt:lpstr>Example</vt:lpstr>
      <vt:lpstr>PowerPoint Presentation</vt:lpstr>
      <vt:lpstr>Unipolar</vt:lpstr>
      <vt:lpstr>Polar NRZ</vt:lpstr>
      <vt:lpstr>PowerPoint Presentation</vt:lpstr>
      <vt:lpstr>Polar - RZ</vt:lpstr>
      <vt:lpstr>Polar - Biphase: Manchester and Differential Manchester</vt:lpstr>
      <vt:lpstr>Bipolar - AMI and Pseudoternary</vt:lpstr>
      <vt:lpstr>PowerPoint Presentation</vt:lpstr>
      <vt:lpstr>PowerPoint Presentation</vt:lpstr>
      <vt:lpstr>Pulse Code Modulation (PCM)</vt:lpstr>
      <vt:lpstr>Sampling</vt:lpstr>
      <vt:lpstr>PowerPoint Presentation</vt:lpstr>
      <vt:lpstr>PowerPoint Presentation</vt:lpstr>
      <vt:lpstr>PowerPoint Presentation</vt:lpstr>
      <vt:lpstr>PowerPoint Presentation</vt:lpstr>
      <vt:lpstr>Introduction</vt:lpstr>
      <vt:lpstr>Parallel Transmission</vt:lpstr>
      <vt:lpstr>Serial Transmission</vt:lpstr>
      <vt:lpstr>Asynchronous Transmission</vt:lpstr>
      <vt:lpstr>Synchronous Transmission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Jyoti Prasanna Patra</cp:lastModifiedBy>
  <cp:revision>326</cp:revision>
  <cp:lastPrinted>2026-07-15T09:09:44Z</cp:lastPrinted>
  <dcterms:created xsi:type="dcterms:W3CDTF">2000-01-15T04:50:39Z</dcterms:created>
  <dcterms:modified xsi:type="dcterms:W3CDTF">2026-07-23T04:38:55Z</dcterms:modified>
</cp:coreProperties>
</file>