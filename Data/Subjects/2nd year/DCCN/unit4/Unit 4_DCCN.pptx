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2"/>
  </p:notesMasterIdLst>
  <p:sldIdLst>
    <p:sldId id="256" r:id="rId2"/>
    <p:sldId id="257" r:id="rId3"/>
    <p:sldId id="258" r:id="rId4"/>
    <p:sldId id="259" r:id="rId5"/>
    <p:sldId id="617" r:id="rId6"/>
    <p:sldId id="624" r:id="rId7"/>
    <p:sldId id="606" r:id="rId8"/>
    <p:sldId id="895" r:id="rId9"/>
    <p:sldId id="896" r:id="rId10"/>
    <p:sldId id="904" r:id="rId11"/>
    <p:sldId id="905" r:id="rId12"/>
    <p:sldId id="922" r:id="rId13"/>
    <p:sldId id="923" r:id="rId14"/>
    <p:sldId id="924" r:id="rId15"/>
    <p:sldId id="346" r:id="rId16"/>
    <p:sldId id="874" r:id="rId17"/>
    <p:sldId id="875" r:id="rId18"/>
    <p:sldId id="876" r:id="rId19"/>
    <p:sldId id="897" r:id="rId20"/>
    <p:sldId id="877" r:id="rId21"/>
    <p:sldId id="898" r:id="rId22"/>
    <p:sldId id="348" r:id="rId23"/>
    <p:sldId id="879" r:id="rId24"/>
    <p:sldId id="931" r:id="rId25"/>
    <p:sldId id="940" r:id="rId26"/>
    <p:sldId id="939" r:id="rId27"/>
    <p:sldId id="941" r:id="rId28"/>
    <p:sldId id="938" r:id="rId29"/>
    <p:sldId id="937" r:id="rId30"/>
    <p:sldId id="934" r:id="rId31"/>
    <p:sldId id="936" r:id="rId32"/>
    <p:sldId id="345" r:id="rId33"/>
    <p:sldId id="906" r:id="rId34"/>
    <p:sldId id="907" r:id="rId35"/>
    <p:sldId id="908" r:id="rId36"/>
    <p:sldId id="351" r:id="rId37"/>
    <p:sldId id="909" r:id="rId38"/>
    <p:sldId id="911" r:id="rId39"/>
    <p:sldId id="912" r:id="rId40"/>
    <p:sldId id="913" r:id="rId41"/>
    <p:sldId id="914" r:id="rId42"/>
    <p:sldId id="915" r:id="rId43"/>
    <p:sldId id="942" r:id="rId44"/>
    <p:sldId id="916" r:id="rId45"/>
    <p:sldId id="917" r:id="rId46"/>
    <p:sldId id="918" r:id="rId47"/>
    <p:sldId id="747" r:id="rId48"/>
    <p:sldId id="919" r:id="rId49"/>
    <p:sldId id="920" r:id="rId50"/>
    <p:sldId id="921" r:id="rId51"/>
  </p:sldIdLst>
  <p:sldSz cx="14436725" cy="73437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yoti Prasanna Patra" initials="JPP" lastIdx="1" clrIdx="0">
    <p:extLst>
      <p:ext uri="{19B8F6BF-5375-455C-9EA6-DF929625EA0E}">
        <p15:presenceInfo xmlns:p15="http://schemas.microsoft.com/office/powerpoint/2012/main" userId="S::jyotiprasannap@mits.ac.in::8dc16bf6-c70b-43f7-9cbb-a4f780a82c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D29CD"/>
    <a:srgbClr val="3278D6"/>
    <a:srgbClr val="7271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5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F7CBB-C938-496C-86F1-379B44D22BEA}" type="datetimeFigureOut">
              <a:rPr lang="en-IN" smtClean="0"/>
              <a:t>23-09-2026</a:t>
            </a:fld>
            <a:endParaRPr lang="en-IN"/>
          </a:p>
        </p:txBody>
      </p:sp>
      <p:sp>
        <p:nvSpPr>
          <p:cNvPr id="4" name="Slide Image Placeholder 3"/>
          <p:cNvSpPr>
            <a:spLocks noGrp="1" noRot="1" noChangeAspect="1"/>
          </p:cNvSpPr>
          <p:nvPr>
            <p:ph type="sldImg" idx="2"/>
          </p:nvPr>
        </p:nvSpPr>
        <p:spPr>
          <a:xfrm>
            <a:off x="395288" y="1143000"/>
            <a:ext cx="60674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192D2-5A5F-45C1-8550-BFAAF730F7E1}" type="slidenum">
              <a:rPr lang="en-IN" smtClean="0"/>
              <a:t>‹#›</a:t>
            </a:fld>
            <a:endParaRPr lang="en-IN"/>
          </a:p>
        </p:txBody>
      </p:sp>
    </p:spTree>
    <p:extLst>
      <p:ext uri="{BB962C8B-B14F-4D97-AF65-F5344CB8AC3E}">
        <p14:creationId xmlns:p14="http://schemas.microsoft.com/office/powerpoint/2010/main" val="50466881"/>
      </p:ext>
    </p:extLst>
  </p:cSld>
  <p:clrMap bg1="lt1" tx1="dk1" bg2="lt2" tx2="dk2" accent1="accent1" accent2="accent2" accent3="accent3" accent4="accent4" accent5="accent5" accent6="accent6" hlink="hlink" folHlink="folHlink"/>
  <p:notesStyle>
    <a:lvl1pPr marL="0" algn="l" defTabSz="1105875" rtl="0" eaLnBrk="1" latinLnBrk="0" hangingPunct="1">
      <a:defRPr sz="1451" kern="1200">
        <a:solidFill>
          <a:schemeClr val="tx1"/>
        </a:solidFill>
        <a:latin typeface="+mn-lt"/>
        <a:ea typeface="+mn-ea"/>
        <a:cs typeface="+mn-cs"/>
      </a:defRPr>
    </a:lvl1pPr>
    <a:lvl2pPr marL="552938" algn="l" defTabSz="1105875" rtl="0" eaLnBrk="1" latinLnBrk="0" hangingPunct="1">
      <a:defRPr sz="1451" kern="1200">
        <a:solidFill>
          <a:schemeClr val="tx1"/>
        </a:solidFill>
        <a:latin typeface="+mn-lt"/>
        <a:ea typeface="+mn-ea"/>
        <a:cs typeface="+mn-cs"/>
      </a:defRPr>
    </a:lvl2pPr>
    <a:lvl3pPr marL="1105875" algn="l" defTabSz="1105875" rtl="0" eaLnBrk="1" latinLnBrk="0" hangingPunct="1">
      <a:defRPr sz="1451" kern="1200">
        <a:solidFill>
          <a:schemeClr val="tx1"/>
        </a:solidFill>
        <a:latin typeface="+mn-lt"/>
        <a:ea typeface="+mn-ea"/>
        <a:cs typeface="+mn-cs"/>
      </a:defRPr>
    </a:lvl3pPr>
    <a:lvl4pPr marL="1658813" algn="l" defTabSz="1105875" rtl="0" eaLnBrk="1" latinLnBrk="0" hangingPunct="1">
      <a:defRPr sz="1451" kern="1200">
        <a:solidFill>
          <a:schemeClr val="tx1"/>
        </a:solidFill>
        <a:latin typeface="+mn-lt"/>
        <a:ea typeface="+mn-ea"/>
        <a:cs typeface="+mn-cs"/>
      </a:defRPr>
    </a:lvl4pPr>
    <a:lvl5pPr marL="2211751" algn="l" defTabSz="1105875" rtl="0" eaLnBrk="1" latinLnBrk="0" hangingPunct="1">
      <a:defRPr sz="1451" kern="1200">
        <a:solidFill>
          <a:schemeClr val="tx1"/>
        </a:solidFill>
        <a:latin typeface="+mn-lt"/>
        <a:ea typeface="+mn-ea"/>
        <a:cs typeface="+mn-cs"/>
      </a:defRPr>
    </a:lvl5pPr>
    <a:lvl6pPr marL="2764688" algn="l" defTabSz="1105875" rtl="0" eaLnBrk="1" latinLnBrk="0" hangingPunct="1">
      <a:defRPr sz="1451" kern="1200">
        <a:solidFill>
          <a:schemeClr val="tx1"/>
        </a:solidFill>
        <a:latin typeface="+mn-lt"/>
        <a:ea typeface="+mn-ea"/>
        <a:cs typeface="+mn-cs"/>
      </a:defRPr>
    </a:lvl6pPr>
    <a:lvl7pPr marL="3317626" algn="l" defTabSz="1105875" rtl="0" eaLnBrk="1" latinLnBrk="0" hangingPunct="1">
      <a:defRPr sz="1451" kern="1200">
        <a:solidFill>
          <a:schemeClr val="tx1"/>
        </a:solidFill>
        <a:latin typeface="+mn-lt"/>
        <a:ea typeface="+mn-ea"/>
        <a:cs typeface="+mn-cs"/>
      </a:defRPr>
    </a:lvl7pPr>
    <a:lvl8pPr marL="3870564" algn="l" defTabSz="1105875" rtl="0" eaLnBrk="1" latinLnBrk="0" hangingPunct="1">
      <a:defRPr sz="1451" kern="1200">
        <a:solidFill>
          <a:schemeClr val="tx1"/>
        </a:solidFill>
        <a:latin typeface="+mn-lt"/>
        <a:ea typeface="+mn-ea"/>
        <a:cs typeface="+mn-cs"/>
      </a:defRPr>
    </a:lvl8pPr>
    <a:lvl9pPr marL="4423501" algn="l" defTabSz="1105875" rtl="0" eaLnBrk="1" latinLnBrk="0" hangingPunct="1">
      <a:defRPr sz="14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2E9AF33-4734-1E47-09CA-313528510664}"/>
              </a:ext>
            </a:extLst>
          </p:cNvPr>
          <p:cNvSpPr>
            <a:spLocks noGrp="1" noChangeArrowheads="1"/>
          </p:cNvSpPr>
          <p:nvPr>
            <p:ph type="sldNum" sz="quarter" idx="5"/>
          </p:nvPr>
        </p:nvSpPr>
        <p:spPr>
          <a:ln/>
        </p:spPr>
        <p:txBody>
          <a:bodyPr/>
          <a:lstStyle/>
          <a:p>
            <a:fld id="{CB67970F-0F1D-4606-B662-5467E782DB90}" type="slidenum">
              <a:rPr lang="en-US" altLang="en-US"/>
              <a:pPr/>
              <a:t>5</a:t>
            </a:fld>
            <a:endParaRPr lang="en-US" altLang="en-US"/>
          </a:p>
        </p:txBody>
      </p:sp>
      <p:sp>
        <p:nvSpPr>
          <p:cNvPr id="720898" name="Rectangle 2">
            <a:extLst>
              <a:ext uri="{FF2B5EF4-FFF2-40B4-BE49-F238E27FC236}">
                <a16:creationId xmlns:a16="http://schemas.microsoft.com/office/drawing/2014/main" id="{35052069-0E05-CBDC-C873-D4F54DD870AE}"/>
              </a:ext>
            </a:extLst>
          </p:cNvPr>
          <p:cNvSpPr>
            <a:spLocks noGrp="1" noRot="1" noChangeAspect="1" noChangeArrowheads="1" noTextEdit="1"/>
          </p:cNvSpPr>
          <p:nvPr>
            <p:ph type="sldImg"/>
          </p:nvPr>
        </p:nvSpPr>
        <p:spPr>
          <a:xfrm>
            <a:off x="395288" y="1143000"/>
            <a:ext cx="6067425" cy="3086100"/>
          </a:xfrm>
          <a:ln/>
        </p:spPr>
      </p:sp>
      <p:sp>
        <p:nvSpPr>
          <p:cNvPr id="720899" name="Rectangle 3">
            <a:extLst>
              <a:ext uri="{FF2B5EF4-FFF2-40B4-BE49-F238E27FC236}">
                <a16:creationId xmlns:a16="http://schemas.microsoft.com/office/drawing/2014/main" id="{011D05E5-4656-BD99-2AD9-A0ADFB3C099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BF679B-115A-0947-CC1E-B007353141D0}"/>
              </a:ext>
            </a:extLst>
          </p:cNvPr>
          <p:cNvSpPr>
            <a:spLocks noGrp="1" noChangeArrowheads="1"/>
          </p:cNvSpPr>
          <p:nvPr>
            <p:ph type="sldNum" sz="quarter" idx="5"/>
          </p:nvPr>
        </p:nvSpPr>
        <p:spPr>
          <a:ln/>
        </p:spPr>
        <p:txBody>
          <a:bodyPr/>
          <a:lstStyle/>
          <a:p>
            <a:fld id="{D47387B0-BD43-4591-8DFB-C426ABBD0C10}" type="slidenum">
              <a:rPr lang="en-US" altLang="en-US"/>
              <a:pPr/>
              <a:t>6</a:t>
            </a:fld>
            <a:endParaRPr lang="en-US" altLang="en-US"/>
          </a:p>
        </p:txBody>
      </p:sp>
      <p:sp>
        <p:nvSpPr>
          <p:cNvPr id="722946" name="Rectangle 2">
            <a:extLst>
              <a:ext uri="{FF2B5EF4-FFF2-40B4-BE49-F238E27FC236}">
                <a16:creationId xmlns:a16="http://schemas.microsoft.com/office/drawing/2014/main" id="{826265D9-E416-2B5A-7B11-DA48DCBD74AB}"/>
              </a:ext>
            </a:extLst>
          </p:cNvPr>
          <p:cNvSpPr>
            <a:spLocks noGrp="1" noRot="1" noChangeAspect="1" noChangeArrowheads="1" noTextEdit="1"/>
          </p:cNvSpPr>
          <p:nvPr>
            <p:ph type="sldImg"/>
          </p:nvPr>
        </p:nvSpPr>
        <p:spPr>
          <a:ln/>
        </p:spPr>
      </p:sp>
      <p:sp>
        <p:nvSpPr>
          <p:cNvPr id="722947" name="Rectangle 3">
            <a:extLst>
              <a:ext uri="{FF2B5EF4-FFF2-40B4-BE49-F238E27FC236}">
                <a16:creationId xmlns:a16="http://schemas.microsoft.com/office/drawing/2014/main" id="{5BC58DEB-F500-7AF1-1C9E-BCAC3E6473D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74AA75B-4649-D763-583B-178772C341A8}"/>
              </a:ext>
            </a:extLst>
          </p:cNvPr>
          <p:cNvSpPr>
            <a:spLocks noGrp="1" noChangeArrowheads="1"/>
          </p:cNvSpPr>
          <p:nvPr>
            <p:ph type="sldNum" sz="quarter" idx="5"/>
          </p:nvPr>
        </p:nvSpPr>
        <p:spPr>
          <a:ln/>
        </p:spPr>
        <p:txBody>
          <a:bodyPr/>
          <a:lstStyle/>
          <a:p>
            <a:fld id="{CFB6B3DE-E6F6-4F0E-BAA4-E41654F09B68}" type="slidenum">
              <a:rPr lang="en-US" altLang="en-US"/>
              <a:pPr/>
              <a:t>7</a:t>
            </a:fld>
            <a:endParaRPr lang="en-US" altLang="en-US"/>
          </a:p>
        </p:txBody>
      </p:sp>
      <p:sp>
        <p:nvSpPr>
          <p:cNvPr id="724994" name="Rectangle 2">
            <a:extLst>
              <a:ext uri="{FF2B5EF4-FFF2-40B4-BE49-F238E27FC236}">
                <a16:creationId xmlns:a16="http://schemas.microsoft.com/office/drawing/2014/main" id="{39DD6543-CA2C-46C3-8045-7AD249E1E31E}"/>
              </a:ext>
            </a:extLst>
          </p:cNvPr>
          <p:cNvSpPr>
            <a:spLocks noGrp="1" noRot="1" noChangeAspect="1" noChangeArrowheads="1" noTextEdit="1"/>
          </p:cNvSpPr>
          <p:nvPr>
            <p:ph type="sldImg"/>
          </p:nvPr>
        </p:nvSpPr>
        <p:spPr>
          <a:xfrm>
            <a:off x="395288" y="1143000"/>
            <a:ext cx="6067425" cy="3086100"/>
          </a:xfrm>
          <a:ln/>
        </p:spPr>
      </p:sp>
      <p:sp>
        <p:nvSpPr>
          <p:cNvPr id="724995" name="Rectangle 3">
            <a:extLst>
              <a:ext uri="{FF2B5EF4-FFF2-40B4-BE49-F238E27FC236}">
                <a16:creationId xmlns:a16="http://schemas.microsoft.com/office/drawing/2014/main" id="{C2995B95-2B19-856B-04EC-C030E035662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8FA11EB-3C1F-539F-7E2A-6B8A359F25C0}"/>
              </a:ext>
            </a:extLst>
          </p:cNvPr>
          <p:cNvSpPr>
            <a:spLocks noGrp="1" noChangeArrowheads="1"/>
          </p:cNvSpPr>
          <p:nvPr>
            <p:ph type="sldNum" sz="quarter" idx="5"/>
          </p:nvPr>
        </p:nvSpPr>
        <p:spPr>
          <a:ln/>
        </p:spPr>
        <p:txBody>
          <a:bodyPr/>
          <a:lstStyle/>
          <a:p>
            <a:fld id="{A5494430-9DC6-45D8-8881-1AE6E9474B14}" type="slidenum">
              <a:rPr lang="en-US" altLang="en-US"/>
              <a:pPr/>
              <a:t>16</a:t>
            </a:fld>
            <a:endParaRPr lang="en-US" altLang="en-US"/>
          </a:p>
        </p:txBody>
      </p:sp>
      <p:sp>
        <p:nvSpPr>
          <p:cNvPr id="1165314" name="Rectangle 2">
            <a:extLst>
              <a:ext uri="{FF2B5EF4-FFF2-40B4-BE49-F238E27FC236}">
                <a16:creationId xmlns:a16="http://schemas.microsoft.com/office/drawing/2014/main" id="{E1811F9E-E7E2-D2B6-44E2-1E6F3F2C93C6}"/>
              </a:ext>
            </a:extLst>
          </p:cNvPr>
          <p:cNvSpPr>
            <a:spLocks noGrp="1" noRot="1" noChangeAspect="1" noChangeArrowheads="1" noTextEdit="1"/>
          </p:cNvSpPr>
          <p:nvPr>
            <p:ph type="sldImg"/>
          </p:nvPr>
        </p:nvSpPr>
        <p:spPr>
          <a:xfrm>
            <a:off x="395288" y="1143000"/>
            <a:ext cx="6067425" cy="3086100"/>
          </a:xfrm>
          <a:ln/>
        </p:spPr>
      </p:sp>
      <p:sp>
        <p:nvSpPr>
          <p:cNvPr id="1165315" name="Rectangle 3">
            <a:extLst>
              <a:ext uri="{FF2B5EF4-FFF2-40B4-BE49-F238E27FC236}">
                <a16:creationId xmlns:a16="http://schemas.microsoft.com/office/drawing/2014/main" id="{1429CAC7-1C91-B455-FBAD-1EF327D7BB6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D57813F-2502-C472-7AD1-86213F814816}"/>
              </a:ext>
            </a:extLst>
          </p:cNvPr>
          <p:cNvSpPr>
            <a:spLocks noGrp="1" noChangeArrowheads="1"/>
          </p:cNvSpPr>
          <p:nvPr>
            <p:ph type="sldNum" sz="quarter" idx="5"/>
          </p:nvPr>
        </p:nvSpPr>
        <p:spPr>
          <a:ln/>
        </p:spPr>
        <p:txBody>
          <a:bodyPr/>
          <a:lstStyle/>
          <a:p>
            <a:fld id="{DD35504A-78EE-41AF-A803-6284609D1B89}" type="slidenum">
              <a:rPr lang="en-US" altLang="en-US"/>
              <a:pPr/>
              <a:t>17</a:t>
            </a:fld>
            <a:endParaRPr lang="en-US" altLang="en-US"/>
          </a:p>
        </p:txBody>
      </p:sp>
      <p:sp>
        <p:nvSpPr>
          <p:cNvPr id="1167362" name="Rectangle 2">
            <a:extLst>
              <a:ext uri="{FF2B5EF4-FFF2-40B4-BE49-F238E27FC236}">
                <a16:creationId xmlns:a16="http://schemas.microsoft.com/office/drawing/2014/main" id="{9F9920B6-B2FF-5A27-1059-4786359F2B55}"/>
              </a:ext>
            </a:extLst>
          </p:cNvPr>
          <p:cNvSpPr>
            <a:spLocks noGrp="1" noRot="1" noChangeAspect="1" noChangeArrowheads="1" noTextEdit="1"/>
          </p:cNvSpPr>
          <p:nvPr>
            <p:ph type="sldImg"/>
          </p:nvPr>
        </p:nvSpPr>
        <p:spPr>
          <a:xfrm>
            <a:off x="395288" y="1143000"/>
            <a:ext cx="6067425" cy="3086100"/>
          </a:xfrm>
          <a:ln/>
        </p:spPr>
      </p:sp>
      <p:sp>
        <p:nvSpPr>
          <p:cNvPr id="1167363" name="Rectangle 3">
            <a:extLst>
              <a:ext uri="{FF2B5EF4-FFF2-40B4-BE49-F238E27FC236}">
                <a16:creationId xmlns:a16="http://schemas.microsoft.com/office/drawing/2014/main" id="{4348B407-EE46-2111-A39A-050D3CC827C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AA158F-7F54-6195-98A0-A2A43E9794AF}"/>
              </a:ext>
            </a:extLst>
          </p:cNvPr>
          <p:cNvSpPr>
            <a:spLocks noGrp="1" noChangeArrowheads="1"/>
          </p:cNvSpPr>
          <p:nvPr>
            <p:ph type="sldNum" sz="quarter" idx="5"/>
          </p:nvPr>
        </p:nvSpPr>
        <p:spPr>
          <a:ln/>
        </p:spPr>
        <p:txBody>
          <a:bodyPr/>
          <a:lstStyle/>
          <a:p>
            <a:fld id="{A86EA4EC-C538-43B4-B7E8-74DD3B78B8F3}" type="slidenum">
              <a:rPr lang="en-US" altLang="en-US"/>
              <a:pPr/>
              <a:t>20</a:t>
            </a:fld>
            <a:endParaRPr lang="en-US" altLang="en-US"/>
          </a:p>
        </p:txBody>
      </p:sp>
      <p:sp>
        <p:nvSpPr>
          <p:cNvPr id="1169410" name="Rectangle 2">
            <a:extLst>
              <a:ext uri="{FF2B5EF4-FFF2-40B4-BE49-F238E27FC236}">
                <a16:creationId xmlns:a16="http://schemas.microsoft.com/office/drawing/2014/main" id="{2A3DA21F-B95A-4367-ACDC-0CD67ACB8996}"/>
              </a:ext>
            </a:extLst>
          </p:cNvPr>
          <p:cNvSpPr>
            <a:spLocks noGrp="1" noRot="1" noChangeAspect="1" noChangeArrowheads="1" noTextEdit="1"/>
          </p:cNvSpPr>
          <p:nvPr>
            <p:ph type="sldImg"/>
          </p:nvPr>
        </p:nvSpPr>
        <p:spPr>
          <a:xfrm>
            <a:off x="395288" y="1143000"/>
            <a:ext cx="6067425" cy="3086100"/>
          </a:xfrm>
          <a:ln/>
        </p:spPr>
      </p:sp>
      <p:sp>
        <p:nvSpPr>
          <p:cNvPr id="1169411" name="Rectangle 3">
            <a:extLst>
              <a:ext uri="{FF2B5EF4-FFF2-40B4-BE49-F238E27FC236}">
                <a16:creationId xmlns:a16="http://schemas.microsoft.com/office/drawing/2014/main" id="{700F1EEE-8101-B9D6-B8D3-7F148BD131C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4192D2-5A5F-45C1-8550-BFAAF730F7E1}" type="slidenum">
              <a:rPr lang="en-IN" smtClean="0"/>
              <a:t>21</a:t>
            </a:fld>
            <a:endParaRPr lang="en-IN"/>
          </a:p>
        </p:txBody>
      </p:sp>
    </p:spTree>
    <p:extLst>
      <p:ext uri="{BB962C8B-B14F-4D97-AF65-F5344CB8AC3E}">
        <p14:creationId xmlns:p14="http://schemas.microsoft.com/office/powerpoint/2010/main" val="130721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392282A-4A6E-ED6B-B904-0EA5E4AEE3BC}"/>
              </a:ext>
            </a:extLst>
          </p:cNvPr>
          <p:cNvSpPr>
            <a:spLocks noGrp="1" noChangeArrowheads="1"/>
          </p:cNvSpPr>
          <p:nvPr>
            <p:ph type="sldNum" sz="quarter" idx="5"/>
          </p:nvPr>
        </p:nvSpPr>
        <p:spPr>
          <a:ln/>
        </p:spPr>
        <p:txBody>
          <a:bodyPr/>
          <a:lstStyle/>
          <a:p>
            <a:fld id="{07B4A622-B8F6-4382-B72F-C02D4E3E9F0C}" type="slidenum">
              <a:rPr lang="en-US" altLang="en-US"/>
              <a:pPr/>
              <a:t>23</a:t>
            </a:fld>
            <a:endParaRPr lang="en-US" altLang="en-US"/>
          </a:p>
        </p:txBody>
      </p:sp>
      <p:sp>
        <p:nvSpPr>
          <p:cNvPr id="1173506" name="Rectangle 2">
            <a:extLst>
              <a:ext uri="{FF2B5EF4-FFF2-40B4-BE49-F238E27FC236}">
                <a16:creationId xmlns:a16="http://schemas.microsoft.com/office/drawing/2014/main" id="{CD9E1AA5-537D-C9BA-6832-DECCCD3E4CF1}"/>
              </a:ext>
            </a:extLst>
          </p:cNvPr>
          <p:cNvSpPr>
            <a:spLocks noGrp="1" noRot="1" noChangeAspect="1" noChangeArrowheads="1" noTextEdit="1"/>
          </p:cNvSpPr>
          <p:nvPr>
            <p:ph type="sldImg"/>
          </p:nvPr>
        </p:nvSpPr>
        <p:spPr>
          <a:xfrm>
            <a:off x="395288" y="1143000"/>
            <a:ext cx="6067425" cy="3086100"/>
          </a:xfrm>
          <a:ln/>
        </p:spPr>
      </p:sp>
      <p:sp>
        <p:nvSpPr>
          <p:cNvPr id="1173507" name="Rectangle 3">
            <a:extLst>
              <a:ext uri="{FF2B5EF4-FFF2-40B4-BE49-F238E27FC236}">
                <a16:creationId xmlns:a16="http://schemas.microsoft.com/office/drawing/2014/main" id="{1C0CAE9D-9568-EC66-8978-EE6E7B7699E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EEDC30-D605-72EA-9F26-D653236359C4}"/>
              </a:ext>
            </a:extLst>
          </p:cNvPr>
          <p:cNvSpPr>
            <a:spLocks noGrp="1" noChangeArrowheads="1"/>
          </p:cNvSpPr>
          <p:nvPr>
            <p:ph type="sldNum" sz="quarter" idx="5"/>
          </p:nvPr>
        </p:nvSpPr>
        <p:spPr>
          <a:ln/>
        </p:spPr>
        <p:txBody>
          <a:bodyPr/>
          <a:lstStyle/>
          <a:p>
            <a:fld id="{63E6F4CE-1C91-4A4A-BA39-C46156B2B220}" type="slidenum">
              <a:rPr lang="en-US" altLang="en-US"/>
              <a:pPr/>
              <a:t>47</a:t>
            </a:fld>
            <a:endParaRPr lang="en-US" altLang="en-US"/>
          </a:p>
        </p:txBody>
      </p:sp>
      <p:sp>
        <p:nvSpPr>
          <p:cNvPr id="913410" name="Rectangle 2">
            <a:extLst>
              <a:ext uri="{FF2B5EF4-FFF2-40B4-BE49-F238E27FC236}">
                <a16:creationId xmlns:a16="http://schemas.microsoft.com/office/drawing/2014/main" id="{4107CDCE-E57C-9A6A-E4AA-1F7484C15F14}"/>
              </a:ext>
            </a:extLst>
          </p:cNvPr>
          <p:cNvSpPr>
            <a:spLocks noGrp="1" noRot="1" noChangeAspect="1" noChangeArrowheads="1" noTextEdit="1"/>
          </p:cNvSpPr>
          <p:nvPr>
            <p:ph type="sldImg"/>
          </p:nvPr>
        </p:nvSpPr>
        <p:spPr>
          <a:ln/>
        </p:spPr>
      </p:sp>
      <p:sp>
        <p:nvSpPr>
          <p:cNvPr id="913411" name="Rectangle 3">
            <a:extLst>
              <a:ext uri="{FF2B5EF4-FFF2-40B4-BE49-F238E27FC236}">
                <a16:creationId xmlns:a16="http://schemas.microsoft.com/office/drawing/2014/main" id="{87448267-4433-E574-B798-9C9306EE9561}"/>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04591" y="1201864"/>
            <a:ext cx="10827544" cy="2556722"/>
          </a:xfrm>
        </p:spPr>
        <p:txBody>
          <a:bodyPr anchor="b"/>
          <a:lstStyle>
            <a:lvl1pPr algn="ctr">
              <a:defRPr sz="6425"/>
            </a:lvl1pPr>
          </a:lstStyle>
          <a:p>
            <a:r>
              <a:rPr lang="en-US"/>
              <a:t>Click to edit Master title style</a:t>
            </a:r>
            <a:endParaRPr lang="en-US" dirty="0"/>
          </a:p>
        </p:txBody>
      </p:sp>
      <p:sp>
        <p:nvSpPr>
          <p:cNvPr id="3" name="Subtitle 2"/>
          <p:cNvSpPr>
            <a:spLocks noGrp="1"/>
          </p:cNvSpPr>
          <p:nvPr>
            <p:ph type="subTitle" idx="1"/>
          </p:nvPr>
        </p:nvSpPr>
        <p:spPr>
          <a:xfrm>
            <a:off x="1804591" y="3857182"/>
            <a:ext cx="10827544" cy="1773045"/>
          </a:xfrm>
        </p:spPr>
        <p:txBody>
          <a:bodyPr/>
          <a:lstStyle>
            <a:lvl1pPr marL="0" indent="0" algn="ctr">
              <a:buNone/>
              <a:defRPr sz="2570"/>
            </a:lvl1pPr>
            <a:lvl2pPr marL="489570" indent="0" algn="ctr">
              <a:buNone/>
              <a:defRPr sz="2142"/>
            </a:lvl2pPr>
            <a:lvl3pPr marL="979140" indent="0" algn="ctr">
              <a:buNone/>
              <a:defRPr sz="1927"/>
            </a:lvl3pPr>
            <a:lvl4pPr marL="1468709" indent="0" algn="ctr">
              <a:buNone/>
              <a:defRPr sz="1713"/>
            </a:lvl4pPr>
            <a:lvl5pPr marL="1958279" indent="0" algn="ctr">
              <a:buNone/>
              <a:defRPr sz="1713"/>
            </a:lvl5pPr>
            <a:lvl6pPr marL="2447849" indent="0" algn="ctr">
              <a:buNone/>
              <a:defRPr sz="1713"/>
            </a:lvl6pPr>
            <a:lvl7pPr marL="2937419" indent="0" algn="ctr">
              <a:buNone/>
              <a:defRPr sz="1713"/>
            </a:lvl7pPr>
            <a:lvl8pPr marL="3426988" indent="0" algn="ctr">
              <a:buNone/>
              <a:defRPr sz="1713"/>
            </a:lvl8pPr>
            <a:lvl9pPr marL="3916558" indent="0" algn="ctr">
              <a:buNone/>
              <a:defRPr sz="171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06CC7D-4CF0-4E42-84F6-3998FD50A95D}" type="datetimeFigureOut">
              <a:rPr lang="en-IN" smtClean="0"/>
              <a:t>23-09-2026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611996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06CC7D-4CF0-4E42-84F6-3998FD50A95D}" type="datetimeFigureOut">
              <a:rPr lang="en-IN" smtClean="0"/>
              <a:t>23-09-2026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3142899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5006" y="1830845"/>
            <a:ext cx="12451675" cy="3054806"/>
          </a:xfrm>
        </p:spPr>
        <p:txBody>
          <a:bodyPr anchor="b"/>
          <a:lstStyle>
            <a:lvl1pPr>
              <a:defRPr sz="6425"/>
            </a:lvl1pPr>
          </a:lstStyle>
          <a:p>
            <a:r>
              <a:rPr lang="en-US"/>
              <a:t>Click to edit Master title style</a:t>
            </a:r>
            <a:endParaRPr lang="en-US" dirty="0"/>
          </a:p>
        </p:txBody>
      </p:sp>
      <p:sp>
        <p:nvSpPr>
          <p:cNvPr id="3" name="Text Placeholder 2"/>
          <p:cNvSpPr>
            <a:spLocks noGrp="1"/>
          </p:cNvSpPr>
          <p:nvPr>
            <p:ph type="body" idx="1"/>
          </p:nvPr>
        </p:nvSpPr>
        <p:spPr>
          <a:xfrm>
            <a:off x="985006" y="4914551"/>
            <a:ext cx="12451675" cy="1606450"/>
          </a:xfrm>
        </p:spPr>
        <p:txBody>
          <a:bodyPr/>
          <a:lstStyle>
            <a:lvl1pPr marL="0" indent="0">
              <a:buNone/>
              <a:defRPr sz="2570">
                <a:solidFill>
                  <a:schemeClr val="tx1">
                    <a:tint val="75000"/>
                  </a:schemeClr>
                </a:solidFill>
              </a:defRPr>
            </a:lvl1pPr>
            <a:lvl2pPr marL="489570" indent="0">
              <a:buNone/>
              <a:defRPr sz="2142">
                <a:solidFill>
                  <a:schemeClr val="tx1">
                    <a:tint val="75000"/>
                  </a:schemeClr>
                </a:solidFill>
              </a:defRPr>
            </a:lvl2pPr>
            <a:lvl3pPr marL="979140" indent="0">
              <a:buNone/>
              <a:defRPr sz="1927">
                <a:solidFill>
                  <a:schemeClr val="tx1">
                    <a:tint val="75000"/>
                  </a:schemeClr>
                </a:solidFill>
              </a:defRPr>
            </a:lvl3pPr>
            <a:lvl4pPr marL="1468709" indent="0">
              <a:buNone/>
              <a:defRPr sz="1713">
                <a:solidFill>
                  <a:schemeClr val="tx1">
                    <a:tint val="75000"/>
                  </a:schemeClr>
                </a:solidFill>
              </a:defRPr>
            </a:lvl4pPr>
            <a:lvl5pPr marL="1958279" indent="0">
              <a:buNone/>
              <a:defRPr sz="1713">
                <a:solidFill>
                  <a:schemeClr val="tx1">
                    <a:tint val="75000"/>
                  </a:schemeClr>
                </a:solidFill>
              </a:defRPr>
            </a:lvl5pPr>
            <a:lvl6pPr marL="2447849" indent="0">
              <a:buNone/>
              <a:defRPr sz="1713">
                <a:solidFill>
                  <a:schemeClr val="tx1">
                    <a:tint val="75000"/>
                  </a:schemeClr>
                </a:solidFill>
              </a:defRPr>
            </a:lvl6pPr>
            <a:lvl7pPr marL="2937419" indent="0">
              <a:buNone/>
              <a:defRPr sz="1713">
                <a:solidFill>
                  <a:schemeClr val="tx1">
                    <a:tint val="75000"/>
                  </a:schemeClr>
                </a:solidFill>
              </a:defRPr>
            </a:lvl7pPr>
            <a:lvl8pPr marL="3426988" indent="0">
              <a:buNone/>
              <a:defRPr sz="1713">
                <a:solidFill>
                  <a:schemeClr val="tx1">
                    <a:tint val="75000"/>
                  </a:schemeClr>
                </a:solidFill>
              </a:defRPr>
            </a:lvl8pPr>
            <a:lvl9pPr marL="3916558" indent="0">
              <a:buNone/>
              <a:defRPr sz="171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06CC7D-4CF0-4E42-84F6-3998FD50A95D}" type="datetimeFigureOut">
              <a:rPr lang="en-IN" smtClean="0"/>
              <a:t>23-09-2026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208848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92525" y="1954940"/>
            <a:ext cx="6135608" cy="4659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308592" y="1954940"/>
            <a:ext cx="6135608" cy="46595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06CC7D-4CF0-4E42-84F6-3998FD50A95D}" type="datetimeFigureOut">
              <a:rPr lang="en-IN" smtClean="0"/>
              <a:t>23-09-2026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314043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94405" y="390989"/>
            <a:ext cx="12451675" cy="14194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94406" y="1800246"/>
            <a:ext cx="6107411" cy="882272"/>
          </a:xfrm>
        </p:spPr>
        <p:txBody>
          <a:bodyPr anchor="b"/>
          <a:lstStyle>
            <a:lvl1pPr marL="0" indent="0">
              <a:buNone/>
              <a:defRPr sz="2570" b="1"/>
            </a:lvl1pPr>
            <a:lvl2pPr marL="489570" indent="0">
              <a:buNone/>
              <a:defRPr sz="2142" b="1"/>
            </a:lvl2pPr>
            <a:lvl3pPr marL="979140" indent="0">
              <a:buNone/>
              <a:defRPr sz="1927" b="1"/>
            </a:lvl3pPr>
            <a:lvl4pPr marL="1468709" indent="0">
              <a:buNone/>
              <a:defRPr sz="1713" b="1"/>
            </a:lvl4pPr>
            <a:lvl5pPr marL="1958279" indent="0">
              <a:buNone/>
              <a:defRPr sz="1713" b="1"/>
            </a:lvl5pPr>
            <a:lvl6pPr marL="2447849" indent="0">
              <a:buNone/>
              <a:defRPr sz="1713" b="1"/>
            </a:lvl6pPr>
            <a:lvl7pPr marL="2937419" indent="0">
              <a:buNone/>
              <a:defRPr sz="1713" b="1"/>
            </a:lvl7pPr>
            <a:lvl8pPr marL="3426988" indent="0">
              <a:buNone/>
              <a:defRPr sz="1713" b="1"/>
            </a:lvl8pPr>
            <a:lvl9pPr marL="3916558" indent="0">
              <a:buNone/>
              <a:defRPr sz="1713" b="1"/>
            </a:lvl9pPr>
          </a:lstStyle>
          <a:p>
            <a:pPr lvl="0"/>
            <a:r>
              <a:rPr lang="en-US"/>
              <a:t>Click to edit Master text styles</a:t>
            </a:r>
          </a:p>
        </p:txBody>
      </p:sp>
      <p:sp>
        <p:nvSpPr>
          <p:cNvPr id="4" name="Content Placeholder 3"/>
          <p:cNvSpPr>
            <a:spLocks noGrp="1"/>
          </p:cNvSpPr>
          <p:nvPr>
            <p:ph sz="half" idx="2"/>
          </p:nvPr>
        </p:nvSpPr>
        <p:spPr>
          <a:xfrm>
            <a:off x="994406" y="2682518"/>
            <a:ext cx="6107411" cy="394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308592" y="1800246"/>
            <a:ext cx="6137488" cy="882272"/>
          </a:xfrm>
        </p:spPr>
        <p:txBody>
          <a:bodyPr anchor="b"/>
          <a:lstStyle>
            <a:lvl1pPr marL="0" indent="0">
              <a:buNone/>
              <a:defRPr sz="2570" b="1"/>
            </a:lvl1pPr>
            <a:lvl2pPr marL="489570" indent="0">
              <a:buNone/>
              <a:defRPr sz="2142" b="1"/>
            </a:lvl2pPr>
            <a:lvl3pPr marL="979140" indent="0">
              <a:buNone/>
              <a:defRPr sz="1927" b="1"/>
            </a:lvl3pPr>
            <a:lvl4pPr marL="1468709" indent="0">
              <a:buNone/>
              <a:defRPr sz="1713" b="1"/>
            </a:lvl4pPr>
            <a:lvl5pPr marL="1958279" indent="0">
              <a:buNone/>
              <a:defRPr sz="1713" b="1"/>
            </a:lvl5pPr>
            <a:lvl6pPr marL="2447849" indent="0">
              <a:buNone/>
              <a:defRPr sz="1713" b="1"/>
            </a:lvl6pPr>
            <a:lvl7pPr marL="2937419" indent="0">
              <a:buNone/>
              <a:defRPr sz="1713" b="1"/>
            </a:lvl7pPr>
            <a:lvl8pPr marL="3426988" indent="0">
              <a:buNone/>
              <a:defRPr sz="1713" b="1"/>
            </a:lvl8pPr>
            <a:lvl9pPr marL="3916558" indent="0">
              <a:buNone/>
              <a:defRPr sz="1713" b="1"/>
            </a:lvl9pPr>
          </a:lstStyle>
          <a:p>
            <a:pPr lvl="0"/>
            <a:r>
              <a:rPr lang="en-US"/>
              <a:t>Click to edit Master text styles</a:t>
            </a:r>
          </a:p>
        </p:txBody>
      </p:sp>
      <p:sp>
        <p:nvSpPr>
          <p:cNvPr id="6" name="Content Placeholder 5"/>
          <p:cNvSpPr>
            <a:spLocks noGrp="1"/>
          </p:cNvSpPr>
          <p:nvPr>
            <p:ph sz="quarter" idx="4"/>
          </p:nvPr>
        </p:nvSpPr>
        <p:spPr>
          <a:xfrm>
            <a:off x="7308592" y="2682518"/>
            <a:ext cx="6137488" cy="394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06CC7D-4CF0-4E42-84F6-3998FD50A95D}" type="datetimeFigureOut">
              <a:rPr lang="en-IN" smtClean="0"/>
              <a:t>23-09-2026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193591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06CC7D-4CF0-4E42-84F6-3998FD50A95D}" type="datetimeFigureOut">
              <a:rPr lang="en-IN" smtClean="0"/>
              <a:t>23-09-2026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185543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6CC7D-4CF0-4E42-84F6-3998FD50A95D}" type="datetimeFigureOut">
              <a:rPr lang="en-IN" smtClean="0"/>
              <a:t>23-09-2026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3608242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4406" y="489585"/>
            <a:ext cx="4656219" cy="1713548"/>
          </a:xfrm>
        </p:spPr>
        <p:txBody>
          <a:bodyPr anchor="b"/>
          <a:lstStyle>
            <a:lvl1pPr>
              <a:defRPr sz="3427"/>
            </a:lvl1pPr>
          </a:lstStyle>
          <a:p>
            <a:r>
              <a:rPr lang="en-US"/>
              <a:t>Click to edit Master title style</a:t>
            </a:r>
            <a:endParaRPr lang="en-US" dirty="0"/>
          </a:p>
        </p:txBody>
      </p:sp>
      <p:sp>
        <p:nvSpPr>
          <p:cNvPr id="3" name="Content Placeholder 2"/>
          <p:cNvSpPr>
            <a:spLocks noGrp="1"/>
          </p:cNvSpPr>
          <p:nvPr>
            <p:ph idx="1"/>
          </p:nvPr>
        </p:nvSpPr>
        <p:spPr>
          <a:xfrm>
            <a:off x="6137489" y="1057368"/>
            <a:ext cx="7308592" cy="5218840"/>
          </a:xfrm>
        </p:spPr>
        <p:txBody>
          <a:bodyPr/>
          <a:lstStyle>
            <a:lvl1pPr>
              <a:defRPr sz="3427"/>
            </a:lvl1pPr>
            <a:lvl2pPr>
              <a:defRPr sz="2998"/>
            </a:lvl2pPr>
            <a:lvl3pPr>
              <a:defRPr sz="2570"/>
            </a:lvl3pPr>
            <a:lvl4pPr>
              <a:defRPr sz="2142"/>
            </a:lvl4pPr>
            <a:lvl5pPr>
              <a:defRPr sz="2142"/>
            </a:lvl5pPr>
            <a:lvl6pPr>
              <a:defRPr sz="2142"/>
            </a:lvl6pPr>
            <a:lvl7pPr>
              <a:defRPr sz="2142"/>
            </a:lvl7pPr>
            <a:lvl8pPr>
              <a:defRPr sz="2142"/>
            </a:lvl8pPr>
            <a:lvl9pPr>
              <a:defRPr sz="214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94406" y="2203133"/>
            <a:ext cx="4656219" cy="4081575"/>
          </a:xfrm>
        </p:spPr>
        <p:txBody>
          <a:bodyPr/>
          <a:lstStyle>
            <a:lvl1pPr marL="0" indent="0">
              <a:buNone/>
              <a:defRPr sz="1713"/>
            </a:lvl1pPr>
            <a:lvl2pPr marL="489570" indent="0">
              <a:buNone/>
              <a:defRPr sz="1499"/>
            </a:lvl2pPr>
            <a:lvl3pPr marL="979140" indent="0">
              <a:buNone/>
              <a:defRPr sz="1285"/>
            </a:lvl3pPr>
            <a:lvl4pPr marL="1468709" indent="0">
              <a:buNone/>
              <a:defRPr sz="1071"/>
            </a:lvl4pPr>
            <a:lvl5pPr marL="1958279" indent="0">
              <a:buNone/>
              <a:defRPr sz="1071"/>
            </a:lvl5pPr>
            <a:lvl6pPr marL="2447849" indent="0">
              <a:buNone/>
              <a:defRPr sz="1071"/>
            </a:lvl6pPr>
            <a:lvl7pPr marL="2937419" indent="0">
              <a:buNone/>
              <a:defRPr sz="1071"/>
            </a:lvl7pPr>
            <a:lvl8pPr marL="3426988" indent="0">
              <a:buNone/>
              <a:defRPr sz="1071"/>
            </a:lvl8pPr>
            <a:lvl9pPr marL="3916558" indent="0">
              <a:buNone/>
              <a:defRPr sz="1071"/>
            </a:lvl9pPr>
          </a:lstStyle>
          <a:p>
            <a:pPr lvl="0"/>
            <a:r>
              <a:rPr lang="en-US"/>
              <a:t>Click to edit Master text styles</a:t>
            </a:r>
          </a:p>
        </p:txBody>
      </p:sp>
      <p:sp>
        <p:nvSpPr>
          <p:cNvPr id="5" name="Date Placeholder 4"/>
          <p:cNvSpPr>
            <a:spLocks noGrp="1"/>
          </p:cNvSpPr>
          <p:nvPr>
            <p:ph type="dt" sz="half" idx="10"/>
          </p:nvPr>
        </p:nvSpPr>
        <p:spPr/>
        <p:txBody>
          <a:bodyPr/>
          <a:lstStyle/>
          <a:p>
            <a:fld id="{6D06CC7D-4CF0-4E42-84F6-3998FD50A95D}" type="datetimeFigureOut">
              <a:rPr lang="en-IN" smtClean="0"/>
              <a:t>23-09-2026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1461221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4406" y="489585"/>
            <a:ext cx="4656219" cy="1713548"/>
          </a:xfrm>
        </p:spPr>
        <p:txBody>
          <a:bodyPr anchor="b"/>
          <a:lstStyle>
            <a:lvl1pPr>
              <a:defRPr sz="3427"/>
            </a:lvl1pPr>
          </a:lstStyle>
          <a:p>
            <a:r>
              <a:rPr lang="en-US"/>
              <a:t>Click to edit Master title style</a:t>
            </a:r>
            <a:endParaRPr lang="en-US" dirty="0"/>
          </a:p>
        </p:txBody>
      </p:sp>
      <p:sp>
        <p:nvSpPr>
          <p:cNvPr id="3" name="Picture Placeholder 2"/>
          <p:cNvSpPr>
            <a:spLocks noGrp="1" noChangeAspect="1"/>
          </p:cNvSpPr>
          <p:nvPr>
            <p:ph type="pic" idx="1"/>
          </p:nvPr>
        </p:nvSpPr>
        <p:spPr>
          <a:xfrm>
            <a:off x="6137489" y="1057368"/>
            <a:ext cx="7308592" cy="5218840"/>
          </a:xfrm>
        </p:spPr>
        <p:txBody>
          <a:bodyPr anchor="t"/>
          <a:lstStyle>
            <a:lvl1pPr marL="0" indent="0">
              <a:buNone/>
              <a:defRPr sz="3427"/>
            </a:lvl1pPr>
            <a:lvl2pPr marL="489570" indent="0">
              <a:buNone/>
              <a:defRPr sz="2998"/>
            </a:lvl2pPr>
            <a:lvl3pPr marL="979140" indent="0">
              <a:buNone/>
              <a:defRPr sz="2570"/>
            </a:lvl3pPr>
            <a:lvl4pPr marL="1468709" indent="0">
              <a:buNone/>
              <a:defRPr sz="2142"/>
            </a:lvl4pPr>
            <a:lvl5pPr marL="1958279" indent="0">
              <a:buNone/>
              <a:defRPr sz="2142"/>
            </a:lvl5pPr>
            <a:lvl6pPr marL="2447849" indent="0">
              <a:buNone/>
              <a:defRPr sz="2142"/>
            </a:lvl6pPr>
            <a:lvl7pPr marL="2937419" indent="0">
              <a:buNone/>
              <a:defRPr sz="2142"/>
            </a:lvl7pPr>
            <a:lvl8pPr marL="3426988" indent="0">
              <a:buNone/>
              <a:defRPr sz="2142"/>
            </a:lvl8pPr>
            <a:lvl9pPr marL="3916558" indent="0">
              <a:buNone/>
              <a:defRPr sz="2142"/>
            </a:lvl9pPr>
          </a:lstStyle>
          <a:p>
            <a:r>
              <a:rPr lang="en-US"/>
              <a:t>Click icon to add picture</a:t>
            </a:r>
            <a:endParaRPr lang="en-US" dirty="0"/>
          </a:p>
        </p:txBody>
      </p:sp>
      <p:sp>
        <p:nvSpPr>
          <p:cNvPr id="4" name="Text Placeholder 3"/>
          <p:cNvSpPr>
            <a:spLocks noGrp="1"/>
          </p:cNvSpPr>
          <p:nvPr>
            <p:ph type="body" sz="half" idx="2"/>
          </p:nvPr>
        </p:nvSpPr>
        <p:spPr>
          <a:xfrm>
            <a:off x="994406" y="2203133"/>
            <a:ext cx="4656219" cy="4081575"/>
          </a:xfrm>
        </p:spPr>
        <p:txBody>
          <a:bodyPr/>
          <a:lstStyle>
            <a:lvl1pPr marL="0" indent="0">
              <a:buNone/>
              <a:defRPr sz="1713"/>
            </a:lvl1pPr>
            <a:lvl2pPr marL="489570" indent="0">
              <a:buNone/>
              <a:defRPr sz="1499"/>
            </a:lvl2pPr>
            <a:lvl3pPr marL="979140" indent="0">
              <a:buNone/>
              <a:defRPr sz="1285"/>
            </a:lvl3pPr>
            <a:lvl4pPr marL="1468709" indent="0">
              <a:buNone/>
              <a:defRPr sz="1071"/>
            </a:lvl4pPr>
            <a:lvl5pPr marL="1958279" indent="0">
              <a:buNone/>
              <a:defRPr sz="1071"/>
            </a:lvl5pPr>
            <a:lvl6pPr marL="2447849" indent="0">
              <a:buNone/>
              <a:defRPr sz="1071"/>
            </a:lvl6pPr>
            <a:lvl7pPr marL="2937419" indent="0">
              <a:buNone/>
              <a:defRPr sz="1071"/>
            </a:lvl7pPr>
            <a:lvl8pPr marL="3426988" indent="0">
              <a:buNone/>
              <a:defRPr sz="1071"/>
            </a:lvl8pPr>
            <a:lvl9pPr marL="3916558" indent="0">
              <a:buNone/>
              <a:defRPr sz="1071"/>
            </a:lvl9pPr>
          </a:lstStyle>
          <a:p>
            <a:pPr lvl="0"/>
            <a:r>
              <a:rPr lang="en-US"/>
              <a:t>Click to edit Master text styles</a:t>
            </a:r>
          </a:p>
        </p:txBody>
      </p:sp>
      <p:sp>
        <p:nvSpPr>
          <p:cNvPr id="5" name="Date Placeholder 4"/>
          <p:cNvSpPr>
            <a:spLocks noGrp="1"/>
          </p:cNvSpPr>
          <p:nvPr>
            <p:ph type="dt" sz="half" idx="10"/>
          </p:nvPr>
        </p:nvSpPr>
        <p:spPr/>
        <p:txBody>
          <a:bodyPr/>
          <a:lstStyle/>
          <a:p>
            <a:fld id="{6D06CC7D-4CF0-4E42-84F6-3998FD50A95D}" type="datetimeFigureOut">
              <a:rPr lang="en-IN" smtClean="0"/>
              <a:t>23-09-2026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148917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06CC7D-4CF0-4E42-84F6-3998FD50A95D}" type="datetimeFigureOut">
              <a:rPr lang="en-IN" smtClean="0"/>
              <a:t>23-09-2026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164465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31281" y="390988"/>
            <a:ext cx="3112919" cy="622351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92525" y="390988"/>
            <a:ext cx="9158297" cy="62235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06CC7D-4CF0-4E42-84F6-3998FD50A95D}" type="datetimeFigureOut">
              <a:rPr lang="en-IN" smtClean="0"/>
              <a:t>23-09-2026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D558A-F84E-477D-B762-00050252072E}" type="slidenum">
              <a:rPr lang="en-IN" smtClean="0"/>
              <a:t>‹#›</a:t>
            </a:fld>
            <a:endParaRPr lang="en-IN"/>
          </a:p>
        </p:txBody>
      </p:sp>
    </p:spTree>
    <p:extLst>
      <p:ext uri="{BB962C8B-B14F-4D97-AF65-F5344CB8AC3E}">
        <p14:creationId xmlns:p14="http://schemas.microsoft.com/office/powerpoint/2010/main" val="3609434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2525" y="390989"/>
            <a:ext cx="12451675" cy="14194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92525" y="1954940"/>
            <a:ext cx="12451675" cy="46595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2525" y="6806592"/>
            <a:ext cx="3248263" cy="390988"/>
          </a:xfrm>
          <a:prstGeom prst="rect">
            <a:avLst/>
          </a:prstGeom>
        </p:spPr>
        <p:txBody>
          <a:bodyPr vert="horz" lIns="91440" tIns="45720" rIns="91440" bIns="45720" rtlCol="0" anchor="ctr"/>
          <a:lstStyle>
            <a:lvl1pPr algn="l">
              <a:defRPr sz="1285">
                <a:solidFill>
                  <a:schemeClr val="tx1">
                    <a:tint val="75000"/>
                  </a:schemeClr>
                </a:solidFill>
              </a:defRPr>
            </a:lvl1pPr>
          </a:lstStyle>
          <a:p>
            <a:fld id="{6D06CC7D-4CF0-4E42-84F6-3998FD50A95D}" type="datetimeFigureOut">
              <a:rPr lang="en-IN" smtClean="0"/>
              <a:t>23-09-2026</a:t>
            </a:fld>
            <a:endParaRPr lang="en-IN"/>
          </a:p>
        </p:txBody>
      </p:sp>
      <p:sp>
        <p:nvSpPr>
          <p:cNvPr id="5" name="Footer Placeholder 4"/>
          <p:cNvSpPr>
            <a:spLocks noGrp="1"/>
          </p:cNvSpPr>
          <p:nvPr>
            <p:ph type="ftr" sz="quarter" idx="3"/>
          </p:nvPr>
        </p:nvSpPr>
        <p:spPr>
          <a:xfrm>
            <a:off x="4782165" y="6806592"/>
            <a:ext cx="4872395" cy="390988"/>
          </a:xfrm>
          <a:prstGeom prst="rect">
            <a:avLst/>
          </a:prstGeom>
        </p:spPr>
        <p:txBody>
          <a:bodyPr vert="horz" lIns="91440" tIns="45720" rIns="91440" bIns="45720" rtlCol="0" anchor="ctr"/>
          <a:lstStyle>
            <a:lvl1pPr algn="ctr">
              <a:defRPr sz="128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195937" y="6806592"/>
            <a:ext cx="3248263" cy="390988"/>
          </a:xfrm>
          <a:prstGeom prst="rect">
            <a:avLst/>
          </a:prstGeom>
        </p:spPr>
        <p:txBody>
          <a:bodyPr vert="horz" lIns="91440" tIns="45720" rIns="91440" bIns="45720" rtlCol="0" anchor="ctr"/>
          <a:lstStyle>
            <a:lvl1pPr algn="r">
              <a:defRPr sz="1285">
                <a:solidFill>
                  <a:schemeClr val="tx1">
                    <a:tint val="75000"/>
                  </a:schemeClr>
                </a:solidFill>
              </a:defRPr>
            </a:lvl1pPr>
          </a:lstStyle>
          <a:p>
            <a:fld id="{D23D558A-F84E-477D-B762-00050252072E}" type="slidenum">
              <a:rPr lang="en-IN" smtClean="0"/>
              <a:t>‹#›</a:t>
            </a:fld>
            <a:endParaRPr lang="en-IN"/>
          </a:p>
        </p:txBody>
      </p:sp>
    </p:spTree>
    <p:extLst>
      <p:ext uri="{BB962C8B-B14F-4D97-AF65-F5344CB8AC3E}">
        <p14:creationId xmlns:p14="http://schemas.microsoft.com/office/powerpoint/2010/main" val="19527321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79140" rtl="0" eaLnBrk="1" latinLnBrk="0" hangingPunct="1">
        <a:lnSpc>
          <a:spcPct val="90000"/>
        </a:lnSpc>
        <a:spcBef>
          <a:spcPct val="0"/>
        </a:spcBef>
        <a:buNone/>
        <a:defRPr sz="4712" kern="1200">
          <a:solidFill>
            <a:schemeClr val="tx1"/>
          </a:solidFill>
          <a:latin typeface="+mj-lt"/>
          <a:ea typeface="+mj-ea"/>
          <a:cs typeface="+mj-cs"/>
        </a:defRPr>
      </a:lvl1pPr>
    </p:titleStyle>
    <p:bodyStyle>
      <a:lvl1pPr marL="244785" indent="-244785" algn="l" defTabSz="979140" rtl="0" eaLnBrk="1" latinLnBrk="0" hangingPunct="1">
        <a:lnSpc>
          <a:spcPct val="90000"/>
        </a:lnSpc>
        <a:spcBef>
          <a:spcPts val="1071"/>
        </a:spcBef>
        <a:buFont typeface="Arial" panose="020B0604020202020204" pitchFamily="34" charset="0"/>
        <a:buChar char="•"/>
        <a:defRPr sz="2998" kern="1200">
          <a:solidFill>
            <a:schemeClr val="tx1"/>
          </a:solidFill>
          <a:latin typeface="+mn-lt"/>
          <a:ea typeface="+mn-ea"/>
          <a:cs typeface="+mn-cs"/>
        </a:defRPr>
      </a:lvl1pPr>
      <a:lvl2pPr marL="734355" indent="-244785" algn="l" defTabSz="979140" rtl="0" eaLnBrk="1" latinLnBrk="0" hangingPunct="1">
        <a:lnSpc>
          <a:spcPct val="90000"/>
        </a:lnSpc>
        <a:spcBef>
          <a:spcPts val="535"/>
        </a:spcBef>
        <a:buFont typeface="Arial" panose="020B0604020202020204" pitchFamily="34" charset="0"/>
        <a:buChar char="•"/>
        <a:defRPr sz="2570" kern="1200">
          <a:solidFill>
            <a:schemeClr val="tx1"/>
          </a:solidFill>
          <a:latin typeface="+mn-lt"/>
          <a:ea typeface="+mn-ea"/>
          <a:cs typeface="+mn-cs"/>
        </a:defRPr>
      </a:lvl2pPr>
      <a:lvl3pPr marL="1223924" indent="-244785" algn="l" defTabSz="979140" rtl="0" eaLnBrk="1" latinLnBrk="0" hangingPunct="1">
        <a:lnSpc>
          <a:spcPct val="90000"/>
        </a:lnSpc>
        <a:spcBef>
          <a:spcPts val="535"/>
        </a:spcBef>
        <a:buFont typeface="Arial" panose="020B0604020202020204" pitchFamily="34" charset="0"/>
        <a:buChar char="•"/>
        <a:defRPr sz="2142" kern="1200">
          <a:solidFill>
            <a:schemeClr val="tx1"/>
          </a:solidFill>
          <a:latin typeface="+mn-lt"/>
          <a:ea typeface="+mn-ea"/>
          <a:cs typeface="+mn-cs"/>
        </a:defRPr>
      </a:lvl3pPr>
      <a:lvl4pPr marL="1713494"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4pPr>
      <a:lvl5pPr marL="2203064"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5pPr>
      <a:lvl6pPr marL="2692634"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6pPr>
      <a:lvl7pPr marL="3182203"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7pPr>
      <a:lvl8pPr marL="3671773"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8pPr>
      <a:lvl9pPr marL="4161343" indent="-244785" algn="l" defTabSz="979140" rtl="0" eaLnBrk="1" latinLnBrk="0" hangingPunct="1">
        <a:lnSpc>
          <a:spcPct val="90000"/>
        </a:lnSpc>
        <a:spcBef>
          <a:spcPts val="535"/>
        </a:spcBef>
        <a:buFont typeface="Arial" panose="020B0604020202020204" pitchFamily="34" charset="0"/>
        <a:buChar char="•"/>
        <a:defRPr sz="1927" kern="1200">
          <a:solidFill>
            <a:schemeClr val="tx1"/>
          </a:solidFill>
          <a:latin typeface="+mn-lt"/>
          <a:ea typeface="+mn-ea"/>
          <a:cs typeface="+mn-cs"/>
        </a:defRPr>
      </a:lvl9pPr>
    </p:bodyStyle>
    <p:otherStyle>
      <a:defPPr>
        <a:defRPr lang="en-US"/>
      </a:defPPr>
      <a:lvl1pPr marL="0" algn="l" defTabSz="979140" rtl="0" eaLnBrk="1" latinLnBrk="0" hangingPunct="1">
        <a:defRPr sz="1927" kern="1200">
          <a:solidFill>
            <a:schemeClr val="tx1"/>
          </a:solidFill>
          <a:latin typeface="+mn-lt"/>
          <a:ea typeface="+mn-ea"/>
          <a:cs typeface="+mn-cs"/>
        </a:defRPr>
      </a:lvl1pPr>
      <a:lvl2pPr marL="489570" algn="l" defTabSz="979140" rtl="0" eaLnBrk="1" latinLnBrk="0" hangingPunct="1">
        <a:defRPr sz="1927" kern="1200">
          <a:solidFill>
            <a:schemeClr val="tx1"/>
          </a:solidFill>
          <a:latin typeface="+mn-lt"/>
          <a:ea typeface="+mn-ea"/>
          <a:cs typeface="+mn-cs"/>
        </a:defRPr>
      </a:lvl2pPr>
      <a:lvl3pPr marL="979140" algn="l" defTabSz="979140" rtl="0" eaLnBrk="1" latinLnBrk="0" hangingPunct="1">
        <a:defRPr sz="1927" kern="1200">
          <a:solidFill>
            <a:schemeClr val="tx1"/>
          </a:solidFill>
          <a:latin typeface="+mn-lt"/>
          <a:ea typeface="+mn-ea"/>
          <a:cs typeface="+mn-cs"/>
        </a:defRPr>
      </a:lvl3pPr>
      <a:lvl4pPr marL="1468709" algn="l" defTabSz="979140" rtl="0" eaLnBrk="1" latinLnBrk="0" hangingPunct="1">
        <a:defRPr sz="1927" kern="1200">
          <a:solidFill>
            <a:schemeClr val="tx1"/>
          </a:solidFill>
          <a:latin typeface="+mn-lt"/>
          <a:ea typeface="+mn-ea"/>
          <a:cs typeface="+mn-cs"/>
        </a:defRPr>
      </a:lvl4pPr>
      <a:lvl5pPr marL="1958279" algn="l" defTabSz="979140" rtl="0" eaLnBrk="1" latinLnBrk="0" hangingPunct="1">
        <a:defRPr sz="1927" kern="1200">
          <a:solidFill>
            <a:schemeClr val="tx1"/>
          </a:solidFill>
          <a:latin typeface="+mn-lt"/>
          <a:ea typeface="+mn-ea"/>
          <a:cs typeface="+mn-cs"/>
        </a:defRPr>
      </a:lvl5pPr>
      <a:lvl6pPr marL="2447849" algn="l" defTabSz="979140" rtl="0" eaLnBrk="1" latinLnBrk="0" hangingPunct="1">
        <a:defRPr sz="1927" kern="1200">
          <a:solidFill>
            <a:schemeClr val="tx1"/>
          </a:solidFill>
          <a:latin typeface="+mn-lt"/>
          <a:ea typeface="+mn-ea"/>
          <a:cs typeface="+mn-cs"/>
        </a:defRPr>
      </a:lvl6pPr>
      <a:lvl7pPr marL="2937419" algn="l" defTabSz="979140" rtl="0" eaLnBrk="1" latinLnBrk="0" hangingPunct="1">
        <a:defRPr sz="1927" kern="1200">
          <a:solidFill>
            <a:schemeClr val="tx1"/>
          </a:solidFill>
          <a:latin typeface="+mn-lt"/>
          <a:ea typeface="+mn-ea"/>
          <a:cs typeface="+mn-cs"/>
        </a:defRPr>
      </a:lvl7pPr>
      <a:lvl8pPr marL="3426988" algn="l" defTabSz="979140" rtl="0" eaLnBrk="1" latinLnBrk="0" hangingPunct="1">
        <a:defRPr sz="1927" kern="1200">
          <a:solidFill>
            <a:schemeClr val="tx1"/>
          </a:solidFill>
          <a:latin typeface="+mn-lt"/>
          <a:ea typeface="+mn-ea"/>
          <a:cs typeface="+mn-cs"/>
        </a:defRPr>
      </a:lvl8pPr>
      <a:lvl9pPr marL="3916558" algn="l" defTabSz="979140" rtl="0" eaLnBrk="1" latinLnBrk="0" hangingPunct="1">
        <a:defRPr sz="192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cloudflare.com/learning/network-layer/what-is-ipsec/#:~:text=IPsec%20is%20a%20group%20of%20protocols%20for%20securing%20connections%20between,where%20the%20packets%20come%20from."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A0AB-57EB-A966-1E2A-8A9DF0A94467}"/>
              </a:ext>
            </a:extLst>
          </p:cNvPr>
          <p:cNvSpPr>
            <a:spLocks noGrp="1"/>
          </p:cNvSpPr>
          <p:nvPr>
            <p:ph type="ctrTitle"/>
          </p:nvPr>
        </p:nvSpPr>
        <p:spPr/>
        <p:txBody>
          <a:bodyPr/>
          <a:lstStyle/>
          <a:p>
            <a:r>
              <a:rPr lang="en-US" altLang="en-US" sz="6600" b="1" dirty="0">
                <a:solidFill>
                  <a:srgbClr val="3D29CD"/>
                </a:solidFill>
                <a:latin typeface="Times New Roman" panose="02020603050405020304" pitchFamily="18" charset="0"/>
                <a:cs typeface="Times New Roman" panose="02020603050405020304" pitchFamily="18" charset="0"/>
              </a:rPr>
              <a:t>Network and Transport Layer</a:t>
            </a:r>
            <a:endParaRPr lang="en-IN" dirty="0">
              <a:solidFill>
                <a:srgbClr val="3D29CD"/>
              </a:solidFill>
            </a:endParaRPr>
          </a:p>
        </p:txBody>
      </p:sp>
    </p:spTree>
    <p:extLst>
      <p:ext uri="{BB962C8B-B14F-4D97-AF65-F5344CB8AC3E}">
        <p14:creationId xmlns:p14="http://schemas.microsoft.com/office/powerpoint/2010/main" val="311139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54FE4E-78B9-0619-7072-EF0E567BD953}"/>
              </a:ext>
            </a:extLst>
          </p:cNvPr>
          <p:cNvSpPr txBox="1"/>
          <p:nvPr/>
        </p:nvSpPr>
        <p:spPr>
          <a:xfrm>
            <a:off x="823013" y="1027188"/>
            <a:ext cx="12718816" cy="1725601"/>
          </a:xfrm>
          <a:prstGeom prst="rect">
            <a:avLst/>
          </a:prstGeom>
          <a:noFill/>
        </p:spPr>
        <p:txBody>
          <a:bodyPr wrap="square">
            <a:spAutoFit/>
          </a:bodyPr>
          <a:lstStyle/>
          <a:p>
            <a:pPr>
              <a:spcBef>
                <a:spcPts val="214"/>
              </a:spcBef>
              <a:spcAft>
                <a:spcPts val="214"/>
              </a:spcAft>
            </a:pPr>
            <a:r>
              <a:rPr lang="en-US" altLang="en-US" sz="2570" dirty="0">
                <a:solidFill>
                  <a:srgbClr val="000000"/>
                </a:solidFill>
                <a:latin typeface="Times New Roman" panose="02020603050405020304" pitchFamily="18" charset="0"/>
                <a:cs typeface="Times New Roman" panose="02020603050405020304" pitchFamily="18" charset="0"/>
              </a:rPr>
              <a:t>Host to Host Delivery: Internetworking, Addressing and Routing, Network Layer Protocols: ARP, IPV4, ICMP, IPV6 </a:t>
            </a:r>
          </a:p>
          <a:p>
            <a:pPr algn="just">
              <a:spcBef>
                <a:spcPts val="214"/>
              </a:spcBef>
              <a:spcAft>
                <a:spcPts val="214"/>
              </a:spcAft>
            </a:pPr>
            <a:r>
              <a:rPr lang="en-US" altLang="en-US" sz="2570" dirty="0">
                <a:solidFill>
                  <a:srgbClr val="000000"/>
                </a:solidFill>
                <a:latin typeface="Times New Roman" panose="02020603050405020304" pitchFamily="18" charset="0"/>
                <a:cs typeface="Times New Roman" panose="02020603050405020304" pitchFamily="18" charset="0"/>
              </a:rPr>
              <a:t>Transport Layer: Process to Process Delivery: UDP, TCP, Congestion Control. Routing Protocols: AODV, DSDV, DSR.</a:t>
            </a:r>
            <a:endParaRPr lang="en-IN" altLang="en-US" sz="2570" dirty="0">
              <a:solidFill>
                <a:srgbClr val="0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13DA46B-095D-E35C-E722-01E7597679AB}"/>
              </a:ext>
            </a:extLst>
          </p:cNvPr>
          <p:cNvSpPr txBox="1"/>
          <p:nvPr/>
        </p:nvSpPr>
        <p:spPr>
          <a:xfrm>
            <a:off x="583527" y="212662"/>
            <a:ext cx="9126530" cy="646331"/>
          </a:xfrm>
          <a:prstGeom prst="rect">
            <a:avLst/>
          </a:prstGeom>
          <a:noFill/>
        </p:spPr>
        <p:txBody>
          <a:bodyPr wrap="square">
            <a:spAutoFit/>
          </a:bodyPr>
          <a:lstStyle/>
          <a:p>
            <a:r>
              <a:rPr lang="en-US" altLang="en-US" sz="3600" b="1" dirty="0">
                <a:solidFill>
                  <a:srgbClr val="3D29CD"/>
                </a:solidFill>
                <a:latin typeface="Times New Roman" panose="02020603050405020304" pitchFamily="18" charset="0"/>
                <a:cs typeface="Times New Roman" panose="02020603050405020304" pitchFamily="18" charset="0"/>
              </a:rPr>
              <a:t>Unit-4:  Network and Transport Layer:</a:t>
            </a:r>
            <a:endParaRPr lang="en-IN" b="1" dirty="0">
              <a:solidFill>
                <a:srgbClr val="3D29CD"/>
              </a:solidFill>
            </a:endParaRPr>
          </a:p>
        </p:txBody>
      </p:sp>
    </p:spTree>
    <p:extLst>
      <p:ext uri="{BB962C8B-B14F-4D97-AF65-F5344CB8AC3E}">
        <p14:creationId xmlns:p14="http://schemas.microsoft.com/office/powerpoint/2010/main" val="105443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B0542-DF95-2FA8-91EF-732059F1EBF7}"/>
              </a:ext>
            </a:extLst>
          </p:cNvPr>
          <p:cNvSpPr>
            <a:spLocks noGrp="1"/>
          </p:cNvSpPr>
          <p:nvPr>
            <p:ph type="title"/>
          </p:nvPr>
        </p:nvSpPr>
        <p:spPr>
          <a:xfrm>
            <a:off x="4874545" y="99267"/>
            <a:ext cx="4347177" cy="877877"/>
          </a:xfrm>
        </p:spPr>
        <p:txBody>
          <a:bodyPr/>
          <a:lstStyle/>
          <a:p>
            <a:r>
              <a:rPr lang="en-US" altLang="en-US" dirty="0">
                <a:solidFill>
                  <a:srgbClr val="3D29CD"/>
                </a:solidFill>
                <a:latin typeface="Times New Roman" panose="02020603050405020304" pitchFamily="18" charset="0"/>
                <a:cs typeface="Times New Roman" panose="02020603050405020304" pitchFamily="18" charset="0"/>
              </a:rPr>
              <a:t>Internetworking</a:t>
            </a:r>
            <a:endParaRPr lang="en-IN" dirty="0">
              <a:solidFill>
                <a:srgbClr val="3D29CD"/>
              </a:solidFill>
            </a:endParaRPr>
          </a:p>
        </p:txBody>
      </p:sp>
      <p:sp>
        <p:nvSpPr>
          <p:cNvPr id="5" name="TextBox 4">
            <a:extLst>
              <a:ext uri="{FF2B5EF4-FFF2-40B4-BE49-F238E27FC236}">
                <a16:creationId xmlns:a16="http://schemas.microsoft.com/office/drawing/2014/main" id="{B6A792A6-DB71-42CD-947C-C3EB71543556}"/>
              </a:ext>
            </a:extLst>
          </p:cNvPr>
          <p:cNvSpPr txBox="1"/>
          <p:nvPr/>
        </p:nvSpPr>
        <p:spPr>
          <a:xfrm>
            <a:off x="374356" y="797309"/>
            <a:ext cx="5850953" cy="6024726"/>
          </a:xfrm>
          <a:prstGeom prst="rect">
            <a:avLst/>
          </a:prstGeom>
          <a:noFill/>
        </p:spPr>
        <p:txBody>
          <a:bodyPr wrap="square">
            <a:spAutoFit/>
          </a:bodyPr>
          <a:lstStyle/>
          <a:p>
            <a:pPr marL="524232" indent="-524232">
              <a:buFont typeface="Wingdings" panose="05000000000000000000" pitchFamily="2" charset="2"/>
              <a:buChar char="Ø"/>
              <a:defRPr/>
            </a:pPr>
            <a:r>
              <a:rPr lang="en-US" sz="2570" dirty="0">
                <a:solidFill>
                  <a:srgbClr val="242021"/>
                </a:solidFill>
                <a:latin typeface="Times New Roman" panose="02020603050405020304" pitchFamily="18" charset="0"/>
                <a:cs typeface="Times New Roman" panose="02020603050405020304" pitchFamily="18" charset="0"/>
              </a:rPr>
              <a:t>The communication at the network layer is </a:t>
            </a:r>
            <a:r>
              <a:rPr lang="en-US" sz="2570" dirty="0">
                <a:solidFill>
                  <a:srgbClr val="FF0000"/>
                </a:solidFill>
                <a:latin typeface="Times New Roman" panose="02020603050405020304" pitchFamily="18" charset="0"/>
                <a:cs typeface="Times New Roman" panose="02020603050405020304" pitchFamily="18" charset="0"/>
              </a:rPr>
              <a:t>host-to-host</a:t>
            </a:r>
            <a:r>
              <a:rPr lang="en-US" sz="2570" dirty="0">
                <a:solidFill>
                  <a:srgbClr val="242021"/>
                </a:solidFill>
                <a:latin typeface="Times New Roman" panose="02020603050405020304" pitchFamily="18" charset="0"/>
                <a:cs typeface="Times New Roman" panose="02020603050405020304" pitchFamily="18" charset="0"/>
              </a:rPr>
              <a:t>. </a:t>
            </a:r>
          </a:p>
          <a:p>
            <a:pPr marL="524232" indent="-524232">
              <a:buFont typeface="Wingdings" panose="05000000000000000000" pitchFamily="2" charset="2"/>
              <a:buChar char="Ø"/>
              <a:defRPr/>
            </a:pPr>
            <a:endParaRPr lang="en-US" sz="2570" dirty="0">
              <a:solidFill>
                <a:srgbClr val="242021"/>
              </a:solidFill>
              <a:latin typeface="Times New Roman" panose="02020603050405020304" pitchFamily="18" charset="0"/>
              <a:cs typeface="Times New Roman" panose="02020603050405020304" pitchFamily="18" charset="0"/>
            </a:endParaRPr>
          </a:p>
          <a:p>
            <a:pPr marL="524232" indent="-524232">
              <a:buFont typeface="Wingdings" panose="05000000000000000000" pitchFamily="2" charset="2"/>
              <a:buChar char="Ø"/>
              <a:defRPr/>
            </a:pPr>
            <a:r>
              <a:rPr lang="en-US" sz="2570" dirty="0">
                <a:solidFill>
                  <a:schemeClr val="accent1">
                    <a:lumMod val="75000"/>
                  </a:schemeClr>
                </a:solidFill>
                <a:latin typeface="Times New Roman" panose="02020603050405020304" pitchFamily="18" charset="0"/>
                <a:cs typeface="Times New Roman" panose="02020603050405020304" pitchFamily="18" charset="0"/>
              </a:rPr>
              <a:t>Internetworking is the process of connecting different networks by using intermediary devices such as </a:t>
            </a:r>
            <a:r>
              <a:rPr lang="en-US" sz="2570" dirty="0">
                <a:solidFill>
                  <a:srgbClr val="FF0000"/>
                </a:solidFill>
                <a:latin typeface="Times New Roman" panose="02020603050405020304" pitchFamily="18" charset="0"/>
                <a:cs typeface="Times New Roman" panose="02020603050405020304" pitchFamily="18" charset="0"/>
              </a:rPr>
              <a:t>routers or gateway</a:t>
            </a:r>
            <a:r>
              <a:rPr lang="en-US" sz="2570" dirty="0">
                <a:solidFill>
                  <a:schemeClr val="accent1">
                    <a:lumMod val="75000"/>
                  </a:schemeClr>
                </a:solidFill>
                <a:latin typeface="Times New Roman" panose="02020603050405020304" pitchFamily="18" charset="0"/>
                <a:cs typeface="Times New Roman" panose="02020603050405020304" pitchFamily="18" charset="0"/>
              </a:rPr>
              <a:t> devices.</a:t>
            </a:r>
          </a:p>
          <a:p>
            <a:pPr marL="524232" indent="-524232">
              <a:buFont typeface="Wingdings" panose="05000000000000000000" pitchFamily="2" charset="2"/>
              <a:buChar char="Ø"/>
              <a:defRPr/>
            </a:pPr>
            <a:endParaRPr lang="en-US" sz="2570" dirty="0">
              <a:solidFill>
                <a:schemeClr val="accent1">
                  <a:lumMod val="75000"/>
                </a:schemeClr>
              </a:solidFill>
              <a:latin typeface="Times New Roman" panose="02020603050405020304" pitchFamily="18" charset="0"/>
              <a:cs typeface="Times New Roman" panose="02020603050405020304" pitchFamily="18" charset="0"/>
            </a:endParaRPr>
          </a:p>
          <a:p>
            <a:pPr marL="524232" indent="-524232">
              <a:buFont typeface="Wingdings" panose="05000000000000000000" pitchFamily="2" charset="2"/>
              <a:buChar char="Ø"/>
              <a:defRPr/>
            </a:pPr>
            <a:r>
              <a:rPr lang="en-US" sz="2570" dirty="0">
                <a:solidFill>
                  <a:srgbClr val="00B050"/>
                </a:solidFill>
                <a:latin typeface="Times New Roman" panose="02020603050405020304" pitchFamily="18" charset="0"/>
                <a:cs typeface="Times New Roman" panose="02020603050405020304" pitchFamily="18" charset="0"/>
              </a:rPr>
              <a:t>The interconnected networks are called an internetwork, or simply an internet.</a:t>
            </a:r>
          </a:p>
          <a:p>
            <a:pPr marL="524232" indent="-524232">
              <a:buFont typeface="Wingdings" panose="05000000000000000000" pitchFamily="2" charset="2"/>
              <a:buChar char="Ø"/>
              <a:defRPr/>
            </a:pPr>
            <a:endParaRPr lang="en-US" sz="2570" dirty="0">
              <a:solidFill>
                <a:srgbClr val="FF0000"/>
              </a:solidFill>
              <a:latin typeface="Times New Roman" panose="02020603050405020304" pitchFamily="18" charset="0"/>
              <a:cs typeface="Times New Roman" panose="02020603050405020304" pitchFamily="18" charset="0"/>
            </a:endParaRPr>
          </a:p>
          <a:p>
            <a:pPr marL="524232" indent="-524232">
              <a:buFont typeface="Wingdings" panose="05000000000000000000" pitchFamily="2" charset="2"/>
              <a:buChar char="Ø"/>
              <a:defRPr/>
            </a:pPr>
            <a:r>
              <a:rPr lang="en-US" sz="2570" dirty="0">
                <a:solidFill>
                  <a:schemeClr val="accent2"/>
                </a:solidFill>
                <a:latin typeface="Times New Roman" panose="02020603050405020304" pitchFamily="18" charset="0"/>
                <a:cs typeface="Times New Roman" panose="02020603050405020304" pitchFamily="18" charset="0"/>
              </a:rPr>
              <a:t>Internetworking is </a:t>
            </a:r>
            <a:r>
              <a:rPr lang="en-US" sz="2570" dirty="0">
                <a:solidFill>
                  <a:srgbClr val="0070C0"/>
                </a:solidFill>
                <a:latin typeface="Times New Roman" panose="02020603050405020304" pitchFamily="18" charset="0"/>
                <a:cs typeface="Times New Roman" panose="02020603050405020304" pitchFamily="18" charset="0"/>
              </a:rPr>
              <a:t>only possible </a:t>
            </a:r>
            <a:r>
              <a:rPr lang="en-US" sz="2570" dirty="0">
                <a:solidFill>
                  <a:schemeClr val="accent2"/>
                </a:solidFill>
                <a:latin typeface="Times New Roman" panose="02020603050405020304" pitchFamily="18" charset="0"/>
                <a:cs typeface="Times New Roman" panose="02020603050405020304" pitchFamily="18" charset="0"/>
              </a:rPr>
              <a:t>when </a:t>
            </a:r>
            <a:r>
              <a:rPr lang="en-US" sz="2570" dirty="0">
                <a:solidFill>
                  <a:srgbClr val="0070C0"/>
                </a:solidFill>
                <a:latin typeface="Times New Roman" panose="02020603050405020304" pitchFamily="18" charset="0"/>
                <a:cs typeface="Times New Roman" panose="02020603050405020304" pitchFamily="18" charset="0"/>
              </a:rPr>
              <a:t>all</a:t>
            </a:r>
            <a:r>
              <a:rPr lang="en-US" sz="2570" dirty="0">
                <a:solidFill>
                  <a:schemeClr val="accent2"/>
                </a:solidFill>
                <a:latin typeface="Times New Roman" panose="02020603050405020304" pitchFamily="18" charset="0"/>
                <a:cs typeface="Times New Roman" panose="02020603050405020304" pitchFamily="18" charset="0"/>
              </a:rPr>
              <a:t> the connected </a:t>
            </a:r>
            <a:r>
              <a:rPr lang="en-US" sz="2570" dirty="0">
                <a:solidFill>
                  <a:srgbClr val="0070C0"/>
                </a:solidFill>
                <a:latin typeface="Times New Roman" panose="02020603050405020304" pitchFamily="18" charset="0"/>
                <a:cs typeface="Times New Roman" panose="02020603050405020304" pitchFamily="18" charset="0"/>
              </a:rPr>
              <a:t>networks</a:t>
            </a:r>
            <a:r>
              <a:rPr lang="en-US" sz="2570" dirty="0">
                <a:solidFill>
                  <a:schemeClr val="accent2"/>
                </a:solidFill>
                <a:latin typeface="Times New Roman" panose="02020603050405020304" pitchFamily="18" charset="0"/>
                <a:cs typeface="Times New Roman" panose="02020603050405020304" pitchFamily="18" charset="0"/>
              </a:rPr>
              <a:t> use the </a:t>
            </a:r>
            <a:r>
              <a:rPr lang="en-US" sz="2570" dirty="0">
                <a:solidFill>
                  <a:srgbClr val="0070C0"/>
                </a:solidFill>
                <a:latin typeface="Times New Roman" panose="02020603050405020304" pitchFamily="18" charset="0"/>
                <a:cs typeface="Times New Roman" panose="02020603050405020304" pitchFamily="18" charset="0"/>
              </a:rPr>
              <a:t>same protocol </a:t>
            </a:r>
            <a:r>
              <a:rPr lang="en-US" sz="2570" dirty="0">
                <a:solidFill>
                  <a:schemeClr val="accent2"/>
                </a:solidFill>
                <a:latin typeface="Times New Roman" panose="02020603050405020304" pitchFamily="18" charset="0"/>
                <a:cs typeface="Times New Roman" panose="02020603050405020304" pitchFamily="18" charset="0"/>
              </a:rPr>
              <a:t>stack or communication methodologies. </a:t>
            </a:r>
            <a:endParaRPr lang="en-IN" sz="2570" dirty="0"/>
          </a:p>
        </p:txBody>
      </p:sp>
      <p:pic>
        <p:nvPicPr>
          <p:cNvPr id="6" name="Picture 6">
            <a:extLst>
              <a:ext uri="{FF2B5EF4-FFF2-40B4-BE49-F238E27FC236}">
                <a16:creationId xmlns:a16="http://schemas.microsoft.com/office/drawing/2014/main" id="{65F1C3F2-7B94-88A3-6908-526BE3646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9625" y="1730175"/>
            <a:ext cx="7765027" cy="4158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2420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0E33A0-1EFD-F76A-5A32-50E7DF0AA224}"/>
              </a:ext>
            </a:extLst>
          </p:cNvPr>
          <p:cNvSpPr txBox="1"/>
          <p:nvPr/>
        </p:nvSpPr>
        <p:spPr>
          <a:xfrm>
            <a:off x="202893" y="708756"/>
            <a:ext cx="12990592" cy="2069797"/>
          </a:xfrm>
          <a:prstGeom prst="rect">
            <a:avLst/>
          </a:prstGeom>
          <a:noFill/>
        </p:spPr>
        <p:txBody>
          <a:bodyPr wrap="square">
            <a:spAutoFit/>
          </a:bodyPr>
          <a:lstStyle/>
          <a:p>
            <a:r>
              <a:rPr lang="en-US" sz="2570" b="1" dirty="0">
                <a:latin typeface="Times New Roman" panose="02020603050405020304" pitchFamily="18" charset="0"/>
                <a:cs typeface="Times New Roman" panose="02020603050405020304" pitchFamily="18" charset="0"/>
              </a:rPr>
              <a:t>Router:</a:t>
            </a:r>
            <a:br>
              <a:rPr lang="en-US" sz="2570" b="1" dirty="0">
                <a:latin typeface="Times New Roman" panose="02020603050405020304" pitchFamily="18" charset="0"/>
                <a:cs typeface="Times New Roman" panose="02020603050405020304" pitchFamily="18" charset="0"/>
              </a:rPr>
            </a:br>
            <a:r>
              <a:rPr lang="en-US" sz="2570" dirty="0">
                <a:latin typeface="Times New Roman" panose="02020603050405020304" pitchFamily="18" charset="0"/>
                <a:cs typeface="Times New Roman" panose="02020603050405020304" pitchFamily="18" charset="0"/>
              </a:rPr>
              <a:t>❖ A </a:t>
            </a:r>
            <a:r>
              <a:rPr lang="en-US" sz="2570" dirty="0">
                <a:solidFill>
                  <a:srgbClr val="FF0000"/>
                </a:solidFill>
                <a:latin typeface="Times New Roman" panose="02020603050405020304" pitchFamily="18" charset="0"/>
                <a:cs typeface="Times New Roman" panose="02020603050405020304" pitchFamily="18" charset="0"/>
              </a:rPr>
              <a:t>router</a:t>
            </a:r>
            <a:r>
              <a:rPr lang="en-US" sz="2570" dirty="0">
                <a:latin typeface="Times New Roman" panose="02020603050405020304" pitchFamily="18" charset="0"/>
                <a:cs typeface="Times New Roman" panose="02020603050405020304" pitchFamily="18" charset="0"/>
              </a:rPr>
              <a:t> is a </a:t>
            </a:r>
            <a:r>
              <a:rPr lang="en-US" sz="2570" dirty="0">
                <a:solidFill>
                  <a:srgbClr val="FF0000"/>
                </a:solidFill>
                <a:latin typeface="Times New Roman" panose="02020603050405020304" pitchFamily="18" charset="0"/>
                <a:cs typeface="Times New Roman" panose="02020603050405020304" pitchFamily="18" charset="0"/>
              </a:rPr>
              <a:t>three-layer device</a:t>
            </a:r>
            <a:r>
              <a:rPr lang="en-US" sz="2570" dirty="0">
                <a:latin typeface="Times New Roman" panose="02020603050405020304" pitchFamily="18" charset="0"/>
                <a:cs typeface="Times New Roman" panose="02020603050405020304" pitchFamily="18" charset="0"/>
              </a:rPr>
              <a:t>; physical, data link and network layer.</a:t>
            </a:r>
            <a:br>
              <a:rPr lang="en-US" sz="2570" dirty="0">
                <a:latin typeface="Times New Roman" panose="02020603050405020304" pitchFamily="18" charset="0"/>
                <a:cs typeface="Times New Roman" panose="02020603050405020304" pitchFamily="18" charset="0"/>
              </a:rPr>
            </a:br>
            <a:r>
              <a:rPr lang="en-US" sz="2570" dirty="0">
                <a:latin typeface="Times New Roman" panose="02020603050405020304" pitchFamily="18" charset="0"/>
                <a:cs typeface="Times New Roman" panose="02020603050405020304" pitchFamily="18" charset="0"/>
              </a:rPr>
              <a:t>❖ As a physical layer device it can regenerates bit, as data link layer device the router can check the physical addresses contained in a packet and as a network layer device it can check the network layer addresses (addresses in IP layer). </a:t>
            </a:r>
            <a:endParaRPr lang="en-IN" sz="1927" dirty="0"/>
          </a:p>
        </p:txBody>
      </p:sp>
      <p:sp>
        <p:nvSpPr>
          <p:cNvPr id="5" name="TextBox 4">
            <a:extLst>
              <a:ext uri="{FF2B5EF4-FFF2-40B4-BE49-F238E27FC236}">
                <a16:creationId xmlns:a16="http://schemas.microsoft.com/office/drawing/2014/main" id="{7A713F96-090E-EA31-AE72-0DE510AEF473}"/>
              </a:ext>
            </a:extLst>
          </p:cNvPr>
          <p:cNvSpPr txBox="1"/>
          <p:nvPr/>
        </p:nvSpPr>
        <p:spPr>
          <a:xfrm>
            <a:off x="919876" y="3671887"/>
            <a:ext cx="6866761" cy="685444"/>
          </a:xfrm>
          <a:prstGeom prst="rect">
            <a:avLst/>
          </a:prstGeom>
          <a:noFill/>
        </p:spPr>
        <p:txBody>
          <a:bodyPr wrap="square">
            <a:spAutoFit/>
          </a:bodyPr>
          <a:lstStyle/>
          <a:p>
            <a:br>
              <a:rPr lang="en-US" sz="1927" dirty="0"/>
            </a:br>
            <a:endParaRPr lang="en-IN" sz="1927" dirty="0"/>
          </a:p>
        </p:txBody>
      </p:sp>
      <p:pic>
        <p:nvPicPr>
          <p:cNvPr id="6" name="Picture 7">
            <a:extLst>
              <a:ext uri="{FF2B5EF4-FFF2-40B4-BE49-F238E27FC236}">
                <a16:creationId xmlns:a16="http://schemas.microsoft.com/office/drawing/2014/main" id="{EF365CE4-8D7D-243A-83AA-C8FBEE5AF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1722" y="2778553"/>
            <a:ext cx="4711992" cy="4219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C0733232-C667-E27A-FF84-6481E95987AD}"/>
              </a:ext>
            </a:extLst>
          </p:cNvPr>
          <p:cNvSpPr txBox="1"/>
          <p:nvPr/>
        </p:nvSpPr>
        <p:spPr>
          <a:xfrm>
            <a:off x="202893" y="2778553"/>
            <a:ext cx="8636307" cy="4409669"/>
          </a:xfrm>
          <a:prstGeom prst="rect">
            <a:avLst/>
          </a:prstGeom>
          <a:noFill/>
        </p:spPr>
        <p:txBody>
          <a:bodyPr wrap="square">
            <a:spAutoFit/>
          </a:bodyPr>
          <a:lstStyle/>
          <a:p>
            <a:r>
              <a:rPr lang="en-US" sz="2998" b="1" dirty="0">
                <a:solidFill>
                  <a:srgbClr val="C00000"/>
                </a:solidFill>
                <a:latin typeface="TimesNewRomanPS-BoldMT"/>
              </a:rPr>
              <a:t>Routing:</a:t>
            </a:r>
            <a:br>
              <a:rPr lang="en-US" sz="2142" b="1" dirty="0">
                <a:solidFill>
                  <a:srgbClr val="C00000"/>
                </a:solidFill>
                <a:latin typeface="TimesNewRomanPS-BoldMT"/>
              </a:rPr>
            </a:br>
            <a:r>
              <a:rPr lang="en-US" sz="2570" dirty="0">
                <a:solidFill>
                  <a:srgbClr val="000000"/>
                </a:solidFill>
                <a:latin typeface="Times New Roman" panose="02020603050405020304" pitchFamily="18" charset="0"/>
                <a:cs typeface="Times New Roman" panose="02020603050405020304" pitchFamily="18" charset="0"/>
              </a:rPr>
              <a:t>❖ </a:t>
            </a:r>
            <a:r>
              <a:rPr lang="en-US" sz="2570" b="1" dirty="0">
                <a:solidFill>
                  <a:srgbClr val="FF0000"/>
                </a:solidFill>
                <a:latin typeface="Times New Roman" panose="02020603050405020304" pitchFamily="18" charset="0"/>
                <a:cs typeface="Times New Roman" panose="02020603050405020304" pitchFamily="18" charset="0"/>
              </a:rPr>
              <a:t>Routing</a:t>
            </a:r>
            <a:r>
              <a:rPr lang="en-US" sz="2570" b="1" dirty="0">
                <a:solidFill>
                  <a:srgbClr val="000000"/>
                </a:solidFill>
                <a:latin typeface="Times New Roman" panose="02020603050405020304" pitchFamily="18" charset="0"/>
                <a:cs typeface="Times New Roman" panose="02020603050405020304" pitchFamily="18" charset="0"/>
              </a:rPr>
              <a:t> refers to the </a:t>
            </a:r>
            <a:r>
              <a:rPr lang="en-US" sz="2570" b="1" dirty="0">
                <a:latin typeface="Times New Roman" panose="02020603050405020304" pitchFamily="18" charset="0"/>
                <a:cs typeface="Times New Roman" panose="02020603050405020304" pitchFamily="18" charset="0"/>
              </a:rPr>
              <a:t>process</a:t>
            </a:r>
            <a:r>
              <a:rPr lang="en-US" sz="2570" b="1" dirty="0">
                <a:solidFill>
                  <a:srgbClr val="000000"/>
                </a:solidFill>
                <a:latin typeface="Times New Roman" panose="02020603050405020304" pitchFamily="18" charset="0"/>
                <a:cs typeface="Times New Roman" panose="02020603050405020304" pitchFamily="18" charset="0"/>
              </a:rPr>
              <a:t> of selecting the </a:t>
            </a:r>
            <a:r>
              <a:rPr lang="en-US" sz="2570" b="1" dirty="0">
                <a:solidFill>
                  <a:srgbClr val="FF0000"/>
                </a:solidFill>
                <a:latin typeface="Times New Roman" panose="02020603050405020304" pitchFamily="18" charset="0"/>
                <a:cs typeface="Times New Roman" panose="02020603050405020304" pitchFamily="18" charset="0"/>
              </a:rPr>
              <a:t>shortest </a:t>
            </a:r>
            <a:r>
              <a:rPr lang="en-US" sz="2570" b="1" dirty="0">
                <a:solidFill>
                  <a:srgbClr val="000000"/>
                </a:solidFill>
                <a:latin typeface="Times New Roman" panose="02020603050405020304" pitchFamily="18" charset="0"/>
                <a:cs typeface="Times New Roman" panose="02020603050405020304" pitchFamily="18" charset="0"/>
              </a:rPr>
              <a:t>and the most </a:t>
            </a:r>
            <a:r>
              <a:rPr lang="en-US" sz="2570" b="1" dirty="0">
                <a:solidFill>
                  <a:srgbClr val="FF0000"/>
                </a:solidFill>
                <a:latin typeface="Times New Roman" panose="02020603050405020304" pitchFamily="18" charset="0"/>
                <a:cs typeface="Times New Roman" panose="02020603050405020304" pitchFamily="18" charset="0"/>
              </a:rPr>
              <a:t>reliable path </a:t>
            </a:r>
            <a:r>
              <a:rPr lang="en-US" sz="2570" b="1" dirty="0">
                <a:solidFill>
                  <a:srgbClr val="000000"/>
                </a:solidFill>
                <a:latin typeface="Times New Roman" panose="02020603050405020304" pitchFamily="18" charset="0"/>
                <a:cs typeface="Times New Roman" panose="02020603050405020304" pitchFamily="18" charset="0"/>
              </a:rPr>
              <a:t>over which to send data to its ultimate destination.</a:t>
            </a:r>
            <a:br>
              <a:rPr lang="en-US" sz="2570" b="1" dirty="0">
                <a:solidFill>
                  <a:srgbClr val="000000"/>
                </a:solidFill>
                <a:latin typeface="Times New Roman" panose="02020603050405020304" pitchFamily="18" charset="0"/>
                <a:cs typeface="Times New Roman" panose="02020603050405020304" pitchFamily="18" charset="0"/>
              </a:rPr>
            </a:br>
            <a:r>
              <a:rPr lang="en-US" sz="2570" dirty="0">
                <a:solidFill>
                  <a:srgbClr val="C00000"/>
                </a:solidFill>
                <a:latin typeface="Times New Roman" panose="02020603050405020304" pitchFamily="18" charset="0"/>
                <a:cs typeface="Times New Roman" panose="02020603050405020304" pitchFamily="18" charset="0"/>
              </a:rPr>
              <a:t>❖ </a:t>
            </a:r>
            <a:r>
              <a:rPr lang="en-US" sz="2570" b="1" dirty="0">
                <a:latin typeface="Times New Roman" panose="02020603050405020304" pitchFamily="18" charset="0"/>
                <a:cs typeface="Times New Roman" panose="02020603050405020304" pitchFamily="18" charset="0"/>
              </a:rPr>
              <a:t>IP routing protocol makes the distinction between hosts and gateways</a:t>
            </a:r>
            <a:r>
              <a:rPr lang="en-US" sz="2570" b="1" dirty="0">
                <a:solidFill>
                  <a:srgbClr val="C00000"/>
                </a:solidFill>
                <a:latin typeface="Times New Roman" panose="02020603050405020304" pitchFamily="18" charset="0"/>
                <a:cs typeface="Times New Roman" panose="02020603050405020304" pitchFamily="18" charset="0"/>
              </a:rPr>
              <a:t>.</a:t>
            </a:r>
            <a:br>
              <a:rPr lang="en-US" sz="2570" b="1" dirty="0">
                <a:solidFill>
                  <a:srgbClr val="C00000"/>
                </a:solidFill>
                <a:latin typeface="Times New Roman" panose="02020603050405020304" pitchFamily="18" charset="0"/>
                <a:cs typeface="Times New Roman" panose="02020603050405020304" pitchFamily="18" charset="0"/>
              </a:rPr>
            </a:br>
            <a:r>
              <a:rPr lang="en-US" sz="2570" dirty="0">
                <a:solidFill>
                  <a:srgbClr val="000000"/>
                </a:solidFill>
                <a:latin typeface="Times New Roman" panose="02020603050405020304" pitchFamily="18" charset="0"/>
                <a:cs typeface="Times New Roman" panose="02020603050405020304" pitchFamily="18" charset="0"/>
              </a:rPr>
              <a:t>❖ </a:t>
            </a:r>
            <a:r>
              <a:rPr lang="en-US" sz="2570" b="1" dirty="0">
                <a:solidFill>
                  <a:srgbClr val="000000"/>
                </a:solidFill>
                <a:latin typeface="Times New Roman" panose="02020603050405020304" pitchFamily="18" charset="0"/>
                <a:cs typeface="Times New Roman" panose="02020603050405020304" pitchFamily="18" charset="0"/>
              </a:rPr>
              <a:t>A host is the end system to which data is ultimately deliverable.</a:t>
            </a:r>
            <a:br>
              <a:rPr lang="en-US" sz="2570" b="1" dirty="0">
                <a:solidFill>
                  <a:srgbClr val="000000"/>
                </a:solidFill>
                <a:latin typeface="Times New Roman" panose="02020603050405020304" pitchFamily="18" charset="0"/>
                <a:cs typeface="Times New Roman" panose="02020603050405020304" pitchFamily="18" charset="0"/>
              </a:rPr>
            </a:br>
            <a:r>
              <a:rPr lang="en-US" sz="2570" dirty="0">
                <a:solidFill>
                  <a:srgbClr val="002060"/>
                </a:solidFill>
                <a:latin typeface="Times New Roman" panose="02020603050405020304" pitchFamily="18" charset="0"/>
                <a:cs typeface="Times New Roman" panose="02020603050405020304" pitchFamily="18" charset="0"/>
              </a:rPr>
              <a:t>❖ </a:t>
            </a:r>
            <a:r>
              <a:rPr lang="en-US" sz="2570" b="1" dirty="0">
                <a:solidFill>
                  <a:srgbClr val="002060"/>
                </a:solidFill>
                <a:latin typeface="Times New Roman" panose="02020603050405020304" pitchFamily="18" charset="0"/>
                <a:cs typeface="Times New Roman" panose="02020603050405020304" pitchFamily="18" charset="0"/>
              </a:rPr>
              <a:t>An IP gateway, on the other hand, is the router that accomplishes the act of routing data between two networks.</a:t>
            </a:r>
            <a:r>
              <a:rPr lang="en-US" sz="2570" dirty="0">
                <a:latin typeface="Times New Roman" panose="02020603050405020304" pitchFamily="18" charset="0"/>
                <a:cs typeface="Times New Roman" panose="02020603050405020304" pitchFamily="18" charset="0"/>
              </a:rPr>
              <a:t> </a:t>
            </a:r>
            <a:br>
              <a:rPr lang="en-US" sz="1927" dirty="0"/>
            </a:br>
            <a:endParaRPr lang="en-IN" sz="1927" dirty="0"/>
          </a:p>
        </p:txBody>
      </p:sp>
      <p:sp>
        <p:nvSpPr>
          <p:cNvPr id="9" name="Title 1">
            <a:extLst>
              <a:ext uri="{FF2B5EF4-FFF2-40B4-BE49-F238E27FC236}">
                <a16:creationId xmlns:a16="http://schemas.microsoft.com/office/drawing/2014/main" id="{BCF66252-6BCC-CB33-54FF-21B4BB4D9717}"/>
              </a:ext>
            </a:extLst>
          </p:cNvPr>
          <p:cNvSpPr>
            <a:spLocks noGrp="1"/>
          </p:cNvSpPr>
          <p:nvPr>
            <p:ph type="title"/>
          </p:nvPr>
        </p:nvSpPr>
        <p:spPr>
          <a:xfrm>
            <a:off x="4874545" y="99267"/>
            <a:ext cx="4347177" cy="877877"/>
          </a:xfrm>
        </p:spPr>
        <p:txBody>
          <a:bodyPr/>
          <a:lstStyle/>
          <a:p>
            <a:r>
              <a:rPr lang="en-US" altLang="en-US" dirty="0">
                <a:solidFill>
                  <a:srgbClr val="3D29CD"/>
                </a:solidFill>
                <a:latin typeface="Times New Roman" panose="02020603050405020304" pitchFamily="18" charset="0"/>
                <a:cs typeface="Times New Roman" panose="02020603050405020304" pitchFamily="18" charset="0"/>
              </a:rPr>
              <a:t>Router</a:t>
            </a:r>
            <a:endParaRPr lang="en-IN" dirty="0">
              <a:solidFill>
                <a:srgbClr val="3D29CD"/>
              </a:solidFill>
            </a:endParaRPr>
          </a:p>
        </p:txBody>
      </p:sp>
    </p:spTree>
    <p:extLst>
      <p:ext uri="{BB962C8B-B14F-4D97-AF65-F5344CB8AC3E}">
        <p14:creationId xmlns:p14="http://schemas.microsoft.com/office/powerpoint/2010/main" val="2490523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B6ECF8-78E9-D6AB-4068-2ADE8910B7E4}"/>
              </a:ext>
            </a:extLst>
          </p:cNvPr>
          <p:cNvSpPr>
            <a:spLocks noGrp="1"/>
          </p:cNvSpPr>
          <p:nvPr>
            <p:ph type="sldNum" sz="quarter" idx="12"/>
          </p:nvPr>
        </p:nvSpPr>
        <p:spPr/>
        <p:txBody>
          <a:bodyPr/>
          <a:lstStyle/>
          <a:p>
            <a:r>
              <a:rPr lang="en-US" altLang="en-US"/>
              <a:t>2.</a:t>
            </a:r>
            <a:fld id="{71DCA1CC-F10C-4258-9893-91EE1609A785}" type="slidenum">
              <a:rPr lang="en-US" altLang="en-US"/>
              <a:pPr/>
              <a:t>5</a:t>
            </a:fld>
            <a:endParaRPr lang="en-US" altLang="en-US"/>
          </a:p>
        </p:txBody>
      </p:sp>
      <p:sp>
        <p:nvSpPr>
          <p:cNvPr id="665610" name="Rectangle 10">
            <a:extLst>
              <a:ext uri="{FF2B5EF4-FFF2-40B4-BE49-F238E27FC236}">
                <a16:creationId xmlns:a16="http://schemas.microsoft.com/office/drawing/2014/main" id="{B8CC1D30-C222-4E3B-0750-F3AA3FA7A94E}"/>
              </a:ext>
            </a:extLst>
          </p:cNvPr>
          <p:cNvSpPr>
            <a:spLocks noChangeArrowheads="1"/>
          </p:cNvSpPr>
          <p:nvPr/>
        </p:nvSpPr>
        <p:spPr bwMode="auto">
          <a:xfrm>
            <a:off x="2485707" y="1550353"/>
            <a:ext cx="9465310" cy="407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331"/>
          </a:p>
        </p:txBody>
      </p:sp>
      <p:sp>
        <p:nvSpPr>
          <p:cNvPr id="665611" name="Rectangle 11">
            <a:extLst>
              <a:ext uri="{FF2B5EF4-FFF2-40B4-BE49-F238E27FC236}">
                <a16:creationId xmlns:a16="http://schemas.microsoft.com/office/drawing/2014/main" id="{B6421FFD-E103-BA24-A2C7-763D28908B59}"/>
              </a:ext>
            </a:extLst>
          </p:cNvPr>
          <p:cNvSpPr>
            <a:spLocks noChangeArrowheads="1"/>
          </p:cNvSpPr>
          <p:nvPr/>
        </p:nvSpPr>
        <p:spPr bwMode="auto">
          <a:xfrm>
            <a:off x="451141" y="2990125"/>
            <a:ext cx="129930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i="1" dirty="0">
                <a:solidFill>
                  <a:srgbClr val="FF0000"/>
                </a:solidFill>
                <a:latin typeface="Times New Roman" panose="02020603050405020304" pitchFamily="18" charset="0"/>
                <a:cs typeface="Times New Roman" panose="02020603050405020304" pitchFamily="18" charset="0"/>
              </a:rPr>
              <a:t>In Figure,  a node with physical address 10 sends a frame to a node with physical address 87. The two nodes are connected by a link (bus topology LAN). As the figure shows, the computer with physical address 10 is the sender, and the computer with physical address 87 is the receiver.</a:t>
            </a:r>
          </a:p>
        </p:txBody>
      </p:sp>
      <p:sp>
        <p:nvSpPr>
          <p:cNvPr id="3" name="Text Box 4">
            <a:extLst>
              <a:ext uri="{FF2B5EF4-FFF2-40B4-BE49-F238E27FC236}">
                <a16:creationId xmlns:a16="http://schemas.microsoft.com/office/drawing/2014/main" id="{4B015B41-D4D1-21DE-2EE2-35B479BF87EA}"/>
              </a:ext>
            </a:extLst>
          </p:cNvPr>
          <p:cNvSpPr txBox="1">
            <a:spLocks noChangeArrowheads="1"/>
          </p:cNvSpPr>
          <p:nvPr/>
        </p:nvSpPr>
        <p:spPr bwMode="auto">
          <a:xfrm>
            <a:off x="3019299" y="106742"/>
            <a:ext cx="6148414" cy="1037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570" dirty="0">
                <a:solidFill>
                  <a:schemeClr val="folHlink"/>
                </a:solidFill>
              </a:rPr>
              <a:t>  </a:t>
            </a:r>
            <a:r>
              <a:rPr lang="en-US" altLang="en-US" sz="4000" dirty="0">
                <a:solidFill>
                  <a:srgbClr val="3D29CD"/>
                </a:solidFill>
                <a:latin typeface="Times New Roman" panose="02020603050405020304" pitchFamily="18" charset="0"/>
                <a:cs typeface="Times New Roman" panose="02020603050405020304" pitchFamily="18" charset="0"/>
              </a:rPr>
              <a:t>Examples: Physical Address</a:t>
            </a:r>
            <a:endParaRPr lang="en-US" altLang="en-US" sz="2142" dirty="0">
              <a:solidFill>
                <a:srgbClr val="3D29CD"/>
              </a:solidFill>
              <a:latin typeface="Times New Roman" panose="02020603050405020304" pitchFamily="18" charset="0"/>
              <a:cs typeface="Times New Roman" panose="02020603050405020304" pitchFamily="18" charset="0"/>
            </a:endParaRPr>
          </a:p>
          <a:p>
            <a:endParaRPr lang="en-US" altLang="en-US" sz="2142" i="1" dirty="0">
              <a:solidFill>
                <a:srgbClr val="3366FF"/>
              </a:solidFill>
            </a:endParaRPr>
          </a:p>
        </p:txBody>
      </p:sp>
      <p:pic>
        <p:nvPicPr>
          <p:cNvPr id="4" name="Picture 6">
            <a:extLst>
              <a:ext uri="{FF2B5EF4-FFF2-40B4-BE49-F238E27FC236}">
                <a16:creationId xmlns:a16="http://schemas.microsoft.com/office/drawing/2014/main" id="{D290BB53-64C2-5441-6045-D0EB424C0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0343" y="4514940"/>
            <a:ext cx="11096217" cy="255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a:extLst>
              <a:ext uri="{FF2B5EF4-FFF2-40B4-BE49-F238E27FC236}">
                <a16:creationId xmlns:a16="http://schemas.microsoft.com/office/drawing/2014/main" id="{999C539E-5F19-AAB9-CB73-2E09028CCA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8080" y="1050256"/>
            <a:ext cx="6813391" cy="1736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A6F083B0-C1FF-664B-3DE0-DB7A719161F3}"/>
              </a:ext>
            </a:extLst>
          </p:cNvPr>
          <p:cNvSpPr txBox="1"/>
          <p:nvPr/>
        </p:nvSpPr>
        <p:spPr>
          <a:xfrm>
            <a:off x="277586" y="1442887"/>
            <a:ext cx="6210300" cy="1477328"/>
          </a:xfrm>
          <a:prstGeom prst="rect">
            <a:avLst/>
          </a:prstGeom>
          <a:noFill/>
        </p:spPr>
        <p:txBody>
          <a:bodyPr wrap="square">
            <a:spAutoFit/>
          </a:bodyPr>
          <a:lstStyle/>
          <a:p>
            <a:r>
              <a:rPr lang="en-US" sz="2400" b="1" i="0" dirty="0">
                <a:solidFill>
                  <a:srgbClr val="000000"/>
                </a:solidFill>
                <a:effectLst/>
                <a:latin typeface="Times New Roman" panose="02020603050405020304" pitchFamily="18" charset="0"/>
                <a:cs typeface="Times New Roman" panose="02020603050405020304" pitchFamily="18" charset="0"/>
              </a:rPr>
              <a:t>Four levels of addresses are used in an internet employing the TCP/IP protocols: </a:t>
            </a:r>
            <a:r>
              <a:rPr lang="en-US" sz="2400" b="1" i="0" dirty="0">
                <a:solidFill>
                  <a:srgbClr val="0000FF"/>
                </a:solidFill>
                <a:effectLst/>
                <a:latin typeface="Times New Roman" panose="02020603050405020304" pitchFamily="18" charset="0"/>
                <a:cs typeface="Times New Roman" panose="02020603050405020304" pitchFamily="18" charset="0"/>
              </a:rPr>
              <a:t>physical</a:t>
            </a:r>
            <a:r>
              <a:rPr lang="en-US" sz="2400" b="1" i="0" dirty="0">
                <a:solidFill>
                  <a:srgbClr val="000000"/>
                </a:solidFill>
                <a:effectLst/>
                <a:latin typeface="Times New Roman" panose="02020603050405020304" pitchFamily="18" charset="0"/>
                <a:cs typeface="Times New Roman" panose="02020603050405020304" pitchFamily="18" charset="0"/>
              </a:rPr>
              <a:t>, </a:t>
            </a:r>
            <a:r>
              <a:rPr lang="en-US" sz="2400" b="1" i="0" dirty="0">
                <a:solidFill>
                  <a:srgbClr val="0000FF"/>
                </a:solidFill>
                <a:effectLst/>
                <a:latin typeface="Times New Roman" panose="02020603050405020304" pitchFamily="18" charset="0"/>
                <a:cs typeface="Times New Roman" panose="02020603050405020304" pitchFamily="18" charset="0"/>
              </a:rPr>
              <a:t>logical</a:t>
            </a:r>
            <a:r>
              <a:rPr lang="en-US" sz="2400" b="1" i="0" dirty="0">
                <a:solidFill>
                  <a:srgbClr val="000000"/>
                </a:solidFill>
                <a:effectLst/>
                <a:latin typeface="Times New Roman" panose="02020603050405020304" pitchFamily="18" charset="0"/>
                <a:cs typeface="Times New Roman" panose="02020603050405020304" pitchFamily="18" charset="0"/>
              </a:rPr>
              <a:t>, </a:t>
            </a:r>
            <a:r>
              <a:rPr lang="en-US" sz="2400" b="1" i="0" dirty="0">
                <a:solidFill>
                  <a:srgbClr val="0000FF"/>
                </a:solidFill>
                <a:effectLst/>
                <a:latin typeface="Times New Roman" panose="02020603050405020304" pitchFamily="18" charset="0"/>
                <a:cs typeface="Times New Roman" panose="02020603050405020304" pitchFamily="18" charset="0"/>
              </a:rPr>
              <a:t>port</a:t>
            </a:r>
            <a:r>
              <a:rPr lang="en-US" sz="2400" b="1" i="0" dirty="0">
                <a:solidFill>
                  <a:srgbClr val="000000"/>
                </a:solidFill>
                <a:effectLst/>
                <a:latin typeface="Times New Roman" panose="02020603050405020304" pitchFamily="18" charset="0"/>
                <a:cs typeface="Times New Roman" panose="02020603050405020304" pitchFamily="18" charset="0"/>
              </a:rPr>
              <a:t>, and </a:t>
            </a:r>
            <a:r>
              <a:rPr lang="en-US" sz="2400" b="1" i="0" dirty="0">
                <a:solidFill>
                  <a:srgbClr val="0000FF"/>
                </a:solidFill>
                <a:effectLst/>
                <a:latin typeface="Times New Roman" panose="02020603050405020304" pitchFamily="18" charset="0"/>
                <a:cs typeface="Times New Roman" panose="02020603050405020304" pitchFamily="18" charset="0"/>
              </a:rPr>
              <a:t>specific</a:t>
            </a:r>
            <a:r>
              <a:rPr lang="en-US" sz="2400" b="1" i="0" dirty="0">
                <a:solidFill>
                  <a:srgbClr val="000000"/>
                </a:solidFill>
                <a:effectLst/>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br>
              <a:rPr lang="en-US" dirty="0"/>
            </a:b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FEA5FF-BD04-49AA-C886-A924F6BF04E9}"/>
              </a:ext>
            </a:extLst>
          </p:cNvPr>
          <p:cNvSpPr>
            <a:spLocks noGrp="1"/>
          </p:cNvSpPr>
          <p:nvPr>
            <p:ph type="sldNum" sz="quarter" idx="10"/>
          </p:nvPr>
        </p:nvSpPr>
        <p:spPr/>
        <p:txBody>
          <a:bodyPr/>
          <a:lstStyle/>
          <a:p>
            <a:r>
              <a:rPr lang="en-US" altLang="en-US"/>
              <a:t>2.</a:t>
            </a:r>
            <a:fld id="{267AC708-17A7-4418-9580-F377100202DE}" type="slidenum">
              <a:rPr lang="en-US" altLang="en-US"/>
              <a:pPr/>
              <a:t>6</a:t>
            </a:fld>
            <a:endParaRPr lang="en-US" altLang="en-US"/>
          </a:p>
        </p:txBody>
      </p:sp>
      <p:sp>
        <p:nvSpPr>
          <p:cNvPr id="672778" name="Rectangle 10">
            <a:extLst>
              <a:ext uri="{FF2B5EF4-FFF2-40B4-BE49-F238E27FC236}">
                <a16:creationId xmlns:a16="http://schemas.microsoft.com/office/drawing/2014/main" id="{E58412BA-D12B-E31C-1494-B582C14B9255}"/>
              </a:ext>
            </a:extLst>
          </p:cNvPr>
          <p:cNvSpPr>
            <a:spLocks noChangeArrowheads="1"/>
          </p:cNvSpPr>
          <p:nvPr/>
        </p:nvSpPr>
        <p:spPr bwMode="auto">
          <a:xfrm>
            <a:off x="2485707" y="1550352"/>
            <a:ext cx="9465310" cy="407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927"/>
          </a:p>
        </p:txBody>
      </p:sp>
      <p:sp>
        <p:nvSpPr>
          <p:cNvPr id="672779" name="Rectangle 11">
            <a:extLst>
              <a:ext uri="{FF2B5EF4-FFF2-40B4-BE49-F238E27FC236}">
                <a16:creationId xmlns:a16="http://schemas.microsoft.com/office/drawing/2014/main" id="{F794547A-026C-2627-450D-23F45DD33CBB}"/>
              </a:ext>
            </a:extLst>
          </p:cNvPr>
          <p:cNvSpPr>
            <a:spLocks noChangeArrowheads="1"/>
          </p:cNvSpPr>
          <p:nvPr/>
        </p:nvSpPr>
        <p:spPr bwMode="auto">
          <a:xfrm>
            <a:off x="2300752" y="1433585"/>
            <a:ext cx="11178858" cy="147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998" i="1" dirty="0"/>
              <a:t>Most local-area networks use a </a:t>
            </a:r>
            <a:r>
              <a:rPr lang="en-US" altLang="en-US" sz="2998" i="1" dirty="0">
                <a:solidFill>
                  <a:schemeClr val="hlink"/>
                </a:solidFill>
              </a:rPr>
              <a:t>48-bit</a:t>
            </a:r>
            <a:r>
              <a:rPr lang="en-US" altLang="en-US" sz="2998" i="1" dirty="0"/>
              <a:t> (6-byte) physical address written as 12 hexadecimal digits; every byte (2 hexadecimal digits) is separated by a colon, as shown below:</a:t>
            </a:r>
          </a:p>
        </p:txBody>
      </p:sp>
      <p:sp>
        <p:nvSpPr>
          <p:cNvPr id="672782" name="Rectangle 14">
            <a:extLst>
              <a:ext uri="{FF2B5EF4-FFF2-40B4-BE49-F238E27FC236}">
                <a16:creationId xmlns:a16="http://schemas.microsoft.com/office/drawing/2014/main" id="{29ED4ED9-9ECB-0B61-FD0B-550DBA53BE6A}"/>
              </a:ext>
            </a:extLst>
          </p:cNvPr>
          <p:cNvSpPr>
            <a:spLocks noChangeArrowheads="1"/>
          </p:cNvSpPr>
          <p:nvPr/>
        </p:nvSpPr>
        <p:spPr bwMode="auto">
          <a:xfrm>
            <a:off x="2567305" y="3981279"/>
            <a:ext cx="9138920" cy="1608454"/>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427" dirty="0">
                <a:solidFill>
                  <a:schemeClr val="folHlink"/>
                </a:solidFill>
              </a:rPr>
              <a:t>07:01:02:01:2C:4B</a:t>
            </a:r>
            <a:br>
              <a:rPr lang="en-US" altLang="en-US" sz="3427" dirty="0">
                <a:solidFill>
                  <a:schemeClr val="folHlink"/>
                </a:solidFill>
              </a:rPr>
            </a:br>
            <a:endParaRPr lang="en-US" altLang="en-US" sz="3427" dirty="0">
              <a:solidFill>
                <a:schemeClr val="folHlink"/>
              </a:solidFill>
            </a:endParaRPr>
          </a:p>
          <a:p>
            <a:pPr algn="ctr"/>
            <a:r>
              <a:rPr lang="en-US" altLang="en-US" sz="2998" dirty="0"/>
              <a:t>A 6-byte (12 hexadecimal digits) physical address.</a:t>
            </a:r>
          </a:p>
        </p:txBody>
      </p:sp>
      <p:sp>
        <p:nvSpPr>
          <p:cNvPr id="6" name="TextBox 5">
            <a:extLst>
              <a:ext uri="{FF2B5EF4-FFF2-40B4-BE49-F238E27FC236}">
                <a16:creationId xmlns:a16="http://schemas.microsoft.com/office/drawing/2014/main" id="{127096BA-EB0C-0660-22C8-D58BAACACC9A}"/>
              </a:ext>
            </a:extLst>
          </p:cNvPr>
          <p:cNvSpPr txBox="1"/>
          <p:nvPr/>
        </p:nvSpPr>
        <p:spPr>
          <a:xfrm>
            <a:off x="2322512" y="404778"/>
            <a:ext cx="6527800" cy="619721"/>
          </a:xfrm>
          <a:prstGeom prst="rect">
            <a:avLst/>
          </a:prstGeom>
          <a:noFill/>
        </p:spPr>
        <p:txBody>
          <a:bodyPr wrap="square">
            <a:spAutoFit/>
          </a:bodyPr>
          <a:lstStyle/>
          <a:p>
            <a:r>
              <a:rPr lang="en-US" altLang="en-US" sz="3427" dirty="0">
                <a:solidFill>
                  <a:srgbClr val="3366FF"/>
                </a:solidFill>
              </a:rPr>
              <a:t>Physical address</a:t>
            </a:r>
            <a:endParaRPr lang="en-IN" sz="3427" dirty="0">
              <a:solidFill>
                <a:srgbClr val="3366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40" name="Text Box 4">
            <a:extLst>
              <a:ext uri="{FF2B5EF4-FFF2-40B4-BE49-F238E27FC236}">
                <a16:creationId xmlns:a16="http://schemas.microsoft.com/office/drawing/2014/main" id="{CA4B4235-E430-04DE-18E3-571506205981}"/>
              </a:ext>
            </a:extLst>
          </p:cNvPr>
          <p:cNvSpPr txBox="1">
            <a:spLocks noChangeArrowheads="1"/>
          </p:cNvSpPr>
          <p:nvPr/>
        </p:nvSpPr>
        <p:spPr bwMode="auto">
          <a:xfrm>
            <a:off x="3372033" y="0"/>
            <a:ext cx="87382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570" dirty="0">
                <a:solidFill>
                  <a:schemeClr val="folHlink"/>
                </a:solidFill>
              </a:rPr>
              <a:t> </a:t>
            </a:r>
            <a:r>
              <a:rPr lang="en-US" altLang="en-US" sz="4000" dirty="0">
                <a:solidFill>
                  <a:srgbClr val="3D29CD"/>
                </a:solidFill>
                <a:latin typeface="Times New Roman" panose="02020603050405020304" pitchFamily="18" charset="0"/>
                <a:cs typeface="Times New Roman" panose="02020603050405020304" pitchFamily="18" charset="0"/>
              </a:rPr>
              <a:t>Examples: Physical &amp; Logical  addresses</a:t>
            </a:r>
          </a:p>
        </p:txBody>
      </p:sp>
      <p:pic>
        <p:nvPicPr>
          <p:cNvPr id="654342" name="Picture 6">
            <a:extLst>
              <a:ext uri="{FF2B5EF4-FFF2-40B4-BE49-F238E27FC236}">
                <a16:creationId xmlns:a16="http://schemas.microsoft.com/office/drawing/2014/main" id="{9CA42D52-3459-1C38-2C98-8023D1619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7751" y="951578"/>
            <a:ext cx="8329250" cy="615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74119E5D-685D-1C93-07E8-0FE7C7EC1CA8}"/>
              </a:ext>
            </a:extLst>
          </p:cNvPr>
          <p:cNvSpPr txBox="1"/>
          <p:nvPr/>
        </p:nvSpPr>
        <p:spPr>
          <a:xfrm>
            <a:off x="146956" y="1136694"/>
            <a:ext cx="5000399" cy="4832092"/>
          </a:xfrm>
          <a:prstGeom prst="rect">
            <a:avLst/>
          </a:prstGeom>
          <a:noFill/>
        </p:spPr>
        <p:txBody>
          <a:bodyPr wrap="square">
            <a:spAutoFit/>
          </a:bodyPr>
          <a:lstStyle/>
          <a:p>
            <a:pPr algn="just"/>
            <a:r>
              <a:rPr lang="en-US" altLang="en-US" sz="2800" i="1" dirty="0">
                <a:solidFill>
                  <a:srgbClr val="FF0000"/>
                </a:solidFill>
                <a:latin typeface="Times New Roman" panose="02020603050405020304" pitchFamily="18" charset="0"/>
                <a:cs typeface="Times New Roman" panose="02020603050405020304" pitchFamily="18" charset="0"/>
              </a:rPr>
              <a:t>Figure shows a part of an internet with two routers connecting three LANs. Each device (computer or router) has a pair of addresses (logical and physical) for each connection. Each router is connected to three networks (only two are shown in the figure). So each router has three pairs of addresses, one for each connection.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40DD0F39-5343-CEFA-E45C-2A54025B31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737" y="1117885"/>
            <a:ext cx="8109917" cy="6079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4">
            <a:extLst>
              <a:ext uri="{FF2B5EF4-FFF2-40B4-BE49-F238E27FC236}">
                <a16:creationId xmlns:a16="http://schemas.microsoft.com/office/drawing/2014/main" id="{A5EEAB93-EA69-3416-DF1D-746AA0B9C65B}"/>
              </a:ext>
            </a:extLst>
          </p:cNvPr>
          <p:cNvSpPr txBox="1">
            <a:spLocks noChangeArrowheads="1"/>
          </p:cNvSpPr>
          <p:nvPr/>
        </p:nvSpPr>
        <p:spPr bwMode="auto">
          <a:xfrm>
            <a:off x="5139399" y="326390"/>
            <a:ext cx="3113096" cy="685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855" i="1" dirty="0">
                <a:solidFill>
                  <a:srgbClr val="3366FF"/>
                </a:solidFill>
              </a:rPr>
              <a:t>Port addresses</a:t>
            </a:r>
          </a:p>
        </p:txBody>
      </p:sp>
    </p:spTree>
    <p:extLst>
      <p:ext uri="{BB962C8B-B14F-4D97-AF65-F5344CB8AC3E}">
        <p14:creationId xmlns:p14="http://schemas.microsoft.com/office/powerpoint/2010/main" val="11222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3">
            <a:extLst>
              <a:ext uri="{FF2B5EF4-FFF2-40B4-BE49-F238E27FC236}">
                <a16:creationId xmlns:a16="http://schemas.microsoft.com/office/drawing/2014/main" id="{111AE94C-E7E1-8468-714E-C09902A42E30}"/>
              </a:ext>
            </a:extLst>
          </p:cNvPr>
          <p:cNvSpPr>
            <a:spLocks noChangeArrowheads="1"/>
          </p:cNvSpPr>
          <p:nvPr/>
        </p:nvSpPr>
        <p:spPr bwMode="auto">
          <a:xfrm>
            <a:off x="1669732" y="1652350"/>
            <a:ext cx="9138920" cy="1015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a:r>
              <a:rPr lang="en-US" altLang="en-US" sz="2998" i="1" dirty="0"/>
              <a:t>A port address is a 16-bit address represented by one decimal number as shown.</a:t>
            </a:r>
          </a:p>
        </p:txBody>
      </p:sp>
      <p:sp>
        <p:nvSpPr>
          <p:cNvPr id="4" name="Rectangle 16">
            <a:extLst>
              <a:ext uri="{FF2B5EF4-FFF2-40B4-BE49-F238E27FC236}">
                <a16:creationId xmlns:a16="http://schemas.microsoft.com/office/drawing/2014/main" id="{08730316-D30E-8687-885C-46E7E82337E4}"/>
              </a:ext>
            </a:extLst>
          </p:cNvPr>
          <p:cNvSpPr>
            <a:spLocks noChangeArrowheads="1"/>
          </p:cNvSpPr>
          <p:nvPr/>
        </p:nvSpPr>
        <p:spPr bwMode="auto">
          <a:xfrm>
            <a:off x="1996122" y="3092439"/>
            <a:ext cx="8975725" cy="206979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3427" dirty="0">
                <a:solidFill>
                  <a:schemeClr val="folHlink"/>
                </a:solidFill>
              </a:rPr>
              <a:t>753</a:t>
            </a:r>
            <a:br>
              <a:rPr lang="en-US" altLang="en-US" sz="3427" dirty="0">
                <a:solidFill>
                  <a:schemeClr val="folHlink"/>
                </a:solidFill>
              </a:rPr>
            </a:br>
            <a:endParaRPr lang="en-US" altLang="en-US" sz="3427" dirty="0">
              <a:solidFill>
                <a:schemeClr val="folHlink"/>
              </a:solidFill>
            </a:endParaRPr>
          </a:p>
          <a:p>
            <a:pPr algn="ctr"/>
            <a:r>
              <a:rPr lang="en-US" altLang="en-US" sz="2998" dirty="0"/>
              <a:t>A 16-bit port address represented </a:t>
            </a:r>
            <a:br>
              <a:rPr lang="en-US" altLang="en-US" sz="2998" dirty="0"/>
            </a:br>
            <a:r>
              <a:rPr lang="en-US" altLang="en-US" sz="2998" dirty="0"/>
              <a:t>as one single number.</a:t>
            </a:r>
          </a:p>
        </p:txBody>
      </p:sp>
      <p:sp>
        <p:nvSpPr>
          <p:cNvPr id="5" name="Text Box 4">
            <a:extLst>
              <a:ext uri="{FF2B5EF4-FFF2-40B4-BE49-F238E27FC236}">
                <a16:creationId xmlns:a16="http://schemas.microsoft.com/office/drawing/2014/main" id="{B8E6B3C9-33BE-0491-0465-B3544C24A0E3}"/>
              </a:ext>
            </a:extLst>
          </p:cNvPr>
          <p:cNvSpPr txBox="1">
            <a:spLocks noChangeArrowheads="1"/>
          </p:cNvSpPr>
          <p:nvPr/>
        </p:nvSpPr>
        <p:spPr bwMode="auto">
          <a:xfrm>
            <a:off x="5139399" y="326390"/>
            <a:ext cx="3113096" cy="685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855" i="1" dirty="0">
                <a:solidFill>
                  <a:srgbClr val="3366FF"/>
                </a:solidFill>
              </a:rPr>
              <a:t>Port addresses</a:t>
            </a:r>
          </a:p>
        </p:txBody>
      </p:sp>
    </p:spTree>
    <p:extLst>
      <p:ext uri="{BB962C8B-B14F-4D97-AF65-F5344CB8AC3E}">
        <p14:creationId xmlns:p14="http://schemas.microsoft.com/office/powerpoint/2010/main" val="751247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86D4FD7-CD13-A29A-C920-56B0A9058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710" y="964644"/>
            <a:ext cx="6334125" cy="435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9C2D6892-94AB-9DFD-8F58-C23FB90011AA}"/>
              </a:ext>
            </a:extLst>
          </p:cNvPr>
          <p:cNvPicPr>
            <a:picLocks noChangeAspect="1"/>
          </p:cNvPicPr>
          <p:nvPr/>
        </p:nvPicPr>
        <p:blipFill>
          <a:blip r:embed="rId3"/>
          <a:stretch>
            <a:fillRect/>
          </a:stretch>
        </p:blipFill>
        <p:spPr>
          <a:xfrm>
            <a:off x="531133" y="5584294"/>
            <a:ext cx="4302124" cy="1589674"/>
          </a:xfrm>
          <a:prstGeom prst="rect">
            <a:avLst/>
          </a:prstGeom>
        </p:spPr>
      </p:pic>
      <p:pic>
        <p:nvPicPr>
          <p:cNvPr id="7" name="Picture 6">
            <a:extLst>
              <a:ext uri="{FF2B5EF4-FFF2-40B4-BE49-F238E27FC236}">
                <a16:creationId xmlns:a16="http://schemas.microsoft.com/office/drawing/2014/main" id="{45F72DFF-39F6-2E30-A528-14E4EF5D3B6E}"/>
              </a:ext>
            </a:extLst>
          </p:cNvPr>
          <p:cNvPicPr>
            <a:picLocks noChangeAspect="1"/>
          </p:cNvPicPr>
          <p:nvPr/>
        </p:nvPicPr>
        <p:blipFill>
          <a:blip r:embed="rId4"/>
          <a:stretch>
            <a:fillRect/>
          </a:stretch>
        </p:blipFill>
        <p:spPr>
          <a:xfrm>
            <a:off x="6999122" y="1284649"/>
            <a:ext cx="7296150" cy="2816661"/>
          </a:xfrm>
          <a:prstGeom prst="rect">
            <a:avLst/>
          </a:prstGeom>
        </p:spPr>
      </p:pic>
      <p:sp>
        <p:nvSpPr>
          <p:cNvPr id="8" name="Text Box 2">
            <a:extLst>
              <a:ext uri="{FF2B5EF4-FFF2-40B4-BE49-F238E27FC236}">
                <a16:creationId xmlns:a16="http://schemas.microsoft.com/office/drawing/2014/main" id="{C249530D-5417-5B27-30CD-584520844BAE}"/>
              </a:ext>
            </a:extLst>
          </p:cNvPr>
          <p:cNvSpPr txBox="1">
            <a:spLocks noChangeArrowheads="1"/>
          </p:cNvSpPr>
          <p:nvPr/>
        </p:nvSpPr>
        <p:spPr bwMode="auto">
          <a:xfrm>
            <a:off x="8698654" y="4207060"/>
            <a:ext cx="28975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Table </a:t>
            </a:r>
            <a:r>
              <a:rPr lang="en-US" altLang="en-US" sz="2400" i="1" dirty="0">
                <a:latin typeface="Times New Roman" panose="02020603050405020304" pitchFamily="18" charset="0"/>
              </a:rPr>
              <a:t>Types of service</a:t>
            </a:r>
          </a:p>
        </p:txBody>
      </p:sp>
      <p:pic>
        <p:nvPicPr>
          <p:cNvPr id="9" name="Picture 4">
            <a:extLst>
              <a:ext uri="{FF2B5EF4-FFF2-40B4-BE49-F238E27FC236}">
                <a16:creationId xmlns:a16="http://schemas.microsoft.com/office/drawing/2014/main" id="{8ACE8D88-644E-624F-8216-C252CEE19C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1531" y="4774475"/>
            <a:ext cx="3831771" cy="256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91212E47-866C-8B1A-650F-80A6B7C62B01}"/>
              </a:ext>
            </a:extLst>
          </p:cNvPr>
          <p:cNvSpPr txBox="1"/>
          <p:nvPr/>
        </p:nvSpPr>
        <p:spPr>
          <a:xfrm>
            <a:off x="4757057" y="139936"/>
            <a:ext cx="3222172" cy="707886"/>
          </a:xfrm>
          <a:prstGeom prst="rect">
            <a:avLst/>
          </a:prstGeom>
          <a:noFill/>
        </p:spPr>
        <p:txBody>
          <a:bodyPr wrap="square">
            <a:spAutoFit/>
          </a:bodyPr>
          <a:lstStyle/>
          <a:p>
            <a:r>
              <a:rPr lang="en-US" sz="4000" dirty="0">
                <a:solidFill>
                  <a:srgbClr val="3333B3"/>
                </a:solidFill>
                <a:latin typeface="Times New Roman" panose="02020603050405020304" pitchFamily="18" charset="0"/>
                <a:cs typeface="Times New Roman" panose="02020603050405020304" pitchFamily="18" charset="0"/>
              </a:rPr>
              <a:t>IPv4 Protocol</a:t>
            </a:r>
            <a:endParaRPr lang="en-IN" sz="4000" dirty="0"/>
          </a:p>
        </p:txBody>
      </p:sp>
    </p:spTree>
    <p:extLst>
      <p:ext uri="{BB962C8B-B14F-4D97-AF65-F5344CB8AC3E}">
        <p14:creationId xmlns:p14="http://schemas.microsoft.com/office/powerpoint/2010/main" val="179680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474CC92-8CCC-8704-8943-B61892B9B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55" y="492555"/>
            <a:ext cx="5889625" cy="405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D0EC550C-DDA6-B882-6D77-30165936E813}"/>
              </a:ext>
            </a:extLst>
          </p:cNvPr>
          <p:cNvPicPr>
            <a:picLocks noChangeAspect="1"/>
          </p:cNvPicPr>
          <p:nvPr/>
        </p:nvPicPr>
        <p:blipFill>
          <a:blip r:embed="rId3"/>
          <a:stretch>
            <a:fillRect/>
          </a:stretch>
        </p:blipFill>
        <p:spPr>
          <a:xfrm>
            <a:off x="6396551" y="698533"/>
            <a:ext cx="7773262" cy="4236655"/>
          </a:xfrm>
          <a:prstGeom prst="rect">
            <a:avLst/>
          </a:prstGeom>
        </p:spPr>
      </p:pic>
      <p:sp>
        <p:nvSpPr>
          <p:cNvPr id="7" name="TextBox 6">
            <a:extLst>
              <a:ext uri="{FF2B5EF4-FFF2-40B4-BE49-F238E27FC236}">
                <a16:creationId xmlns:a16="http://schemas.microsoft.com/office/drawing/2014/main" id="{1EC4F913-3BC2-E8F1-E028-17AD0D39BAFF}"/>
              </a:ext>
            </a:extLst>
          </p:cNvPr>
          <p:cNvSpPr txBox="1"/>
          <p:nvPr/>
        </p:nvSpPr>
        <p:spPr>
          <a:xfrm>
            <a:off x="4681764" y="-9353"/>
            <a:ext cx="3222172" cy="707886"/>
          </a:xfrm>
          <a:prstGeom prst="rect">
            <a:avLst/>
          </a:prstGeom>
          <a:noFill/>
        </p:spPr>
        <p:txBody>
          <a:bodyPr wrap="square">
            <a:spAutoFit/>
          </a:bodyPr>
          <a:lstStyle/>
          <a:p>
            <a:r>
              <a:rPr lang="en-US" sz="4000" dirty="0">
                <a:solidFill>
                  <a:srgbClr val="3333B3"/>
                </a:solidFill>
                <a:latin typeface="Times New Roman" panose="02020603050405020304" pitchFamily="18" charset="0"/>
                <a:cs typeface="Times New Roman" panose="02020603050405020304" pitchFamily="18" charset="0"/>
              </a:rPr>
              <a:t>IPv4 Protocol</a:t>
            </a:r>
            <a:endParaRPr lang="en-IN" sz="4000" dirty="0"/>
          </a:p>
        </p:txBody>
      </p:sp>
      <p:pic>
        <p:nvPicPr>
          <p:cNvPr id="3" name="Picture 6">
            <a:extLst>
              <a:ext uri="{FF2B5EF4-FFF2-40B4-BE49-F238E27FC236}">
                <a16:creationId xmlns:a16="http://schemas.microsoft.com/office/drawing/2014/main" id="{FE39D0E1-BD59-6CD9-86AD-00A60A07D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43" y="5290888"/>
            <a:ext cx="5954937" cy="168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3F1DDF30-B07F-7720-4FA4-08943A7BBFCA}"/>
              </a:ext>
            </a:extLst>
          </p:cNvPr>
          <p:cNvGrpSpPr/>
          <p:nvPr/>
        </p:nvGrpSpPr>
        <p:grpSpPr>
          <a:xfrm>
            <a:off x="6396551" y="5137183"/>
            <a:ext cx="7669087" cy="1857870"/>
            <a:chOff x="6385666" y="5230295"/>
            <a:chExt cx="7669087" cy="1857870"/>
          </a:xfrm>
        </p:grpSpPr>
        <p:pic>
          <p:nvPicPr>
            <p:cNvPr id="4" name="Picture 6">
              <a:extLst>
                <a:ext uri="{FF2B5EF4-FFF2-40B4-BE49-F238E27FC236}">
                  <a16:creationId xmlns:a16="http://schemas.microsoft.com/office/drawing/2014/main" id="{EE8C464B-2E35-68E2-14D8-3DEBAC6EA0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9819" y="5596048"/>
              <a:ext cx="4737781" cy="630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C78A0CA1-9EB6-321A-8818-2E9FF4338949}"/>
                </a:ext>
              </a:extLst>
            </p:cNvPr>
            <p:cNvSpPr>
              <a:spLocks noChangeArrowheads="1"/>
            </p:cNvSpPr>
            <p:nvPr/>
          </p:nvSpPr>
          <p:spPr bwMode="auto">
            <a:xfrm>
              <a:off x="6385666" y="6226391"/>
              <a:ext cx="766908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bit 0:</a:t>
              </a:r>
              <a:r>
                <a:rPr kumimoji="0" lang="en-US" altLang="en-US" sz="1600" b="0" i="0" u="none" strike="noStrike" cap="none" normalizeH="0" baseline="0" dirty="0">
                  <a:ln>
                    <a:noFill/>
                  </a:ln>
                  <a:solidFill>
                    <a:schemeClr val="tx1"/>
                  </a:solidFill>
                  <a:effectLst/>
                  <a:latin typeface="Arial" panose="020B0604020202020204" pitchFamily="34" charset="0"/>
                </a:rPr>
                <a:t> Reserved (always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bit 1 (DF - Don’t Fragment):</a:t>
              </a:r>
              <a:r>
                <a:rPr kumimoji="0" lang="en-US" altLang="en-US" sz="1600" b="0" i="0" u="none" strike="noStrike" cap="none" normalizeH="0" baseline="0" dirty="0">
                  <a:ln>
                    <a:noFill/>
                  </a:ln>
                  <a:solidFill>
                    <a:schemeClr val="tx1"/>
                  </a:solidFill>
                  <a:effectLst/>
                  <a:latin typeface="Arial" panose="020B0604020202020204" pitchFamily="34" charset="0"/>
                </a:rPr>
                <a:t> If 1 → packet cannot be fragmented.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bit 2 (MF - More Fragments):</a:t>
              </a:r>
              <a:r>
                <a:rPr kumimoji="0" lang="en-US" altLang="en-US" sz="1600" b="0" i="0" u="none" strike="noStrike" cap="none" normalizeH="0" baseline="0" dirty="0">
                  <a:ln>
                    <a:noFill/>
                  </a:ln>
                  <a:solidFill>
                    <a:schemeClr val="tx1"/>
                  </a:solidFill>
                  <a:effectLst/>
                  <a:latin typeface="Arial" panose="020B0604020202020204" pitchFamily="34" charset="0"/>
                </a:rPr>
                <a:t> If 1 → more fragments follow; if 0 → last fragment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9" name="TextBox 8">
              <a:extLst>
                <a:ext uri="{FF2B5EF4-FFF2-40B4-BE49-F238E27FC236}">
                  <a16:creationId xmlns:a16="http://schemas.microsoft.com/office/drawing/2014/main" id="{1318E13B-3F24-91F4-8967-D8DB7F65B810}"/>
                </a:ext>
              </a:extLst>
            </p:cNvPr>
            <p:cNvSpPr txBox="1"/>
            <p:nvPr/>
          </p:nvSpPr>
          <p:spPr>
            <a:xfrm>
              <a:off x="6385666" y="5230295"/>
              <a:ext cx="2899848" cy="369332"/>
            </a:xfrm>
            <a:prstGeom prst="rect">
              <a:avLst/>
            </a:prstGeom>
            <a:noFill/>
          </p:spPr>
          <p:txBody>
            <a:bodyPr wrap="square">
              <a:spAutoFit/>
            </a:bodyPr>
            <a:lstStyle/>
            <a:p>
              <a:r>
                <a:rPr lang="en-US" altLang="en-US" sz="1800" b="1" i="1" dirty="0">
                  <a:solidFill>
                    <a:srgbClr val="FF0000"/>
                  </a:solidFill>
                  <a:latin typeface="Times New Roman" panose="02020603050405020304" pitchFamily="18" charset="0"/>
                </a:rPr>
                <a:t>Flags used in fragmentation</a:t>
              </a:r>
              <a:endParaRPr lang="en-IN" b="1" dirty="0">
                <a:solidFill>
                  <a:srgbClr val="FF0000"/>
                </a:solidFill>
              </a:endParaRPr>
            </a:p>
          </p:txBody>
        </p:sp>
      </p:grpSp>
      <p:sp>
        <p:nvSpPr>
          <p:cNvPr id="12" name="TextBox 11">
            <a:extLst>
              <a:ext uri="{FF2B5EF4-FFF2-40B4-BE49-F238E27FC236}">
                <a16:creationId xmlns:a16="http://schemas.microsoft.com/office/drawing/2014/main" id="{2DEA0517-A5F5-DBD1-0EB1-485500B6174C}"/>
              </a:ext>
            </a:extLst>
          </p:cNvPr>
          <p:cNvSpPr txBox="1"/>
          <p:nvPr/>
        </p:nvSpPr>
        <p:spPr>
          <a:xfrm>
            <a:off x="1123500" y="4767851"/>
            <a:ext cx="3825421" cy="369332"/>
          </a:xfrm>
          <a:prstGeom prst="rect">
            <a:avLst/>
          </a:prstGeom>
          <a:noFill/>
        </p:spPr>
        <p:txBody>
          <a:bodyPr wrap="square">
            <a:spAutoFit/>
          </a:bodyPr>
          <a:lstStyle/>
          <a:p>
            <a:r>
              <a:rPr lang="en-US" altLang="en-US" sz="1800" i="1" dirty="0">
                <a:solidFill>
                  <a:srgbClr val="FF0000"/>
                </a:solidFill>
                <a:latin typeface="Times New Roman" panose="02020603050405020304" pitchFamily="18" charset="0"/>
              </a:rPr>
              <a:t>Protocol field and encapsulated data</a:t>
            </a:r>
            <a:endParaRPr lang="en-IN" dirty="0">
              <a:solidFill>
                <a:srgbClr val="FF0000"/>
              </a:solidFill>
            </a:endParaRPr>
          </a:p>
        </p:txBody>
      </p:sp>
    </p:spTree>
    <p:extLst>
      <p:ext uri="{BB962C8B-B14F-4D97-AF65-F5344CB8AC3E}">
        <p14:creationId xmlns:p14="http://schemas.microsoft.com/office/powerpoint/2010/main" val="3164439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1555ED-A51B-9F52-98B5-A266EDE5FACE}"/>
              </a:ext>
            </a:extLst>
          </p:cNvPr>
          <p:cNvSpPr txBox="1"/>
          <p:nvPr/>
        </p:nvSpPr>
        <p:spPr>
          <a:xfrm>
            <a:off x="164419" y="913967"/>
            <a:ext cx="13997895" cy="1200329"/>
          </a:xfrm>
          <a:prstGeom prst="rect">
            <a:avLst/>
          </a:prstGeom>
          <a:noFill/>
        </p:spPr>
        <p:txBody>
          <a:bodyPr wrap="square">
            <a:spAutoFit/>
          </a:bodyPr>
          <a:lstStyle/>
          <a:p>
            <a:pPr marL="342900" indent="-342900">
              <a:buFont typeface="Wingdings" panose="05000000000000000000" pitchFamily="2" charset="2"/>
              <a:buChar char="Ø"/>
            </a:pPr>
            <a:r>
              <a:rPr lang="en-US" sz="2400" i="0" dirty="0">
                <a:effectLst/>
                <a:latin typeface="Times New Roman" panose="02020603050405020304" pitchFamily="18" charset="0"/>
                <a:cs typeface="Times New Roman" panose="02020603050405020304" pitchFamily="18" charset="0"/>
              </a:rPr>
              <a:t>The Internet Protocol version 6 (IPv6) is the future addressing format.</a:t>
            </a:r>
          </a:p>
          <a:p>
            <a:pPr marL="342900" indent="-342900">
              <a:buFont typeface="Wingdings" panose="05000000000000000000" pitchFamily="2" charset="2"/>
              <a:buChar char="Ø"/>
            </a:pPr>
            <a:r>
              <a:rPr lang="en-US" sz="2400" i="0" dirty="0">
                <a:effectLst/>
                <a:latin typeface="Times New Roman" panose="02020603050405020304" pitchFamily="18" charset="0"/>
                <a:cs typeface="Times New Roman" panose="02020603050405020304" pitchFamily="18" charset="0"/>
              </a:rPr>
              <a:t>In recent time it has been noticed that the IPv4 addresses getting exhausted with a rising</a:t>
            </a:r>
            <a:br>
              <a:rPr lang="en-US" sz="2400" i="0" dirty="0">
                <a:effectLst/>
                <a:latin typeface="Times New Roman" panose="02020603050405020304" pitchFamily="18" charset="0"/>
                <a:cs typeface="Times New Roman" panose="02020603050405020304" pitchFamily="18" charset="0"/>
              </a:rPr>
            </a:br>
            <a:r>
              <a:rPr lang="en-US" sz="2400" i="0" dirty="0">
                <a:effectLst/>
                <a:latin typeface="Times New Roman" panose="02020603050405020304" pitchFamily="18" charset="0"/>
                <a:cs typeface="Times New Roman" panose="02020603050405020304" pitchFamily="18" charset="0"/>
              </a:rPr>
              <a:t>number of machines and the public IPs being structured up will go into version 6.</a:t>
            </a:r>
            <a:r>
              <a:rPr 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An IPv6 address is 128 bits.</a:t>
            </a:r>
          </a:p>
        </p:txBody>
      </p:sp>
      <p:pic>
        <p:nvPicPr>
          <p:cNvPr id="6" name="Picture 7">
            <a:extLst>
              <a:ext uri="{FF2B5EF4-FFF2-40B4-BE49-F238E27FC236}">
                <a16:creationId xmlns:a16="http://schemas.microsoft.com/office/drawing/2014/main" id="{2021BBDB-1A37-78DF-7920-9E119AE1A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4457" y="2399405"/>
            <a:ext cx="7989888"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3DE0E1E4-AD57-68D1-4906-E91D78D21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8227" y="4303285"/>
            <a:ext cx="6256049" cy="2815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5D37A8D9-6206-BCA3-FAD0-5AB997E00521}"/>
              </a:ext>
            </a:extLst>
          </p:cNvPr>
          <p:cNvSpPr txBox="1"/>
          <p:nvPr/>
        </p:nvSpPr>
        <p:spPr>
          <a:xfrm>
            <a:off x="4757057" y="139936"/>
            <a:ext cx="3222172" cy="707886"/>
          </a:xfrm>
          <a:prstGeom prst="rect">
            <a:avLst/>
          </a:prstGeom>
          <a:noFill/>
        </p:spPr>
        <p:txBody>
          <a:bodyPr wrap="square">
            <a:spAutoFit/>
          </a:bodyPr>
          <a:lstStyle/>
          <a:p>
            <a:r>
              <a:rPr lang="en-US" sz="4000" dirty="0">
                <a:solidFill>
                  <a:srgbClr val="3333B3"/>
                </a:solidFill>
                <a:latin typeface="Times New Roman" panose="02020603050405020304" pitchFamily="18" charset="0"/>
                <a:cs typeface="Times New Roman" panose="02020603050405020304" pitchFamily="18" charset="0"/>
              </a:rPr>
              <a:t>IPv6 Protocol</a:t>
            </a:r>
            <a:endParaRPr lang="en-IN" sz="4000" dirty="0"/>
          </a:p>
        </p:txBody>
      </p:sp>
      <p:sp>
        <p:nvSpPr>
          <p:cNvPr id="4" name="Rectangle 1">
            <a:extLst>
              <a:ext uri="{FF2B5EF4-FFF2-40B4-BE49-F238E27FC236}">
                <a16:creationId xmlns:a16="http://schemas.microsoft.com/office/drawing/2014/main" id="{BF66CC4B-EAD1-8B5F-4839-E4E159B53E3C}"/>
              </a:ext>
            </a:extLst>
          </p:cNvPr>
          <p:cNvSpPr>
            <a:spLocks noChangeArrowheads="1"/>
          </p:cNvSpPr>
          <p:nvPr/>
        </p:nvSpPr>
        <p:spPr bwMode="auto">
          <a:xfrm>
            <a:off x="250372" y="4944369"/>
            <a:ext cx="726077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Length:</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128 bits (compared to 32 bits in IPv4)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Representation:</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Written as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groups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 bits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16-bit is represented as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hexadecimal digits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Groups are separated by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colons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2302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371C94-7D01-993B-AD91-B90D3950D963}"/>
              </a:ext>
            </a:extLst>
          </p:cNvPr>
          <p:cNvSpPr txBox="1"/>
          <p:nvPr/>
        </p:nvSpPr>
        <p:spPr>
          <a:xfrm>
            <a:off x="197758" y="768323"/>
            <a:ext cx="7908472" cy="3046988"/>
          </a:xfrm>
          <a:prstGeom prst="rect">
            <a:avLst/>
          </a:prstGeom>
          <a:noFill/>
        </p:spPr>
        <p:txBody>
          <a:bodyPr wrap="square">
            <a:spAutoFit/>
          </a:bodyPr>
          <a:lstStyle/>
          <a:p>
            <a:pPr algn="l">
              <a:buNone/>
            </a:pPr>
            <a:r>
              <a:rPr lang="en-US" sz="2400" b="1" i="0" dirty="0">
                <a:solidFill>
                  <a:srgbClr val="FF0000"/>
                </a:solidFill>
                <a:effectLst/>
                <a:latin typeface="Times New Roman" panose="02020603050405020304" pitchFamily="18" charset="0"/>
                <a:cs typeface="Times New Roman" panose="02020603050405020304" pitchFamily="18" charset="0"/>
              </a:rPr>
              <a:t>Version (4-bits)</a:t>
            </a:r>
          </a:p>
          <a:p>
            <a:pPr algn="l">
              <a:buNone/>
            </a:pPr>
            <a:r>
              <a:rPr lang="en-US" sz="2400" b="0" i="0" dirty="0">
                <a:effectLst/>
                <a:latin typeface="Times New Roman" panose="02020603050405020304" pitchFamily="18" charset="0"/>
                <a:cs typeface="Times New Roman" panose="02020603050405020304" pitchFamily="18" charset="0"/>
              </a:rPr>
              <a:t>It shows the version of the internet protocol we used, i.e. 0110</a:t>
            </a:r>
          </a:p>
          <a:p>
            <a:pPr algn="l">
              <a:buNone/>
            </a:pPr>
            <a:r>
              <a:rPr lang="en-US" sz="2400" b="1" i="0" dirty="0">
                <a:solidFill>
                  <a:srgbClr val="FF0000"/>
                </a:solidFill>
                <a:effectLst/>
                <a:latin typeface="Times New Roman" panose="02020603050405020304" pitchFamily="18" charset="0"/>
                <a:cs typeface="Times New Roman" panose="02020603050405020304" pitchFamily="18" charset="0"/>
              </a:rPr>
              <a:t>Traffic Class (8-bits)</a:t>
            </a:r>
          </a:p>
          <a:p>
            <a:pPr algn="l">
              <a:buNone/>
            </a:pPr>
            <a:r>
              <a:rPr lang="en-US" sz="2400" b="0" i="0" dirty="0">
                <a:effectLst/>
                <a:latin typeface="Times New Roman" panose="02020603050405020304" pitchFamily="18" charset="0"/>
                <a:cs typeface="Times New Roman" panose="02020603050405020304" pitchFamily="18" charset="0"/>
              </a:rPr>
              <a:t>This is an 8-bit field in which 8 bits are divided into </a:t>
            </a:r>
            <a:r>
              <a:rPr lang="en-US" sz="2400" b="1" i="0" dirty="0">
                <a:effectLst/>
                <a:latin typeface="Times New Roman" panose="02020603050405020304" pitchFamily="18" charset="0"/>
                <a:cs typeface="Times New Roman" panose="02020603050405020304" pitchFamily="18" charset="0"/>
              </a:rPr>
              <a:t>two</a:t>
            </a:r>
            <a:r>
              <a:rPr lang="en-US" sz="2400" b="0" i="0" dirty="0">
                <a:effectLst/>
                <a:latin typeface="Times New Roman" panose="02020603050405020304" pitchFamily="18" charset="0"/>
                <a:cs typeface="Times New Roman" panose="02020603050405020304" pitchFamily="18" charset="0"/>
              </a:rPr>
              <a:t> parts. The </a:t>
            </a:r>
            <a:r>
              <a:rPr lang="en-US" sz="2400" b="0" i="0" dirty="0">
                <a:solidFill>
                  <a:srgbClr val="FF0000"/>
                </a:solidFill>
                <a:effectLst/>
                <a:latin typeface="Times New Roman" panose="02020603050405020304" pitchFamily="18" charset="0"/>
                <a:cs typeface="Times New Roman" panose="02020603050405020304" pitchFamily="18" charset="0"/>
              </a:rPr>
              <a:t>most significant 6-bit </a:t>
            </a:r>
            <a:r>
              <a:rPr lang="en-US" sz="2400" b="0" i="0" dirty="0">
                <a:effectLst/>
                <a:latin typeface="Times New Roman" panose="02020603050405020304" pitchFamily="18" charset="0"/>
                <a:cs typeface="Times New Roman" panose="02020603050405020304" pitchFamily="18" charset="0"/>
              </a:rPr>
              <a:t>is for the type of </a:t>
            </a:r>
            <a:r>
              <a:rPr lang="en-US" sz="2400" b="0" i="0" dirty="0">
                <a:solidFill>
                  <a:srgbClr val="FF0000"/>
                </a:solidFill>
                <a:effectLst/>
                <a:latin typeface="Times New Roman" panose="02020603050405020304" pitchFamily="18" charset="0"/>
                <a:cs typeface="Times New Roman" panose="02020603050405020304" pitchFamily="18" charset="0"/>
              </a:rPr>
              <a:t>service</a:t>
            </a:r>
            <a:r>
              <a:rPr lang="en-US" sz="2400" b="0" i="0" dirty="0">
                <a:effectLst/>
                <a:latin typeface="Times New Roman" panose="02020603050405020304" pitchFamily="18" charset="0"/>
                <a:cs typeface="Times New Roman" panose="02020603050405020304" pitchFamily="18" charset="0"/>
              </a:rPr>
              <a:t> so that the router will get to know about what services need to be provided to the given packet.</a:t>
            </a:r>
            <a:r>
              <a:rPr lang="en-US" sz="2400" dirty="0">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And for </a:t>
            </a:r>
            <a:r>
              <a:rPr lang="en-US" sz="2400" i="0" dirty="0">
                <a:solidFill>
                  <a:srgbClr val="FF0000"/>
                </a:solidFill>
                <a:effectLst/>
                <a:latin typeface="Times New Roman" panose="02020603050405020304" pitchFamily="18" charset="0"/>
                <a:cs typeface="Times New Roman" panose="02020603050405020304" pitchFamily="18" charset="0"/>
              </a:rPr>
              <a:t>Explicit Congestion Notification </a:t>
            </a:r>
            <a:r>
              <a:rPr lang="en-US" sz="2400" b="0" i="0" dirty="0">
                <a:effectLst/>
                <a:latin typeface="Times New Roman" panose="02020603050405020304" pitchFamily="18" charset="0"/>
                <a:cs typeface="Times New Roman" panose="02020603050405020304" pitchFamily="18" charset="0"/>
              </a:rPr>
              <a:t>(ECN), the </a:t>
            </a:r>
            <a:r>
              <a:rPr lang="en-US" sz="2400" b="0" i="0" dirty="0">
                <a:solidFill>
                  <a:srgbClr val="FF0000"/>
                </a:solidFill>
                <a:effectLst/>
                <a:latin typeface="Times New Roman" panose="02020603050405020304" pitchFamily="18" charset="0"/>
                <a:cs typeface="Times New Roman" panose="02020603050405020304" pitchFamily="18" charset="0"/>
              </a:rPr>
              <a:t>least significant 2-bit </a:t>
            </a:r>
            <a:r>
              <a:rPr lang="en-US" sz="2400" b="0" i="0" dirty="0">
                <a:effectLst/>
                <a:latin typeface="Times New Roman" panose="02020603050405020304" pitchFamily="18" charset="0"/>
                <a:cs typeface="Times New Roman" panose="02020603050405020304" pitchFamily="18" charset="0"/>
              </a:rPr>
              <a:t>is used.</a:t>
            </a:r>
          </a:p>
        </p:txBody>
      </p:sp>
      <p:sp>
        <p:nvSpPr>
          <p:cNvPr id="11" name="TextBox 10">
            <a:extLst>
              <a:ext uri="{FF2B5EF4-FFF2-40B4-BE49-F238E27FC236}">
                <a16:creationId xmlns:a16="http://schemas.microsoft.com/office/drawing/2014/main" id="{85121668-48AE-FAD3-B85D-15939283FC6B}"/>
              </a:ext>
            </a:extLst>
          </p:cNvPr>
          <p:cNvSpPr txBox="1"/>
          <p:nvPr/>
        </p:nvSpPr>
        <p:spPr>
          <a:xfrm>
            <a:off x="166009" y="4061437"/>
            <a:ext cx="7535635" cy="3046988"/>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Flow Label (20-bits)</a:t>
            </a:r>
          </a:p>
          <a:p>
            <a:r>
              <a:rPr lang="en-US" sz="2400" dirty="0">
                <a:latin typeface="Times New Roman" panose="02020603050405020304" pitchFamily="18" charset="0"/>
                <a:cs typeface="Times New Roman" panose="02020603050405020304" pitchFamily="18" charset="0"/>
              </a:rPr>
              <a:t>This 20-bit is required for maintaining the sequential flow of packets related to a particular communication.</a:t>
            </a:r>
          </a:p>
          <a:p>
            <a:r>
              <a:rPr lang="en-US" sz="2400" b="1" i="0" dirty="0">
                <a:solidFill>
                  <a:srgbClr val="FF0000"/>
                </a:solidFill>
                <a:effectLst/>
                <a:latin typeface="Times New Roman" panose="02020603050405020304" pitchFamily="18" charset="0"/>
                <a:cs typeface="Times New Roman" panose="02020603050405020304" pitchFamily="18" charset="0"/>
              </a:rPr>
              <a:t>Payload Length (16-bits)</a:t>
            </a:r>
          </a:p>
          <a:p>
            <a:pPr algn="l">
              <a:buNone/>
            </a:pPr>
            <a:r>
              <a:rPr lang="en-US" sz="2400" b="0" i="0" dirty="0">
                <a:effectLst/>
                <a:latin typeface="Times New Roman" panose="02020603050405020304" pitchFamily="18" charset="0"/>
                <a:cs typeface="Times New Roman" panose="02020603050405020304" pitchFamily="18" charset="0"/>
              </a:rPr>
              <a:t>This field is used to help the router know how much information is stored in the payload of a particular packet.</a:t>
            </a:r>
          </a:p>
          <a:p>
            <a:pPr algn="l">
              <a:buNone/>
            </a:pPr>
            <a:r>
              <a:rPr lang="en-US" sz="2400" b="1" i="0" dirty="0">
                <a:solidFill>
                  <a:srgbClr val="FF0000"/>
                </a:solidFill>
                <a:effectLst/>
                <a:latin typeface="Times New Roman" panose="02020603050405020304" pitchFamily="18" charset="0"/>
                <a:cs typeface="Times New Roman" panose="02020603050405020304" pitchFamily="18" charset="0"/>
              </a:rPr>
              <a:t>Next Header (8-bits)</a:t>
            </a:r>
          </a:p>
          <a:p>
            <a:pPr algn="l">
              <a:buNone/>
            </a:pPr>
            <a:r>
              <a:rPr lang="en-US" sz="2400" b="0" i="0" dirty="0">
                <a:effectLst/>
                <a:latin typeface="Times New Roman" panose="02020603050405020304" pitchFamily="18" charset="0"/>
                <a:cs typeface="Times New Roman" panose="02020603050405020304" pitchFamily="18" charset="0"/>
              </a:rPr>
              <a:t>This field is used to represent the type of extension header </a:t>
            </a:r>
          </a:p>
        </p:txBody>
      </p:sp>
      <p:sp>
        <p:nvSpPr>
          <p:cNvPr id="15" name="TextBox 14">
            <a:extLst>
              <a:ext uri="{FF2B5EF4-FFF2-40B4-BE49-F238E27FC236}">
                <a16:creationId xmlns:a16="http://schemas.microsoft.com/office/drawing/2014/main" id="{8477F538-8417-624E-B44A-2E4E63E7DED8}"/>
              </a:ext>
            </a:extLst>
          </p:cNvPr>
          <p:cNvSpPr txBox="1"/>
          <p:nvPr/>
        </p:nvSpPr>
        <p:spPr>
          <a:xfrm>
            <a:off x="7701644" y="3671887"/>
            <a:ext cx="6490153" cy="3539430"/>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Hop Limit (8-bits)</a:t>
            </a:r>
          </a:p>
          <a:p>
            <a:pPr algn="just"/>
            <a:r>
              <a:rPr lang="en-US" sz="2400" dirty="0">
                <a:latin typeface="Times New Roman" panose="02020603050405020304" pitchFamily="18" charset="0"/>
                <a:cs typeface="Times New Roman" panose="02020603050405020304" pitchFamily="18" charset="0"/>
              </a:rPr>
              <a:t>Hop limit is a field in a header that </a:t>
            </a:r>
            <a:r>
              <a:rPr lang="en-US" sz="2400" dirty="0">
                <a:solidFill>
                  <a:srgbClr val="FF0000"/>
                </a:solidFill>
                <a:latin typeface="Times New Roman" panose="02020603050405020304" pitchFamily="18" charset="0"/>
                <a:cs typeface="Times New Roman" panose="02020603050405020304" pitchFamily="18" charset="0"/>
              </a:rPr>
              <a:t>stops</a:t>
            </a:r>
            <a:r>
              <a:rPr lang="en-US" sz="2400" dirty="0">
                <a:latin typeface="Times New Roman" panose="02020603050405020304" pitchFamily="18" charset="0"/>
                <a:cs typeface="Times New Roman" panose="02020603050405020304" pitchFamily="18" charset="0"/>
              </a:rPr>
              <a:t> the header from going into an </a:t>
            </a:r>
            <a:r>
              <a:rPr lang="en-US" sz="2400" dirty="0">
                <a:solidFill>
                  <a:srgbClr val="FF0000"/>
                </a:solidFill>
                <a:latin typeface="Times New Roman" panose="02020603050405020304" pitchFamily="18" charset="0"/>
                <a:cs typeface="Times New Roman" panose="02020603050405020304" pitchFamily="18" charset="0"/>
              </a:rPr>
              <a:t>infinite loop </a:t>
            </a:r>
            <a:r>
              <a:rPr lang="en-US" sz="2400" dirty="0">
                <a:latin typeface="Times New Roman" panose="02020603050405020304" pitchFamily="18" charset="0"/>
                <a:cs typeface="Times New Roman" panose="02020603050405020304" pitchFamily="18" charset="0"/>
              </a:rPr>
              <a:t>in the network. </a:t>
            </a:r>
          </a:p>
          <a:p>
            <a:pPr algn="just">
              <a:buNone/>
            </a:pPr>
            <a:r>
              <a:rPr lang="en-US" sz="2400" b="1" i="0" dirty="0">
                <a:solidFill>
                  <a:srgbClr val="FF0000"/>
                </a:solidFill>
                <a:effectLst/>
                <a:latin typeface="Times New Roman" panose="02020603050405020304" pitchFamily="18" charset="0"/>
                <a:cs typeface="Times New Roman" panose="02020603050405020304" pitchFamily="18" charset="0"/>
              </a:rPr>
              <a:t>Source Address (128-bits)</a:t>
            </a:r>
          </a:p>
          <a:p>
            <a:pPr algn="just">
              <a:buNone/>
            </a:pPr>
            <a:r>
              <a:rPr lang="en-US" sz="2400" b="0" i="0" dirty="0">
                <a:effectLst/>
                <a:latin typeface="Times New Roman" panose="02020603050405020304" pitchFamily="18" charset="0"/>
                <a:cs typeface="Times New Roman" panose="02020603050405020304" pitchFamily="18" charset="0"/>
              </a:rPr>
              <a:t>This field provides the address from where the packet originates.</a:t>
            </a:r>
          </a:p>
          <a:p>
            <a:pPr algn="just">
              <a:buNone/>
            </a:pPr>
            <a:r>
              <a:rPr lang="en-US" sz="2400" b="1" i="0" dirty="0">
                <a:solidFill>
                  <a:srgbClr val="FF0000"/>
                </a:solidFill>
                <a:effectLst/>
                <a:latin typeface="Times New Roman" panose="02020603050405020304" pitchFamily="18" charset="0"/>
                <a:cs typeface="Times New Roman" panose="02020603050405020304" pitchFamily="18" charset="0"/>
              </a:rPr>
              <a:t>Destination Address (128-bits)</a:t>
            </a:r>
          </a:p>
          <a:p>
            <a:pPr algn="just">
              <a:buNone/>
            </a:pPr>
            <a:r>
              <a:rPr lang="en-US" sz="2400" b="0" i="0" dirty="0">
                <a:effectLst/>
                <a:latin typeface="Times New Roman" panose="02020603050405020304" pitchFamily="18" charset="0"/>
                <a:cs typeface="Times New Roman" panose="02020603050405020304" pitchFamily="18" charset="0"/>
              </a:rPr>
              <a:t>The destination address is the address of the packet's intended recipient.</a:t>
            </a:r>
          </a:p>
        </p:txBody>
      </p:sp>
      <p:sp>
        <p:nvSpPr>
          <p:cNvPr id="16" name="TextBox 15">
            <a:extLst>
              <a:ext uri="{FF2B5EF4-FFF2-40B4-BE49-F238E27FC236}">
                <a16:creationId xmlns:a16="http://schemas.microsoft.com/office/drawing/2014/main" id="{417DB547-C7E7-B158-581F-4CC9B44D7723}"/>
              </a:ext>
            </a:extLst>
          </p:cNvPr>
          <p:cNvSpPr txBox="1"/>
          <p:nvPr/>
        </p:nvSpPr>
        <p:spPr>
          <a:xfrm>
            <a:off x="4757057" y="139936"/>
            <a:ext cx="3222172" cy="707886"/>
          </a:xfrm>
          <a:prstGeom prst="rect">
            <a:avLst/>
          </a:prstGeom>
          <a:noFill/>
        </p:spPr>
        <p:txBody>
          <a:bodyPr wrap="square">
            <a:spAutoFit/>
          </a:bodyPr>
          <a:lstStyle/>
          <a:p>
            <a:r>
              <a:rPr lang="en-US" sz="4000" dirty="0">
                <a:solidFill>
                  <a:srgbClr val="3333B3"/>
                </a:solidFill>
                <a:latin typeface="Times New Roman" panose="02020603050405020304" pitchFamily="18" charset="0"/>
                <a:cs typeface="Times New Roman" panose="02020603050405020304" pitchFamily="18" charset="0"/>
              </a:rPr>
              <a:t>IPv6 Protocol</a:t>
            </a:r>
            <a:endParaRPr lang="en-IN" sz="4000" dirty="0"/>
          </a:p>
        </p:txBody>
      </p:sp>
      <p:pic>
        <p:nvPicPr>
          <p:cNvPr id="3" name="Picture 2">
            <a:extLst>
              <a:ext uri="{FF2B5EF4-FFF2-40B4-BE49-F238E27FC236}">
                <a16:creationId xmlns:a16="http://schemas.microsoft.com/office/drawing/2014/main" id="{965014CC-AF09-205F-F6BC-B12FAA27F842}"/>
              </a:ext>
            </a:extLst>
          </p:cNvPr>
          <p:cNvPicPr>
            <a:picLocks noChangeAspect="1"/>
          </p:cNvPicPr>
          <p:nvPr/>
        </p:nvPicPr>
        <p:blipFill>
          <a:blip r:embed="rId2"/>
          <a:stretch>
            <a:fillRect/>
          </a:stretch>
        </p:blipFill>
        <p:spPr>
          <a:xfrm>
            <a:off x="7931752" y="228432"/>
            <a:ext cx="6260045" cy="3443455"/>
          </a:xfrm>
          <a:prstGeom prst="rect">
            <a:avLst/>
          </a:prstGeom>
        </p:spPr>
      </p:pic>
    </p:spTree>
    <p:extLst>
      <p:ext uri="{BB962C8B-B14F-4D97-AF65-F5344CB8AC3E}">
        <p14:creationId xmlns:p14="http://schemas.microsoft.com/office/powerpoint/2010/main" val="122501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8B744E-314D-6B7F-C0DF-359C8C44507A}"/>
              </a:ext>
            </a:extLst>
          </p:cNvPr>
          <p:cNvSpPr txBox="1"/>
          <p:nvPr/>
        </p:nvSpPr>
        <p:spPr>
          <a:xfrm>
            <a:off x="429984" y="906005"/>
            <a:ext cx="4838701" cy="2462213"/>
          </a:xfrm>
          <a:prstGeom prst="rect">
            <a:avLst/>
          </a:prstGeom>
          <a:noFill/>
        </p:spPr>
        <p:txBody>
          <a:bodyPr wrap="square">
            <a:spAutoFit/>
          </a:bodyPr>
          <a:lstStyle/>
          <a:p>
            <a:pPr algn="l">
              <a:spcAft>
                <a:spcPts val="1200"/>
              </a:spcAft>
              <a:buNone/>
            </a:pPr>
            <a:r>
              <a:rPr lang="en-US" sz="2400" b="1" i="0" dirty="0">
                <a:solidFill>
                  <a:srgbClr val="FF0000"/>
                </a:solidFill>
                <a:effectLst/>
                <a:latin typeface="Times New Roman" panose="02020603050405020304" pitchFamily="18" charset="0"/>
                <a:cs typeface="Times New Roman" panose="02020603050405020304" pitchFamily="18" charset="0"/>
              </a:rPr>
              <a:t> Enhanced Security</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spcAft>
                <a:spcPts val="1200"/>
              </a:spcAft>
              <a:buNone/>
            </a:pPr>
            <a:r>
              <a:rPr lang="en-US" sz="2400" b="0" i="0" dirty="0">
                <a:solidFill>
                  <a:srgbClr val="303B45"/>
                </a:solidFill>
                <a:effectLst/>
                <a:latin typeface="Times New Roman" panose="02020603050405020304" pitchFamily="18" charset="0"/>
                <a:cs typeface="Times New Roman" panose="02020603050405020304" pitchFamily="18" charset="0"/>
              </a:rPr>
              <a:t>IPv4 didn’t have any built-in security features. But, IPv6 comes with built in support for </a:t>
            </a:r>
            <a:r>
              <a:rPr lang="en-US" sz="2400" b="0" i="0" u="none" strike="noStrike" dirty="0">
                <a:solidFill>
                  <a:srgbClr val="3D7FFC"/>
                </a:solidFill>
                <a:effectLst/>
                <a:latin typeface="Times New Roman" panose="02020603050405020304" pitchFamily="18" charset="0"/>
                <a:cs typeface="Times New Roman" panose="02020603050405020304" pitchFamily="18" charset="0"/>
                <a:hlinkClick r:id="rId2"/>
              </a:rPr>
              <a:t>IPsec</a:t>
            </a:r>
            <a:r>
              <a:rPr lang="en-US" sz="2400" b="0" i="0" dirty="0">
                <a:solidFill>
                  <a:srgbClr val="303B45"/>
                </a:solidFill>
                <a:effectLst/>
                <a:latin typeface="Times New Roman" panose="02020603050405020304" pitchFamily="18" charset="0"/>
                <a:cs typeface="Times New Roman" panose="02020603050405020304" pitchFamily="18" charset="0"/>
              </a:rPr>
              <a:t>, enhancing privacy, data integrity, and secure authentication across the internet.</a:t>
            </a:r>
          </a:p>
        </p:txBody>
      </p:sp>
      <p:sp>
        <p:nvSpPr>
          <p:cNvPr id="5" name="TextBox 4">
            <a:extLst>
              <a:ext uri="{FF2B5EF4-FFF2-40B4-BE49-F238E27FC236}">
                <a16:creationId xmlns:a16="http://schemas.microsoft.com/office/drawing/2014/main" id="{32238AAE-39FF-B12A-5FDA-E1554AF15C69}"/>
              </a:ext>
            </a:extLst>
          </p:cNvPr>
          <p:cNvSpPr txBox="1"/>
          <p:nvPr/>
        </p:nvSpPr>
        <p:spPr>
          <a:xfrm>
            <a:off x="3642406" y="198119"/>
            <a:ext cx="4989965" cy="707886"/>
          </a:xfrm>
          <a:prstGeom prst="rect">
            <a:avLst/>
          </a:prstGeom>
          <a:noFill/>
        </p:spPr>
        <p:txBody>
          <a:bodyPr wrap="square">
            <a:spAutoFit/>
          </a:bodyPr>
          <a:lstStyle/>
          <a:p>
            <a:r>
              <a:rPr lang="en-US" sz="4000" dirty="0">
                <a:solidFill>
                  <a:srgbClr val="3333B3"/>
                </a:solidFill>
                <a:latin typeface="Times New Roman" panose="02020603050405020304" pitchFamily="18" charset="0"/>
                <a:cs typeface="Times New Roman" panose="02020603050405020304" pitchFamily="18" charset="0"/>
              </a:rPr>
              <a:t>IPv6 vs IPv4 Protocol</a:t>
            </a:r>
            <a:endParaRPr lang="en-IN" sz="4000" dirty="0"/>
          </a:p>
        </p:txBody>
      </p:sp>
      <p:pic>
        <p:nvPicPr>
          <p:cNvPr id="7" name="Picture 6">
            <a:extLst>
              <a:ext uri="{FF2B5EF4-FFF2-40B4-BE49-F238E27FC236}">
                <a16:creationId xmlns:a16="http://schemas.microsoft.com/office/drawing/2014/main" id="{19B16C62-C74A-312B-8DD7-CDBC769D53B7}"/>
              </a:ext>
            </a:extLst>
          </p:cNvPr>
          <p:cNvPicPr>
            <a:picLocks noChangeAspect="1"/>
          </p:cNvPicPr>
          <p:nvPr/>
        </p:nvPicPr>
        <p:blipFill>
          <a:blip r:embed="rId3"/>
          <a:stretch>
            <a:fillRect/>
          </a:stretch>
        </p:blipFill>
        <p:spPr>
          <a:xfrm>
            <a:off x="5379636" y="770102"/>
            <a:ext cx="8964561" cy="6109098"/>
          </a:xfrm>
          <a:prstGeom prst="rect">
            <a:avLst/>
          </a:prstGeom>
        </p:spPr>
      </p:pic>
      <p:sp>
        <p:nvSpPr>
          <p:cNvPr id="9" name="TextBox 8">
            <a:extLst>
              <a:ext uri="{FF2B5EF4-FFF2-40B4-BE49-F238E27FC236}">
                <a16:creationId xmlns:a16="http://schemas.microsoft.com/office/drawing/2014/main" id="{1581BE56-662D-F425-4C9D-3A1DCF2889F0}"/>
              </a:ext>
            </a:extLst>
          </p:cNvPr>
          <p:cNvSpPr txBox="1"/>
          <p:nvPr/>
        </p:nvSpPr>
        <p:spPr>
          <a:xfrm>
            <a:off x="334195" y="3521587"/>
            <a:ext cx="4989965" cy="3624069"/>
          </a:xfrm>
          <a:prstGeom prst="rect">
            <a:avLst/>
          </a:prstGeom>
          <a:noFill/>
        </p:spPr>
        <p:txBody>
          <a:bodyPr wrap="square">
            <a:spAutoFit/>
          </a:bodyPr>
          <a:lstStyle/>
          <a:p>
            <a:pPr algn="l">
              <a:spcAft>
                <a:spcPts val="1200"/>
              </a:spcAft>
              <a:buNone/>
            </a:pPr>
            <a:r>
              <a:rPr lang="en-US" sz="2400" b="1" i="0" dirty="0">
                <a:solidFill>
                  <a:srgbClr val="FF0000"/>
                </a:solidFill>
                <a:effectLst/>
                <a:latin typeface="Times New Roman" panose="02020603050405020304" pitchFamily="18" charset="0"/>
                <a:cs typeface="Times New Roman" panose="02020603050405020304" pitchFamily="18" charset="0"/>
              </a:rPr>
              <a:t>Improved Network Efficiency and Performance</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spcBef>
                <a:spcPts val="1050"/>
              </a:spcBef>
              <a:spcAft>
                <a:spcPts val="1050"/>
              </a:spcAft>
              <a:buFont typeface="Arial" panose="020B0604020202020204" pitchFamily="34" charset="0"/>
              <a:buChar char="•"/>
            </a:pPr>
            <a:r>
              <a:rPr lang="en-US" sz="2400" b="0" i="0" dirty="0">
                <a:solidFill>
                  <a:srgbClr val="303B45"/>
                </a:solidFill>
                <a:effectLst/>
                <a:latin typeface="Times New Roman" panose="02020603050405020304" pitchFamily="18" charset="0"/>
                <a:cs typeface="Times New Roman" panose="02020603050405020304" pitchFamily="18" charset="0"/>
              </a:rPr>
              <a:t>Simplified packet headers for more efficient routing and processing.</a:t>
            </a:r>
          </a:p>
          <a:p>
            <a:pPr algn="l">
              <a:spcBef>
                <a:spcPts val="1050"/>
              </a:spcBef>
              <a:spcAft>
                <a:spcPts val="1050"/>
              </a:spcAft>
              <a:buFont typeface="Arial" panose="020B0604020202020204" pitchFamily="34" charset="0"/>
              <a:buChar char="•"/>
            </a:pPr>
            <a:r>
              <a:rPr lang="en-US" sz="2400" b="0" i="0" dirty="0">
                <a:solidFill>
                  <a:srgbClr val="303B45"/>
                </a:solidFill>
                <a:effectLst/>
                <a:latin typeface="Times New Roman" panose="02020603050405020304" pitchFamily="18" charset="0"/>
                <a:cs typeface="Times New Roman" panose="02020603050405020304" pitchFamily="18" charset="0"/>
              </a:rPr>
              <a:t>Eliminates the need for NAT (Network Address Translation), which can complicate communications and reduce performance</a:t>
            </a:r>
            <a:r>
              <a:rPr lang="en-US" b="0" i="0" dirty="0">
                <a:solidFill>
                  <a:srgbClr val="303B45"/>
                </a:solidFill>
                <a:effectLst/>
                <a:latin typeface="Gibson"/>
              </a:rPr>
              <a:t>.</a:t>
            </a:r>
          </a:p>
        </p:txBody>
      </p:sp>
    </p:spTree>
    <p:extLst>
      <p:ext uri="{BB962C8B-B14F-4D97-AF65-F5344CB8AC3E}">
        <p14:creationId xmlns:p14="http://schemas.microsoft.com/office/powerpoint/2010/main" val="3391017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544105" y="143786"/>
            <a:ext cx="4349524" cy="858149"/>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IPv4 Addresses</a:t>
            </a:r>
            <a:endParaRPr lang="en-IN" dirty="0"/>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690562" y="1183905"/>
            <a:ext cx="12219455" cy="1689923"/>
          </a:xfrm>
        </p:spPr>
        <p:txBody>
          <a:bodyPr>
            <a:normAutofit/>
          </a:bodyPr>
          <a:lstStyle/>
          <a:p>
            <a:r>
              <a:rPr lang="en-US" altLang="en-US" i="1" dirty="0">
                <a:effectLst>
                  <a:outerShdw blurRad="38100" dist="38100" dir="2700000" algn="tl">
                    <a:srgbClr val="C0C0C0"/>
                  </a:outerShdw>
                </a:effectLst>
                <a:latin typeface="Times New Roman" panose="02020603050405020304" pitchFamily="18" charset="0"/>
              </a:rPr>
              <a:t>An </a:t>
            </a:r>
            <a:r>
              <a:rPr lang="en-US" altLang="en-US" i="1" dirty="0">
                <a:solidFill>
                  <a:schemeClr val="hlink"/>
                </a:solidFill>
                <a:effectLst>
                  <a:outerShdw blurRad="38100" dist="38100" dir="2700000" algn="tl">
                    <a:srgbClr val="C0C0C0"/>
                  </a:outerShdw>
                </a:effectLst>
                <a:latin typeface="Times New Roman" panose="02020603050405020304" pitchFamily="18" charset="0"/>
              </a:rPr>
              <a:t>IPv4 address</a:t>
            </a:r>
            <a:r>
              <a:rPr lang="en-US" altLang="en-US" i="1" dirty="0">
                <a:effectLst>
                  <a:outerShdw blurRad="38100" dist="38100" dir="2700000" algn="tl">
                    <a:srgbClr val="C0C0C0"/>
                  </a:outerShdw>
                </a:effectLst>
                <a:latin typeface="Times New Roman" panose="02020603050405020304" pitchFamily="18" charset="0"/>
              </a:rPr>
              <a:t> is a </a:t>
            </a:r>
            <a:r>
              <a:rPr lang="en-US" altLang="en-US" i="1" dirty="0">
                <a:solidFill>
                  <a:schemeClr val="folHlink"/>
                </a:solidFill>
                <a:effectLst>
                  <a:outerShdw blurRad="38100" dist="38100" dir="2700000" algn="tl">
                    <a:srgbClr val="C0C0C0"/>
                  </a:outerShdw>
                </a:effectLst>
                <a:latin typeface="Times New Roman" panose="02020603050405020304" pitchFamily="18" charset="0"/>
              </a:rPr>
              <a:t>32-bit</a:t>
            </a:r>
            <a:r>
              <a:rPr lang="en-US" altLang="en-US" i="1" dirty="0">
                <a:effectLst>
                  <a:outerShdw blurRad="38100" dist="38100" dir="2700000" algn="tl">
                    <a:srgbClr val="C0C0C0"/>
                  </a:outerShdw>
                </a:effectLst>
                <a:latin typeface="Times New Roman" panose="02020603050405020304" pitchFamily="18" charset="0"/>
              </a:rPr>
              <a:t> address that uniquely and universally defines the connection of a device </a:t>
            </a:r>
          </a:p>
          <a:p>
            <a:r>
              <a:rPr lang="en-US" altLang="en-US" dirty="0"/>
              <a:t>The address space of IPv4 is  2</a:t>
            </a:r>
            <a:r>
              <a:rPr lang="en-US" altLang="en-US" baseline="30000" dirty="0"/>
              <a:t>32</a:t>
            </a:r>
            <a:r>
              <a:rPr lang="en-US" altLang="en-US" dirty="0"/>
              <a:t>  or  4,294,967,296.</a:t>
            </a:r>
          </a:p>
          <a:p>
            <a:pPr marL="0" indent="0">
              <a:buNone/>
            </a:pPr>
            <a:endParaRPr lang="en-US" dirty="0">
              <a:solidFill>
                <a:schemeClr val="accent1"/>
              </a:solidFill>
              <a:latin typeface="Times New Roman" panose="02020603050405020304" pitchFamily="18" charset="0"/>
              <a:cs typeface="Times New Roman" panose="02020603050405020304" pitchFamily="18" charset="0"/>
            </a:endParaRPr>
          </a:p>
        </p:txBody>
      </p:sp>
      <p:pic>
        <p:nvPicPr>
          <p:cNvPr id="4" name="Picture 8">
            <a:extLst>
              <a:ext uri="{FF2B5EF4-FFF2-40B4-BE49-F238E27FC236}">
                <a16:creationId xmlns:a16="http://schemas.microsoft.com/office/drawing/2014/main" id="{067E6485-CC19-C4F8-0997-6977AF9DB6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508" y="3913947"/>
            <a:ext cx="8192050" cy="19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8296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FB8FAF-258D-8584-7C98-A44FA8370FB0}"/>
              </a:ext>
            </a:extLst>
          </p:cNvPr>
          <p:cNvSpPr>
            <a:spLocks noGrp="1"/>
          </p:cNvSpPr>
          <p:nvPr>
            <p:ph type="sldNum" sz="quarter" idx="12"/>
          </p:nvPr>
        </p:nvSpPr>
        <p:spPr/>
        <p:txBody>
          <a:bodyPr/>
          <a:lstStyle/>
          <a:p>
            <a:r>
              <a:rPr lang="en-US" altLang="en-US"/>
              <a:t>19.</a:t>
            </a:r>
            <a:fld id="{42FAA00B-9B8E-456C-A2A9-6C1C648A60B4}" type="slidenum">
              <a:rPr lang="en-US" altLang="en-US"/>
              <a:pPr/>
              <a:t>16</a:t>
            </a:fld>
            <a:endParaRPr lang="en-US" altLang="en-US"/>
          </a:p>
        </p:txBody>
      </p:sp>
      <p:sp>
        <p:nvSpPr>
          <p:cNvPr id="1164297" name="Rectangle 9">
            <a:extLst>
              <a:ext uri="{FF2B5EF4-FFF2-40B4-BE49-F238E27FC236}">
                <a16:creationId xmlns:a16="http://schemas.microsoft.com/office/drawing/2014/main" id="{14B80D2A-CC04-19F0-4269-0BFD5075EDBE}"/>
              </a:ext>
            </a:extLst>
          </p:cNvPr>
          <p:cNvSpPr>
            <a:spLocks noChangeArrowheads="1"/>
          </p:cNvSpPr>
          <p:nvPr/>
        </p:nvSpPr>
        <p:spPr bwMode="auto">
          <a:xfrm>
            <a:off x="239486" y="1223964"/>
            <a:ext cx="13541828" cy="55367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998" i="1" dirty="0">
                <a:latin typeface="Times New Roman" panose="02020603050405020304" pitchFamily="18" charset="0"/>
              </a:rPr>
              <a:t>Change the following IPv4 addresses from dotted-decimal notation to binary notation.</a:t>
            </a:r>
          </a:p>
        </p:txBody>
      </p:sp>
      <p:pic>
        <p:nvPicPr>
          <p:cNvPr id="1164299" name="Picture 11">
            <a:extLst>
              <a:ext uri="{FF2B5EF4-FFF2-40B4-BE49-F238E27FC236}">
                <a16:creationId xmlns:a16="http://schemas.microsoft.com/office/drawing/2014/main" id="{00E10D38-F0EA-A8D1-7955-BB7C32D96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486" y="1900898"/>
            <a:ext cx="3073506" cy="938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4300" name="Rectangle 12">
            <a:extLst>
              <a:ext uri="{FF2B5EF4-FFF2-40B4-BE49-F238E27FC236}">
                <a16:creationId xmlns:a16="http://schemas.microsoft.com/office/drawing/2014/main" id="{9E8138D6-090C-A31A-26D3-5BB8CE30DD4C}"/>
              </a:ext>
            </a:extLst>
          </p:cNvPr>
          <p:cNvSpPr>
            <a:spLocks noChangeArrowheads="1"/>
          </p:cNvSpPr>
          <p:nvPr/>
        </p:nvSpPr>
        <p:spPr bwMode="auto">
          <a:xfrm>
            <a:off x="466364" y="3270980"/>
            <a:ext cx="12204607" cy="10150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998" i="1" dirty="0">
                <a:solidFill>
                  <a:schemeClr val="hlink"/>
                </a:solidFill>
                <a:latin typeface="Times New Roman" panose="02020603050405020304" pitchFamily="18" charset="0"/>
              </a:rPr>
              <a:t>Solution</a:t>
            </a:r>
          </a:p>
          <a:p>
            <a:pPr algn="just"/>
            <a:r>
              <a:rPr lang="en-US" altLang="en-US" sz="2998" i="1" dirty="0">
                <a:latin typeface="Times New Roman" panose="02020603050405020304" pitchFamily="18" charset="0"/>
              </a:rPr>
              <a:t>We replace each decimal number with its binary equivalent</a:t>
            </a:r>
          </a:p>
        </p:txBody>
      </p:sp>
      <p:pic>
        <p:nvPicPr>
          <p:cNvPr id="1164301" name="Picture 13">
            <a:extLst>
              <a:ext uri="{FF2B5EF4-FFF2-40B4-BE49-F238E27FC236}">
                <a16:creationId xmlns:a16="http://schemas.microsoft.com/office/drawing/2014/main" id="{0C8903C5-5F79-4D9E-ED50-AEE513DFB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824" y="4542257"/>
            <a:ext cx="7792561" cy="1120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1">
            <a:extLst>
              <a:ext uri="{FF2B5EF4-FFF2-40B4-BE49-F238E27FC236}">
                <a16:creationId xmlns:a16="http://schemas.microsoft.com/office/drawing/2014/main" id="{E8F60E52-E5C4-FF7C-B596-3CA72CA8465A}"/>
              </a:ext>
            </a:extLst>
          </p:cNvPr>
          <p:cNvSpPr txBox="1">
            <a:spLocks/>
          </p:cNvSpPr>
          <p:nvPr/>
        </p:nvSpPr>
        <p:spPr>
          <a:xfrm>
            <a:off x="4544105" y="143786"/>
            <a:ext cx="4349524" cy="858149"/>
          </a:xfrm>
          <a:prstGeom prst="rect">
            <a:avLst/>
          </a:prstGeom>
        </p:spPr>
        <p:txBody>
          <a:bodyPr>
            <a:normAutofit/>
          </a:bodyPr>
          <a:lstStyle>
            <a:lvl1pPr algn="l" defTabSz="979140" rtl="0" eaLnBrk="1" latinLnBrk="0" hangingPunct="1">
              <a:lnSpc>
                <a:spcPct val="90000"/>
              </a:lnSpc>
              <a:spcBef>
                <a:spcPct val="0"/>
              </a:spcBef>
              <a:buNone/>
              <a:defRPr sz="4712" kern="1200">
                <a:solidFill>
                  <a:schemeClr val="tx1"/>
                </a:solidFill>
                <a:latin typeface="+mj-lt"/>
                <a:ea typeface="+mj-ea"/>
                <a:cs typeface="+mj-cs"/>
              </a:defRPr>
            </a:lvl1pPr>
          </a:lstStyle>
          <a:p>
            <a:r>
              <a:rPr lang="en-US">
                <a:solidFill>
                  <a:srgbClr val="3333B3"/>
                </a:solidFill>
                <a:latin typeface="Times New Roman" panose="02020603050405020304" pitchFamily="18" charset="0"/>
                <a:cs typeface="Times New Roman" panose="02020603050405020304" pitchFamily="18" charset="0"/>
              </a:rPr>
              <a:t>IPv4 Addresses</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45" name="Rectangle 9">
            <a:extLst>
              <a:ext uri="{FF2B5EF4-FFF2-40B4-BE49-F238E27FC236}">
                <a16:creationId xmlns:a16="http://schemas.microsoft.com/office/drawing/2014/main" id="{EAF8919A-E562-10C2-CD13-8AC54D0872AE}"/>
              </a:ext>
            </a:extLst>
          </p:cNvPr>
          <p:cNvSpPr>
            <a:spLocks noChangeArrowheads="1"/>
          </p:cNvSpPr>
          <p:nvPr/>
        </p:nvSpPr>
        <p:spPr bwMode="auto">
          <a:xfrm>
            <a:off x="455477" y="967161"/>
            <a:ext cx="9302115" cy="55367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998" i="1" dirty="0">
                <a:latin typeface="Times New Roman" panose="02020603050405020304" pitchFamily="18" charset="0"/>
              </a:rPr>
              <a:t>Find the error, if any, in the following IPv4 addresses.</a:t>
            </a:r>
          </a:p>
        </p:txBody>
      </p:sp>
      <p:pic>
        <p:nvPicPr>
          <p:cNvPr id="1166347" name="Picture 11">
            <a:extLst>
              <a:ext uri="{FF2B5EF4-FFF2-40B4-BE49-F238E27FC236}">
                <a16:creationId xmlns:a16="http://schemas.microsoft.com/office/drawing/2014/main" id="{46EE474B-C056-93DF-11B7-C147F48AF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477" y="1604782"/>
            <a:ext cx="3857181" cy="2221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6348" name="Rectangle 12">
            <a:extLst>
              <a:ext uri="{FF2B5EF4-FFF2-40B4-BE49-F238E27FC236}">
                <a16:creationId xmlns:a16="http://schemas.microsoft.com/office/drawing/2014/main" id="{A5283944-01D0-A6ED-D463-59FB96226D90}"/>
              </a:ext>
            </a:extLst>
          </p:cNvPr>
          <p:cNvSpPr>
            <a:spLocks noChangeArrowheads="1"/>
          </p:cNvSpPr>
          <p:nvPr/>
        </p:nvSpPr>
        <p:spPr bwMode="auto">
          <a:xfrm>
            <a:off x="232456" y="4141688"/>
            <a:ext cx="12166373" cy="23990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998" i="1" dirty="0">
                <a:solidFill>
                  <a:schemeClr val="hlink"/>
                </a:solidFill>
                <a:latin typeface="Times New Roman" panose="02020603050405020304" pitchFamily="18" charset="0"/>
              </a:rPr>
              <a:t>Solution</a:t>
            </a:r>
          </a:p>
          <a:p>
            <a:r>
              <a:rPr lang="en-US" altLang="en-US" sz="2998" i="1" dirty="0">
                <a:solidFill>
                  <a:schemeClr val="hlink"/>
                </a:solidFill>
                <a:latin typeface="Times New Roman" panose="02020603050405020304" pitchFamily="18" charset="0"/>
              </a:rPr>
              <a:t>a.</a:t>
            </a:r>
            <a:r>
              <a:rPr lang="en-US" altLang="en-US" sz="2998" i="1" dirty="0">
                <a:latin typeface="Times New Roman" panose="02020603050405020304" pitchFamily="18" charset="0"/>
              </a:rPr>
              <a:t> There must be no leading zero (045).</a:t>
            </a:r>
          </a:p>
          <a:p>
            <a:r>
              <a:rPr lang="en-US" altLang="en-US" sz="2998" i="1" dirty="0">
                <a:solidFill>
                  <a:schemeClr val="hlink"/>
                </a:solidFill>
                <a:latin typeface="Times New Roman" panose="02020603050405020304" pitchFamily="18" charset="0"/>
              </a:rPr>
              <a:t>b.</a:t>
            </a:r>
            <a:r>
              <a:rPr lang="en-US" altLang="en-US" sz="2998" i="1" dirty="0">
                <a:latin typeface="Times New Roman" panose="02020603050405020304" pitchFamily="18" charset="0"/>
              </a:rPr>
              <a:t> There can be no more than four numbers.</a:t>
            </a:r>
          </a:p>
          <a:p>
            <a:r>
              <a:rPr lang="en-US" altLang="en-US" sz="2998" i="1" dirty="0">
                <a:solidFill>
                  <a:schemeClr val="hlink"/>
                </a:solidFill>
                <a:latin typeface="Times New Roman" panose="02020603050405020304" pitchFamily="18" charset="0"/>
              </a:rPr>
              <a:t>c.</a:t>
            </a:r>
            <a:r>
              <a:rPr lang="en-US" altLang="en-US" sz="2998" i="1" dirty="0">
                <a:latin typeface="Times New Roman" panose="02020603050405020304" pitchFamily="18" charset="0"/>
              </a:rPr>
              <a:t> Each number needs to be less than or equal to 255.</a:t>
            </a:r>
          </a:p>
          <a:p>
            <a:r>
              <a:rPr lang="en-US" altLang="en-US" sz="2998" i="1" dirty="0">
                <a:solidFill>
                  <a:schemeClr val="hlink"/>
                </a:solidFill>
                <a:latin typeface="Times New Roman" panose="02020603050405020304" pitchFamily="18" charset="0"/>
              </a:rPr>
              <a:t>d.</a:t>
            </a:r>
            <a:r>
              <a:rPr lang="en-US" altLang="en-US" sz="2998" i="1" dirty="0">
                <a:latin typeface="Times New Roman" panose="02020603050405020304" pitchFamily="18" charset="0"/>
              </a:rPr>
              <a:t> A mixture of binary notation and dotted-decimal notation is not allowed.</a:t>
            </a:r>
          </a:p>
        </p:txBody>
      </p:sp>
      <p:sp>
        <p:nvSpPr>
          <p:cNvPr id="3" name="Title 1">
            <a:extLst>
              <a:ext uri="{FF2B5EF4-FFF2-40B4-BE49-F238E27FC236}">
                <a16:creationId xmlns:a16="http://schemas.microsoft.com/office/drawing/2014/main" id="{0A69362A-02E8-D2B9-31C7-BCAEDE882998}"/>
              </a:ext>
            </a:extLst>
          </p:cNvPr>
          <p:cNvSpPr txBox="1">
            <a:spLocks/>
          </p:cNvSpPr>
          <p:nvPr/>
        </p:nvSpPr>
        <p:spPr>
          <a:xfrm>
            <a:off x="4544105" y="143786"/>
            <a:ext cx="4349524" cy="858149"/>
          </a:xfrm>
          <a:prstGeom prst="rect">
            <a:avLst/>
          </a:prstGeom>
        </p:spPr>
        <p:txBody>
          <a:bodyPr>
            <a:normAutofit/>
          </a:bodyPr>
          <a:lstStyle>
            <a:lvl1pPr algn="l" defTabSz="979140" rtl="0" eaLnBrk="1" latinLnBrk="0" hangingPunct="1">
              <a:lnSpc>
                <a:spcPct val="90000"/>
              </a:lnSpc>
              <a:spcBef>
                <a:spcPct val="0"/>
              </a:spcBef>
              <a:buNone/>
              <a:defRPr sz="4712" kern="1200">
                <a:solidFill>
                  <a:schemeClr val="tx1"/>
                </a:solidFill>
                <a:latin typeface="+mj-lt"/>
                <a:ea typeface="+mj-ea"/>
                <a:cs typeface="+mj-cs"/>
              </a:defRPr>
            </a:lvl1pPr>
          </a:lstStyle>
          <a:p>
            <a:r>
              <a:rPr lang="en-US" dirty="0">
                <a:solidFill>
                  <a:srgbClr val="3333B3"/>
                </a:solidFill>
                <a:latin typeface="Times New Roman" panose="02020603050405020304" pitchFamily="18" charset="0"/>
                <a:cs typeface="Times New Roman" panose="02020603050405020304" pitchFamily="18" charset="0"/>
              </a:rPr>
              <a:t>IPv4 Addresses</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5DC172-6A46-2BB5-AD47-7A99088E079B}"/>
              </a:ext>
            </a:extLst>
          </p:cNvPr>
          <p:cNvSpPr txBox="1"/>
          <p:nvPr/>
        </p:nvSpPr>
        <p:spPr>
          <a:xfrm>
            <a:off x="392178" y="849802"/>
            <a:ext cx="11597725" cy="487826"/>
          </a:xfrm>
          <a:prstGeom prst="rect">
            <a:avLst/>
          </a:prstGeom>
          <a:noFill/>
        </p:spPr>
        <p:txBody>
          <a:bodyPr wrap="square">
            <a:spAutoFit/>
          </a:bodyPr>
          <a:lstStyle/>
          <a:p>
            <a:pPr algn="ctr"/>
            <a:r>
              <a:rPr lang="en-US" altLang="en-US" sz="2570" dirty="0">
                <a:latin typeface="Times New Roman" panose="02020603050405020304" pitchFamily="18" charset="0"/>
                <a:cs typeface="Times New Roman" panose="02020603050405020304" pitchFamily="18" charset="0"/>
              </a:rPr>
              <a:t>In classful addressing, the address space is divided into five classes: A, B, C, D, and E.</a:t>
            </a:r>
          </a:p>
        </p:txBody>
      </p:sp>
      <p:pic>
        <p:nvPicPr>
          <p:cNvPr id="5" name="Picture 6">
            <a:extLst>
              <a:ext uri="{FF2B5EF4-FFF2-40B4-BE49-F238E27FC236}">
                <a16:creationId xmlns:a16="http://schemas.microsoft.com/office/drawing/2014/main" id="{CACAA7C3-0751-DAD2-DC9E-42B943F51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4706" y="3296575"/>
            <a:ext cx="9199841" cy="3197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A2022F9C-33B8-0B27-2DC2-8B1FB23614AD}"/>
              </a:ext>
            </a:extLst>
          </p:cNvPr>
          <p:cNvSpPr txBox="1"/>
          <p:nvPr/>
        </p:nvSpPr>
        <p:spPr>
          <a:xfrm>
            <a:off x="392178" y="3464882"/>
            <a:ext cx="4234251" cy="2860783"/>
          </a:xfrm>
          <a:prstGeom prst="rect">
            <a:avLst/>
          </a:prstGeom>
          <a:noFill/>
        </p:spPr>
        <p:txBody>
          <a:bodyPr wrap="square">
            <a:spAutoFit/>
          </a:bodyPr>
          <a:lstStyle/>
          <a:p>
            <a:r>
              <a:rPr lang="en-US" sz="2570" b="1" dirty="0" err="1">
                <a:solidFill>
                  <a:srgbClr val="FF0000"/>
                </a:solidFill>
                <a:latin typeface="Times New Roman" panose="02020603050405020304" pitchFamily="18" charset="0"/>
                <a:cs typeface="Times New Roman" panose="02020603050405020304" pitchFamily="18" charset="0"/>
              </a:rPr>
              <a:t>Netid</a:t>
            </a:r>
            <a:r>
              <a:rPr lang="en-US" sz="2570" b="1" dirty="0">
                <a:solidFill>
                  <a:srgbClr val="FF0000"/>
                </a:solidFill>
                <a:latin typeface="Times New Roman" panose="02020603050405020304" pitchFamily="18" charset="0"/>
                <a:cs typeface="Times New Roman" panose="02020603050405020304" pitchFamily="18" charset="0"/>
              </a:rPr>
              <a:t> and </a:t>
            </a:r>
            <a:r>
              <a:rPr lang="en-US" sz="2570" b="1" dirty="0" err="1">
                <a:solidFill>
                  <a:srgbClr val="FF0000"/>
                </a:solidFill>
                <a:latin typeface="Times New Roman" panose="02020603050405020304" pitchFamily="18" charset="0"/>
                <a:cs typeface="Times New Roman" panose="02020603050405020304" pitchFamily="18" charset="0"/>
              </a:rPr>
              <a:t>Hostid</a:t>
            </a:r>
            <a:br>
              <a:rPr lang="en-US" sz="2570" i="1" dirty="0">
                <a:solidFill>
                  <a:srgbClr val="000000"/>
                </a:solidFill>
                <a:latin typeface="Times New Roman" panose="02020603050405020304" pitchFamily="18" charset="0"/>
                <a:cs typeface="Times New Roman" panose="02020603050405020304" pitchFamily="18" charset="0"/>
              </a:rPr>
            </a:br>
            <a:r>
              <a:rPr lang="en-US" sz="2570" dirty="0">
                <a:latin typeface="Times New Roman" panose="02020603050405020304" pitchFamily="18" charset="0"/>
                <a:cs typeface="Times New Roman" panose="02020603050405020304" pitchFamily="18" charset="0"/>
              </a:rPr>
              <a:t>The </a:t>
            </a:r>
            <a:r>
              <a:rPr lang="en-US" sz="2570" dirty="0" err="1">
                <a:highlight>
                  <a:srgbClr val="FFFF00"/>
                </a:highlight>
                <a:latin typeface="Times New Roman" panose="02020603050405020304" pitchFamily="18" charset="0"/>
                <a:cs typeface="Times New Roman" panose="02020603050405020304" pitchFamily="18" charset="0"/>
              </a:rPr>
              <a:t>netid</a:t>
            </a:r>
            <a:r>
              <a:rPr lang="en-US" sz="2570" dirty="0">
                <a:latin typeface="Times New Roman" panose="02020603050405020304" pitchFamily="18" charset="0"/>
                <a:cs typeface="Times New Roman" panose="02020603050405020304" pitchFamily="18" charset="0"/>
              </a:rPr>
              <a:t> is in color, the </a:t>
            </a:r>
            <a:r>
              <a:rPr lang="en-US" sz="2570" dirty="0" err="1">
                <a:latin typeface="Times New Roman" panose="02020603050405020304" pitchFamily="18" charset="0"/>
                <a:cs typeface="Times New Roman" panose="02020603050405020304" pitchFamily="18" charset="0"/>
              </a:rPr>
              <a:t>hostid</a:t>
            </a:r>
            <a:r>
              <a:rPr lang="en-US" sz="2570" dirty="0">
                <a:latin typeface="Times New Roman" panose="02020603050405020304" pitchFamily="18" charset="0"/>
                <a:cs typeface="Times New Roman" panose="02020603050405020304" pitchFamily="18" charset="0"/>
              </a:rPr>
              <a:t> is in white. </a:t>
            </a:r>
          </a:p>
          <a:p>
            <a:endParaRPr lang="en-US" sz="2570" dirty="0">
              <a:solidFill>
                <a:srgbClr val="0070C0"/>
              </a:solidFill>
              <a:latin typeface="Times New Roman" panose="02020603050405020304" pitchFamily="18" charset="0"/>
              <a:cs typeface="Times New Roman" panose="02020603050405020304" pitchFamily="18" charset="0"/>
            </a:endParaRPr>
          </a:p>
          <a:p>
            <a:r>
              <a:rPr lang="en-US" sz="2570" dirty="0">
                <a:solidFill>
                  <a:srgbClr val="0070C0"/>
                </a:solidFill>
                <a:latin typeface="Times New Roman" panose="02020603050405020304" pitchFamily="18" charset="0"/>
                <a:cs typeface="Times New Roman" panose="02020603050405020304" pitchFamily="18" charset="0"/>
              </a:rPr>
              <a:t>Example : </a:t>
            </a:r>
            <a:r>
              <a:rPr lang="en-US" sz="2570" dirty="0">
                <a:latin typeface="Times New Roman" panose="02020603050405020304" pitchFamily="18" charset="0"/>
                <a:cs typeface="Times New Roman" panose="02020603050405020304" pitchFamily="18" charset="0"/>
              </a:rPr>
              <a:t>In class A, first byte defines the </a:t>
            </a:r>
            <a:r>
              <a:rPr lang="en-US" sz="2570" dirty="0" err="1">
                <a:latin typeface="Times New Roman" panose="02020603050405020304" pitchFamily="18" charset="0"/>
                <a:cs typeface="Times New Roman" panose="02020603050405020304" pitchFamily="18" charset="0"/>
              </a:rPr>
              <a:t>netid</a:t>
            </a:r>
            <a:r>
              <a:rPr lang="en-US" sz="2570" dirty="0">
                <a:latin typeface="Times New Roman" panose="02020603050405020304" pitchFamily="18" charset="0"/>
                <a:cs typeface="Times New Roman" panose="02020603050405020304" pitchFamily="18" charset="0"/>
              </a:rPr>
              <a:t> and last three bytes define the </a:t>
            </a:r>
            <a:r>
              <a:rPr lang="en-US" sz="2570" dirty="0" err="1">
                <a:latin typeface="Times New Roman" panose="02020603050405020304" pitchFamily="18" charset="0"/>
                <a:cs typeface="Times New Roman" panose="02020603050405020304" pitchFamily="18" charset="0"/>
              </a:rPr>
              <a:t>hostid</a:t>
            </a:r>
            <a:r>
              <a:rPr lang="en-US" sz="257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15BEDCA3-B309-B1F9-DA9C-8C50B9B2F2E7}"/>
              </a:ext>
            </a:extLst>
          </p:cNvPr>
          <p:cNvSpPr txBox="1"/>
          <p:nvPr/>
        </p:nvSpPr>
        <p:spPr>
          <a:xfrm>
            <a:off x="4322192" y="76347"/>
            <a:ext cx="6527800" cy="707886"/>
          </a:xfrm>
          <a:prstGeom prst="rect">
            <a:avLst/>
          </a:prstGeom>
          <a:noFill/>
        </p:spPr>
        <p:txBody>
          <a:bodyPr wrap="square">
            <a:spAutoFit/>
          </a:bodyPr>
          <a:lstStyle/>
          <a:p>
            <a:r>
              <a:rPr lang="en-US" altLang="en-US" sz="4000" dirty="0">
                <a:solidFill>
                  <a:srgbClr val="3D29CD"/>
                </a:solidFill>
                <a:latin typeface="Times New Roman" panose="02020603050405020304" pitchFamily="18" charset="0"/>
                <a:cs typeface="Times New Roman" panose="02020603050405020304" pitchFamily="18" charset="0"/>
              </a:rPr>
              <a:t>Classful Addressing</a:t>
            </a:r>
            <a:endParaRPr lang="en-IN" sz="4000" dirty="0">
              <a:solidFill>
                <a:srgbClr val="3D29CD"/>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FE3EBA4-B4A6-1ADB-905D-FF08669491D6}"/>
              </a:ext>
            </a:extLst>
          </p:cNvPr>
          <p:cNvSpPr txBox="1"/>
          <p:nvPr/>
        </p:nvSpPr>
        <p:spPr>
          <a:xfrm>
            <a:off x="392178" y="1388358"/>
            <a:ext cx="8192389" cy="1689180"/>
          </a:xfrm>
          <a:prstGeom prst="rect">
            <a:avLst/>
          </a:prstGeom>
          <a:noFill/>
        </p:spPr>
        <p:txBody>
          <a:bodyPr wrap="square">
            <a:spAutoFit/>
          </a:bodyPr>
          <a:lstStyle/>
          <a:p>
            <a:pPr>
              <a:spcAft>
                <a:spcPts val="1606"/>
              </a:spcAft>
            </a:pPr>
            <a:r>
              <a:rPr lang="en-US" sz="2570" b="1" dirty="0">
                <a:solidFill>
                  <a:srgbClr val="444444"/>
                </a:solidFill>
                <a:latin typeface="Times New Roman" panose="02020603050405020304" pitchFamily="18" charset="0"/>
                <a:cs typeface="Times New Roman" panose="02020603050405020304" pitchFamily="18" charset="0"/>
              </a:rPr>
              <a:t>An IP address is divided into two parts:</a:t>
            </a:r>
            <a:endParaRPr lang="en-US" sz="2570" dirty="0">
              <a:solidFill>
                <a:srgbClr val="444444"/>
              </a:solidFill>
              <a:latin typeface="Times New Roman" panose="02020603050405020304" pitchFamily="18" charset="0"/>
              <a:cs typeface="Times New Roman" panose="02020603050405020304" pitchFamily="18" charset="0"/>
            </a:endParaRPr>
          </a:p>
          <a:p>
            <a:pPr>
              <a:spcAft>
                <a:spcPts val="1606"/>
              </a:spcAft>
              <a:buFont typeface="Arial" panose="020B0604020202020204" pitchFamily="34" charset="0"/>
              <a:buChar char="•"/>
            </a:pPr>
            <a:r>
              <a:rPr lang="en-US" sz="2570" b="1" dirty="0">
                <a:solidFill>
                  <a:srgbClr val="444444"/>
                </a:solidFill>
                <a:latin typeface="Times New Roman" panose="02020603050405020304" pitchFamily="18" charset="0"/>
                <a:cs typeface="Times New Roman" panose="02020603050405020304" pitchFamily="18" charset="0"/>
              </a:rPr>
              <a:t>Network ID (</a:t>
            </a:r>
            <a:r>
              <a:rPr lang="en-US" sz="2570" b="1" dirty="0" err="1">
                <a:solidFill>
                  <a:srgbClr val="444444"/>
                </a:solidFill>
                <a:latin typeface="Times New Roman" panose="02020603050405020304" pitchFamily="18" charset="0"/>
                <a:cs typeface="Times New Roman" panose="02020603050405020304" pitchFamily="18" charset="0"/>
              </a:rPr>
              <a:t>Netid</a:t>
            </a:r>
            <a:r>
              <a:rPr lang="en-US" sz="2570" b="1" dirty="0">
                <a:solidFill>
                  <a:srgbClr val="444444"/>
                </a:solidFill>
                <a:latin typeface="Times New Roman" panose="02020603050405020304" pitchFamily="18" charset="0"/>
                <a:cs typeface="Times New Roman" panose="02020603050405020304" pitchFamily="18" charset="0"/>
              </a:rPr>
              <a:t>):</a:t>
            </a:r>
            <a:r>
              <a:rPr lang="en-US" sz="2570" dirty="0">
                <a:solidFill>
                  <a:srgbClr val="444444"/>
                </a:solidFill>
                <a:latin typeface="Times New Roman" panose="02020603050405020304" pitchFamily="18" charset="0"/>
                <a:cs typeface="Times New Roman" panose="02020603050405020304" pitchFamily="18" charset="0"/>
              </a:rPr>
              <a:t> It represents the number of networks.</a:t>
            </a:r>
          </a:p>
          <a:p>
            <a:pPr>
              <a:spcAft>
                <a:spcPts val="1606"/>
              </a:spcAft>
              <a:buFont typeface="Arial" panose="020B0604020202020204" pitchFamily="34" charset="0"/>
              <a:buChar char="•"/>
            </a:pPr>
            <a:r>
              <a:rPr lang="en-US" sz="2570" b="1" dirty="0">
                <a:solidFill>
                  <a:srgbClr val="444444"/>
                </a:solidFill>
                <a:latin typeface="Times New Roman" panose="02020603050405020304" pitchFamily="18" charset="0"/>
                <a:cs typeface="Times New Roman" panose="02020603050405020304" pitchFamily="18" charset="0"/>
              </a:rPr>
              <a:t>Host ID (</a:t>
            </a:r>
            <a:r>
              <a:rPr lang="en-US" sz="2570" b="1" dirty="0" err="1">
                <a:solidFill>
                  <a:srgbClr val="444444"/>
                </a:solidFill>
                <a:latin typeface="Times New Roman" panose="02020603050405020304" pitchFamily="18" charset="0"/>
                <a:cs typeface="Times New Roman" panose="02020603050405020304" pitchFamily="18" charset="0"/>
              </a:rPr>
              <a:t>Hostid</a:t>
            </a:r>
            <a:r>
              <a:rPr lang="en-US" sz="2570" b="1" dirty="0">
                <a:solidFill>
                  <a:srgbClr val="444444"/>
                </a:solidFill>
                <a:latin typeface="Times New Roman" panose="02020603050405020304" pitchFamily="18" charset="0"/>
                <a:cs typeface="Times New Roman" panose="02020603050405020304" pitchFamily="18" charset="0"/>
              </a:rPr>
              <a:t>):</a:t>
            </a:r>
            <a:r>
              <a:rPr lang="en-US" sz="2570" dirty="0">
                <a:solidFill>
                  <a:srgbClr val="444444"/>
                </a:solidFill>
                <a:latin typeface="Times New Roman" panose="02020603050405020304" pitchFamily="18" charset="0"/>
                <a:cs typeface="Times New Roman" panose="02020603050405020304" pitchFamily="18" charset="0"/>
              </a:rPr>
              <a:t> It represents the number of hosts.</a:t>
            </a:r>
          </a:p>
        </p:txBody>
      </p:sp>
    </p:spTree>
    <p:extLst>
      <p:ext uri="{BB962C8B-B14F-4D97-AF65-F5344CB8AC3E}">
        <p14:creationId xmlns:p14="http://schemas.microsoft.com/office/powerpoint/2010/main" val="12605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666DE67-9DE4-5C66-FB26-8F3DE1FE6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161" y="2130781"/>
            <a:ext cx="8878827" cy="173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3EB907C4-A92A-1394-328C-F36D280C2704}"/>
              </a:ext>
            </a:extLst>
          </p:cNvPr>
          <p:cNvSpPr txBox="1"/>
          <p:nvPr/>
        </p:nvSpPr>
        <p:spPr>
          <a:xfrm>
            <a:off x="3029793" y="77445"/>
            <a:ext cx="8747252" cy="685572"/>
          </a:xfrm>
          <a:prstGeom prst="rect">
            <a:avLst/>
          </a:prstGeom>
          <a:noFill/>
        </p:spPr>
        <p:txBody>
          <a:bodyPr wrap="square">
            <a:spAutoFit/>
          </a:bodyPr>
          <a:lstStyle/>
          <a:p>
            <a:r>
              <a:rPr lang="en-US" altLang="en-US" sz="3855" dirty="0">
                <a:solidFill>
                  <a:srgbClr val="3D29CD"/>
                </a:solidFill>
                <a:latin typeface="Times New Roman" panose="02020603050405020304" pitchFamily="18" charset="0"/>
              </a:rPr>
              <a:t>Default Masks for Classful addressing</a:t>
            </a:r>
            <a:endParaRPr lang="en-IN" sz="3855" dirty="0">
              <a:solidFill>
                <a:srgbClr val="3D29CD"/>
              </a:solidFill>
            </a:endParaRPr>
          </a:p>
        </p:txBody>
      </p:sp>
      <p:sp>
        <p:nvSpPr>
          <p:cNvPr id="12" name="TextBox 11">
            <a:extLst>
              <a:ext uri="{FF2B5EF4-FFF2-40B4-BE49-F238E27FC236}">
                <a16:creationId xmlns:a16="http://schemas.microsoft.com/office/drawing/2014/main" id="{A55E60D2-3A81-46CC-0016-CE0C9EF94F13}"/>
              </a:ext>
            </a:extLst>
          </p:cNvPr>
          <p:cNvSpPr txBox="1"/>
          <p:nvPr/>
        </p:nvSpPr>
        <p:spPr>
          <a:xfrm>
            <a:off x="429026" y="763017"/>
            <a:ext cx="12165745"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In an </a:t>
            </a:r>
            <a:r>
              <a:rPr lang="en-US" sz="2800" b="1" dirty="0">
                <a:latin typeface="Times New Roman" panose="02020603050405020304" pitchFamily="18" charset="0"/>
                <a:cs typeface="Times New Roman" panose="02020603050405020304" pitchFamily="18" charset="0"/>
              </a:rPr>
              <a:t>IP address</a:t>
            </a:r>
            <a:r>
              <a:rPr lang="en-US" sz="2800" dirty="0">
                <a:latin typeface="Times New Roman" panose="02020603050405020304" pitchFamily="18" charset="0"/>
                <a:cs typeface="Times New Roman" panose="02020603050405020304" pitchFamily="18" charset="0"/>
              </a:rPr>
              <a:t>, a </a:t>
            </a:r>
            <a:r>
              <a:rPr lang="en-US" sz="2800" b="1" dirty="0">
                <a:latin typeface="Times New Roman" panose="02020603050405020304" pitchFamily="18" charset="0"/>
                <a:cs typeface="Times New Roman" panose="02020603050405020304" pitchFamily="18" charset="0"/>
              </a:rPr>
              <a:t>mask</a:t>
            </a:r>
            <a:r>
              <a:rPr lang="en-US" sz="2800" dirty="0">
                <a:latin typeface="Times New Roman" panose="02020603050405020304" pitchFamily="18" charset="0"/>
                <a:cs typeface="Times New Roman" panose="02020603050405020304" pitchFamily="18" charset="0"/>
              </a:rPr>
              <a:t> (also called a </a:t>
            </a:r>
            <a:r>
              <a:rPr lang="en-US" sz="2800" b="1" dirty="0">
                <a:latin typeface="Times New Roman" panose="02020603050405020304" pitchFamily="18" charset="0"/>
                <a:cs typeface="Times New Roman" panose="02020603050405020304" pitchFamily="18" charset="0"/>
              </a:rPr>
              <a:t>subnet mask</a:t>
            </a:r>
            <a:r>
              <a:rPr lang="en-US" sz="2800" dirty="0">
                <a:latin typeface="Times New Roman" panose="02020603050405020304" pitchFamily="18" charset="0"/>
                <a:cs typeface="Times New Roman" panose="02020603050405020304" pitchFamily="18" charset="0"/>
              </a:rPr>
              <a:t>) is used to </a:t>
            </a:r>
            <a:r>
              <a:rPr lang="en-US" sz="2800" b="1" dirty="0">
                <a:latin typeface="Times New Roman" panose="02020603050405020304" pitchFamily="18" charset="0"/>
                <a:cs typeface="Times New Roman" panose="02020603050405020304" pitchFamily="18" charset="0"/>
              </a:rPr>
              <a:t>separate the network part</a:t>
            </a:r>
            <a:r>
              <a:rPr lang="en-US" sz="2800" dirty="0">
                <a:latin typeface="Times New Roman" panose="02020603050405020304" pitchFamily="18" charset="0"/>
                <a:cs typeface="Times New Roman" panose="02020603050405020304" pitchFamily="18" charset="0"/>
              </a:rPr>
              <a:t> and the </a:t>
            </a:r>
            <a:r>
              <a:rPr lang="en-US" sz="2800" b="1" dirty="0">
                <a:latin typeface="Times New Roman" panose="02020603050405020304" pitchFamily="18" charset="0"/>
                <a:cs typeface="Times New Roman" panose="02020603050405020304" pitchFamily="18" charset="0"/>
              </a:rPr>
              <a:t>host part</a:t>
            </a:r>
            <a:r>
              <a:rPr lang="en-US" sz="2800" dirty="0">
                <a:latin typeface="Times New Roman" panose="02020603050405020304" pitchFamily="18" charset="0"/>
                <a:cs typeface="Times New Roman" panose="02020603050405020304" pitchFamily="18" charset="0"/>
              </a:rPr>
              <a:t> of the address.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3BF48AB-9286-897D-919F-31DEC7F39CF7}"/>
              </a:ext>
            </a:extLst>
          </p:cNvPr>
          <p:cNvPicPr>
            <a:picLocks noChangeAspect="1"/>
          </p:cNvPicPr>
          <p:nvPr/>
        </p:nvPicPr>
        <p:blipFill>
          <a:blip r:embed="rId3"/>
          <a:stretch>
            <a:fillRect/>
          </a:stretch>
        </p:blipFill>
        <p:spPr>
          <a:xfrm>
            <a:off x="3029793" y="3866427"/>
            <a:ext cx="8554489" cy="3486389"/>
          </a:xfrm>
          <a:prstGeom prst="rect">
            <a:avLst/>
          </a:prstGeom>
        </p:spPr>
      </p:pic>
    </p:spTree>
    <p:extLst>
      <p:ext uri="{BB962C8B-B14F-4D97-AF65-F5344CB8AC3E}">
        <p14:creationId xmlns:p14="http://schemas.microsoft.com/office/powerpoint/2010/main" val="1554801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93" name="Rectangle 9">
            <a:extLst>
              <a:ext uri="{FF2B5EF4-FFF2-40B4-BE49-F238E27FC236}">
                <a16:creationId xmlns:a16="http://schemas.microsoft.com/office/drawing/2014/main" id="{057AB80B-64B5-3CFE-97CF-D0354226BACE}"/>
              </a:ext>
            </a:extLst>
          </p:cNvPr>
          <p:cNvSpPr>
            <a:spLocks noChangeArrowheads="1"/>
          </p:cNvSpPr>
          <p:nvPr/>
        </p:nvSpPr>
        <p:spPr bwMode="auto">
          <a:xfrm>
            <a:off x="1506538" y="951973"/>
            <a:ext cx="9302115" cy="23990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998" i="1" dirty="0">
                <a:latin typeface="Times New Roman" panose="02020603050405020304" pitchFamily="18" charset="0"/>
              </a:rPr>
              <a:t>Find the class of each address.</a:t>
            </a:r>
          </a:p>
          <a:p>
            <a:pPr algn="just"/>
            <a:r>
              <a:rPr lang="en-US" altLang="en-US" sz="2998" i="1" dirty="0">
                <a:solidFill>
                  <a:schemeClr val="hlink"/>
                </a:solidFill>
                <a:latin typeface="Times New Roman" panose="02020603050405020304" pitchFamily="18" charset="0"/>
              </a:rPr>
              <a:t>a.</a:t>
            </a:r>
            <a:r>
              <a:rPr lang="en-US" altLang="en-US" sz="2998" i="1" dirty="0">
                <a:latin typeface="Times New Roman" panose="02020603050405020304" pitchFamily="18" charset="0"/>
              </a:rPr>
              <a:t>   </a:t>
            </a:r>
            <a:r>
              <a:rPr lang="en-US" altLang="en-US" sz="2998" u="sng" dirty="0">
                <a:solidFill>
                  <a:srgbClr val="009900"/>
                </a:solidFill>
                <a:latin typeface="Times New Roman" panose="02020603050405020304" pitchFamily="18" charset="0"/>
              </a:rPr>
              <a:t>0</a:t>
            </a:r>
            <a:r>
              <a:rPr lang="en-US" altLang="en-US" sz="2998" dirty="0">
                <a:latin typeface="Times New Roman" panose="02020603050405020304" pitchFamily="18" charset="0"/>
              </a:rPr>
              <a:t>0000001 00001011 00001011 11101111</a:t>
            </a:r>
          </a:p>
          <a:p>
            <a:pPr algn="just"/>
            <a:r>
              <a:rPr lang="en-US" altLang="en-US" sz="2998" i="1" dirty="0">
                <a:solidFill>
                  <a:schemeClr val="hlink"/>
                </a:solidFill>
                <a:latin typeface="Times New Roman" panose="02020603050405020304" pitchFamily="18" charset="0"/>
              </a:rPr>
              <a:t>b.</a:t>
            </a:r>
            <a:r>
              <a:rPr lang="en-US" altLang="en-US" sz="2998" i="1" dirty="0">
                <a:latin typeface="Times New Roman" panose="02020603050405020304" pitchFamily="18" charset="0"/>
              </a:rPr>
              <a:t>   </a:t>
            </a:r>
            <a:r>
              <a:rPr lang="en-US" altLang="en-US" sz="2998" u="sng" dirty="0">
                <a:solidFill>
                  <a:srgbClr val="009900"/>
                </a:solidFill>
                <a:latin typeface="Times New Roman" panose="02020603050405020304" pitchFamily="18" charset="0"/>
              </a:rPr>
              <a:t>110</a:t>
            </a:r>
            <a:r>
              <a:rPr lang="en-US" altLang="en-US" sz="2998" dirty="0">
                <a:latin typeface="Times New Roman" panose="02020603050405020304" pitchFamily="18" charset="0"/>
              </a:rPr>
              <a:t>00001 10000011 00011011 11111111</a:t>
            </a:r>
          </a:p>
          <a:p>
            <a:pPr algn="just"/>
            <a:r>
              <a:rPr lang="en-US" altLang="en-US" sz="2998" i="1" dirty="0">
                <a:solidFill>
                  <a:schemeClr val="hlink"/>
                </a:solidFill>
                <a:latin typeface="Times New Roman" panose="02020603050405020304" pitchFamily="18" charset="0"/>
              </a:rPr>
              <a:t>c.</a:t>
            </a:r>
            <a:r>
              <a:rPr lang="en-US" altLang="en-US" sz="2998" i="1" dirty="0">
                <a:latin typeface="Times New Roman" panose="02020603050405020304" pitchFamily="18" charset="0"/>
              </a:rPr>
              <a:t>   </a:t>
            </a:r>
            <a:r>
              <a:rPr lang="en-US" altLang="en-US" sz="2998" u="sng" dirty="0">
                <a:solidFill>
                  <a:srgbClr val="009900"/>
                </a:solidFill>
                <a:latin typeface="Times New Roman" panose="02020603050405020304" pitchFamily="18" charset="0"/>
              </a:rPr>
              <a:t>14</a:t>
            </a:r>
            <a:r>
              <a:rPr lang="en-US" altLang="en-US" sz="2998" dirty="0">
                <a:latin typeface="Times New Roman" panose="02020603050405020304" pitchFamily="18" charset="0"/>
              </a:rPr>
              <a:t>.23.120.8</a:t>
            </a:r>
          </a:p>
          <a:p>
            <a:pPr algn="just"/>
            <a:r>
              <a:rPr lang="en-US" altLang="en-US" sz="2998" i="1" dirty="0">
                <a:solidFill>
                  <a:schemeClr val="hlink"/>
                </a:solidFill>
                <a:latin typeface="Times New Roman" panose="02020603050405020304" pitchFamily="18" charset="0"/>
              </a:rPr>
              <a:t>d.</a:t>
            </a:r>
            <a:r>
              <a:rPr lang="en-US" altLang="en-US" sz="2998" i="1" dirty="0">
                <a:latin typeface="Times New Roman" panose="02020603050405020304" pitchFamily="18" charset="0"/>
              </a:rPr>
              <a:t>   </a:t>
            </a:r>
            <a:r>
              <a:rPr lang="en-US" altLang="en-US" sz="2998" u="sng" dirty="0">
                <a:solidFill>
                  <a:srgbClr val="009900"/>
                </a:solidFill>
                <a:latin typeface="Times New Roman" panose="02020603050405020304" pitchFamily="18" charset="0"/>
              </a:rPr>
              <a:t>252</a:t>
            </a:r>
            <a:r>
              <a:rPr lang="en-US" altLang="en-US" sz="2998" dirty="0">
                <a:latin typeface="Times New Roman" panose="02020603050405020304" pitchFamily="18" charset="0"/>
              </a:rPr>
              <a:t>.5.15.111</a:t>
            </a:r>
          </a:p>
        </p:txBody>
      </p:sp>
      <p:sp>
        <p:nvSpPr>
          <p:cNvPr id="1168395" name="Rectangle 11">
            <a:extLst>
              <a:ext uri="{FF2B5EF4-FFF2-40B4-BE49-F238E27FC236}">
                <a16:creationId xmlns:a16="http://schemas.microsoft.com/office/drawing/2014/main" id="{FF449D78-5CBF-65DB-E05C-89E3FD7E8CF5}"/>
              </a:ext>
            </a:extLst>
          </p:cNvPr>
          <p:cNvSpPr>
            <a:spLocks noChangeArrowheads="1"/>
          </p:cNvSpPr>
          <p:nvPr/>
        </p:nvSpPr>
        <p:spPr bwMode="auto">
          <a:xfrm>
            <a:off x="1506537" y="3891183"/>
            <a:ext cx="10509758" cy="23990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998" i="1" dirty="0">
                <a:latin typeface="Times New Roman" panose="02020603050405020304" pitchFamily="18" charset="0"/>
              </a:rPr>
              <a:t>Solution</a:t>
            </a:r>
          </a:p>
          <a:p>
            <a:r>
              <a:rPr lang="en-US" altLang="en-US" sz="2998" i="1" dirty="0">
                <a:solidFill>
                  <a:schemeClr val="hlink"/>
                </a:solidFill>
                <a:latin typeface="Times New Roman" panose="02020603050405020304" pitchFamily="18" charset="0"/>
              </a:rPr>
              <a:t>a.</a:t>
            </a:r>
            <a:r>
              <a:rPr lang="en-US" altLang="en-US" sz="2998" i="1" dirty="0">
                <a:latin typeface="Times New Roman" panose="02020603050405020304" pitchFamily="18" charset="0"/>
              </a:rPr>
              <a:t> The first bit is 0. This is a class A address.</a:t>
            </a:r>
          </a:p>
          <a:p>
            <a:r>
              <a:rPr lang="en-US" altLang="en-US" sz="2998" i="1" dirty="0">
                <a:solidFill>
                  <a:schemeClr val="hlink"/>
                </a:solidFill>
                <a:latin typeface="Times New Roman" panose="02020603050405020304" pitchFamily="18" charset="0"/>
              </a:rPr>
              <a:t>b.</a:t>
            </a:r>
            <a:r>
              <a:rPr lang="en-US" altLang="en-US" sz="2998" i="1" dirty="0">
                <a:latin typeface="Times New Roman" panose="02020603050405020304" pitchFamily="18" charset="0"/>
              </a:rPr>
              <a:t> The first 2 bits are 1; the third bit is 0. This is a class C address.</a:t>
            </a:r>
          </a:p>
          <a:p>
            <a:r>
              <a:rPr lang="en-US" altLang="en-US" sz="2998" i="1" dirty="0">
                <a:solidFill>
                  <a:schemeClr val="hlink"/>
                </a:solidFill>
                <a:latin typeface="Times New Roman" panose="02020603050405020304" pitchFamily="18" charset="0"/>
              </a:rPr>
              <a:t>c.</a:t>
            </a:r>
            <a:r>
              <a:rPr lang="en-US" altLang="en-US" sz="2998" i="1" dirty="0">
                <a:latin typeface="Times New Roman" panose="02020603050405020304" pitchFamily="18" charset="0"/>
              </a:rPr>
              <a:t> The first byte is 14; the class is A.</a:t>
            </a:r>
          </a:p>
          <a:p>
            <a:r>
              <a:rPr lang="en-US" altLang="en-US" sz="2998" i="1" dirty="0">
                <a:solidFill>
                  <a:schemeClr val="hlink"/>
                </a:solidFill>
                <a:latin typeface="Times New Roman" panose="02020603050405020304" pitchFamily="18" charset="0"/>
              </a:rPr>
              <a:t>d.</a:t>
            </a:r>
            <a:r>
              <a:rPr lang="en-US" altLang="en-US" sz="2998" i="1" dirty="0">
                <a:latin typeface="Times New Roman" panose="02020603050405020304" pitchFamily="18" charset="0"/>
              </a:rPr>
              <a:t> The first byte is 252; the class is E.</a:t>
            </a:r>
          </a:p>
        </p:txBody>
      </p:sp>
      <p:sp>
        <p:nvSpPr>
          <p:cNvPr id="2" name="TextBox 1">
            <a:extLst>
              <a:ext uri="{FF2B5EF4-FFF2-40B4-BE49-F238E27FC236}">
                <a16:creationId xmlns:a16="http://schemas.microsoft.com/office/drawing/2014/main" id="{0323BA07-4685-B149-894C-138EB4000844}"/>
              </a:ext>
            </a:extLst>
          </p:cNvPr>
          <p:cNvSpPr txBox="1"/>
          <p:nvPr/>
        </p:nvSpPr>
        <p:spPr>
          <a:xfrm>
            <a:off x="4322192" y="76347"/>
            <a:ext cx="6527800" cy="751424"/>
          </a:xfrm>
          <a:prstGeom prst="rect">
            <a:avLst/>
          </a:prstGeom>
          <a:noFill/>
        </p:spPr>
        <p:txBody>
          <a:bodyPr wrap="square">
            <a:spAutoFit/>
          </a:bodyPr>
          <a:lstStyle/>
          <a:p>
            <a:r>
              <a:rPr lang="en-US" altLang="en-US" sz="4283" dirty="0">
                <a:solidFill>
                  <a:srgbClr val="3D29CD"/>
                </a:solidFill>
              </a:rPr>
              <a:t>Classful Addressing</a:t>
            </a:r>
            <a:endParaRPr lang="en-IN" sz="4283" dirty="0">
              <a:solidFill>
                <a:srgbClr val="3D29C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E0DDC5-5385-EA4C-4F0F-8F4C866F902D}"/>
              </a:ext>
            </a:extLst>
          </p:cNvPr>
          <p:cNvSpPr txBox="1"/>
          <p:nvPr/>
        </p:nvSpPr>
        <p:spPr>
          <a:xfrm>
            <a:off x="350625" y="954963"/>
            <a:ext cx="13735473" cy="2308324"/>
          </a:xfrm>
          <a:prstGeom prst="rect">
            <a:avLst/>
          </a:prstGeom>
          <a:noFill/>
        </p:spPr>
        <p:txBody>
          <a:bodyPr wrap="square">
            <a:spAutoFit/>
          </a:bodyPr>
          <a:lstStyle/>
          <a:p>
            <a:pPr marL="489570" indent="-489570">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In </a:t>
            </a:r>
            <a:r>
              <a:rPr lang="en-US" altLang="en-US" sz="2400" dirty="0">
                <a:solidFill>
                  <a:schemeClr val="accent2">
                    <a:lumMod val="75000"/>
                  </a:schemeClr>
                </a:solidFill>
                <a:latin typeface="Times New Roman" panose="02020603050405020304" pitchFamily="18" charset="0"/>
                <a:cs typeface="Times New Roman" panose="02020603050405020304" pitchFamily="18" charset="0"/>
              </a:rPr>
              <a:t>classful addressing</a:t>
            </a:r>
            <a:r>
              <a:rPr lang="en-US" altLang="en-US" sz="2400" dirty="0">
                <a:latin typeface="Times New Roman" panose="02020603050405020304" pitchFamily="18" charset="0"/>
                <a:cs typeface="Times New Roman" panose="02020603050405020304" pitchFamily="18" charset="0"/>
              </a:rPr>
              <a:t>, a large part of the available addresses were wasted.</a:t>
            </a:r>
          </a:p>
          <a:p>
            <a:pPr marL="489570" indent="-489570">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Classful addressing, which is almost obsolete, is replaced with classless addressing.</a:t>
            </a:r>
          </a:p>
          <a:p>
            <a:pPr marL="489570" indent="-48957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 </a:t>
            </a:r>
            <a:r>
              <a:rPr lang="en-US" sz="2400" b="1" dirty="0">
                <a:solidFill>
                  <a:srgbClr val="FF0000"/>
                </a:solidFill>
                <a:latin typeface="Times New Roman" panose="02020603050405020304" pitchFamily="18" charset="0"/>
                <a:cs typeface="Times New Roman" panose="02020603050405020304" pitchFamily="18" charset="0"/>
              </a:rPr>
              <a:t>classless addressing</a:t>
            </a:r>
            <a:r>
              <a:rPr lang="en-US" sz="2400" dirty="0">
                <a:latin typeface="Times New Roman" panose="02020603050405020304" pitchFamily="18" charset="0"/>
                <a:cs typeface="Times New Roman" panose="02020603050405020304" pitchFamily="18" charset="0"/>
              </a:rPr>
              <a:t>, the network and host portions are </a:t>
            </a:r>
            <a:r>
              <a:rPr lang="en-US" sz="2400" b="1" dirty="0">
                <a:solidFill>
                  <a:srgbClr val="FF0000"/>
                </a:solidFill>
                <a:latin typeface="Times New Roman" panose="02020603050405020304" pitchFamily="18" charset="0"/>
                <a:cs typeface="Times New Roman" panose="02020603050405020304" pitchFamily="18" charset="0"/>
              </a:rPr>
              <a:t>not fixed</a:t>
            </a:r>
            <a:r>
              <a:rPr lang="en-US" sz="2400" dirty="0">
                <a:latin typeface="Times New Roman" panose="02020603050405020304" pitchFamily="18" charset="0"/>
                <a:cs typeface="Times New Roman" panose="02020603050405020304" pitchFamily="18" charset="0"/>
              </a:rPr>
              <a:t>. We use </a:t>
            </a:r>
            <a:r>
              <a:rPr lang="en-IN" sz="2400" dirty="0">
                <a:solidFill>
                  <a:srgbClr val="00B050"/>
                </a:solidFill>
                <a:latin typeface="Times New Roman" panose="02020603050405020304" pitchFamily="18" charset="0"/>
                <a:cs typeface="Times New Roman" panose="02020603050405020304" pitchFamily="18" charset="0"/>
              </a:rPr>
              <a:t>Classless Inter-Domain Routing</a:t>
            </a:r>
            <a:r>
              <a:rPr lang="en-IN" sz="2400" dirty="0">
                <a:solidFill>
                  <a:srgbClr val="FF0000"/>
                </a:solidFill>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CIDR notation (/n)</a:t>
            </a:r>
            <a:r>
              <a:rPr lang="en-US" sz="2400" dirty="0">
                <a:latin typeface="Times New Roman" panose="02020603050405020304" pitchFamily="18" charset="0"/>
                <a:cs typeface="Times New Roman" panose="02020603050405020304" pitchFamily="18" charset="0"/>
              </a:rPr>
              <a:t> to specify how many bits belong to the network.</a:t>
            </a:r>
            <a:endParaRPr lang="en-US" altLang="en-US" sz="2400" dirty="0">
              <a:latin typeface="Times New Roman" panose="02020603050405020304" pitchFamily="18" charset="0"/>
              <a:cs typeface="Times New Roman" panose="02020603050405020304" pitchFamily="18" charset="0"/>
            </a:endParaRPr>
          </a:p>
          <a:p>
            <a:pPr marL="489570" indent="-489570">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In IPv4 addressing, a block of addresses can be defined as x.y.z.t /n in which x.y.z.t defines one of the addresses and the /n defines the mask.</a:t>
            </a:r>
          </a:p>
        </p:txBody>
      </p:sp>
      <p:sp>
        <p:nvSpPr>
          <p:cNvPr id="4" name="TextBox 3">
            <a:extLst>
              <a:ext uri="{FF2B5EF4-FFF2-40B4-BE49-F238E27FC236}">
                <a16:creationId xmlns:a16="http://schemas.microsoft.com/office/drawing/2014/main" id="{D271FDFF-E673-2F07-FC41-F13C0E615610}"/>
              </a:ext>
            </a:extLst>
          </p:cNvPr>
          <p:cNvSpPr txBox="1"/>
          <p:nvPr/>
        </p:nvSpPr>
        <p:spPr>
          <a:xfrm>
            <a:off x="4074363" y="72799"/>
            <a:ext cx="6527800" cy="751424"/>
          </a:xfrm>
          <a:prstGeom prst="rect">
            <a:avLst/>
          </a:prstGeom>
          <a:noFill/>
        </p:spPr>
        <p:txBody>
          <a:bodyPr wrap="square">
            <a:spAutoFit/>
          </a:bodyPr>
          <a:lstStyle/>
          <a:p>
            <a:r>
              <a:rPr lang="en-US" altLang="en-US" sz="4283" dirty="0">
                <a:solidFill>
                  <a:srgbClr val="3D29CD"/>
                </a:solidFill>
              </a:rPr>
              <a:t>Classless Addressing</a:t>
            </a:r>
            <a:endParaRPr lang="en-IN" sz="4283" dirty="0">
              <a:solidFill>
                <a:srgbClr val="3D29CD"/>
              </a:solidFill>
            </a:endParaRPr>
          </a:p>
        </p:txBody>
      </p:sp>
      <p:graphicFrame>
        <p:nvGraphicFramePr>
          <p:cNvPr id="2" name="Table 1">
            <a:extLst>
              <a:ext uri="{FF2B5EF4-FFF2-40B4-BE49-F238E27FC236}">
                <a16:creationId xmlns:a16="http://schemas.microsoft.com/office/drawing/2014/main" id="{5F3BCAD0-BCC1-3107-C31E-EC1C7B5CE342}"/>
              </a:ext>
            </a:extLst>
          </p:cNvPr>
          <p:cNvGraphicFramePr>
            <a:graphicFrameLocks noGrp="1"/>
          </p:cNvGraphicFramePr>
          <p:nvPr>
            <p:extLst>
              <p:ext uri="{D42A27DB-BD31-4B8C-83A1-F6EECF244321}">
                <p14:modId xmlns:p14="http://schemas.microsoft.com/office/powerpoint/2010/main" val="2933131154"/>
              </p:ext>
            </p:extLst>
          </p:nvPr>
        </p:nvGraphicFramePr>
        <p:xfrm>
          <a:off x="1973677" y="3567656"/>
          <a:ext cx="9358352" cy="3200400"/>
        </p:xfrm>
        <a:graphic>
          <a:graphicData uri="http://schemas.openxmlformats.org/drawingml/2006/table">
            <a:tbl>
              <a:tblPr/>
              <a:tblGrid>
                <a:gridCol w="2609208">
                  <a:extLst>
                    <a:ext uri="{9D8B030D-6E8A-4147-A177-3AD203B41FA5}">
                      <a16:colId xmlns:a16="http://schemas.microsoft.com/office/drawing/2014/main" val="499654068"/>
                    </a:ext>
                  </a:extLst>
                </a:gridCol>
                <a:gridCol w="3679371">
                  <a:extLst>
                    <a:ext uri="{9D8B030D-6E8A-4147-A177-3AD203B41FA5}">
                      <a16:colId xmlns:a16="http://schemas.microsoft.com/office/drawing/2014/main" val="3900814083"/>
                    </a:ext>
                  </a:extLst>
                </a:gridCol>
                <a:gridCol w="3069773">
                  <a:extLst>
                    <a:ext uri="{9D8B030D-6E8A-4147-A177-3AD203B41FA5}">
                      <a16:colId xmlns:a16="http://schemas.microsoft.com/office/drawing/2014/main" val="1947843575"/>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b="1" dirty="0">
                          <a:latin typeface="Times New Roman" panose="02020603050405020304" pitchFamily="18" charset="0"/>
                          <a:cs typeface="Times New Roman" panose="02020603050405020304" pitchFamily="18" charset="0"/>
                        </a:rPr>
                        <a:t>Classful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b="1" dirty="0">
                          <a:latin typeface="Times New Roman" panose="02020603050405020304" pitchFamily="18" charset="0"/>
                          <a:cs typeface="Times New Roman" panose="02020603050405020304" pitchFamily="18" charset="0"/>
                        </a:rPr>
                        <a:t>Classless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928652911"/>
                  </a:ext>
                </a:extLst>
              </a:tr>
              <a:tr h="0">
                <a:tc>
                  <a:txBody>
                    <a:bodyPr/>
                    <a:lstStyle/>
                    <a:p>
                      <a:pPr>
                        <a:buNone/>
                      </a:pPr>
                      <a:r>
                        <a:rPr lang="en-IN" sz="2400" dirty="0">
                          <a:latin typeface="Times New Roman" panose="02020603050405020304" pitchFamily="18" charset="0"/>
                          <a:cs typeface="Times New Roman" panose="02020603050405020304" pitchFamily="18" charset="0"/>
                        </a:rPr>
                        <a:t>Network ID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Fixed (based on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Flexible (user-defined)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919104526"/>
                  </a:ext>
                </a:extLst>
              </a:tr>
              <a:tr h="0">
                <a:tc>
                  <a:txBody>
                    <a:bodyPr/>
                    <a:lstStyle/>
                    <a:p>
                      <a:pPr>
                        <a:buNone/>
                      </a:pPr>
                      <a:r>
                        <a:rPr lang="en-IN" sz="2400" dirty="0">
                          <a:latin typeface="Times New Roman" panose="02020603050405020304" pitchFamily="18" charset="0"/>
                          <a:cs typeface="Times New Roman" panose="02020603050405020304" pitchFamily="18" charset="0"/>
                        </a:rPr>
                        <a:t>Subnet Mask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Default (e.g., /8, /16, /24)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Custom (e.g., /20, /26)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064994440"/>
                  </a:ext>
                </a:extLst>
              </a:tr>
              <a:tr h="0">
                <a:tc>
                  <a:txBody>
                    <a:bodyPr/>
                    <a:lstStyle/>
                    <a:p>
                      <a:pPr>
                        <a:buNone/>
                      </a:pPr>
                      <a:r>
                        <a:rPr lang="en-IN" sz="2400" dirty="0">
                          <a:latin typeface="Times New Roman" panose="02020603050405020304" pitchFamily="18" charset="0"/>
                          <a:cs typeface="Times New Roman" panose="02020603050405020304" pitchFamily="18" charset="0"/>
                        </a:rPr>
                        <a:t>Routing Protocol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US" sz="2400" dirty="0">
                          <a:latin typeface="Times New Roman" panose="02020603050405020304" pitchFamily="18" charset="0"/>
                          <a:cs typeface="Times New Roman" panose="02020603050405020304" pitchFamily="18" charset="0"/>
                        </a:rPr>
                        <a:t>Does not send mask info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Sends mask info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66634335"/>
                  </a:ext>
                </a:extLst>
              </a:tr>
              <a:tr h="0">
                <a:tc>
                  <a:txBody>
                    <a:bodyPr/>
                    <a:lstStyle/>
                    <a:p>
                      <a:pPr>
                        <a:buNone/>
                      </a:pPr>
                      <a:r>
                        <a:rPr lang="en-IN" sz="2400">
                          <a:latin typeface="Times New Roman" panose="02020603050405020304" pitchFamily="18" charset="0"/>
                          <a:cs typeface="Times New Roman" panose="02020603050405020304" pitchFamily="18" charset="0"/>
                        </a:rPr>
                        <a:t>IP Utilization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Inefficient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40975916"/>
                  </a:ext>
                </a:extLst>
              </a:tr>
              <a:tr h="0">
                <a:tc>
                  <a:txBody>
                    <a:bodyPr/>
                    <a:lstStyle/>
                    <a:p>
                      <a:pPr>
                        <a:buNone/>
                      </a:pPr>
                      <a:r>
                        <a:rPr lang="en-IN" sz="2400">
                          <a:latin typeface="Times New Roman" panose="02020603050405020304" pitchFamily="18" charset="0"/>
                          <a:cs typeface="Times New Roman" panose="02020603050405020304" pitchFamily="18" charset="0"/>
                        </a:rPr>
                        <a:t>Supports VLSM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 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244071043"/>
                  </a:ext>
                </a:extLst>
              </a:tr>
              <a:tr h="0">
                <a:tc>
                  <a:txBody>
                    <a:bodyPr/>
                    <a:lstStyle/>
                    <a:p>
                      <a:pPr>
                        <a:buNone/>
                      </a:pPr>
                      <a:r>
                        <a:rPr lang="en-IN" sz="2400">
                          <a:latin typeface="Times New Roman" panose="02020603050405020304" pitchFamily="18" charset="0"/>
                          <a:cs typeface="Times New Roman" panose="02020603050405020304" pitchFamily="18" charset="0"/>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192.168.1.0 (Class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192.168.1.0/26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1830299"/>
                  </a:ext>
                </a:extLst>
              </a:tr>
            </a:tbl>
          </a:graphicData>
        </a:graphic>
      </p:graphicFrame>
    </p:spTree>
    <p:extLst>
      <p:ext uri="{BB962C8B-B14F-4D97-AF65-F5344CB8AC3E}">
        <p14:creationId xmlns:p14="http://schemas.microsoft.com/office/powerpoint/2010/main" val="314294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11929" y="350624"/>
                <a:ext cx="12859785" cy="4125756"/>
              </a:xfrm>
            </p:spPr>
            <p:txBody>
              <a:bodyPr>
                <a:normAutofit/>
              </a:bodyPr>
              <a:lstStyle/>
              <a:p>
                <a:pPr marL="0" indent="0">
                  <a:buNone/>
                </a:pPr>
                <a:endParaRPr lang="en-US" sz="257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Each address in the block can be considered as a two-level hierarchical structure.</a:t>
                </a:r>
              </a:p>
              <a:p>
                <a:pPr>
                  <a:lnSpc>
                    <a:spcPct val="12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Prefix, defines the </a:t>
                </a:r>
                <a:r>
                  <a:rPr lang="en-US" sz="2800" dirty="0">
                    <a:solidFill>
                      <a:srgbClr val="FF0000"/>
                    </a:solidFill>
                    <a:latin typeface="Times New Roman" panose="02020603050405020304" pitchFamily="18" charset="0"/>
                    <a:cs typeface="Times New Roman" panose="02020603050405020304" pitchFamily="18" charset="0"/>
                  </a:rPr>
                  <a:t>network</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dirty="0">
                        <a:solidFill>
                          <a:schemeClr val="accent2">
                            <a:lumMod val="75000"/>
                          </a:schemeClr>
                        </a:solidFill>
                        <a:latin typeface="Cambria Math" panose="02040503050406030204" pitchFamily="18" charset="0"/>
                        <a:cs typeface="Times New Roman" panose="02020603050405020304" pitchFamily="18" charset="0"/>
                      </a:rPr>
                      <m:t>𝑛</m:t>
                    </m:r>
                  </m:oMath>
                </a14:m>
                <a:r>
                  <a:rPr lang="en-US" sz="2800" dirty="0">
                    <a:solidFill>
                      <a:schemeClr val="accent2">
                        <a:lumMod val="75000"/>
                      </a:schemeClr>
                    </a:solidFill>
                    <a:latin typeface="Times New Roman" panose="02020603050405020304" pitchFamily="18" charset="0"/>
                    <a:cs typeface="Times New Roman" panose="02020603050405020304" pitchFamily="18" charset="0"/>
                  </a:rPr>
                  <a:t> bits)</a:t>
                </a:r>
                <a:r>
                  <a:rPr lang="en-US" sz="2800" dirty="0">
                    <a:latin typeface="Times New Roman" panose="02020603050405020304" pitchFamily="18" charset="0"/>
                    <a:cs typeface="Times New Roman" panose="02020603050405020304" pitchFamily="18" charset="0"/>
                  </a:rPr>
                  <a:t>.  Suffix, defines </a:t>
                </a:r>
                <a:r>
                  <a:rPr lang="en-US" sz="2800" dirty="0">
                    <a:solidFill>
                      <a:srgbClr val="FF0000"/>
                    </a:solidFill>
                    <a:latin typeface="Times New Roman" panose="02020603050405020304" pitchFamily="18" charset="0"/>
                    <a:cs typeface="Times New Roman" panose="02020603050405020304" pitchFamily="18" charset="0"/>
                  </a:rPr>
                  <a:t>connection of a device </a:t>
                </a:r>
                <a:r>
                  <a:rPr lang="en-US" sz="2800" dirty="0">
                    <a:latin typeface="Times New Roman" panose="02020603050405020304" pitchFamily="18" charset="0"/>
                    <a:cs typeface="Times New Roman" panose="02020603050405020304" pitchFamily="18" charset="0"/>
                  </a:rPr>
                  <a:t>to the Internet (</a:t>
                </a:r>
                <a:r>
                  <a:rPr lang="en-US" sz="2800" dirty="0">
                    <a:solidFill>
                      <a:schemeClr val="accent2">
                        <a:lumMod val="75000"/>
                      </a:schemeClr>
                    </a:solidFill>
                    <a:latin typeface="Times New Roman" panose="02020603050405020304" pitchFamily="18" charset="0"/>
                    <a:cs typeface="Times New Roman" panose="02020603050405020304" pitchFamily="18" charset="0"/>
                  </a:rPr>
                  <a:t>32-</a:t>
                </a:r>
                <a14:m>
                  <m:oMath xmlns:m="http://schemas.openxmlformats.org/officeDocument/2006/math">
                    <m:r>
                      <a:rPr lang="en-US" sz="2800" i="1" dirty="0">
                        <a:solidFill>
                          <a:schemeClr val="accent2">
                            <a:lumMod val="75000"/>
                          </a:schemeClr>
                        </a:solidFill>
                        <a:latin typeface="Cambria Math" panose="02040503050406030204" pitchFamily="18" charset="0"/>
                        <a:cs typeface="Times New Roman" panose="02020603050405020304" pitchFamily="18" charset="0"/>
                      </a:rPr>
                      <m:t>𝑛</m:t>
                    </m:r>
                  </m:oMath>
                </a14:m>
                <a:r>
                  <a:rPr lang="en-US" sz="2800" dirty="0">
                    <a:solidFill>
                      <a:schemeClr val="accent2">
                        <a:lumMod val="75000"/>
                      </a:schemeClr>
                    </a:solidFill>
                    <a:latin typeface="Times New Roman" panose="02020603050405020304" pitchFamily="18" charset="0"/>
                    <a:cs typeface="Times New Roman" panose="02020603050405020304" pitchFamily="18" charset="0"/>
                  </a:rPr>
                  <a:t> bits</a:t>
                </a:r>
                <a:r>
                  <a:rPr lang="en-US" sz="28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The </a:t>
                </a:r>
                <a:r>
                  <a:rPr lang="en-US" altLang="en-US" sz="2800" dirty="0">
                    <a:solidFill>
                      <a:schemeClr val="accent5">
                        <a:lumMod val="75000"/>
                      </a:schemeClr>
                    </a:solidFill>
                    <a:latin typeface="Times New Roman" panose="02020603050405020304" pitchFamily="18" charset="0"/>
                    <a:cs typeface="Times New Roman" panose="02020603050405020304" pitchFamily="18" charset="0"/>
                  </a:rPr>
                  <a:t>first address </a:t>
                </a:r>
                <a:r>
                  <a:rPr lang="en-US" altLang="en-US" sz="2800" dirty="0">
                    <a:latin typeface="Times New Roman" panose="02020603050405020304" pitchFamily="18" charset="0"/>
                    <a:cs typeface="Times New Roman" panose="02020603050405020304" pitchFamily="18" charset="0"/>
                  </a:rPr>
                  <a:t>in the block can be found by setting the rightmost </a:t>
                </a:r>
                <a:r>
                  <a:rPr lang="en-US" altLang="en-US" sz="2800" dirty="0">
                    <a:solidFill>
                      <a:schemeClr val="accent5">
                        <a:lumMod val="75000"/>
                      </a:schemeClr>
                    </a:solidFill>
                    <a:latin typeface="Times New Roman" panose="02020603050405020304" pitchFamily="18" charset="0"/>
                    <a:cs typeface="Times New Roman" panose="02020603050405020304" pitchFamily="18" charset="0"/>
                  </a:rPr>
                  <a:t>(32 − n) bits to 0s</a:t>
                </a:r>
                <a:r>
                  <a:rPr lang="en-US" altLang="en-US" sz="28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The </a:t>
                </a:r>
                <a:r>
                  <a:rPr lang="en-US" altLang="en-US" sz="2800" dirty="0">
                    <a:solidFill>
                      <a:srgbClr val="00B050"/>
                    </a:solidFill>
                    <a:latin typeface="Times New Roman" panose="02020603050405020304" pitchFamily="18" charset="0"/>
                    <a:cs typeface="Times New Roman" panose="02020603050405020304" pitchFamily="18" charset="0"/>
                  </a:rPr>
                  <a:t>last address </a:t>
                </a:r>
                <a:r>
                  <a:rPr lang="en-US" altLang="en-US" sz="2800" dirty="0">
                    <a:latin typeface="Times New Roman" panose="02020603050405020304" pitchFamily="18" charset="0"/>
                    <a:cs typeface="Times New Roman" panose="02020603050405020304" pitchFamily="18" charset="0"/>
                  </a:rPr>
                  <a:t>in the block can be found by setting the rightmost </a:t>
                </a:r>
                <a:r>
                  <a:rPr lang="en-US" altLang="en-US" sz="2800" dirty="0">
                    <a:solidFill>
                      <a:srgbClr val="00B050"/>
                    </a:solidFill>
                    <a:latin typeface="Times New Roman" panose="02020603050405020304" pitchFamily="18" charset="0"/>
                    <a:cs typeface="Times New Roman" panose="02020603050405020304" pitchFamily="18" charset="0"/>
                  </a:rPr>
                  <a:t>(32 − n) bits to 1s</a:t>
                </a:r>
                <a:r>
                  <a:rPr lang="en-US" alt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The </a:t>
                </a:r>
                <a:r>
                  <a:rPr lang="en-US" altLang="en-US" sz="2800" dirty="0">
                    <a:solidFill>
                      <a:srgbClr val="7030A0"/>
                    </a:solidFill>
                    <a:latin typeface="Times New Roman" panose="02020603050405020304" pitchFamily="18" charset="0"/>
                    <a:cs typeface="Times New Roman" panose="02020603050405020304" pitchFamily="18" charset="0"/>
                  </a:rPr>
                  <a:t>number of addresses </a:t>
                </a:r>
                <a:r>
                  <a:rPr lang="en-US" altLang="en-US" sz="2800" dirty="0">
                    <a:latin typeface="Times New Roman" panose="02020603050405020304" pitchFamily="18" charset="0"/>
                    <a:cs typeface="Times New Roman" panose="02020603050405020304" pitchFamily="18" charset="0"/>
                  </a:rPr>
                  <a:t>in the block </a:t>
                </a:r>
                <a:r>
                  <a:rPr lang="en-US" altLang="en-US" sz="2800" dirty="0">
                    <a:solidFill>
                      <a:srgbClr val="7030A0"/>
                    </a:solidFill>
                    <a:latin typeface="Times New Roman" panose="02020603050405020304" pitchFamily="18" charset="0"/>
                    <a:cs typeface="Times New Roman" panose="02020603050405020304" pitchFamily="18" charset="0"/>
                  </a:rPr>
                  <a:t>2</a:t>
                </a:r>
                <a:r>
                  <a:rPr lang="en-US" altLang="en-US" sz="2800" baseline="30000" dirty="0">
                    <a:solidFill>
                      <a:srgbClr val="7030A0"/>
                    </a:solidFill>
                    <a:latin typeface="Times New Roman" panose="02020603050405020304" pitchFamily="18" charset="0"/>
                    <a:cs typeface="Times New Roman" panose="02020603050405020304" pitchFamily="18" charset="0"/>
                  </a:rPr>
                  <a:t>32−n</a:t>
                </a:r>
                <a:endParaRPr lang="en-US" sz="2800" dirty="0">
                  <a:solidFill>
                    <a:srgbClr val="7030A0"/>
                  </a:solidFill>
                  <a:latin typeface="Times New Roman" panose="02020603050405020304" pitchFamily="18" charset="0"/>
                  <a:cs typeface="Times New Roman" panose="02020603050405020304" pitchFamily="18" charset="0"/>
                </a:endParaRPr>
              </a:p>
              <a:p>
                <a:pPr marL="0" indent="0">
                  <a:buNone/>
                </a:pPr>
                <a:endParaRPr lang="en-US" dirty="0">
                  <a:solidFill>
                    <a:schemeClr val="accent1"/>
                  </a:solidFill>
                  <a:latin typeface="Times New Roman" panose="02020603050405020304" pitchFamily="18" charset="0"/>
                  <a:cs typeface="Times New Roman" panose="02020603050405020304" pitchFamily="18" charset="0"/>
                </a:endParaRPr>
              </a:p>
              <a:p>
                <a:pPr marL="0" indent="0">
                  <a:buNone/>
                </a:pPr>
                <a:endParaRPr lang="en-US" dirty="0">
                  <a:solidFill>
                    <a:schemeClr val="accent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11929" y="350624"/>
                <a:ext cx="12859785" cy="4125756"/>
              </a:xfrm>
              <a:blipFill>
                <a:blip r:embed="rId2"/>
                <a:stretch>
                  <a:fillRect l="-806" b="-296"/>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08E7A294-67BA-F572-DE4A-5B7218C1C013}"/>
              </a:ext>
            </a:extLst>
          </p:cNvPr>
          <p:cNvSpPr txBox="1"/>
          <p:nvPr/>
        </p:nvSpPr>
        <p:spPr>
          <a:xfrm>
            <a:off x="4498905" y="92303"/>
            <a:ext cx="6527800" cy="751424"/>
          </a:xfrm>
          <a:prstGeom prst="rect">
            <a:avLst/>
          </a:prstGeom>
          <a:noFill/>
        </p:spPr>
        <p:txBody>
          <a:bodyPr wrap="square">
            <a:spAutoFit/>
          </a:bodyPr>
          <a:lstStyle/>
          <a:p>
            <a:r>
              <a:rPr lang="en-US" altLang="en-US" sz="4283" dirty="0">
                <a:solidFill>
                  <a:srgbClr val="3D29CD"/>
                </a:solidFill>
              </a:rPr>
              <a:t>Classless Addressing</a:t>
            </a:r>
            <a:endParaRPr lang="en-IN" sz="4283" dirty="0">
              <a:solidFill>
                <a:srgbClr val="3D29CD"/>
              </a:solidFill>
            </a:endParaRPr>
          </a:p>
        </p:txBody>
      </p:sp>
      <p:pic>
        <p:nvPicPr>
          <p:cNvPr id="3074" name="Picture 2" descr="classless addressing">
            <a:extLst>
              <a:ext uri="{FF2B5EF4-FFF2-40B4-BE49-F238E27FC236}">
                <a16:creationId xmlns:a16="http://schemas.microsoft.com/office/drawing/2014/main" id="{D8A1A39F-8DB7-36F9-D62C-DA5747C99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1413" y="4476380"/>
            <a:ext cx="5498480" cy="17548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E860276D-D7C5-F968-8B4D-EAF7F2819DE2}"/>
              </a:ext>
            </a:extLst>
          </p:cNvPr>
          <p:cNvGraphicFramePr>
            <a:graphicFrameLocks noGrp="1"/>
          </p:cNvGraphicFramePr>
          <p:nvPr>
            <p:extLst>
              <p:ext uri="{D42A27DB-BD31-4B8C-83A1-F6EECF244321}">
                <p14:modId xmlns:p14="http://schemas.microsoft.com/office/powerpoint/2010/main" val="3780310862"/>
              </p:ext>
            </p:extLst>
          </p:nvPr>
        </p:nvGraphicFramePr>
        <p:xfrm>
          <a:off x="311929" y="4734701"/>
          <a:ext cx="6573384" cy="1666240"/>
        </p:xfrm>
        <a:graphic>
          <a:graphicData uri="http://schemas.openxmlformats.org/drawingml/2006/table">
            <a:tbl>
              <a:tblPr/>
              <a:tblGrid>
                <a:gridCol w="2871108">
                  <a:extLst>
                    <a:ext uri="{9D8B030D-6E8A-4147-A177-3AD203B41FA5}">
                      <a16:colId xmlns:a16="http://schemas.microsoft.com/office/drawing/2014/main" val="544322475"/>
                    </a:ext>
                  </a:extLst>
                </a:gridCol>
                <a:gridCol w="3702276">
                  <a:extLst>
                    <a:ext uri="{9D8B030D-6E8A-4147-A177-3AD203B41FA5}">
                      <a16:colId xmlns:a16="http://schemas.microsoft.com/office/drawing/2014/main" val="2213268887"/>
                    </a:ext>
                  </a:extLst>
                </a:gridCol>
              </a:tblGrid>
              <a:tr h="0">
                <a:tc>
                  <a:txBody>
                    <a:bodyPr/>
                    <a:lstStyle/>
                    <a:p>
                      <a:pPr>
                        <a:buNone/>
                      </a:pPr>
                      <a:r>
                        <a:rPr lang="en-IN" sz="2400" dirty="0">
                          <a:effectLst/>
                          <a:latin typeface="Times New Roman" panose="02020603050405020304" pitchFamily="18" charset="0"/>
                          <a:cs typeface="Times New Roman" panose="02020603050405020304" pitchFamily="18" charset="0"/>
                        </a:rPr>
                        <a:t>Network address</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2400" dirty="0">
                          <a:effectLst/>
                          <a:latin typeface="Times New Roman" panose="02020603050405020304" pitchFamily="18" charset="0"/>
                          <a:cs typeface="Times New Roman" panose="02020603050405020304" pitchFamily="18" charset="0"/>
                        </a:rPr>
                        <a:t>The first address in a block of IP addresses</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300116116"/>
                  </a:ext>
                </a:extLst>
              </a:tr>
              <a:tr h="0">
                <a:tc>
                  <a:txBody>
                    <a:bodyPr/>
                    <a:lstStyle/>
                    <a:p>
                      <a:pPr>
                        <a:buNone/>
                      </a:pPr>
                      <a:r>
                        <a:rPr lang="en-IN" sz="2400">
                          <a:effectLst/>
                          <a:latin typeface="Times New Roman" panose="02020603050405020304" pitchFamily="18" charset="0"/>
                          <a:cs typeface="Times New Roman" panose="02020603050405020304" pitchFamily="18" charset="0"/>
                        </a:rPr>
                        <a:t>Broadcast address</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US" sz="2400" dirty="0">
                          <a:effectLst/>
                          <a:latin typeface="Times New Roman" panose="02020603050405020304" pitchFamily="18" charset="0"/>
                          <a:cs typeface="Times New Roman" panose="02020603050405020304" pitchFamily="18" charset="0"/>
                        </a:rPr>
                        <a:t>The last address in a block of IP addresses</a:t>
                      </a: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6425927"/>
                  </a:ext>
                </a:extLst>
              </a:tr>
            </a:tbl>
          </a:graphicData>
        </a:graphic>
      </p:graphicFrame>
    </p:spTree>
    <p:extLst>
      <p:ext uri="{BB962C8B-B14F-4D97-AF65-F5344CB8AC3E}">
        <p14:creationId xmlns:p14="http://schemas.microsoft.com/office/powerpoint/2010/main" val="2212922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9" name="Rectangle 9">
            <a:extLst>
              <a:ext uri="{FF2B5EF4-FFF2-40B4-BE49-F238E27FC236}">
                <a16:creationId xmlns:a16="http://schemas.microsoft.com/office/drawing/2014/main" id="{ECAE7B47-E562-B12F-71A8-99A9B8B669FE}"/>
              </a:ext>
            </a:extLst>
          </p:cNvPr>
          <p:cNvSpPr>
            <a:spLocks noChangeArrowheads="1"/>
          </p:cNvSpPr>
          <p:nvPr/>
        </p:nvSpPr>
        <p:spPr bwMode="auto">
          <a:xfrm>
            <a:off x="378113" y="751424"/>
            <a:ext cx="11779959" cy="4705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998" i="1" dirty="0">
                <a:solidFill>
                  <a:srgbClr val="FF0000"/>
                </a:solidFill>
                <a:latin typeface="Times New Roman" panose="02020603050405020304" pitchFamily="18" charset="0"/>
              </a:rPr>
              <a:t>A block of addresses is granted to a small organization. We know that one of the addresses is 205.16.37.39/28. What is the first address in the block?</a:t>
            </a:r>
          </a:p>
          <a:p>
            <a:pPr algn="just"/>
            <a:endParaRPr lang="en-US" altLang="en-US" sz="2998" i="1" dirty="0">
              <a:latin typeface="Times New Roman" panose="02020603050405020304" pitchFamily="18" charset="0"/>
            </a:endParaRPr>
          </a:p>
          <a:p>
            <a:pPr algn="just"/>
            <a:r>
              <a:rPr lang="en-US" altLang="en-US" sz="2998" dirty="0">
                <a:solidFill>
                  <a:schemeClr val="hlink"/>
                </a:solidFill>
                <a:latin typeface="Times New Roman" panose="02020603050405020304" pitchFamily="18" charset="0"/>
              </a:rPr>
              <a:t>Solution</a:t>
            </a:r>
          </a:p>
          <a:p>
            <a:pPr algn="just"/>
            <a:r>
              <a:rPr lang="en-US" altLang="en-US" sz="2998" dirty="0">
                <a:latin typeface="Times New Roman" panose="02020603050405020304" pitchFamily="18" charset="0"/>
              </a:rPr>
              <a:t>The binary representation of the given address is</a:t>
            </a:r>
          </a:p>
          <a:p>
            <a:pPr algn="ctr"/>
            <a:r>
              <a:rPr lang="en-US" altLang="en-US" sz="2998" dirty="0">
                <a:solidFill>
                  <a:srgbClr val="92D050"/>
                </a:solidFill>
                <a:latin typeface="Times New Roman" panose="02020603050405020304" pitchFamily="18" charset="0"/>
              </a:rPr>
              <a:t>11001101   00010000   00100101   0010 </a:t>
            </a:r>
            <a:r>
              <a:rPr lang="en-US" altLang="en-US" sz="2998" dirty="0">
                <a:solidFill>
                  <a:schemeClr val="accent1"/>
                </a:solidFill>
                <a:latin typeface="Times New Roman" panose="02020603050405020304" pitchFamily="18" charset="0"/>
              </a:rPr>
              <a:t>0111</a:t>
            </a:r>
          </a:p>
          <a:p>
            <a:r>
              <a:rPr lang="en-US" altLang="en-US" sz="2998" dirty="0">
                <a:latin typeface="Times New Roman" panose="02020603050405020304" pitchFamily="18" charset="0"/>
              </a:rPr>
              <a:t>If we set 32−28 rightmost bits to 0, we get </a:t>
            </a:r>
          </a:p>
          <a:p>
            <a:pPr algn="ctr"/>
            <a:r>
              <a:rPr lang="en-US" altLang="en-US" sz="2998" dirty="0">
                <a:solidFill>
                  <a:srgbClr val="92D050"/>
                </a:solidFill>
                <a:latin typeface="Times New Roman" panose="02020603050405020304" pitchFamily="18" charset="0"/>
              </a:rPr>
              <a:t>11001101    00010000    00100101   0001 </a:t>
            </a:r>
            <a:r>
              <a:rPr lang="en-US" altLang="en-US" sz="2998" dirty="0">
                <a:solidFill>
                  <a:schemeClr val="folHlink"/>
                </a:solidFill>
                <a:highlight>
                  <a:srgbClr val="FFFF00"/>
                </a:highlight>
                <a:latin typeface="Times New Roman" panose="02020603050405020304" pitchFamily="18" charset="0"/>
              </a:rPr>
              <a:t>0000</a:t>
            </a:r>
            <a:r>
              <a:rPr lang="en-US" altLang="en-US" sz="2998" dirty="0">
                <a:latin typeface="Times New Roman" panose="02020603050405020304" pitchFamily="18" charset="0"/>
              </a:rPr>
              <a:t> </a:t>
            </a:r>
          </a:p>
          <a:p>
            <a:pPr algn="ctr"/>
            <a:r>
              <a:rPr lang="en-US" altLang="en-US" sz="2998" dirty="0">
                <a:latin typeface="Times New Roman" panose="02020603050405020304" pitchFamily="18" charset="0"/>
              </a:rPr>
              <a:t>or </a:t>
            </a:r>
            <a:br>
              <a:rPr lang="en-US" altLang="en-US" sz="2998" dirty="0">
                <a:latin typeface="Times New Roman" panose="02020603050405020304" pitchFamily="18" charset="0"/>
              </a:rPr>
            </a:br>
            <a:r>
              <a:rPr lang="en-US" altLang="en-US" sz="2998" dirty="0">
                <a:solidFill>
                  <a:schemeClr val="folHlink"/>
                </a:solidFill>
                <a:latin typeface="Times New Roman" panose="02020603050405020304" pitchFamily="18" charset="0"/>
              </a:rPr>
              <a:t>205.16.37.32</a:t>
            </a:r>
            <a:r>
              <a:rPr lang="en-US" altLang="en-US" sz="2998" dirty="0">
                <a:latin typeface="Times New Roman" panose="02020603050405020304" pitchFamily="18" charset="0"/>
              </a:rPr>
              <a:t>. </a:t>
            </a:r>
          </a:p>
        </p:txBody>
      </p:sp>
      <p:pic>
        <p:nvPicPr>
          <p:cNvPr id="3" name="Picture 2" descr="classless addressing">
            <a:extLst>
              <a:ext uri="{FF2B5EF4-FFF2-40B4-BE49-F238E27FC236}">
                <a16:creationId xmlns:a16="http://schemas.microsoft.com/office/drawing/2014/main" id="{B12D4E98-8ADD-E5DA-7D1E-FADB26613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1384" y="4837517"/>
            <a:ext cx="5498480" cy="17548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A83ACC-E522-30E0-6ED3-242333BDB55B}"/>
              </a:ext>
            </a:extLst>
          </p:cNvPr>
          <p:cNvSpPr txBox="1"/>
          <p:nvPr/>
        </p:nvSpPr>
        <p:spPr>
          <a:xfrm>
            <a:off x="5438547" y="140007"/>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34B30-DED8-AD9C-8D4F-C3C5D0EBB419}"/>
              </a:ext>
            </a:extLst>
          </p:cNvPr>
          <p:cNvSpPr txBox="1"/>
          <p:nvPr/>
        </p:nvSpPr>
        <p:spPr>
          <a:xfrm>
            <a:off x="154683" y="890867"/>
            <a:ext cx="5635511" cy="6340197"/>
          </a:xfrm>
          <a:prstGeom prst="rect">
            <a:avLst/>
          </a:prstGeom>
          <a:noFill/>
        </p:spPr>
        <p:txBody>
          <a:bodyPr wrap="square">
            <a:spAutoFit/>
          </a:bodyPr>
          <a:lstStyle/>
          <a:p>
            <a:pPr marL="342900" indent="-342900">
              <a:buFont typeface="Wingdings" panose="05000000000000000000" pitchFamily="2" charset="2"/>
              <a:buChar char="ü"/>
            </a:pPr>
            <a:r>
              <a:rPr lang="en-US" sz="2800" b="0" i="0" dirty="0">
                <a:effectLst/>
                <a:latin typeface="Times New Roman" panose="02020603050405020304" pitchFamily="18" charset="0"/>
                <a:cs typeface="Times New Roman" panose="02020603050405020304" pitchFamily="18" charset="0"/>
              </a:rPr>
              <a:t>Subnetting is a method of dividing a single physical network into logical sub-networks (subnets). </a:t>
            </a: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improves </a:t>
            </a:r>
            <a:r>
              <a:rPr lang="en-US" sz="2800" b="1" dirty="0">
                <a:latin typeface="Times New Roman" panose="02020603050405020304" pitchFamily="18" charset="0"/>
                <a:cs typeface="Times New Roman" panose="02020603050405020304" pitchFamily="18" charset="0"/>
              </a:rPr>
              <a:t>network efficiency, security, and management</a:t>
            </a:r>
            <a:r>
              <a:rPr lang="en-US" sz="28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 </a:t>
            </a:r>
            <a:r>
              <a:rPr lang="en-US" sz="2800" b="1" dirty="0">
                <a:latin typeface="Times New Roman" panose="02020603050405020304" pitchFamily="18" charset="0"/>
                <a:cs typeface="Times New Roman" panose="02020603050405020304" pitchFamily="18" charset="0"/>
              </a:rPr>
              <a:t>FLSM</a:t>
            </a:r>
            <a:r>
              <a:rPr lang="en-US" sz="2800" dirty="0">
                <a:latin typeface="Times New Roman" panose="02020603050405020304" pitchFamily="18" charset="0"/>
                <a:cs typeface="Times New Roman" panose="02020603050405020304" pitchFamily="18" charset="0"/>
              </a:rPr>
              <a:t>, all subnets have the </a:t>
            </a:r>
            <a:r>
              <a:rPr lang="en-US" sz="2800" b="1" dirty="0">
                <a:latin typeface="Times New Roman" panose="02020603050405020304" pitchFamily="18" charset="0"/>
                <a:cs typeface="Times New Roman" panose="02020603050405020304" pitchFamily="18" charset="0"/>
              </a:rPr>
              <a:t>same subnet mask</a:t>
            </a:r>
            <a:r>
              <a:rPr lang="en-US" sz="2800" dirty="0">
                <a:latin typeface="Times New Roman" panose="02020603050405020304" pitchFamily="18" charset="0"/>
                <a:cs typeface="Times New Roman" panose="02020603050405020304" pitchFamily="18" charset="0"/>
              </a:rPr>
              <a:t> and therefore </a:t>
            </a:r>
            <a:r>
              <a:rPr lang="en-US" sz="2800" b="1" dirty="0">
                <a:latin typeface="Times New Roman" panose="02020603050405020304" pitchFamily="18" charset="0"/>
                <a:cs typeface="Times New Roman" panose="02020603050405020304" pitchFamily="18" charset="0"/>
              </a:rPr>
              <a:t>equal number of hosts</a:t>
            </a:r>
            <a:r>
              <a:rPr lang="en-US" sz="28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 </a:t>
            </a:r>
            <a:r>
              <a:rPr lang="en-US" sz="2800" b="1" dirty="0">
                <a:latin typeface="Times New Roman" panose="02020603050405020304" pitchFamily="18" charset="0"/>
                <a:cs typeface="Times New Roman" panose="02020603050405020304" pitchFamily="18" charset="0"/>
              </a:rPr>
              <a:t>VLSM</a:t>
            </a:r>
            <a:r>
              <a:rPr lang="en-US" sz="2800" dirty="0">
                <a:latin typeface="Times New Roman" panose="02020603050405020304" pitchFamily="18" charset="0"/>
                <a:cs typeface="Times New Roman" panose="02020603050405020304" pitchFamily="18" charset="0"/>
              </a:rPr>
              <a:t>, subnets can have </a:t>
            </a:r>
            <a:r>
              <a:rPr lang="en-US" sz="2800" b="1" dirty="0">
                <a:latin typeface="Times New Roman" panose="02020603050405020304" pitchFamily="18" charset="0"/>
                <a:cs typeface="Times New Roman" panose="02020603050405020304" pitchFamily="18" charset="0"/>
              </a:rPr>
              <a:t>different subnet masks</a:t>
            </a:r>
            <a:r>
              <a:rPr lang="en-US" sz="2800" dirty="0">
                <a:latin typeface="Times New Roman" panose="02020603050405020304" pitchFamily="18" charset="0"/>
                <a:cs typeface="Times New Roman" panose="02020603050405020304" pitchFamily="18" charset="0"/>
              </a:rPr>
              <a:t>, allowing for </a:t>
            </a:r>
            <a:r>
              <a:rPr lang="en-US" sz="2800" b="1" dirty="0">
                <a:latin typeface="Times New Roman" panose="02020603050405020304" pitchFamily="18" charset="0"/>
                <a:cs typeface="Times New Roman" panose="02020603050405020304" pitchFamily="18" charset="0"/>
              </a:rPr>
              <a:t>different host counts</a:t>
            </a:r>
            <a:r>
              <a:rPr lang="en-US" sz="2800" dirty="0">
                <a:latin typeface="Times New Roman" panose="02020603050405020304" pitchFamily="18" charset="0"/>
                <a:cs typeface="Times New Roman" panose="02020603050405020304" pitchFamily="18" charset="0"/>
              </a:rPr>
              <a:t> per subnet. It’s more </a:t>
            </a:r>
            <a:r>
              <a:rPr lang="en-US" sz="2800" b="1" dirty="0">
                <a:latin typeface="Times New Roman" panose="02020603050405020304" pitchFamily="18" charset="0"/>
                <a:cs typeface="Times New Roman" panose="02020603050405020304" pitchFamily="18" charset="0"/>
              </a:rPr>
              <a:t>efficient</a:t>
            </a:r>
            <a:r>
              <a:rPr lang="en-US" sz="2800" dirty="0">
                <a:latin typeface="Times New Roman" panose="02020603050405020304" pitchFamily="18" charset="0"/>
                <a:cs typeface="Times New Roman" panose="02020603050405020304" pitchFamily="18" charset="0"/>
              </a:rPr>
              <a:t> because it avoids IP wastage.</a:t>
            </a:r>
          </a:p>
          <a:p>
            <a:endParaRPr lang="en-US" sz="2400" b="0" i="0" dirty="0">
              <a:effectLst/>
              <a:latin typeface="Times New Roman" panose="02020603050405020304" pitchFamily="18" charset="0"/>
              <a:cs typeface="Times New Roman" panose="02020603050405020304" pitchFamily="18" charset="0"/>
            </a:endParaRPr>
          </a:p>
          <a:p>
            <a:endParaRPr lang="en-IN" dirty="0"/>
          </a:p>
        </p:txBody>
      </p:sp>
      <p:sp>
        <p:nvSpPr>
          <p:cNvPr id="17" name="TextBox 16">
            <a:extLst>
              <a:ext uri="{FF2B5EF4-FFF2-40B4-BE49-F238E27FC236}">
                <a16:creationId xmlns:a16="http://schemas.microsoft.com/office/drawing/2014/main" id="{53E0D9D2-E468-07AF-4C0F-D49F3A48182C}"/>
              </a:ext>
            </a:extLst>
          </p:cNvPr>
          <p:cNvSpPr txBox="1"/>
          <p:nvPr/>
        </p:nvSpPr>
        <p:spPr>
          <a:xfrm>
            <a:off x="2476501" y="112711"/>
            <a:ext cx="2691491" cy="707886"/>
          </a:xfrm>
          <a:prstGeom prst="rect">
            <a:avLst/>
          </a:prstGeom>
          <a:noFill/>
        </p:spPr>
        <p:txBody>
          <a:bodyPr wrap="square">
            <a:spAutoFit/>
          </a:bodyPr>
          <a:lstStyle/>
          <a:p>
            <a:pPr algn="l">
              <a:buNone/>
            </a:pPr>
            <a:r>
              <a:rPr lang="en-IN" sz="4000" b="1" i="0" dirty="0">
                <a:solidFill>
                  <a:srgbClr val="3D29CD"/>
                </a:solidFill>
                <a:effectLst/>
                <a:latin typeface="Times New Roman" panose="02020603050405020304" pitchFamily="18" charset="0"/>
                <a:cs typeface="Times New Roman" panose="02020603050405020304" pitchFamily="18" charset="0"/>
              </a:rPr>
              <a:t>Subnetting</a:t>
            </a:r>
          </a:p>
        </p:txBody>
      </p:sp>
      <p:pic>
        <p:nvPicPr>
          <p:cNvPr id="4" name="Picture 2" descr="No alt text provided for this image">
            <a:extLst>
              <a:ext uri="{FF2B5EF4-FFF2-40B4-BE49-F238E27FC236}">
                <a16:creationId xmlns:a16="http://schemas.microsoft.com/office/drawing/2014/main" id="{E8931A29-08CB-BAC7-244B-0BD8D942B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5984" y="337457"/>
            <a:ext cx="7854825" cy="6764654"/>
          </a:xfrm>
          <a:prstGeom prst="rect">
            <a:avLst/>
          </a:prstGeom>
          <a:noFill/>
          <a:ln>
            <a:solidFill>
              <a:schemeClr val="accent1"/>
            </a:solidFill>
          </a:ln>
          <a:effectLst>
            <a:glow rad="101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00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064869-6AA5-A85C-78E0-44E362051EDD}"/>
              </a:ext>
            </a:extLst>
          </p:cNvPr>
          <p:cNvPicPr>
            <a:picLocks noChangeAspect="1"/>
          </p:cNvPicPr>
          <p:nvPr/>
        </p:nvPicPr>
        <p:blipFill>
          <a:blip r:embed="rId2"/>
          <a:stretch>
            <a:fillRect/>
          </a:stretch>
        </p:blipFill>
        <p:spPr>
          <a:xfrm>
            <a:off x="2073048" y="504824"/>
            <a:ext cx="10660743" cy="6688058"/>
          </a:xfrm>
          <a:prstGeom prst="rect">
            <a:avLst/>
          </a:prstGeom>
        </p:spPr>
      </p:pic>
      <p:sp>
        <p:nvSpPr>
          <p:cNvPr id="2" name="TextBox 1">
            <a:extLst>
              <a:ext uri="{FF2B5EF4-FFF2-40B4-BE49-F238E27FC236}">
                <a16:creationId xmlns:a16="http://schemas.microsoft.com/office/drawing/2014/main" id="{9BF87026-DEFA-3850-C4BE-E215F5F10A92}"/>
              </a:ext>
            </a:extLst>
          </p:cNvPr>
          <p:cNvSpPr txBox="1"/>
          <p:nvPr/>
        </p:nvSpPr>
        <p:spPr>
          <a:xfrm>
            <a:off x="5438547" y="150893"/>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extLst>
      <p:ext uri="{BB962C8B-B14F-4D97-AF65-F5344CB8AC3E}">
        <p14:creationId xmlns:p14="http://schemas.microsoft.com/office/powerpoint/2010/main" val="114788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5C5DC7-1DE7-BF43-10B4-F179B32DF64D}"/>
              </a:ext>
            </a:extLst>
          </p:cNvPr>
          <p:cNvPicPr>
            <a:picLocks noChangeAspect="1"/>
          </p:cNvPicPr>
          <p:nvPr/>
        </p:nvPicPr>
        <p:blipFill>
          <a:blip r:embed="rId2"/>
          <a:stretch>
            <a:fillRect/>
          </a:stretch>
        </p:blipFill>
        <p:spPr>
          <a:xfrm>
            <a:off x="531532" y="729682"/>
            <a:ext cx="13373659" cy="5884410"/>
          </a:xfrm>
          <a:prstGeom prst="rect">
            <a:avLst/>
          </a:prstGeom>
        </p:spPr>
      </p:pic>
    </p:spTree>
    <p:extLst>
      <p:ext uri="{BB962C8B-B14F-4D97-AF65-F5344CB8AC3E}">
        <p14:creationId xmlns:p14="http://schemas.microsoft.com/office/powerpoint/2010/main" val="3001601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25DB5A-CB33-EF00-7C8B-B5FDBCD0DAA1}"/>
              </a:ext>
            </a:extLst>
          </p:cNvPr>
          <p:cNvPicPr>
            <a:picLocks noChangeAspect="1"/>
          </p:cNvPicPr>
          <p:nvPr/>
        </p:nvPicPr>
        <p:blipFill>
          <a:blip r:embed="rId2"/>
          <a:stretch>
            <a:fillRect/>
          </a:stretch>
        </p:blipFill>
        <p:spPr>
          <a:xfrm>
            <a:off x="1756455" y="855708"/>
            <a:ext cx="9749745" cy="6294263"/>
          </a:xfrm>
          <a:prstGeom prst="rect">
            <a:avLst/>
          </a:prstGeom>
        </p:spPr>
      </p:pic>
      <p:sp>
        <p:nvSpPr>
          <p:cNvPr id="2" name="TextBox 1">
            <a:extLst>
              <a:ext uri="{FF2B5EF4-FFF2-40B4-BE49-F238E27FC236}">
                <a16:creationId xmlns:a16="http://schemas.microsoft.com/office/drawing/2014/main" id="{8C811CC1-9036-D11E-95BF-469A47B72F7C}"/>
              </a:ext>
            </a:extLst>
          </p:cNvPr>
          <p:cNvSpPr txBox="1"/>
          <p:nvPr/>
        </p:nvSpPr>
        <p:spPr>
          <a:xfrm>
            <a:off x="4528457" y="283829"/>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extLst>
      <p:ext uri="{BB962C8B-B14F-4D97-AF65-F5344CB8AC3E}">
        <p14:creationId xmlns:p14="http://schemas.microsoft.com/office/powerpoint/2010/main" val="63013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2C1F34-256F-6ECB-3BF6-1C838440705F}"/>
              </a:ext>
            </a:extLst>
          </p:cNvPr>
          <p:cNvPicPr>
            <a:picLocks noChangeAspect="1"/>
          </p:cNvPicPr>
          <p:nvPr/>
        </p:nvPicPr>
        <p:blipFill>
          <a:blip r:embed="rId2"/>
          <a:stretch>
            <a:fillRect/>
          </a:stretch>
        </p:blipFill>
        <p:spPr>
          <a:xfrm>
            <a:off x="570592" y="163857"/>
            <a:ext cx="13000507" cy="6552628"/>
          </a:xfrm>
          <a:prstGeom prst="rect">
            <a:avLst/>
          </a:prstGeom>
        </p:spPr>
      </p:pic>
    </p:spTree>
    <p:extLst>
      <p:ext uri="{BB962C8B-B14F-4D97-AF65-F5344CB8AC3E}">
        <p14:creationId xmlns:p14="http://schemas.microsoft.com/office/powerpoint/2010/main" val="3922936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91B848-F033-1D5A-BDD4-D195ED96F9BF}"/>
              </a:ext>
            </a:extLst>
          </p:cNvPr>
          <p:cNvPicPr>
            <a:picLocks noChangeAspect="1"/>
          </p:cNvPicPr>
          <p:nvPr/>
        </p:nvPicPr>
        <p:blipFill>
          <a:blip r:embed="rId2"/>
          <a:stretch>
            <a:fillRect/>
          </a:stretch>
        </p:blipFill>
        <p:spPr>
          <a:xfrm>
            <a:off x="1467758" y="657225"/>
            <a:ext cx="9801225" cy="6486525"/>
          </a:xfrm>
          <a:prstGeom prst="rect">
            <a:avLst/>
          </a:prstGeom>
        </p:spPr>
      </p:pic>
      <p:sp>
        <p:nvSpPr>
          <p:cNvPr id="2" name="TextBox 1">
            <a:extLst>
              <a:ext uri="{FF2B5EF4-FFF2-40B4-BE49-F238E27FC236}">
                <a16:creationId xmlns:a16="http://schemas.microsoft.com/office/drawing/2014/main" id="{E70EB7A7-FBAE-DAFE-AF7D-0C23C1A32AC8}"/>
              </a:ext>
            </a:extLst>
          </p:cNvPr>
          <p:cNvSpPr txBox="1"/>
          <p:nvPr/>
        </p:nvSpPr>
        <p:spPr>
          <a:xfrm>
            <a:off x="4528457" y="283829"/>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extLst>
      <p:ext uri="{BB962C8B-B14F-4D97-AF65-F5344CB8AC3E}">
        <p14:creationId xmlns:p14="http://schemas.microsoft.com/office/powerpoint/2010/main" val="461695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737AD2-376D-BA35-FE42-9A8C1CFC426B}"/>
              </a:ext>
            </a:extLst>
          </p:cNvPr>
          <p:cNvSpPr txBox="1"/>
          <p:nvPr/>
        </p:nvSpPr>
        <p:spPr>
          <a:xfrm>
            <a:off x="647698" y="899318"/>
            <a:ext cx="13789027" cy="954107"/>
          </a:xfrm>
          <a:prstGeom prst="rect">
            <a:avLst/>
          </a:prstGeom>
          <a:noFill/>
        </p:spPr>
        <p:txBody>
          <a:bodyPr wrap="square">
            <a:spAutoFit/>
          </a:bodyPr>
          <a:lstStyle/>
          <a:p>
            <a:r>
              <a:rPr lang="en-US" sz="2800" dirty="0">
                <a:solidFill>
                  <a:srgbClr val="FF0000"/>
                </a:solidFill>
                <a:latin typeface="Times New Roman" panose="02020603050405020304" pitchFamily="18" charset="0"/>
                <a:cs typeface="Times New Roman" panose="02020603050405020304" pitchFamily="18" charset="0"/>
              </a:rPr>
              <a:t>The given IP addresses is 201.20.30.40/24. Find out the (</a:t>
            </a:r>
            <a:r>
              <a:rPr lang="en-US" sz="2800" dirty="0" err="1">
                <a:solidFill>
                  <a:srgbClr val="FF0000"/>
                </a:solidFill>
                <a:latin typeface="Times New Roman" panose="02020603050405020304" pitchFamily="18" charset="0"/>
                <a:cs typeface="Times New Roman" panose="02020603050405020304" pitchFamily="18" charset="0"/>
              </a:rPr>
              <a:t>i</a:t>
            </a:r>
            <a:r>
              <a:rPr lang="en-US" sz="2800" dirty="0">
                <a:solidFill>
                  <a:srgbClr val="FF0000"/>
                </a:solidFill>
                <a:latin typeface="Times New Roman" panose="02020603050405020304" pitchFamily="18" charset="0"/>
                <a:cs typeface="Times New Roman" panose="02020603050405020304" pitchFamily="18" charset="0"/>
              </a:rPr>
              <a:t>) subnet mask,  (ii) Network ID, (iii) 4th host ID, (iv) last host ID , (v) broadcast address, (vi) number of subnet, (vii)valid hosts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4EE1FF3-E8C7-B5BE-F482-E7F93E484DDB}"/>
              </a:ext>
            </a:extLst>
          </p:cNvPr>
          <p:cNvSpPr txBox="1"/>
          <p:nvPr/>
        </p:nvSpPr>
        <p:spPr>
          <a:xfrm>
            <a:off x="1061356" y="2622802"/>
            <a:ext cx="8997044" cy="3996287"/>
          </a:xfrm>
          <a:prstGeom prst="rect">
            <a:avLst/>
          </a:prstGeom>
          <a:noFill/>
        </p:spPr>
        <p:txBody>
          <a:bodyPr wrap="square">
            <a:spAutoFit/>
          </a:bodyPr>
          <a:lstStyle/>
          <a:p>
            <a:pPr>
              <a:lnSpc>
                <a:spcPct val="150000"/>
              </a:lnSpc>
            </a:pPr>
            <a:r>
              <a:rPr lang="en-IN" sz="28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Default subnet mask = 255.255.255.0 (/24)</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ii. Network ID = 201.20.30.0</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iii. 4th host ID = 201.20.30.4</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iv. Last host ID (last usable) = 201.20.30.254</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v. Broadcast address = 201.20.30.255</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vi. Number of subnets = 1 (using default /24, no further subnetting)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vii. Valid hosts per subnet = 254 (2⁸ − 2)</a:t>
            </a:r>
            <a:endParaRPr lang="en-IN" sz="28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7EA147A-488C-ADEC-A731-3C70588FEF17}"/>
              </a:ext>
            </a:extLst>
          </p:cNvPr>
          <p:cNvSpPr/>
          <p:nvPr/>
        </p:nvSpPr>
        <p:spPr>
          <a:xfrm>
            <a:off x="715282" y="2038154"/>
            <a:ext cx="12660087" cy="58464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Number of bits borrowed=24-24=0, Number of Network=2^0=1, Number of hosts=256, Usable =254, </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F1C4D32-B647-A24B-0049-FF865A802FE6}"/>
              </a:ext>
            </a:extLst>
          </p:cNvPr>
          <p:cNvSpPr txBox="1"/>
          <p:nvPr/>
        </p:nvSpPr>
        <p:spPr>
          <a:xfrm>
            <a:off x="4528457" y="283829"/>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extLst>
      <p:ext uri="{BB962C8B-B14F-4D97-AF65-F5344CB8AC3E}">
        <p14:creationId xmlns:p14="http://schemas.microsoft.com/office/powerpoint/2010/main" val="424230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7B80E-A58A-4DF6-67DC-68199D85EA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0739DB-8313-45B2-08F0-8C53C8B11C50}"/>
              </a:ext>
            </a:extLst>
          </p:cNvPr>
          <p:cNvSpPr txBox="1"/>
          <p:nvPr/>
        </p:nvSpPr>
        <p:spPr>
          <a:xfrm>
            <a:off x="647698" y="602706"/>
            <a:ext cx="13177159" cy="1384995"/>
          </a:xfrm>
          <a:prstGeom prst="rect">
            <a:avLst/>
          </a:prstGeom>
          <a:noFill/>
        </p:spPr>
        <p:txBody>
          <a:bodyPr wrap="square">
            <a:spAutoFit/>
          </a:bodyPr>
          <a:lstStyle/>
          <a:p>
            <a:r>
              <a:rPr lang="en-US" sz="2800" dirty="0">
                <a:solidFill>
                  <a:srgbClr val="FF0000"/>
                </a:solidFill>
                <a:latin typeface="Times New Roman" panose="02020603050405020304" pitchFamily="18" charset="0"/>
                <a:cs typeface="Times New Roman" panose="02020603050405020304" pitchFamily="18" charset="0"/>
              </a:rPr>
              <a:t>The given IP addresses is 183.42.0.0/22. Find out (</a:t>
            </a:r>
            <a:r>
              <a:rPr lang="en-US" sz="2800" dirty="0" err="1">
                <a:solidFill>
                  <a:srgbClr val="FF0000"/>
                </a:solidFill>
                <a:latin typeface="Times New Roman" panose="02020603050405020304" pitchFamily="18" charset="0"/>
                <a:cs typeface="Times New Roman" panose="02020603050405020304" pitchFamily="18" charset="0"/>
              </a:rPr>
              <a:t>i</a:t>
            </a:r>
            <a:r>
              <a:rPr lang="en-US" sz="2800" dirty="0">
                <a:solidFill>
                  <a:srgbClr val="FF0000"/>
                </a:solidFill>
                <a:latin typeface="Times New Roman" panose="02020603050405020304" pitchFamily="18" charset="0"/>
                <a:cs typeface="Times New Roman" panose="02020603050405020304" pitchFamily="18" charset="0"/>
              </a:rPr>
              <a:t>) the Class, (ii) default subnet mask,  (iii) Custom mask, (iv) number of networks (v) number of hosts per subnet (vi) valid subnets (vii) Broadcast address of each subnet? </a:t>
            </a:r>
            <a:endParaRPr lang="en-IN" sz="2800" dirty="0">
              <a:solidFill>
                <a:srgbClr val="FF000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E854D5CE-5F47-71B2-9424-F2FA65D503AD}"/>
              </a:ext>
            </a:extLst>
          </p:cNvPr>
          <p:cNvGraphicFramePr>
            <a:graphicFrameLocks noGrp="1"/>
          </p:cNvGraphicFramePr>
          <p:nvPr>
            <p:extLst>
              <p:ext uri="{D42A27DB-BD31-4B8C-83A1-F6EECF244321}">
                <p14:modId xmlns:p14="http://schemas.microsoft.com/office/powerpoint/2010/main" val="72953781"/>
              </p:ext>
            </p:extLst>
          </p:nvPr>
        </p:nvGraphicFramePr>
        <p:xfrm>
          <a:off x="5466216" y="2532878"/>
          <a:ext cx="8358641" cy="4114800"/>
        </p:xfrm>
        <a:graphic>
          <a:graphicData uri="http://schemas.openxmlformats.org/drawingml/2006/table">
            <a:tbl>
              <a:tblPr/>
              <a:tblGrid>
                <a:gridCol w="2371498">
                  <a:extLst>
                    <a:ext uri="{9D8B030D-6E8A-4147-A177-3AD203B41FA5}">
                      <a16:colId xmlns:a16="http://schemas.microsoft.com/office/drawing/2014/main" val="3227007400"/>
                    </a:ext>
                  </a:extLst>
                </a:gridCol>
                <a:gridCol w="5987143">
                  <a:extLst>
                    <a:ext uri="{9D8B030D-6E8A-4147-A177-3AD203B41FA5}">
                      <a16:colId xmlns:a16="http://schemas.microsoft.com/office/drawing/2014/main" val="572400139"/>
                    </a:ext>
                  </a:extLst>
                </a:gridCol>
              </a:tblGrid>
              <a:tr h="0">
                <a:tc>
                  <a:txBody>
                    <a:bodyPr/>
                    <a:lstStyle/>
                    <a:p>
                      <a:pPr>
                        <a:buNone/>
                      </a:pPr>
                      <a:r>
                        <a:rPr lang="en-IN" sz="2400" b="1" dirty="0">
                          <a:solidFill>
                            <a:schemeClr val="tx1"/>
                          </a:solidFill>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buNone/>
                      </a:pPr>
                      <a:r>
                        <a:rPr lang="en-IN" sz="2400" b="1"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584276255"/>
                  </a:ext>
                </a:extLst>
              </a:tr>
              <a:tr h="0">
                <a:tc>
                  <a:txBody>
                    <a:bodyPr/>
                    <a:lstStyle/>
                    <a:p>
                      <a:pPr>
                        <a:buNone/>
                      </a:pPr>
                      <a:r>
                        <a:rPr lang="en-IN" sz="2400" dirty="0">
                          <a:latin typeface="Times New Roman" panose="02020603050405020304" pitchFamily="18" charset="0"/>
                          <a:cs typeface="Times New Roman" panose="02020603050405020304" pitchFamily="18" charset="0"/>
                        </a:rPr>
                        <a:t>IP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183.42.0.0/22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468911"/>
                  </a:ext>
                </a:extLst>
              </a:tr>
              <a:tr h="0">
                <a:tc>
                  <a:txBody>
                    <a:bodyPr/>
                    <a:lstStyle/>
                    <a:p>
                      <a:pPr>
                        <a:buNone/>
                      </a:pPr>
                      <a:r>
                        <a:rPr lang="en-IN" sz="2400" dirty="0">
                          <a:latin typeface="Times New Roman" panose="02020603050405020304" pitchFamily="18" charset="0"/>
                          <a:cs typeface="Times New Roman" panose="02020603050405020304" pitchFamily="18" charset="0"/>
                        </a:rPr>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5623516"/>
                  </a:ext>
                </a:extLst>
              </a:tr>
              <a:tr h="0">
                <a:tc>
                  <a:txBody>
                    <a:bodyPr/>
                    <a:lstStyle/>
                    <a:p>
                      <a:pPr>
                        <a:buNone/>
                      </a:pPr>
                      <a:r>
                        <a:rPr lang="en-IN" sz="2400">
                          <a:latin typeface="Times New Roman" panose="02020603050405020304" pitchFamily="18" charset="0"/>
                          <a:cs typeface="Times New Roman" panose="02020603050405020304" pitchFamily="18" charset="0"/>
                        </a:rPr>
                        <a:t>Default Mask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255.255.0.0 (/16)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4312214"/>
                  </a:ext>
                </a:extLst>
              </a:tr>
              <a:tr h="0">
                <a:tc>
                  <a:txBody>
                    <a:bodyPr/>
                    <a:lstStyle/>
                    <a:p>
                      <a:pPr>
                        <a:buNone/>
                      </a:pPr>
                      <a:r>
                        <a:rPr lang="en-IN" sz="2400" dirty="0">
                          <a:latin typeface="Times New Roman" panose="02020603050405020304" pitchFamily="18" charset="0"/>
                          <a:cs typeface="Times New Roman" panose="02020603050405020304" pitchFamily="18" charset="0"/>
                        </a:rPr>
                        <a:t>Custom Mask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255.255.252.0 (/22)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0386065"/>
                  </a:ext>
                </a:extLst>
              </a:tr>
              <a:tr h="0">
                <a:tc>
                  <a:txBody>
                    <a:bodyPr/>
                    <a:lstStyle/>
                    <a:p>
                      <a:pPr>
                        <a:buNone/>
                      </a:pPr>
                      <a:r>
                        <a:rPr lang="en-IN" sz="2400" dirty="0">
                          <a:latin typeface="Times New Roman" panose="02020603050405020304" pitchFamily="18" charset="0"/>
                          <a:cs typeface="Times New Roman" panose="02020603050405020304" pitchFamily="18" charset="0"/>
                        </a:rPr>
                        <a:t>No. of Subnets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6909836"/>
                  </a:ext>
                </a:extLst>
              </a:tr>
              <a:tr h="0">
                <a:tc>
                  <a:txBody>
                    <a:bodyPr/>
                    <a:lstStyle/>
                    <a:p>
                      <a:pPr>
                        <a:buNone/>
                      </a:pPr>
                      <a:r>
                        <a:rPr lang="en-IN" sz="2400" dirty="0">
                          <a:latin typeface="Times New Roman" panose="02020603050405020304" pitchFamily="18" charset="0"/>
                          <a:cs typeface="Times New Roman" panose="02020603050405020304" pitchFamily="18" charset="0"/>
                        </a:rPr>
                        <a:t>Hosts per Subnet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989480"/>
                  </a:ext>
                </a:extLst>
              </a:tr>
              <a:tr h="0">
                <a:tc>
                  <a:txBody>
                    <a:bodyPr/>
                    <a:lstStyle/>
                    <a:p>
                      <a:pPr>
                        <a:buNone/>
                      </a:pPr>
                      <a:r>
                        <a:rPr lang="en-IN" sz="2400" dirty="0">
                          <a:latin typeface="Times New Roman" panose="02020603050405020304" pitchFamily="18" charset="0"/>
                          <a:cs typeface="Times New Roman" panose="02020603050405020304" pitchFamily="18" charset="0"/>
                        </a:rPr>
                        <a:t>Valid Subnets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183.42.0.0, 183.42.4.0, 183.42.8.0,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5090282"/>
                  </a:ext>
                </a:extLst>
              </a:tr>
              <a:tr h="0">
                <a:tc>
                  <a:txBody>
                    <a:bodyPr/>
                    <a:lstStyle/>
                    <a:p>
                      <a:pPr>
                        <a:buNone/>
                      </a:pPr>
                      <a:r>
                        <a:rPr lang="en-IN" sz="2400">
                          <a:latin typeface="Times New Roman" panose="02020603050405020304" pitchFamily="18" charset="0"/>
                          <a:cs typeface="Times New Roman" panose="02020603050405020304" pitchFamily="18" charset="0"/>
                        </a:rPr>
                        <a:t>Broadcasts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183.42.3.255, 183.42.7.255, 183.42.11.255,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49384"/>
                  </a:ext>
                </a:extLst>
              </a:tr>
            </a:tbl>
          </a:graphicData>
        </a:graphic>
      </p:graphicFrame>
      <p:sp>
        <p:nvSpPr>
          <p:cNvPr id="14" name="Rectangle 3">
            <a:extLst>
              <a:ext uri="{FF2B5EF4-FFF2-40B4-BE49-F238E27FC236}">
                <a16:creationId xmlns:a16="http://schemas.microsoft.com/office/drawing/2014/main" id="{1BF90CB6-8C41-FEAD-50D5-DAD1A8A74790}"/>
              </a:ext>
            </a:extLst>
          </p:cNvPr>
          <p:cNvSpPr>
            <a:spLocks noChangeArrowheads="1"/>
          </p:cNvSpPr>
          <p:nvPr/>
        </p:nvSpPr>
        <p:spPr bwMode="auto">
          <a:xfrm>
            <a:off x="304800" y="2627449"/>
            <a:ext cx="44413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Borrowed bits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22 − 16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subnets (Networks)</a:t>
            </a:r>
            <a:r>
              <a:rPr lang="en-US" altLang="en-US" sz="2400" b="1" dirty="0">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2⁶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64 subnets</a:t>
            </a:r>
          </a:p>
        </p:txBody>
      </p:sp>
      <p:sp>
        <p:nvSpPr>
          <p:cNvPr id="15" name="Rectangle 4">
            <a:extLst>
              <a:ext uri="{FF2B5EF4-FFF2-40B4-BE49-F238E27FC236}">
                <a16:creationId xmlns:a16="http://schemas.microsoft.com/office/drawing/2014/main" id="{6DE671A4-D480-E73C-369E-D9EF0473A622}"/>
              </a:ext>
            </a:extLst>
          </p:cNvPr>
          <p:cNvSpPr>
            <a:spLocks noChangeArrowheads="1"/>
          </p:cNvSpPr>
          <p:nvPr/>
        </p:nvSpPr>
        <p:spPr bwMode="auto">
          <a:xfrm>
            <a:off x="217715" y="3879189"/>
            <a:ext cx="526868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bits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32 − 22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bits</a:t>
            </a:r>
          </a:p>
          <a:p>
            <a:pPr lvl="0" defTabSz="914400" eaLnBrk="0" fontAlgn="base" hangingPunct="0">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Number of host </a:t>
            </a:r>
            <a:r>
              <a:rPr lang="en-US" altLang="en-US" sz="2400" dirty="0">
                <a:latin typeface="Times New Roman" panose="02020603050405020304" pitchFamily="18" charset="0"/>
                <a:cs typeface="Times New Roman" panose="02020603050405020304" pitchFamily="18" charset="0"/>
              </a:rPr>
              <a:t>= 2¹⁰ =1024</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usable hosts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1024− 2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1022 hosts / subnet</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102135AB-D548-9EE9-F3B1-09380801ADBF}"/>
              </a:ext>
            </a:extLst>
          </p:cNvPr>
          <p:cNvSpPr txBox="1"/>
          <p:nvPr/>
        </p:nvSpPr>
        <p:spPr>
          <a:xfrm>
            <a:off x="5253490" y="6952"/>
            <a:ext cx="3929743" cy="646331"/>
          </a:xfrm>
          <a:prstGeom prst="rect">
            <a:avLst/>
          </a:prstGeom>
          <a:noFill/>
        </p:spPr>
        <p:txBody>
          <a:bodyPr wrap="square">
            <a:spAutoFit/>
          </a:bodyPr>
          <a:lstStyle/>
          <a:p>
            <a:r>
              <a:rPr lang="en-US" altLang="en-US" sz="3600" dirty="0">
                <a:solidFill>
                  <a:srgbClr val="3D29CD"/>
                </a:solidFill>
              </a:rPr>
              <a:t>Numerical</a:t>
            </a:r>
            <a:endParaRPr lang="en-IN" sz="3600" dirty="0">
              <a:solidFill>
                <a:srgbClr val="3D29CD"/>
              </a:solidFill>
            </a:endParaRPr>
          </a:p>
        </p:txBody>
      </p:sp>
    </p:spTree>
    <p:extLst>
      <p:ext uri="{BB962C8B-B14F-4D97-AF65-F5344CB8AC3E}">
        <p14:creationId xmlns:p14="http://schemas.microsoft.com/office/powerpoint/2010/main" val="163378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2933020" y="252948"/>
            <a:ext cx="9182781" cy="858149"/>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Address Resolution Protocol (ARP)</a:t>
            </a:r>
            <a:endParaRPr lang="en-IN" dirty="0"/>
          </a:p>
        </p:txBody>
      </p:sp>
      <p:sp>
        <p:nvSpPr>
          <p:cNvPr id="5" name="TextBox 4">
            <a:extLst>
              <a:ext uri="{FF2B5EF4-FFF2-40B4-BE49-F238E27FC236}">
                <a16:creationId xmlns:a16="http://schemas.microsoft.com/office/drawing/2014/main" id="{4DE98983-E69E-CAFE-7974-2DEB9CF39C4D}"/>
              </a:ext>
            </a:extLst>
          </p:cNvPr>
          <p:cNvSpPr txBox="1"/>
          <p:nvPr/>
        </p:nvSpPr>
        <p:spPr>
          <a:xfrm>
            <a:off x="315684" y="1111097"/>
            <a:ext cx="12741729" cy="1815882"/>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800" dirty="0">
                <a:latin typeface="Times New Roman" panose="02020603050405020304" pitchFamily="18" charset="0"/>
              </a:rPr>
              <a:t>The </a:t>
            </a:r>
            <a:r>
              <a:rPr lang="en-US" altLang="en-US" sz="2800" dirty="0">
                <a:solidFill>
                  <a:srgbClr val="FF0000"/>
                </a:solidFill>
                <a:latin typeface="Times New Roman" panose="02020603050405020304" pitchFamily="18" charset="0"/>
              </a:rPr>
              <a:t>delivery</a:t>
            </a:r>
            <a:r>
              <a:rPr lang="en-US" altLang="en-US" sz="2800" dirty="0">
                <a:latin typeface="Times New Roman" panose="02020603050405020304" pitchFamily="18" charset="0"/>
              </a:rPr>
              <a:t> of a packet to a host or a router requires </a:t>
            </a:r>
            <a:r>
              <a:rPr lang="en-US" altLang="en-US" sz="2800" dirty="0">
                <a:solidFill>
                  <a:srgbClr val="FF0000"/>
                </a:solidFill>
                <a:latin typeface="Times New Roman" panose="02020603050405020304" pitchFamily="18" charset="0"/>
              </a:rPr>
              <a:t>two</a:t>
            </a:r>
            <a:r>
              <a:rPr lang="en-US" altLang="en-US" sz="2800" dirty="0">
                <a:latin typeface="Times New Roman" panose="02020603050405020304" pitchFamily="18" charset="0"/>
              </a:rPr>
              <a:t> levels of </a:t>
            </a:r>
            <a:r>
              <a:rPr lang="en-US" altLang="en-US" sz="2800" dirty="0">
                <a:solidFill>
                  <a:srgbClr val="FF0000"/>
                </a:solidFill>
                <a:latin typeface="Times New Roman" panose="02020603050405020304" pitchFamily="18" charset="0"/>
              </a:rPr>
              <a:t>addressing</a:t>
            </a:r>
            <a:r>
              <a:rPr lang="en-US" altLang="en-US" sz="2800" dirty="0">
                <a:latin typeface="Times New Roman" panose="02020603050405020304" pitchFamily="18" charset="0"/>
              </a:rPr>
              <a:t>: </a:t>
            </a:r>
            <a:r>
              <a:rPr lang="en-US" altLang="en-US" sz="2800" dirty="0">
                <a:solidFill>
                  <a:srgbClr val="FF0000"/>
                </a:solidFill>
                <a:latin typeface="Times New Roman" panose="02020603050405020304" pitchFamily="18" charset="0"/>
              </a:rPr>
              <a:t>logical and physical</a:t>
            </a:r>
            <a:r>
              <a:rPr lang="en-US" altLang="en-US" sz="2800" dirty="0">
                <a:latin typeface="Times New Roman" panose="02020603050405020304" pitchFamily="18" charset="0"/>
              </a:rPr>
              <a:t>.</a:t>
            </a:r>
          </a:p>
          <a:p>
            <a:pPr marL="342900" indent="-342900" algn="just">
              <a:buFont typeface="Wingdings" panose="05000000000000000000" pitchFamily="2" charset="2"/>
              <a:buChar char="Ø"/>
            </a:pPr>
            <a:r>
              <a:rPr lang="en-US" altLang="en-US" sz="2800" dirty="0">
                <a:latin typeface="Times New Roman" panose="02020603050405020304" pitchFamily="18" charset="0"/>
              </a:rPr>
              <a:t> We need to be able to </a:t>
            </a:r>
            <a:r>
              <a:rPr lang="en-US" altLang="en-US" sz="2800" dirty="0">
                <a:solidFill>
                  <a:srgbClr val="FF0000"/>
                </a:solidFill>
                <a:latin typeface="Times New Roman" panose="02020603050405020304" pitchFamily="18" charset="0"/>
              </a:rPr>
              <a:t>map</a:t>
            </a:r>
            <a:r>
              <a:rPr lang="en-US" altLang="en-US" sz="2800" dirty="0">
                <a:latin typeface="Times New Roman" panose="02020603050405020304" pitchFamily="18" charset="0"/>
              </a:rPr>
              <a:t> a </a:t>
            </a:r>
            <a:r>
              <a:rPr lang="en-US" altLang="en-US" sz="2800" dirty="0">
                <a:solidFill>
                  <a:srgbClr val="FF0000"/>
                </a:solidFill>
                <a:latin typeface="Times New Roman" panose="02020603050405020304" pitchFamily="18" charset="0"/>
              </a:rPr>
              <a:t>logical address </a:t>
            </a:r>
            <a:r>
              <a:rPr lang="en-US" altLang="en-US" sz="2800" dirty="0">
                <a:latin typeface="Times New Roman" panose="02020603050405020304" pitchFamily="18" charset="0"/>
              </a:rPr>
              <a:t>to its corresponding </a:t>
            </a:r>
            <a:r>
              <a:rPr lang="en-US" altLang="en-US" sz="2800" dirty="0">
                <a:solidFill>
                  <a:srgbClr val="FF0000"/>
                </a:solidFill>
                <a:latin typeface="Times New Roman" panose="02020603050405020304" pitchFamily="18" charset="0"/>
              </a:rPr>
              <a:t>physical address </a:t>
            </a:r>
            <a:r>
              <a:rPr lang="en-US" altLang="en-US" sz="2800" dirty="0">
                <a:latin typeface="Times New Roman" panose="02020603050405020304" pitchFamily="18" charset="0"/>
              </a:rPr>
              <a:t>and vice versa. This can be done by using either static or dynamic mapping.</a:t>
            </a:r>
          </a:p>
        </p:txBody>
      </p:sp>
      <p:sp>
        <p:nvSpPr>
          <p:cNvPr id="8" name="TextBox 7">
            <a:extLst>
              <a:ext uri="{FF2B5EF4-FFF2-40B4-BE49-F238E27FC236}">
                <a16:creationId xmlns:a16="http://schemas.microsoft.com/office/drawing/2014/main" id="{00FD064A-2239-D99C-6D93-C5C3180EF33E}"/>
              </a:ext>
            </a:extLst>
          </p:cNvPr>
          <p:cNvSpPr txBox="1"/>
          <p:nvPr/>
        </p:nvSpPr>
        <p:spPr>
          <a:xfrm>
            <a:off x="315684" y="2926979"/>
            <a:ext cx="13335002" cy="1200329"/>
          </a:xfrm>
          <a:prstGeom prst="rect">
            <a:avLst/>
          </a:prstGeom>
          <a:noFill/>
        </p:spPr>
        <p:txBody>
          <a:bodyPr wrap="square">
            <a:spAutoFit/>
          </a:bodyPr>
          <a:lstStyle/>
          <a:p>
            <a:pPr marL="342900" indent="-342900">
              <a:buFont typeface="Wingdings" panose="05000000000000000000" pitchFamily="2" charset="2"/>
              <a:buChar char="Ø"/>
            </a:pPr>
            <a:r>
              <a:rPr lang="en-US" sz="2400" i="0" dirty="0">
                <a:solidFill>
                  <a:srgbClr val="00B050"/>
                </a:solidFill>
                <a:effectLst/>
                <a:latin typeface="Times New Roman" panose="02020603050405020304" pitchFamily="18" charset="0"/>
                <a:cs typeface="Times New Roman" panose="02020603050405020304" pitchFamily="18" charset="0"/>
              </a:rPr>
              <a:t>Address Resolution Protocol (ARP) is the dynamic mapping technique used to map the logical address to a physical address</a:t>
            </a:r>
            <a:r>
              <a:rPr lang="en-US" sz="2400" i="0" dirty="0">
                <a:effectLst/>
                <a:latin typeface="Times New Roman" panose="02020603050405020304" pitchFamily="18" charset="0"/>
                <a:cs typeface="Times New Roman" panose="02020603050405020304" pitchFamily="18" charset="0"/>
              </a:rPr>
              <a:t>, i.e. ARP accepts the logical address from the IP protocol and maps the address to the corresponding physical address and then passes it to the data link layer.</a:t>
            </a:r>
            <a:r>
              <a:rPr lang="en-US" sz="2400" dirty="0">
                <a:latin typeface="Times New Roman" panose="02020603050405020304" pitchFamily="18" charset="0"/>
                <a:cs typeface="Times New Roman" panose="02020603050405020304" pitchFamily="18" charset="0"/>
              </a:rPr>
              <a:t> </a:t>
            </a:r>
            <a:endParaRPr lang="en-IN" dirty="0"/>
          </a:p>
        </p:txBody>
      </p:sp>
      <p:pic>
        <p:nvPicPr>
          <p:cNvPr id="10" name="Picture 9">
            <a:extLst>
              <a:ext uri="{FF2B5EF4-FFF2-40B4-BE49-F238E27FC236}">
                <a16:creationId xmlns:a16="http://schemas.microsoft.com/office/drawing/2014/main" id="{B1F3C90D-EA77-A356-FFB1-B1DF6AF5D5F4}"/>
              </a:ext>
            </a:extLst>
          </p:cNvPr>
          <p:cNvPicPr>
            <a:picLocks noChangeAspect="1"/>
          </p:cNvPicPr>
          <p:nvPr/>
        </p:nvPicPr>
        <p:blipFill>
          <a:blip r:embed="rId2"/>
          <a:stretch>
            <a:fillRect/>
          </a:stretch>
        </p:blipFill>
        <p:spPr>
          <a:xfrm>
            <a:off x="2710541" y="4379460"/>
            <a:ext cx="7610899" cy="2881797"/>
          </a:xfrm>
          <a:prstGeom prst="rect">
            <a:avLst/>
          </a:prstGeom>
        </p:spPr>
      </p:pic>
    </p:spTree>
    <p:extLst>
      <p:ext uri="{BB962C8B-B14F-4D97-AF65-F5344CB8AC3E}">
        <p14:creationId xmlns:p14="http://schemas.microsoft.com/office/powerpoint/2010/main" val="3505973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A3D5BA18-E372-C8E5-6588-FEE06CCBB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764" y="1038615"/>
            <a:ext cx="566737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a:extLst>
              <a:ext uri="{FF2B5EF4-FFF2-40B4-BE49-F238E27FC236}">
                <a16:creationId xmlns:a16="http://schemas.microsoft.com/office/drawing/2014/main" id="{BEB927BB-B13A-865B-53B0-30DE83D8A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8960" y="1071020"/>
            <a:ext cx="6334125" cy="541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1">
            <a:extLst>
              <a:ext uri="{FF2B5EF4-FFF2-40B4-BE49-F238E27FC236}">
                <a16:creationId xmlns:a16="http://schemas.microsoft.com/office/drawing/2014/main" id="{9117D155-868C-4514-6EE1-52B40221058A}"/>
              </a:ext>
            </a:extLst>
          </p:cNvPr>
          <p:cNvSpPr>
            <a:spLocks noChangeArrowheads="1"/>
          </p:cNvSpPr>
          <p:nvPr/>
        </p:nvSpPr>
        <p:spPr bwMode="auto">
          <a:xfrm>
            <a:off x="1300843" y="6138043"/>
            <a:ext cx="4403271" cy="830997"/>
          </a:xfrm>
          <a:prstGeom prst="rect">
            <a:avLst/>
          </a:prstGeom>
          <a:solidFill>
            <a:srgbClr val="92D050"/>
          </a:solidFill>
          <a:ln>
            <a:noFill/>
          </a:ln>
          <a:effectLst/>
        </p:spPr>
        <p:txBody>
          <a:bodyPr wrap="square">
            <a:spAutoFit/>
          </a:bodyPr>
          <a:lstStyle/>
          <a:p>
            <a:pPr algn="ctr"/>
            <a:r>
              <a:rPr lang="en-US" altLang="en-US" sz="2400" dirty="0">
                <a:solidFill>
                  <a:srgbClr val="FF0000"/>
                </a:solidFill>
                <a:highlight>
                  <a:srgbClr val="FFFF00"/>
                </a:highlight>
              </a:rPr>
              <a:t>An ARP request is broadcast;</a:t>
            </a:r>
            <a:br>
              <a:rPr lang="en-US" altLang="en-US" sz="2400" dirty="0">
                <a:solidFill>
                  <a:srgbClr val="FF0000"/>
                </a:solidFill>
                <a:highlight>
                  <a:srgbClr val="FFFF00"/>
                </a:highlight>
              </a:rPr>
            </a:br>
            <a:r>
              <a:rPr lang="en-US" altLang="en-US" sz="2400" dirty="0">
                <a:solidFill>
                  <a:srgbClr val="FF0000"/>
                </a:solidFill>
                <a:highlight>
                  <a:srgbClr val="FFFF00"/>
                </a:highlight>
              </a:rPr>
              <a:t>an ARP reply is unicast.</a:t>
            </a:r>
          </a:p>
        </p:txBody>
      </p:sp>
      <p:sp>
        <p:nvSpPr>
          <p:cNvPr id="12" name="Title 1">
            <a:extLst>
              <a:ext uri="{FF2B5EF4-FFF2-40B4-BE49-F238E27FC236}">
                <a16:creationId xmlns:a16="http://schemas.microsoft.com/office/drawing/2014/main" id="{5CE148B1-2B11-9FBB-ACCE-1587A837B889}"/>
              </a:ext>
            </a:extLst>
          </p:cNvPr>
          <p:cNvSpPr>
            <a:spLocks noGrp="1"/>
          </p:cNvSpPr>
          <p:nvPr>
            <p:ph type="title"/>
          </p:nvPr>
        </p:nvSpPr>
        <p:spPr>
          <a:xfrm>
            <a:off x="3020105" y="0"/>
            <a:ext cx="9182781" cy="858149"/>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Address Resolution Protocol (ARP)</a:t>
            </a:r>
            <a:endParaRPr lang="en-IN" dirty="0"/>
          </a:p>
        </p:txBody>
      </p:sp>
    </p:spTree>
    <p:extLst>
      <p:ext uri="{BB962C8B-B14F-4D97-AF65-F5344CB8AC3E}">
        <p14:creationId xmlns:p14="http://schemas.microsoft.com/office/powerpoint/2010/main" val="2413186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8D47D5-D661-475C-E3A7-350C145503FB}"/>
              </a:ext>
            </a:extLst>
          </p:cNvPr>
          <p:cNvSpPr txBox="1"/>
          <p:nvPr/>
        </p:nvSpPr>
        <p:spPr>
          <a:xfrm>
            <a:off x="0" y="886156"/>
            <a:ext cx="7613084" cy="7201972"/>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Hardware type: </a:t>
            </a:r>
            <a:r>
              <a:rPr lang="en-US" sz="2400" b="0" i="0" dirty="0">
                <a:solidFill>
                  <a:srgbClr val="000000"/>
                </a:solidFill>
                <a:effectLst/>
                <a:latin typeface="Times New Roman" panose="02020603050405020304" pitchFamily="18" charset="0"/>
                <a:cs typeface="Times New Roman" panose="02020603050405020304" pitchFamily="18" charset="0"/>
              </a:rPr>
              <a:t>This is a 16-bit field defining the type of the network on which ARP is running.</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Protocol type: </a:t>
            </a:r>
            <a:r>
              <a:rPr lang="en-US" sz="2400" dirty="0">
                <a:latin typeface="Times New Roman" panose="02020603050405020304" pitchFamily="18" charset="0"/>
                <a:cs typeface="Times New Roman" panose="02020603050405020304" pitchFamily="18" charset="0"/>
              </a:rPr>
              <a:t>This is a 16-bit field defining the protocol. For example, the value of this field for the IPv4 protocol is (0800)</a:t>
            </a:r>
            <a:r>
              <a:rPr lang="en-US" dirty="0">
                <a:latin typeface="Times New Roman" panose="02020603050405020304" pitchFamily="18" charset="0"/>
                <a:cs typeface="Times New Roman" panose="02020603050405020304" pitchFamily="18" charset="0"/>
              </a:rPr>
              <a:t>16</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Hardware length: </a:t>
            </a:r>
            <a:r>
              <a:rPr lang="en-US" sz="2400" dirty="0">
                <a:latin typeface="Times New Roman" panose="02020603050405020304" pitchFamily="18" charset="0"/>
                <a:cs typeface="Times New Roman" panose="02020603050405020304" pitchFamily="18" charset="0"/>
              </a:rPr>
              <a:t>This is an 8-bit field defining the length of the physical address in bytes. For Ethernet the value is 6. </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Protocol length: </a:t>
            </a:r>
            <a:r>
              <a:rPr lang="en-US" sz="2400" dirty="0">
                <a:latin typeface="Times New Roman" panose="02020603050405020304" pitchFamily="18" charset="0"/>
                <a:cs typeface="Times New Roman" panose="02020603050405020304" pitchFamily="18" charset="0"/>
              </a:rPr>
              <a:t>This is an 8-bit field defining the length of the logical address in bytes. For example, for the IPv4 protocol the value is 4. </a:t>
            </a:r>
          </a:p>
          <a:p>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Operation: </a:t>
            </a:r>
            <a:r>
              <a:rPr lang="en-US" sz="2400" dirty="0">
                <a:latin typeface="Times New Roman" panose="02020603050405020304" pitchFamily="18" charset="0"/>
                <a:cs typeface="Times New Roman" panose="02020603050405020304" pitchFamily="18" charset="0"/>
              </a:rPr>
              <a:t>This is a 16-bit field defining the type of packet. Two packet types are defined: ARP request (1) and ARP reply (2). </a:t>
            </a:r>
            <a:br>
              <a:rPr lang="en-US" dirty="0"/>
            </a:br>
            <a:r>
              <a:rPr lang="en-US" dirty="0"/>
              <a:t>, </a:t>
            </a:r>
            <a:br>
              <a:rPr lang="en-US" dirty="0"/>
            </a:br>
            <a:br>
              <a:rPr lang="en-US" dirty="0"/>
            </a:br>
            <a:endParaRPr lang="en-IN" dirty="0"/>
          </a:p>
        </p:txBody>
      </p:sp>
      <p:pic>
        <p:nvPicPr>
          <p:cNvPr id="8" name="Picture 7">
            <a:extLst>
              <a:ext uri="{FF2B5EF4-FFF2-40B4-BE49-F238E27FC236}">
                <a16:creationId xmlns:a16="http://schemas.microsoft.com/office/drawing/2014/main" id="{C97E6366-9F73-A5AC-7C34-01BE7E497A93}"/>
              </a:ext>
            </a:extLst>
          </p:cNvPr>
          <p:cNvPicPr>
            <a:picLocks noChangeAspect="1"/>
          </p:cNvPicPr>
          <p:nvPr/>
        </p:nvPicPr>
        <p:blipFill>
          <a:blip r:embed="rId2"/>
          <a:stretch>
            <a:fillRect/>
          </a:stretch>
        </p:blipFill>
        <p:spPr>
          <a:xfrm>
            <a:off x="7613084" y="979579"/>
            <a:ext cx="6742291" cy="3877356"/>
          </a:xfrm>
          <a:prstGeom prst="rect">
            <a:avLst/>
          </a:prstGeom>
        </p:spPr>
      </p:pic>
      <p:pic>
        <p:nvPicPr>
          <p:cNvPr id="10" name="Picture 9">
            <a:extLst>
              <a:ext uri="{FF2B5EF4-FFF2-40B4-BE49-F238E27FC236}">
                <a16:creationId xmlns:a16="http://schemas.microsoft.com/office/drawing/2014/main" id="{C7453322-4953-C7DA-3A17-6AE0536946A0}"/>
              </a:ext>
            </a:extLst>
          </p:cNvPr>
          <p:cNvPicPr>
            <a:picLocks noChangeAspect="1"/>
          </p:cNvPicPr>
          <p:nvPr/>
        </p:nvPicPr>
        <p:blipFill>
          <a:blip r:embed="rId3"/>
          <a:stretch>
            <a:fillRect/>
          </a:stretch>
        </p:blipFill>
        <p:spPr>
          <a:xfrm>
            <a:off x="8685268" y="5130699"/>
            <a:ext cx="4880572" cy="878215"/>
          </a:xfrm>
          <a:prstGeom prst="rect">
            <a:avLst/>
          </a:prstGeom>
        </p:spPr>
      </p:pic>
      <p:sp>
        <p:nvSpPr>
          <p:cNvPr id="17" name="Title 1">
            <a:extLst>
              <a:ext uri="{FF2B5EF4-FFF2-40B4-BE49-F238E27FC236}">
                <a16:creationId xmlns:a16="http://schemas.microsoft.com/office/drawing/2014/main" id="{3215D35B-332D-B4DF-A27F-0EB3E394BB3A}"/>
              </a:ext>
            </a:extLst>
          </p:cNvPr>
          <p:cNvSpPr>
            <a:spLocks noGrp="1"/>
          </p:cNvSpPr>
          <p:nvPr>
            <p:ph type="title"/>
          </p:nvPr>
        </p:nvSpPr>
        <p:spPr>
          <a:xfrm>
            <a:off x="3020105" y="0"/>
            <a:ext cx="9182781" cy="858149"/>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Address Resolution Protocol (ARP)</a:t>
            </a:r>
            <a:endParaRPr lang="en-IN" dirty="0"/>
          </a:p>
        </p:txBody>
      </p:sp>
    </p:spTree>
    <p:extLst>
      <p:ext uri="{BB962C8B-B14F-4D97-AF65-F5344CB8AC3E}">
        <p14:creationId xmlns:p14="http://schemas.microsoft.com/office/powerpoint/2010/main" val="22027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81012F4-4149-7E9F-8798-58847ACC2AB4}"/>
              </a:ext>
            </a:extLst>
          </p:cNvPr>
          <p:cNvSpPr txBox="1"/>
          <p:nvPr/>
        </p:nvSpPr>
        <p:spPr>
          <a:xfrm>
            <a:off x="429688" y="1229293"/>
            <a:ext cx="6156169" cy="6001643"/>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Sender hardware address: </a:t>
            </a:r>
            <a:r>
              <a:rPr lang="en-US" sz="2400" dirty="0">
                <a:solidFill>
                  <a:srgbClr val="000000"/>
                </a:solidFill>
                <a:latin typeface="Times New Roman" panose="02020603050405020304" pitchFamily="18" charset="0"/>
                <a:cs typeface="Times New Roman" panose="02020603050405020304" pitchFamily="18" charset="0"/>
              </a:rPr>
              <a:t>This is a variable-length field defining the physical address of the sender. For example, for Ethernet this field is 6 bytes long.</a:t>
            </a:r>
            <a:br>
              <a:rPr lang="en-US" sz="2400" dirty="0">
                <a:solidFill>
                  <a:srgbClr val="000000"/>
                </a:solidFill>
                <a:latin typeface="Times New Roman" panose="02020603050405020304" pitchFamily="18" charset="0"/>
                <a:cs typeface="Times New Roman" panose="02020603050405020304" pitchFamily="18" charset="0"/>
              </a:rPr>
            </a:br>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Sender protocol address: </a:t>
            </a:r>
            <a:r>
              <a:rPr lang="en-US" sz="2400" dirty="0">
                <a:solidFill>
                  <a:srgbClr val="000000"/>
                </a:solidFill>
                <a:latin typeface="Times New Roman" panose="02020603050405020304" pitchFamily="18" charset="0"/>
                <a:cs typeface="Times New Roman" panose="02020603050405020304" pitchFamily="18" charset="0"/>
              </a:rPr>
              <a:t>This is a variable-length field defining the logical (for example, IP) address of the sender. For the IP protocol, this field is 4 bytes long.</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US" sz="2400" b="0" i="0" dirty="0">
                <a:solidFill>
                  <a:srgbClr val="FF0000"/>
                </a:solidFill>
                <a:effectLst/>
                <a:latin typeface="Times New Roman" panose="02020603050405020304" pitchFamily="18" charset="0"/>
                <a:cs typeface="Times New Roman" panose="02020603050405020304" pitchFamily="18" charset="0"/>
              </a:rPr>
              <a:t>Destination hardware address: </a:t>
            </a:r>
            <a:r>
              <a:rPr lang="en-US" sz="2400" b="0" i="0" dirty="0">
                <a:solidFill>
                  <a:srgbClr val="000000"/>
                </a:solidFill>
                <a:effectLst/>
                <a:latin typeface="Times New Roman" panose="02020603050405020304" pitchFamily="18" charset="0"/>
                <a:cs typeface="Times New Roman" panose="02020603050405020304" pitchFamily="18" charset="0"/>
              </a:rPr>
              <a:t>This is a variable-length field defining the physical address of the target. </a:t>
            </a:r>
            <a:r>
              <a:rPr lang="en-US" sz="2400" dirty="0">
                <a:solidFill>
                  <a:srgbClr val="000000"/>
                </a:solidFill>
                <a:latin typeface="Times New Roman" panose="02020603050405020304" pitchFamily="18" charset="0"/>
                <a:cs typeface="Times New Roman" panose="02020603050405020304" pitchFamily="18" charset="0"/>
              </a:rPr>
              <a:t>For an ARPrequest message, this field is </a:t>
            </a:r>
            <a:r>
              <a:rPr lang="en-US" sz="2400" dirty="0" err="1">
                <a:solidFill>
                  <a:srgbClr val="000000"/>
                </a:solidFill>
                <a:latin typeface="Times New Roman" panose="02020603050405020304" pitchFamily="18" charset="0"/>
                <a:cs typeface="Times New Roman" panose="02020603050405020304" pitchFamily="18" charset="0"/>
              </a:rPr>
              <a:t>alI</a:t>
            </a:r>
            <a:r>
              <a:rPr lang="en-US" sz="2400" dirty="0">
                <a:solidFill>
                  <a:srgbClr val="000000"/>
                </a:solidFill>
                <a:latin typeface="Times New Roman" panose="02020603050405020304" pitchFamily="18" charset="0"/>
                <a:cs typeface="Times New Roman" panose="02020603050405020304" pitchFamily="18" charset="0"/>
              </a:rPr>
              <a:t> 0s because the sender does not know the physical address of the target.</a:t>
            </a:r>
            <a:br>
              <a:rPr lang="en-US" sz="2400" dirty="0">
                <a:solidFill>
                  <a:srgbClr val="000000"/>
                </a:solidFill>
                <a:latin typeface="Times New Roman" panose="02020603050405020304" pitchFamily="18" charset="0"/>
                <a:cs typeface="Times New Roman" panose="02020603050405020304" pitchFamily="18" charset="0"/>
              </a:rPr>
            </a:br>
            <a:endParaRPr lang="en-US" sz="2400" dirty="0">
              <a:solidFill>
                <a:srgbClr val="00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68BD05-DC63-8258-8015-EA513D1E7D8A}"/>
              </a:ext>
            </a:extLst>
          </p:cNvPr>
          <p:cNvPicPr>
            <a:picLocks noChangeAspect="1"/>
          </p:cNvPicPr>
          <p:nvPr/>
        </p:nvPicPr>
        <p:blipFill>
          <a:blip r:embed="rId2"/>
          <a:stretch>
            <a:fillRect/>
          </a:stretch>
        </p:blipFill>
        <p:spPr>
          <a:xfrm>
            <a:off x="6929103" y="1109627"/>
            <a:ext cx="6742291" cy="3877356"/>
          </a:xfrm>
          <a:prstGeom prst="rect">
            <a:avLst/>
          </a:prstGeom>
        </p:spPr>
      </p:pic>
      <p:sp>
        <p:nvSpPr>
          <p:cNvPr id="6" name="TextBox 5">
            <a:extLst>
              <a:ext uri="{FF2B5EF4-FFF2-40B4-BE49-F238E27FC236}">
                <a16:creationId xmlns:a16="http://schemas.microsoft.com/office/drawing/2014/main" id="{51262409-FBF7-A7FB-0675-2C85368ED535}"/>
              </a:ext>
            </a:extLst>
          </p:cNvPr>
          <p:cNvSpPr txBox="1"/>
          <p:nvPr/>
        </p:nvSpPr>
        <p:spPr>
          <a:xfrm>
            <a:off x="7098248" y="5161315"/>
            <a:ext cx="6403999" cy="1569660"/>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Destination Protocol</a:t>
            </a:r>
            <a:r>
              <a:rPr lang="en-US" sz="2400" b="0" i="0" dirty="0">
                <a:solidFill>
                  <a:srgbClr val="FF0000"/>
                </a:solidFill>
                <a:effectLst/>
                <a:latin typeface="Times New Roman" panose="02020603050405020304" pitchFamily="18" charset="0"/>
                <a:cs typeface="Times New Roman" panose="02020603050405020304" pitchFamily="18" charset="0"/>
              </a:rPr>
              <a:t> address. </a:t>
            </a:r>
            <a:r>
              <a:rPr lang="en-US" sz="2400" b="0" i="0" dirty="0">
                <a:solidFill>
                  <a:srgbClr val="000000"/>
                </a:solidFill>
                <a:effectLst/>
                <a:latin typeface="Times New Roman" panose="02020603050405020304" pitchFamily="18" charset="0"/>
                <a:cs typeface="Times New Roman" panose="02020603050405020304" pitchFamily="18" charset="0"/>
              </a:rPr>
              <a:t>This is a variable-length field defining the logical (for example, IP) address of the target. For the IPv4 protocol, this field is 4 bytes long.</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81F90870-605E-8CDB-ECD7-14B49ED153EA}"/>
              </a:ext>
            </a:extLst>
          </p:cNvPr>
          <p:cNvSpPr>
            <a:spLocks noGrp="1"/>
          </p:cNvSpPr>
          <p:nvPr>
            <p:ph type="title"/>
          </p:nvPr>
        </p:nvSpPr>
        <p:spPr>
          <a:xfrm>
            <a:off x="2774778" y="251478"/>
            <a:ext cx="9182781" cy="858149"/>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Address Resolution Protocol (ARP)</a:t>
            </a:r>
            <a:endParaRPr lang="en-IN" dirty="0"/>
          </a:p>
        </p:txBody>
      </p:sp>
    </p:spTree>
    <p:extLst>
      <p:ext uri="{BB962C8B-B14F-4D97-AF65-F5344CB8AC3E}">
        <p14:creationId xmlns:p14="http://schemas.microsoft.com/office/powerpoint/2010/main" val="822173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1938555" y="-91437"/>
            <a:ext cx="12498170" cy="858149"/>
          </a:xfrm>
        </p:spPr>
        <p:txBody>
          <a:bodyPr>
            <a:normAutofit/>
          </a:bodyPr>
          <a:lstStyle/>
          <a:p>
            <a:r>
              <a:rPr lang="en-US" altLang="en-US" sz="4000" dirty="0">
                <a:solidFill>
                  <a:srgbClr val="3D29CD"/>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Internet Control Message Protocol </a:t>
            </a:r>
            <a:r>
              <a:rPr lang="en-US" sz="4000" dirty="0">
                <a:solidFill>
                  <a:srgbClr val="3D29CD"/>
                </a:solidFill>
                <a:latin typeface="Times New Roman" panose="02020603050405020304" pitchFamily="18" charset="0"/>
                <a:cs typeface="Times New Roman" panose="02020603050405020304" pitchFamily="18" charset="0"/>
              </a:rPr>
              <a:t>ICMP</a:t>
            </a:r>
            <a:endParaRPr lang="en-IN" sz="4000" dirty="0">
              <a:solidFill>
                <a:srgbClr val="3D29CD"/>
              </a:solidFill>
            </a:endParaRPr>
          </a:p>
        </p:txBody>
      </p:sp>
      <p:sp>
        <p:nvSpPr>
          <p:cNvPr id="7" name="TextBox 6">
            <a:extLst>
              <a:ext uri="{FF2B5EF4-FFF2-40B4-BE49-F238E27FC236}">
                <a16:creationId xmlns:a16="http://schemas.microsoft.com/office/drawing/2014/main" id="{20E5FD56-9009-D865-DC98-0C638E2978E8}"/>
              </a:ext>
            </a:extLst>
          </p:cNvPr>
          <p:cNvSpPr txBox="1"/>
          <p:nvPr/>
        </p:nvSpPr>
        <p:spPr>
          <a:xfrm>
            <a:off x="271579" y="711173"/>
            <a:ext cx="12948557" cy="1938992"/>
          </a:xfrm>
          <a:prstGeom prst="rect">
            <a:avLst/>
          </a:prstGeom>
          <a:noFill/>
        </p:spPr>
        <p:txBody>
          <a:bodyPr wrap="square">
            <a:spAutoFit/>
          </a:bodyPr>
          <a:lstStyle/>
          <a:p>
            <a:pPr algn="just" eaLnBrk="1" hangingPunct="1"/>
            <a:r>
              <a:rPr lang="en-US" altLang="en-US" sz="2400" dirty="0">
                <a:latin typeface="Times New Roman" panose="02020603050405020304" pitchFamily="18" charset="0"/>
                <a:cs typeface="Times New Roman" panose="02020603050405020304" pitchFamily="18" charset="0"/>
              </a:rPr>
              <a:t>The </a:t>
            </a:r>
            <a:r>
              <a:rPr lang="en-US" altLang="en-US" sz="2400" dirty="0">
                <a:solidFill>
                  <a:srgbClr val="FF0000"/>
                </a:solidFill>
                <a:latin typeface="Times New Roman" panose="02020603050405020304" pitchFamily="18" charset="0"/>
                <a:cs typeface="Times New Roman" panose="02020603050405020304" pitchFamily="18" charset="0"/>
              </a:rPr>
              <a:t>IP</a:t>
            </a:r>
            <a:r>
              <a:rPr lang="en-US" altLang="en-US" sz="2400" dirty="0">
                <a:latin typeface="Times New Roman" panose="02020603050405020304" pitchFamily="18" charset="0"/>
                <a:cs typeface="Times New Roman" panose="02020603050405020304" pitchFamily="18" charset="0"/>
              </a:rPr>
              <a:t> protocol has </a:t>
            </a:r>
            <a:r>
              <a:rPr lang="en-US" altLang="en-US" sz="2400" dirty="0">
                <a:solidFill>
                  <a:srgbClr val="FF0000"/>
                </a:solidFill>
                <a:latin typeface="Times New Roman" panose="02020603050405020304" pitchFamily="18" charset="0"/>
                <a:cs typeface="Times New Roman" panose="02020603050405020304" pitchFamily="18" charset="0"/>
              </a:rPr>
              <a:t>no error-reporting </a:t>
            </a:r>
            <a:r>
              <a:rPr lang="en-US" altLang="en-US" sz="2400" dirty="0">
                <a:latin typeface="Times New Roman" panose="02020603050405020304" pitchFamily="18" charset="0"/>
                <a:cs typeface="Times New Roman" panose="02020603050405020304" pitchFamily="18" charset="0"/>
              </a:rPr>
              <a:t>or error-correcting mechanism. The IP protocol also </a:t>
            </a:r>
            <a:r>
              <a:rPr lang="en-US" altLang="en-US" sz="2400" dirty="0">
                <a:solidFill>
                  <a:srgbClr val="FF0000"/>
                </a:solidFill>
                <a:latin typeface="Times New Roman" panose="02020603050405020304" pitchFamily="18" charset="0"/>
                <a:cs typeface="Times New Roman" panose="02020603050405020304" pitchFamily="18" charset="0"/>
              </a:rPr>
              <a:t>lacks</a:t>
            </a:r>
            <a:r>
              <a:rPr lang="en-US" altLang="en-US" sz="2400" dirty="0">
                <a:latin typeface="Times New Roman" panose="02020603050405020304" pitchFamily="18" charset="0"/>
                <a:cs typeface="Times New Roman" panose="02020603050405020304" pitchFamily="18" charset="0"/>
              </a:rPr>
              <a:t> a mechanism for host and </a:t>
            </a:r>
            <a:r>
              <a:rPr lang="en-US" altLang="en-US" sz="2400" dirty="0">
                <a:solidFill>
                  <a:srgbClr val="FF0000"/>
                </a:solidFill>
                <a:latin typeface="Times New Roman" panose="02020603050405020304" pitchFamily="18" charset="0"/>
                <a:cs typeface="Times New Roman" panose="02020603050405020304" pitchFamily="18" charset="0"/>
              </a:rPr>
              <a:t>management queries</a:t>
            </a:r>
            <a:r>
              <a:rPr lang="en-US" altLang="en-US" sz="2400" dirty="0">
                <a:latin typeface="Times New Roman" panose="02020603050405020304" pitchFamily="18" charset="0"/>
                <a:cs typeface="Times New Roman" panose="02020603050405020304" pitchFamily="18" charset="0"/>
              </a:rPr>
              <a:t>. </a:t>
            </a:r>
          </a:p>
          <a:p>
            <a:pPr algn="just" eaLnBrk="1" hangingPunct="1"/>
            <a:r>
              <a:rPr lang="en-US" altLang="en-US" sz="2400" dirty="0">
                <a:latin typeface="Times New Roman" panose="02020603050405020304" pitchFamily="18" charset="0"/>
                <a:cs typeface="Times New Roman" panose="02020603050405020304" pitchFamily="18" charset="0"/>
              </a:rPr>
              <a:t>The </a:t>
            </a:r>
            <a:r>
              <a:rPr lang="en-US" altLang="en-US" sz="2400" dirty="0">
                <a:solidFill>
                  <a:schemeClr val="hlink"/>
                </a:solidFill>
                <a:latin typeface="Times New Roman" panose="02020603050405020304" pitchFamily="18" charset="0"/>
                <a:cs typeface="Times New Roman" panose="02020603050405020304" pitchFamily="18" charset="0"/>
              </a:rPr>
              <a:t>Internet Control Message Protocol (ICMP)</a:t>
            </a:r>
            <a:r>
              <a:rPr lang="en-US" altLang="en-US" sz="2400" dirty="0">
                <a:latin typeface="Times New Roman" panose="02020603050405020304" pitchFamily="18" charset="0"/>
                <a:cs typeface="Times New Roman" panose="02020603050405020304" pitchFamily="18" charset="0"/>
              </a:rPr>
              <a:t> has been designed to compensate for the above two deficiencies. </a:t>
            </a:r>
          </a:p>
          <a:p>
            <a:r>
              <a:rPr lang="en-US" sz="2400" dirty="0">
                <a:solidFill>
                  <a:srgbClr val="FF0000"/>
                </a:solidFill>
                <a:latin typeface="Times New Roman" panose="02020603050405020304" pitchFamily="18" charset="0"/>
                <a:cs typeface="Times New Roman" panose="02020603050405020304" pitchFamily="18" charset="0"/>
              </a:rPr>
              <a:t>ICMP</a:t>
            </a:r>
            <a:r>
              <a:rPr lang="en-US" sz="2400" dirty="0">
                <a:solidFill>
                  <a:srgbClr val="242021"/>
                </a:solidFill>
                <a:latin typeface="Times New Roman" panose="02020603050405020304" pitchFamily="18" charset="0"/>
                <a:cs typeface="Times New Roman" panose="02020603050405020304" pitchFamily="18" charset="0"/>
              </a:rPr>
              <a:t> messages are </a:t>
            </a:r>
            <a:r>
              <a:rPr lang="en-US" sz="2400" dirty="0">
                <a:solidFill>
                  <a:srgbClr val="FF0000"/>
                </a:solidFill>
                <a:latin typeface="Times New Roman" panose="02020603050405020304" pitchFamily="18" charset="0"/>
                <a:cs typeface="Times New Roman" panose="02020603050405020304" pitchFamily="18" charset="0"/>
              </a:rPr>
              <a:t>divided</a:t>
            </a:r>
            <a:r>
              <a:rPr lang="en-US" sz="2400" dirty="0">
                <a:solidFill>
                  <a:srgbClr val="242021"/>
                </a:solidFill>
                <a:latin typeface="Times New Roman" panose="02020603050405020304" pitchFamily="18" charset="0"/>
                <a:cs typeface="Times New Roman" panose="02020603050405020304" pitchFamily="18" charset="0"/>
              </a:rPr>
              <a:t> into two broad categories: </a:t>
            </a:r>
            <a:r>
              <a:rPr lang="en-US" sz="2400" i="1" dirty="0">
                <a:solidFill>
                  <a:srgbClr val="FF0000"/>
                </a:solidFill>
                <a:latin typeface="Times New Roman" panose="02020603050405020304" pitchFamily="18" charset="0"/>
                <a:cs typeface="Times New Roman" panose="02020603050405020304" pitchFamily="18" charset="0"/>
              </a:rPr>
              <a:t>error-reporting messages </a:t>
            </a:r>
            <a:r>
              <a:rPr lang="en-US" sz="2400" dirty="0">
                <a:solidFill>
                  <a:srgbClr val="FF0000"/>
                </a:solidFill>
                <a:latin typeface="Times New Roman" panose="02020603050405020304" pitchFamily="18" charset="0"/>
                <a:cs typeface="Times New Roman" panose="02020603050405020304" pitchFamily="18" charset="0"/>
              </a:rPr>
              <a:t>and </a:t>
            </a:r>
            <a:r>
              <a:rPr lang="en-US" sz="2400" i="1" dirty="0">
                <a:solidFill>
                  <a:srgbClr val="FF0000"/>
                </a:solidFill>
                <a:latin typeface="Times New Roman" panose="02020603050405020304" pitchFamily="18" charset="0"/>
                <a:cs typeface="Times New Roman" panose="02020603050405020304" pitchFamily="18" charset="0"/>
              </a:rPr>
              <a:t>query messages</a:t>
            </a:r>
            <a:r>
              <a:rPr lang="en-US" sz="2400" i="1" dirty="0">
                <a:solidFill>
                  <a:srgbClr val="242021"/>
                </a:solidFill>
                <a:latin typeface="Times New Roman" panose="02020603050405020304" pitchFamily="18" charset="0"/>
                <a:cs typeface="Times New Roman" panose="02020603050405020304" pitchFamily="18" charset="0"/>
              </a:rPr>
              <a:t>. </a:t>
            </a:r>
          </a:p>
        </p:txBody>
      </p:sp>
      <p:pic>
        <p:nvPicPr>
          <p:cNvPr id="16" name="Picture 15">
            <a:extLst>
              <a:ext uri="{FF2B5EF4-FFF2-40B4-BE49-F238E27FC236}">
                <a16:creationId xmlns:a16="http://schemas.microsoft.com/office/drawing/2014/main" id="{9ECD69B6-C378-2D99-0586-10FA8225FF32}"/>
              </a:ext>
            </a:extLst>
          </p:cNvPr>
          <p:cNvPicPr>
            <a:picLocks noChangeAspect="1"/>
          </p:cNvPicPr>
          <p:nvPr/>
        </p:nvPicPr>
        <p:blipFill>
          <a:blip r:embed="rId2"/>
          <a:stretch>
            <a:fillRect/>
          </a:stretch>
        </p:blipFill>
        <p:spPr>
          <a:xfrm>
            <a:off x="1726182" y="2630765"/>
            <a:ext cx="10039350" cy="2409825"/>
          </a:xfrm>
          <a:prstGeom prst="rect">
            <a:avLst/>
          </a:prstGeom>
        </p:spPr>
      </p:pic>
      <p:pic>
        <p:nvPicPr>
          <p:cNvPr id="4" name="Picture 3">
            <a:extLst>
              <a:ext uri="{FF2B5EF4-FFF2-40B4-BE49-F238E27FC236}">
                <a16:creationId xmlns:a16="http://schemas.microsoft.com/office/drawing/2014/main" id="{7A4155BE-3F50-C008-FED1-B47A9A4436B9}"/>
              </a:ext>
            </a:extLst>
          </p:cNvPr>
          <p:cNvPicPr>
            <a:picLocks noChangeAspect="1"/>
          </p:cNvPicPr>
          <p:nvPr/>
        </p:nvPicPr>
        <p:blipFill>
          <a:blip r:embed="rId3"/>
          <a:stretch>
            <a:fillRect/>
          </a:stretch>
        </p:blipFill>
        <p:spPr>
          <a:xfrm>
            <a:off x="1716946" y="5021189"/>
            <a:ext cx="10487025" cy="2209800"/>
          </a:xfrm>
          <a:prstGeom prst="rect">
            <a:avLst/>
          </a:prstGeom>
        </p:spPr>
      </p:pic>
    </p:spTree>
    <p:extLst>
      <p:ext uri="{BB962C8B-B14F-4D97-AF65-F5344CB8AC3E}">
        <p14:creationId xmlns:p14="http://schemas.microsoft.com/office/powerpoint/2010/main" val="382845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D9E808C5-5495-051F-3378-A58ED6495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013" y="5061231"/>
            <a:ext cx="7854400" cy="2180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626ADFAB-31F7-D553-19DF-C6FB2EBB3519}"/>
              </a:ext>
            </a:extLst>
          </p:cNvPr>
          <p:cNvSpPr txBox="1"/>
          <p:nvPr/>
        </p:nvSpPr>
        <p:spPr>
          <a:xfrm>
            <a:off x="133736" y="1444846"/>
            <a:ext cx="13985035" cy="3785652"/>
          </a:xfrm>
          <a:prstGeom prst="rect">
            <a:avLst/>
          </a:prstGeom>
          <a:noFill/>
        </p:spPr>
        <p:txBody>
          <a:bodyPr wrap="square">
            <a:spAutoFit/>
          </a:bodyPr>
          <a:lstStyle/>
          <a:p>
            <a:r>
              <a:rPr lang="en-US" sz="2400" b="1" dirty="0">
                <a:solidFill>
                  <a:srgbClr val="00B050"/>
                </a:solidFill>
                <a:effectLst/>
                <a:latin typeface="Times New Roman" panose="02020603050405020304" pitchFamily="18" charset="0"/>
                <a:cs typeface="Times New Roman" panose="02020603050405020304" pitchFamily="18" charset="0"/>
              </a:rPr>
              <a:t>Destination Unreachable: </a:t>
            </a:r>
            <a:r>
              <a:rPr lang="en-US" sz="2400" b="0" dirty="0">
                <a:solidFill>
                  <a:srgbClr val="00B050"/>
                </a:solidFill>
                <a:effectLst/>
                <a:latin typeface="Times New Roman" panose="02020603050405020304" pitchFamily="18" charset="0"/>
                <a:cs typeface="Times New Roman" panose="02020603050405020304" pitchFamily="18" charset="0"/>
              </a:rPr>
              <a:t>The most widely used error message is the destination unreachable (type 3). This message </a:t>
            </a:r>
            <a:r>
              <a:rPr lang="en-US" sz="2400" dirty="0">
                <a:solidFill>
                  <a:srgbClr val="00B050"/>
                </a:solidFill>
                <a:effectLst/>
                <a:latin typeface="Times New Roman" panose="02020603050405020304" pitchFamily="18" charset="0"/>
                <a:cs typeface="Times New Roman" panose="02020603050405020304" pitchFamily="18" charset="0"/>
              </a:rPr>
              <a:t>define </a:t>
            </a:r>
            <a:r>
              <a:rPr lang="en-US" sz="2400" b="0" dirty="0">
                <a:solidFill>
                  <a:srgbClr val="00B050"/>
                </a:solidFill>
                <a:effectLst/>
                <a:latin typeface="Times New Roman" panose="02020603050405020304" pitchFamily="18" charset="0"/>
                <a:cs typeface="Times New Roman" panose="02020603050405020304" pitchFamily="18" charset="0"/>
              </a:rPr>
              <a:t>the type of error message and the reason why a </a:t>
            </a:r>
            <a:r>
              <a:rPr lang="en-US" sz="2400" b="1" dirty="0">
                <a:solidFill>
                  <a:srgbClr val="FF0000"/>
                </a:solidFill>
                <a:effectLst/>
                <a:latin typeface="Times New Roman" panose="02020603050405020304" pitchFamily="18" charset="0"/>
                <a:cs typeface="Times New Roman" panose="02020603050405020304" pitchFamily="18" charset="0"/>
              </a:rPr>
              <a:t>datagram</a:t>
            </a:r>
            <a:r>
              <a:rPr lang="en-US" sz="2400" b="0" dirty="0">
                <a:solidFill>
                  <a:srgbClr val="00B050"/>
                </a:solidFill>
                <a:effectLst/>
                <a:latin typeface="Times New Roman" panose="02020603050405020304" pitchFamily="18" charset="0"/>
                <a:cs typeface="Times New Roman" panose="02020603050405020304" pitchFamily="18" charset="0"/>
              </a:rPr>
              <a:t> has </a:t>
            </a:r>
            <a:r>
              <a:rPr lang="en-US" sz="2400" b="0" dirty="0">
                <a:solidFill>
                  <a:srgbClr val="FF0000"/>
                </a:solidFill>
                <a:effectLst/>
                <a:latin typeface="Times New Roman" panose="02020603050405020304" pitchFamily="18" charset="0"/>
                <a:cs typeface="Times New Roman" panose="02020603050405020304" pitchFamily="18" charset="0"/>
              </a:rPr>
              <a:t>not</a:t>
            </a:r>
            <a:r>
              <a:rPr lang="en-US" sz="2400" b="0" dirty="0">
                <a:solidFill>
                  <a:srgbClr val="00B050"/>
                </a:solidFill>
                <a:effectLst/>
                <a:latin typeface="Times New Roman" panose="02020603050405020304" pitchFamily="18" charset="0"/>
                <a:cs typeface="Times New Roman" panose="02020603050405020304" pitchFamily="18" charset="0"/>
              </a:rPr>
              <a:t> </a:t>
            </a:r>
            <a:r>
              <a:rPr lang="en-US" sz="2400" b="1" dirty="0">
                <a:solidFill>
                  <a:srgbClr val="FF0000"/>
                </a:solidFill>
                <a:effectLst/>
                <a:latin typeface="Times New Roman" panose="02020603050405020304" pitchFamily="18" charset="0"/>
                <a:cs typeface="Times New Roman" panose="02020603050405020304" pitchFamily="18" charset="0"/>
              </a:rPr>
              <a:t>reached</a:t>
            </a:r>
            <a:r>
              <a:rPr lang="en-US" sz="2400" b="0" dirty="0">
                <a:solidFill>
                  <a:srgbClr val="00B050"/>
                </a:solidFill>
                <a:effectLst/>
                <a:latin typeface="Times New Roman" panose="02020603050405020304" pitchFamily="18" charset="0"/>
                <a:cs typeface="Times New Roman" panose="02020603050405020304" pitchFamily="18" charset="0"/>
              </a:rPr>
              <a:t> its </a:t>
            </a:r>
            <a:r>
              <a:rPr lang="en-US" sz="2400" b="1" dirty="0">
                <a:solidFill>
                  <a:srgbClr val="FF0000"/>
                </a:solidFill>
                <a:effectLst/>
                <a:latin typeface="Times New Roman" panose="02020603050405020304" pitchFamily="18" charset="0"/>
                <a:cs typeface="Times New Roman" panose="02020603050405020304" pitchFamily="18" charset="0"/>
              </a:rPr>
              <a:t>final destination</a:t>
            </a:r>
            <a:r>
              <a:rPr lang="en-US" sz="2400" b="0" dirty="0">
                <a:solidFill>
                  <a:srgbClr val="00B050"/>
                </a:solidFill>
                <a:effectLst/>
                <a:latin typeface="Times New Roman" panose="02020603050405020304" pitchFamily="18" charset="0"/>
                <a:cs typeface="Times New Roman" panose="02020603050405020304" pitchFamily="18" charset="0"/>
              </a:rPr>
              <a:t>.</a:t>
            </a:r>
            <a:r>
              <a:rPr lang="en-US" sz="2400" dirty="0">
                <a:solidFill>
                  <a:srgbClr val="00B050"/>
                </a:solidFill>
                <a:latin typeface="Times New Roman" panose="02020603050405020304" pitchFamily="18" charset="0"/>
                <a:cs typeface="Times New Roman" panose="02020603050405020304" pitchFamily="18" charset="0"/>
              </a:rPr>
              <a:t> </a:t>
            </a:r>
          </a:p>
          <a:p>
            <a:r>
              <a:rPr lang="en-US" sz="2400" b="1" dirty="0">
                <a:solidFill>
                  <a:srgbClr val="0070C0"/>
                </a:solidFill>
                <a:latin typeface="Times New Roman" panose="02020603050405020304" pitchFamily="18" charset="0"/>
                <a:cs typeface="Times New Roman" panose="02020603050405020304" pitchFamily="18" charset="0"/>
              </a:rPr>
              <a:t>Source Quench: S</a:t>
            </a:r>
            <a:r>
              <a:rPr lang="en-US" sz="2400" dirty="0">
                <a:solidFill>
                  <a:srgbClr val="0070C0"/>
                </a:solidFill>
                <a:latin typeface="Times New Roman" panose="02020603050405020304" pitchFamily="18" charset="0"/>
                <a:cs typeface="Times New Roman" panose="02020603050405020304" pitchFamily="18" charset="0"/>
              </a:rPr>
              <a:t>ource quench (type 4) message </a:t>
            </a:r>
            <a:r>
              <a:rPr lang="en-US" sz="2400" b="1" dirty="0">
                <a:solidFill>
                  <a:srgbClr val="FF0000"/>
                </a:solidFill>
                <a:latin typeface="Times New Roman" panose="02020603050405020304" pitchFamily="18" charset="0"/>
                <a:cs typeface="Times New Roman" panose="02020603050405020304" pitchFamily="18" charset="0"/>
              </a:rPr>
              <a:t>informs</a:t>
            </a:r>
            <a:r>
              <a:rPr lang="en-US" sz="2400" dirty="0">
                <a:solidFill>
                  <a:srgbClr val="0070C0"/>
                </a:solidFill>
                <a:latin typeface="Times New Roman" panose="02020603050405020304" pitchFamily="18" charset="0"/>
                <a:cs typeface="Times New Roman" panose="02020603050405020304" pitchFamily="18" charset="0"/>
              </a:rPr>
              <a:t> the </a:t>
            </a:r>
            <a:r>
              <a:rPr lang="en-US" sz="2400" b="1" dirty="0">
                <a:solidFill>
                  <a:srgbClr val="FF0000"/>
                </a:solidFill>
                <a:latin typeface="Times New Roman" panose="02020603050405020304" pitchFamily="18" charset="0"/>
                <a:cs typeface="Times New Roman" panose="02020603050405020304" pitchFamily="18" charset="0"/>
              </a:rPr>
              <a:t>sender</a:t>
            </a:r>
            <a:r>
              <a:rPr lang="en-US" sz="2400" dirty="0">
                <a:solidFill>
                  <a:srgbClr val="0070C0"/>
                </a:solidFill>
                <a:latin typeface="Times New Roman" panose="02020603050405020304" pitchFamily="18" charset="0"/>
                <a:cs typeface="Times New Roman" panose="02020603050405020304" pitchFamily="18" charset="0"/>
              </a:rPr>
              <a:t> that the network has encountered </a:t>
            </a:r>
            <a:r>
              <a:rPr lang="en-US" sz="2400" b="1" dirty="0">
                <a:solidFill>
                  <a:srgbClr val="FF0000"/>
                </a:solidFill>
                <a:latin typeface="Times New Roman" panose="02020603050405020304" pitchFamily="18" charset="0"/>
                <a:cs typeface="Times New Roman" panose="02020603050405020304" pitchFamily="18" charset="0"/>
              </a:rPr>
              <a:t>congestion</a:t>
            </a:r>
            <a:r>
              <a:rPr lang="en-US" sz="2400" dirty="0">
                <a:solidFill>
                  <a:srgbClr val="0070C0"/>
                </a:solidFill>
                <a:latin typeface="Times New Roman" panose="02020603050405020304" pitchFamily="18" charset="0"/>
                <a:cs typeface="Times New Roman" panose="02020603050405020304" pitchFamily="18" charset="0"/>
              </a:rPr>
              <a:t> and the datagram has been dropped; the source needs to slow down sending more datagrams. </a:t>
            </a:r>
          </a:p>
          <a:p>
            <a:r>
              <a:rPr lang="en-IN" sz="2400" b="1" dirty="0">
                <a:solidFill>
                  <a:srgbClr val="7030A0"/>
                </a:solidFill>
                <a:latin typeface="Times New Roman" panose="02020603050405020304" pitchFamily="18" charset="0"/>
                <a:cs typeface="Times New Roman" panose="02020603050405020304" pitchFamily="18" charset="0"/>
              </a:rPr>
              <a:t>Time Exceeded : </a:t>
            </a:r>
            <a:r>
              <a:rPr lang="en-US" sz="2400" dirty="0">
                <a:solidFill>
                  <a:srgbClr val="7030A0"/>
                </a:solidFill>
                <a:latin typeface="Times New Roman" panose="02020603050405020304" pitchFamily="18" charset="0"/>
                <a:cs typeface="Times New Roman" panose="02020603050405020304" pitchFamily="18" charset="0"/>
              </a:rPr>
              <a:t>When a datagram visits a router, the value of this field is decremented by 1. When the </a:t>
            </a:r>
            <a:r>
              <a:rPr lang="en-US" sz="2400" b="1" dirty="0">
                <a:solidFill>
                  <a:srgbClr val="FF0000"/>
                </a:solidFill>
                <a:latin typeface="Times New Roman" panose="02020603050405020304" pitchFamily="18" charset="0"/>
                <a:cs typeface="Times New Roman" panose="02020603050405020304" pitchFamily="18" charset="0"/>
              </a:rPr>
              <a:t>time-to-live value reaches 0</a:t>
            </a:r>
            <a:r>
              <a:rPr lang="en-US" sz="2400" dirty="0">
                <a:solidFill>
                  <a:srgbClr val="7030A0"/>
                </a:solidFill>
                <a:latin typeface="Times New Roman" panose="02020603050405020304" pitchFamily="18" charset="0"/>
                <a:cs typeface="Times New Roman" panose="02020603050405020304" pitchFamily="18" charset="0"/>
              </a:rPr>
              <a:t>, after decrementing, the </a:t>
            </a:r>
            <a:r>
              <a:rPr lang="en-US" sz="2400" b="1" dirty="0">
                <a:solidFill>
                  <a:srgbClr val="FF0000"/>
                </a:solidFill>
                <a:latin typeface="Times New Roman" panose="02020603050405020304" pitchFamily="18" charset="0"/>
                <a:cs typeface="Times New Roman" panose="02020603050405020304" pitchFamily="18" charset="0"/>
              </a:rPr>
              <a:t>router discards the datagram</a:t>
            </a:r>
            <a:r>
              <a:rPr lang="en-US" sz="2400" dirty="0">
                <a:solidFill>
                  <a:srgbClr val="7030A0"/>
                </a:solidFill>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b="1" dirty="0">
                <a:solidFill>
                  <a:srgbClr val="00B0F0"/>
                </a:solidFill>
                <a:latin typeface="Times New Roman" panose="02020603050405020304" pitchFamily="18" charset="0"/>
                <a:cs typeface="Times New Roman" panose="02020603050405020304" pitchFamily="18" charset="0"/>
              </a:rPr>
              <a:t>Redirection Message: </a:t>
            </a:r>
            <a:r>
              <a:rPr lang="en-US" sz="2400" dirty="0">
                <a:solidFill>
                  <a:srgbClr val="00B0F0"/>
                </a:solidFill>
                <a:latin typeface="Times New Roman" panose="02020603050405020304" pitchFamily="18" charset="0"/>
                <a:cs typeface="Times New Roman" panose="02020603050405020304" pitchFamily="18" charset="0"/>
              </a:rPr>
              <a:t>The redirection message (type 5) is used when the </a:t>
            </a:r>
            <a:r>
              <a:rPr lang="en-US" sz="2400" b="1" dirty="0">
                <a:solidFill>
                  <a:srgbClr val="FF0000"/>
                </a:solidFill>
                <a:latin typeface="Times New Roman" panose="02020603050405020304" pitchFamily="18" charset="0"/>
                <a:cs typeface="Times New Roman" panose="02020603050405020304" pitchFamily="18" charset="0"/>
              </a:rPr>
              <a:t>source uses a wrong router </a:t>
            </a:r>
            <a:r>
              <a:rPr lang="en-US" sz="2400" dirty="0">
                <a:solidFill>
                  <a:srgbClr val="00B0F0"/>
                </a:solidFill>
                <a:latin typeface="Times New Roman" panose="02020603050405020304" pitchFamily="18" charset="0"/>
                <a:cs typeface="Times New Roman" panose="02020603050405020304" pitchFamily="18" charset="0"/>
              </a:rPr>
              <a:t>to send out its message.</a:t>
            </a:r>
            <a:r>
              <a:rPr lang="en-US" sz="2400" dirty="0">
                <a:solidFill>
                  <a:srgbClr val="242021"/>
                </a:solidFill>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US" sz="2400" b="1" dirty="0">
                <a:solidFill>
                  <a:schemeClr val="accent2">
                    <a:lumMod val="50000"/>
                  </a:schemeClr>
                </a:solidFill>
                <a:latin typeface="Times New Roman" panose="02020603050405020304" pitchFamily="18" charset="0"/>
                <a:cs typeface="Times New Roman" panose="02020603050405020304" pitchFamily="18" charset="0"/>
              </a:rPr>
              <a:t>Parameter Problem: </a:t>
            </a:r>
            <a:r>
              <a:rPr lang="en-US" sz="2400" dirty="0">
                <a:solidFill>
                  <a:schemeClr val="accent2">
                    <a:lumMod val="50000"/>
                  </a:schemeClr>
                </a:solidFill>
                <a:latin typeface="Times New Roman" panose="02020603050405020304" pitchFamily="18" charset="0"/>
                <a:cs typeface="Times New Roman" panose="02020603050405020304" pitchFamily="18" charset="0"/>
              </a:rPr>
              <a:t>A parameter problem message (type 12) can be sent when there is a </a:t>
            </a:r>
            <a:r>
              <a:rPr lang="en-US" sz="2400" b="1" dirty="0">
                <a:solidFill>
                  <a:srgbClr val="FF0000"/>
                </a:solidFill>
                <a:latin typeface="Times New Roman" panose="02020603050405020304" pitchFamily="18" charset="0"/>
                <a:cs typeface="Times New Roman" panose="02020603050405020304" pitchFamily="18" charset="0"/>
              </a:rPr>
              <a:t>problem in the header </a:t>
            </a:r>
            <a:r>
              <a:rPr lang="en-US" sz="2400" dirty="0">
                <a:solidFill>
                  <a:schemeClr val="accent2">
                    <a:lumMod val="50000"/>
                  </a:schemeClr>
                </a:solidFill>
                <a:latin typeface="Times New Roman" panose="02020603050405020304" pitchFamily="18" charset="0"/>
                <a:cs typeface="Times New Roman" panose="02020603050405020304" pitchFamily="18" charset="0"/>
              </a:rPr>
              <a:t>of a datagram </a:t>
            </a:r>
            <a:endParaRPr lang="en-IN" sz="2400" dirty="0">
              <a:solidFill>
                <a:schemeClr val="accent2">
                  <a:lumMod val="50000"/>
                </a:schemeClr>
              </a:solidFill>
            </a:endParaRPr>
          </a:p>
        </p:txBody>
      </p:sp>
      <p:sp>
        <p:nvSpPr>
          <p:cNvPr id="12" name="TextBox 11">
            <a:extLst>
              <a:ext uri="{FF2B5EF4-FFF2-40B4-BE49-F238E27FC236}">
                <a16:creationId xmlns:a16="http://schemas.microsoft.com/office/drawing/2014/main" id="{05DCEE3B-DF85-F115-6B3B-D41CE0CDAFBF}"/>
              </a:ext>
            </a:extLst>
          </p:cNvPr>
          <p:cNvSpPr txBox="1"/>
          <p:nvPr/>
        </p:nvSpPr>
        <p:spPr>
          <a:xfrm>
            <a:off x="3592285" y="-155592"/>
            <a:ext cx="9138556" cy="769441"/>
          </a:xfrm>
          <a:prstGeom prst="rect">
            <a:avLst/>
          </a:prstGeom>
          <a:noFill/>
        </p:spPr>
        <p:txBody>
          <a:bodyPr wrap="square">
            <a:spAutoFit/>
          </a:bodyPr>
          <a:lstStyle/>
          <a:p>
            <a:r>
              <a:rPr lang="en-IN" sz="4400" dirty="0">
                <a:solidFill>
                  <a:srgbClr val="3D29CD"/>
                </a:solidFill>
                <a:effectLst/>
                <a:latin typeface="Times-BoldItalic"/>
              </a:rPr>
              <a:t>ICMP Error Reporting Messages</a:t>
            </a:r>
            <a:r>
              <a:rPr lang="en-IN" sz="4400" dirty="0">
                <a:solidFill>
                  <a:srgbClr val="3D29CD"/>
                </a:solidFill>
              </a:rPr>
              <a:t> </a:t>
            </a:r>
          </a:p>
        </p:txBody>
      </p:sp>
      <p:sp>
        <p:nvSpPr>
          <p:cNvPr id="14" name="TextBox 13">
            <a:extLst>
              <a:ext uri="{FF2B5EF4-FFF2-40B4-BE49-F238E27FC236}">
                <a16:creationId xmlns:a16="http://schemas.microsoft.com/office/drawing/2014/main" id="{68A33199-979D-C039-8E06-846719EECE76}"/>
              </a:ext>
            </a:extLst>
          </p:cNvPr>
          <p:cNvSpPr txBox="1"/>
          <p:nvPr/>
        </p:nvSpPr>
        <p:spPr>
          <a:xfrm>
            <a:off x="133737" y="613849"/>
            <a:ext cx="14169252" cy="83099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The error-reporting messages report problems that a router or a host (destination) may encounter when it processes an IP packet and the </a:t>
            </a:r>
            <a:r>
              <a:rPr lang="en-US" sz="2400" b="1" dirty="0">
                <a:solidFill>
                  <a:srgbClr val="FF0000"/>
                </a:solidFill>
                <a:latin typeface="Times New Roman" panose="02020603050405020304" pitchFamily="18" charset="0"/>
                <a:cs typeface="Times New Roman" panose="02020603050405020304" pitchFamily="18" charset="0"/>
              </a:rPr>
              <a:t>message always send to the source host</a:t>
            </a:r>
            <a:r>
              <a:rPr lang="en-US"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09452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F946-28A8-8139-7B41-84CD441259D2}"/>
              </a:ext>
            </a:extLst>
          </p:cNvPr>
          <p:cNvSpPr>
            <a:spLocks noGrp="1"/>
          </p:cNvSpPr>
          <p:nvPr>
            <p:ph type="title"/>
          </p:nvPr>
        </p:nvSpPr>
        <p:spPr>
          <a:xfrm>
            <a:off x="5020409" y="380104"/>
            <a:ext cx="7204247" cy="708468"/>
          </a:xfrm>
        </p:spPr>
        <p:txBody>
          <a:bodyPr>
            <a:normAutofit fontScale="90000"/>
          </a:bodyPr>
          <a:lstStyle/>
          <a:p>
            <a:r>
              <a:rPr lang="en-US" sz="4800" b="1" dirty="0">
                <a:solidFill>
                  <a:srgbClr val="3D29CD"/>
                </a:solidFill>
                <a:latin typeface="Times New Roman" panose="02020603050405020304" pitchFamily="18" charset="0"/>
                <a:cs typeface="Times New Roman" panose="02020603050405020304" pitchFamily="18" charset="0"/>
              </a:rPr>
              <a:t>ICMP Query Messages</a:t>
            </a:r>
            <a:r>
              <a:rPr lang="en-US" b="1" dirty="0">
                <a:solidFill>
                  <a:srgbClr val="3D29CD"/>
                </a:solidFill>
                <a:latin typeface="Times New Roman" panose="02020603050405020304" pitchFamily="18" charset="0"/>
                <a:cs typeface="Times New Roman" panose="02020603050405020304" pitchFamily="18" charset="0"/>
              </a:rPr>
              <a:t> </a:t>
            </a:r>
            <a:br>
              <a:rPr lang="en-US" b="1" dirty="0">
                <a:solidFill>
                  <a:srgbClr val="3D29CD"/>
                </a:solidFill>
                <a:latin typeface="Times New Roman" panose="02020603050405020304" pitchFamily="18" charset="0"/>
                <a:cs typeface="Times New Roman" panose="02020603050405020304" pitchFamily="18" charset="0"/>
              </a:rPr>
            </a:br>
            <a:endParaRPr lang="en-IN" dirty="0">
              <a:solidFill>
                <a:srgbClr val="3D29CD"/>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64BCF4E-B911-23FA-7757-7113FCCE57F1}"/>
              </a:ext>
            </a:extLst>
          </p:cNvPr>
          <p:cNvSpPr txBox="1"/>
          <p:nvPr/>
        </p:nvSpPr>
        <p:spPr>
          <a:xfrm>
            <a:off x="387576" y="1065133"/>
            <a:ext cx="13524368" cy="5139869"/>
          </a:xfrm>
          <a:prstGeom prst="rect">
            <a:avLst/>
          </a:prstGeom>
          <a:noFill/>
        </p:spPr>
        <p:txBody>
          <a:bodyPr wrap="square">
            <a:spAutoFit/>
          </a:bodyPr>
          <a:lstStyle/>
          <a:p>
            <a:pPr marL="342900" indent="-342900">
              <a:spcBef>
                <a:spcPts val="600"/>
              </a:spcBef>
              <a:spcAft>
                <a:spcPts val="600"/>
              </a:spcAft>
              <a:buFont typeface="Wingdings" panose="05000000000000000000" pitchFamily="2" charset="2"/>
              <a:buChar char="Ø"/>
            </a:pPr>
            <a:r>
              <a:rPr lang="en-US" sz="2800" b="0" i="0" dirty="0">
                <a:solidFill>
                  <a:srgbClr val="242021"/>
                </a:solidFill>
                <a:effectLst/>
                <a:latin typeface="Times New Roman" panose="02020603050405020304" pitchFamily="18" charset="0"/>
                <a:cs typeface="Times New Roman" panose="02020603050405020304" pitchFamily="18" charset="0"/>
              </a:rPr>
              <a:t>Query messages are used to </a:t>
            </a:r>
            <a:r>
              <a:rPr lang="en-US" sz="2800" b="0" i="0" dirty="0">
                <a:solidFill>
                  <a:srgbClr val="FF0000"/>
                </a:solidFill>
                <a:effectLst/>
                <a:latin typeface="Times New Roman" panose="02020603050405020304" pitchFamily="18" charset="0"/>
                <a:cs typeface="Times New Roman" panose="02020603050405020304" pitchFamily="18" charset="0"/>
              </a:rPr>
              <a:t>probe or test </a:t>
            </a:r>
            <a:r>
              <a:rPr lang="en-US" sz="2800" b="0" i="0" dirty="0">
                <a:solidFill>
                  <a:srgbClr val="242021"/>
                </a:solidFill>
                <a:effectLst/>
                <a:latin typeface="Times New Roman" panose="02020603050405020304" pitchFamily="18" charset="0"/>
                <a:cs typeface="Times New Roman" panose="02020603050405020304" pitchFamily="18" charset="0"/>
              </a:rPr>
              <a:t>the </a:t>
            </a:r>
            <a:r>
              <a:rPr lang="en-US" sz="2800" b="0" i="0" dirty="0">
                <a:solidFill>
                  <a:srgbClr val="FF0000"/>
                </a:solidFill>
                <a:effectLst/>
                <a:latin typeface="Times New Roman" panose="02020603050405020304" pitchFamily="18" charset="0"/>
                <a:cs typeface="Times New Roman" panose="02020603050405020304" pitchFamily="18" charset="0"/>
              </a:rPr>
              <a:t>liveliness of hosts or routers </a:t>
            </a:r>
            <a:r>
              <a:rPr lang="en-US" sz="2800" b="0" i="0" dirty="0">
                <a:solidFill>
                  <a:srgbClr val="242021"/>
                </a:solidFill>
                <a:effectLst/>
                <a:latin typeface="Times New Roman" panose="02020603050405020304" pitchFamily="18" charset="0"/>
                <a:cs typeface="Times New Roman" panose="02020603050405020304" pitchFamily="18" charset="0"/>
              </a:rPr>
              <a:t>in the Internet, find the one-way or the round-trip time for an IP datagram between two devices. </a:t>
            </a:r>
          </a:p>
          <a:p>
            <a:pPr marL="342900" indent="-342900">
              <a:spcBef>
                <a:spcPts val="600"/>
              </a:spcBef>
              <a:spcAft>
                <a:spcPts val="600"/>
              </a:spcAft>
              <a:buFont typeface="Wingdings" panose="05000000000000000000" pitchFamily="2" charset="2"/>
              <a:buChar char="Ø"/>
            </a:pPr>
            <a:r>
              <a:rPr lang="en-US" sz="2800" b="0" i="0" dirty="0">
                <a:solidFill>
                  <a:srgbClr val="242021"/>
                </a:solidFill>
                <a:effectLst/>
                <a:latin typeface="Times New Roman" panose="02020603050405020304" pitchFamily="18" charset="0"/>
                <a:cs typeface="Times New Roman" panose="02020603050405020304" pitchFamily="18" charset="0"/>
              </a:rPr>
              <a:t>Naturally, </a:t>
            </a:r>
            <a:r>
              <a:rPr lang="en-US" sz="2800" b="0" i="0" dirty="0">
                <a:solidFill>
                  <a:srgbClr val="FF0000"/>
                </a:solidFill>
                <a:effectLst/>
                <a:latin typeface="Times New Roman" panose="02020603050405020304" pitchFamily="18" charset="0"/>
                <a:cs typeface="Times New Roman" panose="02020603050405020304" pitchFamily="18" charset="0"/>
              </a:rPr>
              <a:t>query messages </a:t>
            </a:r>
            <a:r>
              <a:rPr lang="en-US" sz="2800" b="0" i="0" dirty="0">
                <a:solidFill>
                  <a:srgbClr val="242021"/>
                </a:solidFill>
                <a:effectLst/>
                <a:latin typeface="Times New Roman" panose="02020603050405020304" pitchFamily="18" charset="0"/>
                <a:cs typeface="Times New Roman" panose="02020603050405020304" pitchFamily="18" charset="0"/>
              </a:rPr>
              <a:t>come in pairs: </a:t>
            </a:r>
            <a:r>
              <a:rPr lang="en-US" sz="2800" b="0" i="0" dirty="0">
                <a:solidFill>
                  <a:srgbClr val="FF0000"/>
                </a:solidFill>
                <a:effectLst/>
                <a:latin typeface="Times New Roman" panose="02020603050405020304" pitchFamily="18" charset="0"/>
                <a:cs typeface="Times New Roman" panose="02020603050405020304" pitchFamily="18" charset="0"/>
              </a:rPr>
              <a:t>request and reply</a:t>
            </a:r>
            <a:r>
              <a:rPr lang="en-US" sz="2800" b="0" i="0" dirty="0">
                <a:solidFill>
                  <a:srgbClr val="242021"/>
                </a:solidFill>
                <a:effectLst/>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The </a:t>
            </a:r>
            <a:r>
              <a:rPr lang="en-US" sz="2800" i="1" dirty="0">
                <a:latin typeface="Times New Roman" panose="02020603050405020304" pitchFamily="18" charset="0"/>
                <a:cs typeface="Times New Roman" panose="02020603050405020304" pitchFamily="18" charset="0"/>
              </a:rPr>
              <a:t>echo request </a:t>
            </a:r>
            <a:r>
              <a:rPr lang="en-US" sz="2800" dirty="0">
                <a:latin typeface="Times New Roman" panose="02020603050405020304" pitchFamily="18" charset="0"/>
                <a:cs typeface="Times New Roman" panose="02020603050405020304" pitchFamily="18" charset="0"/>
              </a:rPr>
              <a:t>(type 8) and the </a:t>
            </a:r>
            <a:r>
              <a:rPr lang="en-US" sz="2800" i="1" dirty="0">
                <a:latin typeface="Times New Roman" panose="02020603050405020304" pitchFamily="18" charset="0"/>
                <a:cs typeface="Times New Roman" panose="02020603050405020304" pitchFamily="18" charset="0"/>
              </a:rPr>
              <a:t>echo reply </a:t>
            </a:r>
            <a:r>
              <a:rPr lang="en-US" sz="2800" dirty="0">
                <a:latin typeface="Times New Roman" panose="02020603050405020304" pitchFamily="18" charset="0"/>
                <a:cs typeface="Times New Roman" panose="02020603050405020304" pitchFamily="18" charset="0"/>
              </a:rPr>
              <a:t>(type 0) pair of messages are used by a host or a router to test the liveliness of another host or router.</a:t>
            </a:r>
          </a:p>
          <a:p>
            <a:pPr marL="342900" indent="-342900">
              <a:spcBef>
                <a:spcPts val="600"/>
              </a:spcBef>
              <a:spcAft>
                <a:spcPts val="600"/>
              </a:spcAf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 host or router sends an </a:t>
            </a:r>
            <a:r>
              <a:rPr lang="en-US" sz="2800" dirty="0">
                <a:solidFill>
                  <a:srgbClr val="FF0000"/>
                </a:solidFill>
                <a:latin typeface="Times New Roman" panose="02020603050405020304" pitchFamily="18" charset="0"/>
                <a:cs typeface="Times New Roman" panose="02020603050405020304" pitchFamily="18" charset="0"/>
              </a:rPr>
              <a:t>echo request </a:t>
            </a:r>
            <a:r>
              <a:rPr lang="en-US" sz="2800" dirty="0">
                <a:latin typeface="Times New Roman" panose="02020603050405020304" pitchFamily="18" charset="0"/>
                <a:cs typeface="Times New Roman" panose="02020603050405020304" pitchFamily="18" charset="0"/>
              </a:rPr>
              <a:t>message to another host or router; if the latter </a:t>
            </a:r>
            <a:r>
              <a:rPr lang="en-US" sz="2800" dirty="0">
                <a:solidFill>
                  <a:srgbClr val="FF0000"/>
                </a:solidFill>
                <a:latin typeface="Times New Roman" panose="02020603050405020304" pitchFamily="18" charset="0"/>
                <a:cs typeface="Times New Roman" panose="02020603050405020304" pitchFamily="18" charset="0"/>
              </a:rPr>
              <a:t>is alive</a:t>
            </a:r>
            <a:r>
              <a:rPr lang="en-US" sz="2800" dirty="0">
                <a:latin typeface="Times New Roman" panose="02020603050405020304" pitchFamily="18" charset="0"/>
                <a:cs typeface="Times New Roman" panose="02020603050405020304" pitchFamily="18" charset="0"/>
              </a:rPr>
              <a:t>, it responds with an </a:t>
            </a:r>
            <a:r>
              <a:rPr lang="en-US" sz="2800" dirty="0">
                <a:solidFill>
                  <a:srgbClr val="FF0000"/>
                </a:solidFill>
                <a:latin typeface="Times New Roman" panose="02020603050405020304" pitchFamily="18" charset="0"/>
                <a:cs typeface="Times New Roman" panose="02020603050405020304" pitchFamily="18" charset="0"/>
              </a:rPr>
              <a:t>echo reply </a:t>
            </a:r>
            <a:r>
              <a:rPr lang="en-US" sz="2800" dirty="0">
                <a:latin typeface="Times New Roman" panose="02020603050405020304" pitchFamily="18" charset="0"/>
                <a:cs typeface="Times New Roman" panose="02020603050405020304" pitchFamily="18" charset="0"/>
              </a:rPr>
              <a:t>message. </a:t>
            </a:r>
          </a:p>
          <a:p>
            <a:pPr marL="342900" indent="-342900">
              <a:spcBef>
                <a:spcPts val="600"/>
              </a:spcBef>
              <a:spcAft>
                <a:spcPts val="600"/>
              </a:spcAf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t>
            </a:r>
            <a:r>
              <a:rPr lang="en-US" sz="2800" i="1" dirty="0">
                <a:solidFill>
                  <a:srgbClr val="FF0000"/>
                </a:solidFill>
                <a:latin typeface="Times New Roman" panose="02020603050405020304" pitchFamily="18" charset="0"/>
                <a:cs typeface="Times New Roman" panose="02020603050405020304" pitchFamily="18" charset="0"/>
              </a:rPr>
              <a:t>timestamp request </a:t>
            </a:r>
            <a:r>
              <a:rPr lang="en-US" sz="2800" dirty="0">
                <a:latin typeface="Times New Roman" panose="02020603050405020304" pitchFamily="18" charset="0"/>
                <a:cs typeface="Times New Roman" panose="02020603050405020304" pitchFamily="18" charset="0"/>
              </a:rPr>
              <a:t>(type 13) and the </a:t>
            </a:r>
            <a:r>
              <a:rPr lang="en-US" sz="2800" i="1" dirty="0">
                <a:solidFill>
                  <a:srgbClr val="FF0000"/>
                </a:solidFill>
                <a:latin typeface="Times New Roman" panose="02020603050405020304" pitchFamily="18" charset="0"/>
                <a:cs typeface="Times New Roman" panose="02020603050405020304" pitchFamily="18" charset="0"/>
              </a:rPr>
              <a:t>timestamp reply </a:t>
            </a:r>
            <a:r>
              <a:rPr lang="en-US" sz="2800" dirty="0">
                <a:latin typeface="Times New Roman" panose="02020603050405020304" pitchFamily="18" charset="0"/>
                <a:cs typeface="Times New Roman" panose="02020603050405020304" pitchFamily="18" charset="0"/>
              </a:rPr>
              <a:t>(type 14) pair of messages are used to find the </a:t>
            </a:r>
            <a:r>
              <a:rPr lang="en-US" sz="2800" dirty="0">
                <a:solidFill>
                  <a:srgbClr val="FF0000"/>
                </a:solidFill>
                <a:latin typeface="Times New Roman" panose="02020603050405020304" pitchFamily="18" charset="0"/>
                <a:cs typeface="Times New Roman" panose="02020603050405020304" pitchFamily="18" charset="0"/>
              </a:rPr>
              <a:t>round-trip time</a:t>
            </a:r>
            <a:r>
              <a:rPr lang="en-US" sz="2800" dirty="0">
                <a:latin typeface="Times New Roman" panose="02020603050405020304" pitchFamily="18" charset="0"/>
                <a:cs typeface="Times New Roman" panose="02020603050405020304" pitchFamily="18" charset="0"/>
              </a:rPr>
              <a:t> between two devices or to check whether the </a:t>
            </a:r>
            <a:r>
              <a:rPr lang="en-US" sz="2800" dirty="0">
                <a:solidFill>
                  <a:srgbClr val="FF0000"/>
                </a:solidFill>
                <a:latin typeface="Times New Roman" panose="02020603050405020304" pitchFamily="18" charset="0"/>
                <a:cs typeface="Times New Roman" panose="02020603050405020304" pitchFamily="18" charset="0"/>
              </a:rPr>
              <a:t>clocks</a:t>
            </a:r>
            <a:r>
              <a:rPr lang="en-US" sz="2800" dirty="0">
                <a:latin typeface="Times New Roman" panose="02020603050405020304" pitchFamily="18" charset="0"/>
                <a:cs typeface="Times New Roman" panose="02020603050405020304" pitchFamily="18" charset="0"/>
              </a:rPr>
              <a:t> in two devices are </a:t>
            </a:r>
            <a:r>
              <a:rPr lang="en-US" sz="2800" dirty="0">
                <a:solidFill>
                  <a:srgbClr val="FF0000"/>
                </a:solidFill>
                <a:latin typeface="Times New Roman" panose="02020603050405020304" pitchFamily="18" charset="0"/>
                <a:cs typeface="Times New Roman" panose="02020603050405020304" pitchFamily="18" charset="0"/>
              </a:rPr>
              <a:t>synchronized</a:t>
            </a:r>
            <a:r>
              <a:rPr lang="en-US" sz="2800" dirty="0">
                <a:latin typeface="Times New Roman" panose="02020603050405020304" pitchFamily="18" charset="0"/>
                <a:cs typeface="Times New Roman" panose="02020603050405020304" pitchFamily="18" charset="0"/>
              </a:rPr>
              <a:t>. </a:t>
            </a:r>
            <a:br>
              <a:rPr lang="en-US" dirty="0"/>
            </a:br>
            <a:endParaRPr lang="en-IN" dirty="0"/>
          </a:p>
        </p:txBody>
      </p:sp>
    </p:spTree>
    <p:extLst>
      <p:ext uri="{BB962C8B-B14F-4D97-AF65-F5344CB8AC3E}">
        <p14:creationId xmlns:p14="http://schemas.microsoft.com/office/powerpoint/2010/main" val="467762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37E8-C4A0-0CEA-8EEC-3509A0EDEA09}"/>
              </a:ext>
            </a:extLst>
          </p:cNvPr>
          <p:cNvSpPr>
            <a:spLocks noGrp="1"/>
          </p:cNvSpPr>
          <p:nvPr>
            <p:ph type="title"/>
          </p:nvPr>
        </p:nvSpPr>
        <p:spPr>
          <a:xfrm>
            <a:off x="4606583" y="-115096"/>
            <a:ext cx="3938703" cy="1419457"/>
          </a:xfrm>
        </p:spPr>
        <p:txBody>
          <a:bodyPr/>
          <a:lstStyle/>
          <a:p>
            <a:r>
              <a:rPr lang="en-US" dirty="0">
                <a:solidFill>
                  <a:srgbClr val="3D29CD"/>
                </a:solidFill>
              </a:rPr>
              <a:t>Transport Layer</a:t>
            </a:r>
            <a:endParaRPr lang="en-IN" dirty="0">
              <a:solidFill>
                <a:srgbClr val="3D29CD"/>
              </a:solidFill>
            </a:endParaRPr>
          </a:p>
        </p:txBody>
      </p:sp>
      <p:sp>
        <p:nvSpPr>
          <p:cNvPr id="5" name="TextBox 4">
            <a:extLst>
              <a:ext uri="{FF2B5EF4-FFF2-40B4-BE49-F238E27FC236}">
                <a16:creationId xmlns:a16="http://schemas.microsoft.com/office/drawing/2014/main" id="{DFFE8E39-072F-1AC3-ED05-2CDE2C2284D3}"/>
              </a:ext>
            </a:extLst>
          </p:cNvPr>
          <p:cNvSpPr txBox="1"/>
          <p:nvPr/>
        </p:nvSpPr>
        <p:spPr>
          <a:xfrm>
            <a:off x="202347" y="1141076"/>
            <a:ext cx="13681419" cy="1384995"/>
          </a:xfrm>
          <a:prstGeom prst="rect">
            <a:avLst/>
          </a:prstGeom>
          <a:noFill/>
        </p:spPr>
        <p:txBody>
          <a:bodyPr wrap="square">
            <a:spAutoFit/>
          </a:bodyPr>
          <a:lstStyle/>
          <a:p>
            <a:pPr algn="just" eaLnBrk="1" hangingPunct="1"/>
            <a:r>
              <a:rPr lang="en-US" altLang="en-US" sz="2800" baseline="0" dirty="0">
                <a:effectLst>
                  <a:outerShdw blurRad="38100" dist="38100" dir="2700000" algn="tl">
                    <a:srgbClr val="C0C0C0"/>
                  </a:outerShdw>
                </a:effectLst>
                <a:latin typeface="Times New Roman" panose="02020603050405020304" pitchFamily="18" charset="0"/>
              </a:rPr>
              <a:t>The transport layer is responsible for </a:t>
            </a:r>
            <a:r>
              <a:rPr lang="en-US" altLang="en-US" sz="2800" baseline="0" dirty="0">
                <a:solidFill>
                  <a:srgbClr val="FF0000"/>
                </a:solidFill>
                <a:effectLst>
                  <a:outerShdw blurRad="38100" dist="38100" dir="2700000" algn="tl">
                    <a:srgbClr val="C0C0C0"/>
                  </a:outerShdw>
                </a:effectLst>
                <a:latin typeface="Times New Roman" panose="02020603050405020304" pitchFamily="18" charset="0"/>
              </a:rPr>
              <a:t>process-to-process delivery</a:t>
            </a:r>
            <a:r>
              <a:rPr lang="en-US" altLang="en-US" sz="2800" dirty="0">
                <a:solidFill>
                  <a:srgbClr val="FF0000"/>
                </a:solidFill>
                <a:effectLst>
                  <a:outerShdw blurRad="38100" dist="38100" dir="2700000" algn="tl">
                    <a:srgbClr val="C0C0C0"/>
                  </a:outerShdw>
                </a:effectLst>
                <a:latin typeface="Times New Roman" panose="02020603050405020304" pitchFamily="18" charset="0"/>
              </a:rPr>
              <a:t> </a:t>
            </a:r>
            <a:r>
              <a:rPr lang="en-US" altLang="en-US" sz="2800" baseline="0" dirty="0">
                <a:effectLst>
                  <a:outerShdw blurRad="38100" dist="38100" dir="2700000" algn="tl">
                    <a:srgbClr val="C0C0C0"/>
                  </a:outerShdw>
                </a:effectLst>
                <a:latin typeface="Times New Roman" panose="02020603050405020304" pitchFamily="18" charset="0"/>
              </a:rPr>
              <a:t>of a packet.</a:t>
            </a:r>
          </a:p>
          <a:p>
            <a:pPr algn="just" eaLnBrk="1" hangingPunct="1"/>
            <a:r>
              <a:rPr lang="en-US" altLang="en-US" sz="2800" baseline="0" dirty="0">
                <a:effectLst>
                  <a:outerShdw blurRad="38100" dist="38100" dir="2700000" algn="tl">
                    <a:srgbClr val="C0C0C0"/>
                  </a:outerShdw>
                </a:effectLst>
                <a:latin typeface="Times New Roman" panose="02020603050405020304" pitchFamily="18" charset="0"/>
              </a:rPr>
              <a:t> </a:t>
            </a:r>
          </a:p>
          <a:p>
            <a:pPr algn="just" eaLnBrk="1" hangingPunct="1"/>
            <a:r>
              <a:rPr lang="en-US" altLang="en-US" sz="2800" baseline="0" dirty="0">
                <a:effectLst>
                  <a:outerShdw blurRad="38100" dist="38100" dir="2700000" algn="tl">
                    <a:srgbClr val="C0C0C0"/>
                  </a:outerShdw>
                </a:effectLst>
                <a:latin typeface="Times New Roman" panose="02020603050405020304" pitchFamily="18" charset="0"/>
              </a:rPr>
              <a:t>Two processes communicate in a client/server relationship. </a:t>
            </a:r>
          </a:p>
        </p:txBody>
      </p:sp>
      <p:pic>
        <p:nvPicPr>
          <p:cNvPr id="6" name="Picture 6">
            <a:extLst>
              <a:ext uri="{FF2B5EF4-FFF2-40B4-BE49-F238E27FC236}">
                <a16:creationId xmlns:a16="http://schemas.microsoft.com/office/drawing/2014/main" id="{52AC25CE-2E76-55A5-A983-204E6B933B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3085" y="3076962"/>
            <a:ext cx="9416248" cy="3861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6495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02518-2F3C-DA4C-1995-2FD362F61669}"/>
              </a:ext>
            </a:extLst>
          </p:cNvPr>
          <p:cNvSpPr>
            <a:spLocks noGrp="1"/>
          </p:cNvSpPr>
          <p:nvPr>
            <p:ph type="title"/>
          </p:nvPr>
        </p:nvSpPr>
        <p:spPr>
          <a:xfrm>
            <a:off x="4647800" y="-129692"/>
            <a:ext cx="3971361" cy="1419457"/>
          </a:xfrm>
        </p:spPr>
        <p:txBody>
          <a:bodyPr/>
          <a:lstStyle/>
          <a:p>
            <a:r>
              <a:rPr lang="en-US" dirty="0">
                <a:solidFill>
                  <a:srgbClr val="3D29CD"/>
                </a:solidFill>
              </a:rPr>
              <a:t>Port Number</a:t>
            </a:r>
            <a:endParaRPr lang="en-IN" dirty="0">
              <a:solidFill>
                <a:srgbClr val="3D29CD"/>
              </a:solidFill>
            </a:endParaRPr>
          </a:p>
        </p:txBody>
      </p:sp>
      <p:pic>
        <p:nvPicPr>
          <p:cNvPr id="4" name="Picture 6">
            <a:extLst>
              <a:ext uri="{FF2B5EF4-FFF2-40B4-BE49-F238E27FC236}">
                <a16:creationId xmlns:a16="http://schemas.microsoft.com/office/drawing/2014/main" id="{A75C0F45-AF36-E70F-E506-FB4934F52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583" y="5036196"/>
            <a:ext cx="6910387"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a:extLst>
              <a:ext uri="{FF2B5EF4-FFF2-40B4-BE49-F238E27FC236}">
                <a16:creationId xmlns:a16="http://schemas.microsoft.com/office/drawing/2014/main" id="{D16B9A11-4F44-497B-ED81-56159B670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4782" y="5180701"/>
            <a:ext cx="6555240" cy="1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BEF63EBE-4E9A-8266-7AAD-7751D1009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289765"/>
            <a:ext cx="7580766" cy="2991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EE71652A-CA5A-D979-EA58-A9EA08ECCA3E}"/>
              </a:ext>
            </a:extLst>
          </p:cNvPr>
          <p:cNvSpPr txBox="1"/>
          <p:nvPr/>
        </p:nvSpPr>
        <p:spPr>
          <a:xfrm>
            <a:off x="0" y="1555104"/>
            <a:ext cx="6008914" cy="2308324"/>
          </a:xfrm>
          <a:prstGeom prst="rect">
            <a:avLst/>
          </a:prstGeom>
          <a:noFill/>
        </p:spPr>
        <p:txBody>
          <a:bodyPr wrap="square">
            <a:spAutoFit/>
          </a:bodyPr>
          <a:lstStyle/>
          <a:p>
            <a:pPr marL="342900" indent="-342900">
              <a:buFont typeface="Wingdings" panose="05000000000000000000" pitchFamily="2" charset="2"/>
              <a:buChar char="ü"/>
            </a:pPr>
            <a:r>
              <a:rPr lang="en-US" sz="2400" i="0" dirty="0">
                <a:effectLst/>
                <a:latin typeface="Times New Roman" panose="02020603050405020304" pitchFamily="18" charset="0"/>
                <a:cs typeface="Times New Roman" panose="02020603050405020304" pitchFamily="18" charset="0"/>
              </a:rPr>
              <a:t>The transport layer protocols are port-to-port protocols that work on the top of the IP protocols to deliver the packet.</a:t>
            </a:r>
          </a:p>
          <a:p>
            <a:pPr marL="342900" indent="-342900">
              <a:buFont typeface="Wingdings" panose="05000000000000000000" pitchFamily="2" charset="2"/>
              <a:buChar char="ü"/>
            </a:pPr>
            <a:endParaRPr lang="en-US" sz="2400" i="0" dirty="0">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i="0" dirty="0">
                <a:effectLst/>
                <a:latin typeface="Times New Roman" panose="02020603050405020304" pitchFamily="18" charset="0"/>
                <a:cs typeface="Times New Roman" panose="02020603050405020304" pitchFamily="18" charset="0"/>
              </a:rPr>
              <a:t>Each port is defined by a positive integer address, and it is of 16 bits.</a:t>
            </a:r>
            <a:r>
              <a:rPr lang="en-US" sz="2400" dirty="0">
                <a:latin typeface="Times New Roman" panose="02020603050405020304" pitchFamily="18" charset="0"/>
                <a:cs typeface="Times New Roman" panose="02020603050405020304" pitchFamily="18" charset="0"/>
              </a:rPr>
              <a:t> </a:t>
            </a:r>
            <a:endParaRPr lang="en-IN" sz="2400" dirty="0"/>
          </a:p>
        </p:txBody>
      </p:sp>
    </p:spTree>
    <p:extLst>
      <p:ext uri="{BB962C8B-B14F-4D97-AF65-F5344CB8AC3E}">
        <p14:creationId xmlns:p14="http://schemas.microsoft.com/office/powerpoint/2010/main" val="83404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9EA30-2002-20B9-14DB-31268239B5C4}"/>
              </a:ext>
            </a:extLst>
          </p:cNvPr>
          <p:cNvSpPr>
            <a:spLocks noGrp="1"/>
          </p:cNvSpPr>
          <p:nvPr>
            <p:ph type="title"/>
          </p:nvPr>
        </p:nvSpPr>
        <p:spPr>
          <a:xfrm>
            <a:off x="4309523" y="-119961"/>
            <a:ext cx="6980663" cy="906345"/>
          </a:xfrm>
        </p:spPr>
        <p:txBody>
          <a:bodyPr>
            <a:normAutofit/>
          </a:bodyPr>
          <a:lstStyle/>
          <a:p>
            <a:r>
              <a:rPr lang="en-US" dirty="0">
                <a:solidFill>
                  <a:srgbClr val="3D29CD"/>
                </a:solidFill>
              </a:rPr>
              <a:t>User Datagram Protocol </a:t>
            </a:r>
            <a:endParaRPr lang="en-IN" dirty="0">
              <a:solidFill>
                <a:srgbClr val="3D29CD"/>
              </a:solidFill>
            </a:endParaRPr>
          </a:p>
        </p:txBody>
      </p:sp>
      <p:sp>
        <p:nvSpPr>
          <p:cNvPr id="5" name="TextBox 4">
            <a:extLst>
              <a:ext uri="{FF2B5EF4-FFF2-40B4-BE49-F238E27FC236}">
                <a16:creationId xmlns:a16="http://schemas.microsoft.com/office/drawing/2014/main" id="{343E68CD-85E6-E35E-501F-52C25E63CCD5}"/>
              </a:ext>
            </a:extLst>
          </p:cNvPr>
          <p:cNvSpPr txBox="1"/>
          <p:nvPr/>
        </p:nvSpPr>
        <p:spPr>
          <a:xfrm>
            <a:off x="141515" y="685616"/>
            <a:ext cx="13868400" cy="461665"/>
          </a:xfrm>
          <a:prstGeom prst="rect">
            <a:avLst/>
          </a:prstGeom>
          <a:noFill/>
        </p:spPr>
        <p:txBody>
          <a:bodyPr wrap="square">
            <a:spAutoFit/>
          </a:bodyPr>
          <a:lstStyle/>
          <a:p>
            <a:r>
              <a:rPr lang="en-US" sz="2400" i="0" dirty="0">
                <a:effectLst/>
                <a:latin typeface="Times New Roman" panose="02020603050405020304" pitchFamily="18" charset="0"/>
                <a:cs typeface="Times New Roman" panose="02020603050405020304" pitchFamily="18" charset="0"/>
              </a:rPr>
              <a:t>The transport layer is represented by two protocols: UDP and TCP.</a:t>
            </a:r>
          </a:p>
        </p:txBody>
      </p:sp>
      <p:pic>
        <p:nvPicPr>
          <p:cNvPr id="8" name="Picture 6">
            <a:extLst>
              <a:ext uri="{FF2B5EF4-FFF2-40B4-BE49-F238E27FC236}">
                <a16:creationId xmlns:a16="http://schemas.microsoft.com/office/drawing/2014/main" id="{952FFB9B-DEF6-C08E-1BCF-E43F0114AA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1381" y="2607484"/>
            <a:ext cx="6552067" cy="2861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012F8F6B-1004-E3F9-8EF8-97E67D1D466E}"/>
              </a:ext>
            </a:extLst>
          </p:cNvPr>
          <p:cNvSpPr txBox="1"/>
          <p:nvPr/>
        </p:nvSpPr>
        <p:spPr>
          <a:xfrm>
            <a:off x="0" y="2202782"/>
            <a:ext cx="7316333" cy="4770537"/>
          </a:xfrm>
          <a:prstGeom prst="rect">
            <a:avLst/>
          </a:prstGeom>
          <a:noFill/>
        </p:spPr>
        <p:txBody>
          <a:bodyPr wrap="square">
            <a:spAutoFit/>
          </a:bodyPr>
          <a:lstStyle/>
          <a:p>
            <a:r>
              <a:rPr lang="en-US" sz="2600" b="1" i="0" dirty="0">
                <a:solidFill>
                  <a:srgbClr val="C00000"/>
                </a:solidFill>
                <a:effectLst/>
                <a:latin typeface="Times New Roman" panose="02020603050405020304" pitchFamily="18" charset="0"/>
                <a:cs typeface="Times New Roman" panose="02020603050405020304" pitchFamily="18" charset="0"/>
              </a:rPr>
              <a:t>Source port address: </a:t>
            </a:r>
            <a:r>
              <a:rPr lang="en-US" sz="2600" b="1" i="0" dirty="0">
                <a:solidFill>
                  <a:srgbClr val="0070C0"/>
                </a:solidFill>
                <a:effectLst/>
                <a:latin typeface="Times New Roman" panose="02020603050405020304" pitchFamily="18" charset="0"/>
                <a:cs typeface="Times New Roman" panose="02020603050405020304" pitchFamily="18" charset="0"/>
              </a:rPr>
              <a:t>It defines the address of the application process that has </a:t>
            </a:r>
            <a:r>
              <a:rPr lang="en-US" sz="2600" b="1" i="0" dirty="0">
                <a:solidFill>
                  <a:srgbClr val="00B050"/>
                </a:solidFill>
                <a:effectLst/>
                <a:latin typeface="Times New Roman" panose="02020603050405020304" pitchFamily="18" charset="0"/>
                <a:cs typeface="Times New Roman" panose="02020603050405020304" pitchFamily="18" charset="0"/>
              </a:rPr>
              <a:t>delivered a message</a:t>
            </a:r>
            <a:r>
              <a:rPr lang="en-US" sz="2600" b="1" i="0" dirty="0">
                <a:solidFill>
                  <a:srgbClr val="0070C0"/>
                </a:solidFill>
                <a:effectLst/>
                <a:latin typeface="Times New Roman" panose="02020603050405020304" pitchFamily="18" charset="0"/>
                <a:cs typeface="Times New Roman" panose="02020603050405020304" pitchFamily="18" charset="0"/>
              </a:rPr>
              <a:t>. The source port address is of 16 bits address.</a:t>
            </a:r>
            <a:br>
              <a:rPr lang="en-US" sz="2600" b="1" i="0" dirty="0">
                <a:solidFill>
                  <a:srgbClr val="0070C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Destination port address: </a:t>
            </a:r>
            <a:r>
              <a:rPr lang="en-US" sz="2600" b="1" i="0" dirty="0">
                <a:solidFill>
                  <a:srgbClr val="000000"/>
                </a:solidFill>
                <a:effectLst/>
                <a:latin typeface="Times New Roman" panose="02020603050405020304" pitchFamily="18" charset="0"/>
                <a:cs typeface="Times New Roman" panose="02020603050405020304" pitchFamily="18" charset="0"/>
              </a:rPr>
              <a:t>It defines the address of the application process that will </a:t>
            </a:r>
            <a:r>
              <a:rPr lang="en-US" sz="2600" b="1" i="0" dirty="0">
                <a:solidFill>
                  <a:srgbClr val="00B050"/>
                </a:solidFill>
                <a:effectLst/>
                <a:latin typeface="Times New Roman" panose="02020603050405020304" pitchFamily="18" charset="0"/>
                <a:cs typeface="Times New Roman" panose="02020603050405020304" pitchFamily="18" charset="0"/>
              </a:rPr>
              <a:t>receiver the message</a:t>
            </a:r>
            <a:r>
              <a:rPr lang="en-US" sz="2600" b="1" i="0" dirty="0">
                <a:solidFill>
                  <a:srgbClr val="000000"/>
                </a:solidFill>
                <a:effectLst/>
                <a:latin typeface="Times New Roman" panose="02020603050405020304" pitchFamily="18" charset="0"/>
                <a:cs typeface="Times New Roman" panose="02020603050405020304" pitchFamily="18" charset="0"/>
              </a:rPr>
              <a:t>. The destination port address is of a 16-bit address.</a:t>
            </a:r>
            <a:br>
              <a:rPr lang="en-US" sz="2600" b="1"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Total length: </a:t>
            </a:r>
            <a:r>
              <a:rPr lang="en-US" sz="2600" b="1" i="0" dirty="0">
                <a:solidFill>
                  <a:srgbClr val="7030A0"/>
                </a:solidFill>
                <a:effectLst/>
                <a:latin typeface="Times New Roman" panose="02020603050405020304" pitchFamily="18" charset="0"/>
                <a:cs typeface="Times New Roman" panose="02020603050405020304" pitchFamily="18" charset="0"/>
              </a:rPr>
              <a:t>It defines the total length of the user datagram in bytes. It is a 16-bit field.</a:t>
            </a:r>
            <a:br>
              <a:rPr lang="en-US" sz="2600" b="1" i="0" dirty="0">
                <a:solidFill>
                  <a:srgbClr val="7030A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Checksum: </a:t>
            </a:r>
            <a:r>
              <a:rPr lang="en-US" sz="2600" b="1" i="0" dirty="0">
                <a:solidFill>
                  <a:srgbClr val="31859C"/>
                </a:solidFill>
                <a:effectLst/>
                <a:latin typeface="Times New Roman" panose="02020603050405020304" pitchFamily="18" charset="0"/>
                <a:cs typeface="Times New Roman" panose="02020603050405020304" pitchFamily="18" charset="0"/>
              </a:rPr>
              <a:t>The checksum is a 16-bit field which is used in error detection.</a:t>
            </a:r>
            <a:r>
              <a:rPr lang="en-US" sz="2600" dirty="0">
                <a:latin typeface="Times New Roman" panose="02020603050405020304" pitchFamily="18" charset="0"/>
                <a:cs typeface="Times New Roman" panose="02020603050405020304" pitchFamily="18" charset="0"/>
              </a:rPr>
              <a:t> </a:t>
            </a:r>
            <a:br>
              <a:rPr lang="en-US" dirty="0"/>
            </a:br>
            <a:endParaRPr lang="en-IN" dirty="0"/>
          </a:p>
        </p:txBody>
      </p:sp>
      <p:sp>
        <p:nvSpPr>
          <p:cNvPr id="13" name="Rectangle 5">
            <a:extLst>
              <a:ext uri="{FF2B5EF4-FFF2-40B4-BE49-F238E27FC236}">
                <a16:creationId xmlns:a16="http://schemas.microsoft.com/office/drawing/2014/main" id="{EAB8BB70-5C0E-89FB-CB82-534E55C31EAA}"/>
              </a:ext>
            </a:extLst>
          </p:cNvPr>
          <p:cNvSpPr>
            <a:spLocks noChangeArrowheads="1"/>
          </p:cNvSpPr>
          <p:nvPr/>
        </p:nvSpPr>
        <p:spPr bwMode="auto">
          <a:xfrm>
            <a:off x="141515" y="1177187"/>
            <a:ext cx="137647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400" baseline="0" dirty="0">
                <a:latin typeface="Times New Roman" panose="02020603050405020304" pitchFamily="18" charset="0"/>
              </a:rPr>
              <a:t>The User Datagram Protocol (UDP) is called a connectionless, unreliable transport protocol. It does not add anything to the services of IP except to provide process-to-process communication</a:t>
            </a:r>
            <a:r>
              <a:rPr lang="en-US" altLang="en-US" sz="2400" i="1" baseline="0" dirty="0">
                <a:effectLst>
                  <a:outerShdw blurRad="38100" dist="38100" dir="2700000" algn="tl">
                    <a:srgbClr val="C0C0C0"/>
                  </a:outerShdw>
                </a:effectLst>
                <a:latin typeface="Times New Roman" panose="02020603050405020304" pitchFamily="18" charset="0"/>
              </a:rPr>
              <a:t>. </a:t>
            </a:r>
          </a:p>
        </p:txBody>
      </p:sp>
    </p:spTree>
    <p:extLst>
      <p:ext uri="{BB962C8B-B14F-4D97-AF65-F5344CB8AC3E}">
        <p14:creationId xmlns:p14="http://schemas.microsoft.com/office/powerpoint/2010/main" val="2388236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D9D74-490D-C465-EEF3-4BBE10A3E728}"/>
              </a:ext>
            </a:extLst>
          </p:cNvPr>
          <p:cNvSpPr>
            <a:spLocks noGrp="1"/>
          </p:cNvSpPr>
          <p:nvPr>
            <p:ph type="title"/>
          </p:nvPr>
        </p:nvSpPr>
        <p:spPr>
          <a:xfrm>
            <a:off x="1362639" y="-60863"/>
            <a:ext cx="12473104" cy="1419457"/>
          </a:xfrm>
        </p:spPr>
        <p:txBody>
          <a:bodyPr/>
          <a:lstStyle/>
          <a:p>
            <a:r>
              <a:rPr lang="en-US" sz="4800" dirty="0">
                <a:solidFill>
                  <a:srgbClr val="3D29CD"/>
                </a:solidFill>
                <a:latin typeface="Times New Roman" panose="02020603050405020304" pitchFamily="18" charset="0"/>
                <a:cs typeface="Times New Roman" panose="02020603050405020304" pitchFamily="18" charset="0"/>
              </a:rPr>
              <a:t>Transmission Control Protocol (TCP)</a:t>
            </a:r>
            <a:endParaRPr lang="en-IN" dirty="0">
              <a:solidFill>
                <a:srgbClr val="3D29CD"/>
              </a:solidFill>
            </a:endParaRPr>
          </a:p>
        </p:txBody>
      </p:sp>
      <p:sp>
        <p:nvSpPr>
          <p:cNvPr id="7" name="TextBox 6">
            <a:extLst>
              <a:ext uri="{FF2B5EF4-FFF2-40B4-BE49-F238E27FC236}">
                <a16:creationId xmlns:a16="http://schemas.microsoft.com/office/drawing/2014/main" id="{74754148-9A56-84A4-3DE9-711761D1EAF4}"/>
              </a:ext>
            </a:extLst>
          </p:cNvPr>
          <p:cNvSpPr txBox="1"/>
          <p:nvPr/>
        </p:nvSpPr>
        <p:spPr>
          <a:xfrm>
            <a:off x="436562" y="866762"/>
            <a:ext cx="12709072" cy="1384995"/>
          </a:xfrm>
          <a:prstGeom prst="rect">
            <a:avLst/>
          </a:prstGeom>
          <a:noFill/>
        </p:spPr>
        <p:txBody>
          <a:bodyPr wrap="square">
            <a:spAutoFit/>
          </a:bodyPr>
          <a:lstStyle/>
          <a:p>
            <a:pPr algn="just"/>
            <a:r>
              <a:rPr lang="en-US" sz="2800" dirty="0">
                <a:solidFill>
                  <a:srgbClr val="FF0000"/>
                </a:solidFill>
                <a:latin typeface="Times New Roman" panose="02020603050405020304" pitchFamily="18" charset="0"/>
                <a:cs typeface="Times New Roman" panose="02020603050405020304" pitchFamily="18" charset="0"/>
              </a:rPr>
              <a:t>TCP is a connection-oriented protocol </a:t>
            </a:r>
            <a:r>
              <a:rPr lang="en-US" sz="2800" dirty="0">
                <a:latin typeface="Times New Roman" panose="02020603050405020304" pitchFamily="18" charset="0"/>
                <a:cs typeface="Times New Roman" panose="02020603050405020304" pitchFamily="18" charset="0"/>
              </a:rPr>
              <a:t>that establishes a logical connection between two TCP endpoints through a </a:t>
            </a:r>
            <a:r>
              <a:rPr lang="en-US" sz="2800" dirty="0">
                <a:solidFill>
                  <a:srgbClr val="00B050"/>
                </a:solidFill>
                <a:latin typeface="Times New Roman" panose="02020603050405020304" pitchFamily="18" charset="0"/>
                <a:cs typeface="Times New Roman" panose="02020603050405020304" pitchFamily="18" charset="0"/>
              </a:rPr>
              <a:t>3-way handshake </a:t>
            </a:r>
            <a:r>
              <a:rPr lang="en-US" sz="2800" dirty="0">
                <a:latin typeface="Times New Roman" panose="02020603050405020304" pitchFamily="18" charset="0"/>
                <a:cs typeface="Times New Roman" panose="02020603050405020304" pitchFamily="18" charset="0"/>
              </a:rPr>
              <a:t>before transmitting data.</a:t>
            </a:r>
          </a:p>
          <a:p>
            <a:pPr algn="just"/>
            <a:r>
              <a:rPr lang="en-US" altLang="en-US" sz="2800" i="1" baseline="0" dirty="0">
                <a:effectLst>
                  <a:outerShdw blurRad="38100" dist="38100" dir="2700000" algn="tl">
                    <a:srgbClr val="C0C0C0"/>
                  </a:outerShdw>
                </a:effectLst>
                <a:latin typeface="Times New Roman" panose="02020603050405020304" pitchFamily="18" charset="0"/>
              </a:rPr>
              <a:t>In addition, TCP uses </a:t>
            </a:r>
            <a:r>
              <a:rPr lang="en-US" altLang="en-US" sz="2800" i="1" baseline="0" dirty="0">
                <a:solidFill>
                  <a:srgbClr val="FF0000"/>
                </a:solidFill>
                <a:effectLst>
                  <a:outerShdw blurRad="38100" dist="38100" dir="2700000" algn="tl">
                    <a:srgbClr val="C0C0C0"/>
                  </a:outerShdw>
                </a:effectLst>
                <a:latin typeface="Times New Roman" panose="02020603050405020304" pitchFamily="18" charset="0"/>
              </a:rPr>
              <a:t>flow and error control </a:t>
            </a:r>
            <a:r>
              <a:rPr lang="en-US" altLang="en-US" sz="2800" i="1" baseline="0" dirty="0">
                <a:effectLst>
                  <a:outerShdw blurRad="38100" dist="38100" dir="2700000" algn="tl">
                    <a:srgbClr val="C0C0C0"/>
                  </a:outerShdw>
                </a:effectLst>
                <a:latin typeface="Times New Roman" panose="02020603050405020304" pitchFamily="18" charset="0"/>
              </a:rPr>
              <a:t>mechanisms at the transport level. </a:t>
            </a:r>
          </a:p>
        </p:txBody>
      </p:sp>
      <p:pic>
        <p:nvPicPr>
          <p:cNvPr id="8" name="Picture 6">
            <a:extLst>
              <a:ext uri="{FF2B5EF4-FFF2-40B4-BE49-F238E27FC236}">
                <a16:creationId xmlns:a16="http://schemas.microsoft.com/office/drawing/2014/main" id="{176F0B0A-AD2A-CCA2-C60D-961592DF3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0001" y="3237524"/>
            <a:ext cx="7280161" cy="270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CB2A4B09-3A42-D41B-D89F-A7221754B6F3}"/>
              </a:ext>
            </a:extLst>
          </p:cNvPr>
          <p:cNvSpPr txBox="1"/>
          <p:nvPr/>
        </p:nvSpPr>
        <p:spPr>
          <a:xfrm>
            <a:off x="436562" y="2251757"/>
            <a:ext cx="13563600" cy="954107"/>
          </a:xfrm>
          <a:prstGeom prst="rect">
            <a:avLst/>
          </a:prstGeom>
          <a:noFill/>
        </p:spPr>
        <p:txBody>
          <a:bodyPr wrap="square">
            <a:spAutoFit/>
          </a:bodyPr>
          <a:lstStyle/>
          <a:p>
            <a:r>
              <a:rPr lang="en-US" altLang="en-US" sz="2800" baseline="0" dirty="0">
                <a:latin typeface="Times New Roman" panose="02020603050405020304" pitchFamily="18" charset="0"/>
                <a:cs typeface="Times New Roman" panose="02020603050405020304" pitchFamily="18" charset="0"/>
              </a:rPr>
              <a:t>The bytes of data being transferred in each connection are numbered by TCP. The numbering starts with a randomly generated number</a:t>
            </a:r>
            <a:r>
              <a:rPr lang="en-US" altLang="en-US" sz="2400" baseline="0" dirty="0">
                <a:latin typeface="Times New Roman" panose="02020603050405020304" pitchFamily="18" charset="0"/>
                <a:cs typeface="Times New Roman" panose="02020603050405020304" pitchFamily="18" charset="0"/>
              </a:rPr>
              <a:t>.</a:t>
            </a:r>
          </a:p>
        </p:txBody>
      </p:sp>
      <p:pic>
        <p:nvPicPr>
          <p:cNvPr id="1028" name="Picture 4" descr="TCP 3-Way Handshake Process. Transmission Control Protocol | by Kusal  Kaluarachchi | Medium">
            <a:extLst>
              <a:ext uri="{FF2B5EF4-FFF2-40B4-BE49-F238E27FC236}">
                <a16:creationId xmlns:a16="http://schemas.microsoft.com/office/drawing/2014/main" id="{D896583C-FE80-8534-8748-01EEFF13E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79" y="3297022"/>
            <a:ext cx="4991953" cy="31799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431CFA-1008-5F60-6D89-EEEFE4F41D1F}"/>
              </a:ext>
            </a:extLst>
          </p:cNvPr>
          <p:cNvSpPr txBox="1"/>
          <p:nvPr/>
        </p:nvSpPr>
        <p:spPr>
          <a:xfrm>
            <a:off x="1429327" y="6389707"/>
            <a:ext cx="4047837" cy="548676"/>
          </a:xfrm>
          <a:prstGeom prst="rect">
            <a:avLst/>
          </a:prstGeom>
          <a:noFill/>
        </p:spPr>
        <p:txBody>
          <a:bodyPr wrap="square">
            <a:spAutoFit/>
          </a:bodyPr>
          <a:lstStyle/>
          <a:p>
            <a:pPr algn="l">
              <a:lnSpc>
                <a:spcPts val="3900"/>
              </a:lnSpc>
              <a:spcAft>
                <a:spcPts val="2400"/>
              </a:spcAft>
              <a:buNone/>
            </a:pPr>
            <a:r>
              <a:rPr lang="en-IN" sz="2400" b="1" i="0" dirty="0">
                <a:solidFill>
                  <a:srgbClr val="00B050"/>
                </a:solidFill>
                <a:effectLst/>
                <a:latin typeface="sohne"/>
              </a:rPr>
              <a:t>TCP 3-Way Handshake Process</a:t>
            </a:r>
          </a:p>
        </p:txBody>
      </p:sp>
    </p:spTree>
    <p:extLst>
      <p:ext uri="{BB962C8B-B14F-4D97-AF65-F5344CB8AC3E}">
        <p14:creationId xmlns:p14="http://schemas.microsoft.com/office/powerpoint/2010/main" val="1926479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0A3BBE95-53BC-0EC5-3BEE-8B40B9287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9657" y="809172"/>
            <a:ext cx="7799705" cy="4404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25733C4D-DC78-1CB7-5C2B-7476ECABC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943" y="5236029"/>
            <a:ext cx="7629566" cy="179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6">
            <a:extLst>
              <a:ext uri="{FF2B5EF4-FFF2-40B4-BE49-F238E27FC236}">
                <a16:creationId xmlns:a16="http://schemas.microsoft.com/office/drawing/2014/main" id="{E5AA8656-2454-639B-B0B9-52778294C26F}"/>
              </a:ext>
            </a:extLst>
          </p:cNvPr>
          <p:cNvGraphicFramePr>
            <a:graphicFrameLocks noGrp="1"/>
          </p:cNvGraphicFramePr>
          <p:nvPr>
            <p:extLst>
              <p:ext uri="{D42A27DB-BD31-4B8C-83A1-F6EECF244321}">
                <p14:modId xmlns:p14="http://schemas.microsoft.com/office/powerpoint/2010/main" val="1239092004"/>
              </p:ext>
            </p:extLst>
          </p:nvPr>
        </p:nvGraphicFramePr>
        <p:xfrm>
          <a:off x="127984" y="661848"/>
          <a:ext cx="6302583" cy="6562184"/>
        </p:xfrm>
        <a:graphic>
          <a:graphicData uri="http://schemas.openxmlformats.org/drawingml/2006/table">
            <a:tbl>
              <a:tblPr/>
              <a:tblGrid>
                <a:gridCol w="1559190">
                  <a:extLst>
                    <a:ext uri="{9D8B030D-6E8A-4147-A177-3AD203B41FA5}">
                      <a16:colId xmlns:a16="http://schemas.microsoft.com/office/drawing/2014/main" val="1100908111"/>
                    </a:ext>
                  </a:extLst>
                </a:gridCol>
                <a:gridCol w="4743393">
                  <a:extLst>
                    <a:ext uri="{9D8B030D-6E8A-4147-A177-3AD203B41FA5}">
                      <a16:colId xmlns:a16="http://schemas.microsoft.com/office/drawing/2014/main" val="1853427562"/>
                    </a:ext>
                  </a:extLst>
                </a:gridCol>
              </a:tblGrid>
              <a:tr h="338665">
                <a:tc>
                  <a:txBody>
                    <a:bodyPr/>
                    <a:lstStyle/>
                    <a:p>
                      <a:pPr>
                        <a:buNone/>
                      </a:pPr>
                      <a:r>
                        <a:rPr lang="en-IN" sz="2000" b="1">
                          <a:latin typeface="Times New Roman" panose="02020603050405020304" pitchFamily="18" charset="0"/>
                          <a:cs typeface="Times New Roman" panose="02020603050405020304" pitchFamily="18" charset="0"/>
                        </a:rPr>
                        <a:t>Field</a:t>
                      </a:r>
                      <a:endParaRPr lang="en-IN" sz="20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Purpose</a:t>
                      </a:r>
                      <a:endParaRPr lang="en-IN" sz="20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70843"/>
                  </a:ext>
                </a:extLst>
              </a:tr>
              <a:tr h="338665">
                <a:tc>
                  <a:txBody>
                    <a:bodyPr/>
                    <a:lstStyle/>
                    <a:p>
                      <a:pPr>
                        <a:buNone/>
                      </a:pPr>
                      <a:r>
                        <a:rPr lang="en-IN" sz="1800" b="1">
                          <a:latin typeface="Times New Roman" panose="02020603050405020304" pitchFamily="18" charset="0"/>
                          <a:cs typeface="Times New Roman" panose="02020603050405020304" pitchFamily="18" charset="0"/>
                        </a:rPr>
                        <a:t>Source Port</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Identifies the sending application/process.</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252358"/>
                  </a:ext>
                </a:extLst>
              </a:tr>
              <a:tr h="338665">
                <a:tc>
                  <a:txBody>
                    <a:bodyPr/>
                    <a:lstStyle/>
                    <a:p>
                      <a:pPr>
                        <a:buNone/>
                      </a:pPr>
                      <a:r>
                        <a:rPr lang="en-IN" sz="1800" b="1">
                          <a:latin typeface="Times New Roman" panose="02020603050405020304" pitchFamily="18" charset="0"/>
                          <a:cs typeface="Times New Roman" panose="02020603050405020304" pitchFamily="18" charset="0"/>
                        </a:rPr>
                        <a:t>Destination Port</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Identifies the receiving application/process.</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6885522"/>
                  </a:ext>
                </a:extLst>
              </a:tr>
              <a:tr h="338665">
                <a:tc>
                  <a:txBody>
                    <a:bodyPr/>
                    <a:lstStyle/>
                    <a:p>
                      <a:pPr>
                        <a:buNone/>
                      </a:pPr>
                      <a:r>
                        <a:rPr lang="en-IN" sz="1800" b="1">
                          <a:latin typeface="Times New Roman" panose="02020603050405020304" pitchFamily="18" charset="0"/>
                          <a:cs typeface="Times New Roman" panose="02020603050405020304" pitchFamily="18" charset="0"/>
                        </a:rPr>
                        <a:t>Sequence Number</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Identifies the position of data bytes in the TCP stream.</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3887488"/>
                  </a:ext>
                </a:extLst>
              </a:tr>
              <a:tr h="338665">
                <a:tc>
                  <a:txBody>
                    <a:bodyPr/>
                    <a:lstStyle/>
                    <a:p>
                      <a:pPr>
                        <a:buNone/>
                      </a:pPr>
                      <a:r>
                        <a:rPr lang="en-IN" sz="1800" b="1">
                          <a:latin typeface="Times New Roman" panose="02020603050405020304" pitchFamily="18" charset="0"/>
                          <a:cs typeface="Times New Roman" panose="02020603050405020304" pitchFamily="18" charset="0"/>
                        </a:rPr>
                        <a:t>Acknowledgment Number</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Indicates the next byte expected from the other side.</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217570"/>
                  </a:ext>
                </a:extLst>
              </a:tr>
              <a:tr h="338665">
                <a:tc>
                  <a:txBody>
                    <a:bodyPr/>
                    <a:lstStyle/>
                    <a:p>
                      <a:pPr>
                        <a:buNone/>
                      </a:pPr>
                      <a:r>
                        <a:rPr lang="en-IN" sz="1800" b="1" dirty="0">
                          <a:latin typeface="Times New Roman" panose="02020603050405020304" pitchFamily="18" charset="0"/>
                          <a:cs typeface="Times New Roman" panose="02020603050405020304" pitchFamily="18" charset="0"/>
                        </a:rPr>
                        <a:t>Header Length</a:t>
                      </a:r>
                      <a:endParaRPr lang="en-IN" sz="1800" dirty="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Specifies the length of the TCP header.</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9983954"/>
                  </a:ext>
                </a:extLst>
              </a:tr>
              <a:tr h="338665">
                <a:tc>
                  <a:txBody>
                    <a:bodyPr/>
                    <a:lstStyle/>
                    <a:p>
                      <a:pPr>
                        <a:buNone/>
                      </a:pPr>
                      <a:r>
                        <a:rPr lang="en-IN" sz="1800" b="1" dirty="0">
                          <a:latin typeface="Times New Roman" panose="02020603050405020304" pitchFamily="18" charset="0"/>
                          <a:cs typeface="Times New Roman" panose="02020603050405020304" pitchFamily="18" charset="0"/>
                        </a:rPr>
                        <a:t>Reserved</a:t>
                      </a:r>
                      <a:endParaRPr lang="en-IN" sz="1800" dirty="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Reserved for future use and normally set to 0.</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9830314"/>
                  </a:ext>
                </a:extLst>
              </a:tr>
              <a:tr h="338665">
                <a:tc>
                  <a:txBody>
                    <a:bodyPr/>
                    <a:lstStyle/>
                    <a:p>
                      <a:pPr>
                        <a:buNone/>
                      </a:pPr>
                      <a:r>
                        <a:rPr lang="en-IN" sz="1800" b="1">
                          <a:latin typeface="Times New Roman" panose="02020603050405020304" pitchFamily="18" charset="0"/>
                          <a:cs typeface="Times New Roman" panose="02020603050405020304" pitchFamily="18" charset="0"/>
                        </a:rPr>
                        <a:t>Flags</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Control the TCP connection, SYN, ACK, FIN, and RST.</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4089925"/>
                  </a:ext>
                </a:extLst>
              </a:tr>
              <a:tr h="338665">
                <a:tc>
                  <a:txBody>
                    <a:bodyPr/>
                    <a:lstStyle/>
                    <a:p>
                      <a:pPr>
                        <a:buNone/>
                      </a:pPr>
                      <a:r>
                        <a:rPr lang="en-IN" sz="1800" b="1">
                          <a:latin typeface="Times New Roman" panose="02020603050405020304" pitchFamily="18" charset="0"/>
                          <a:cs typeface="Times New Roman" panose="02020603050405020304" pitchFamily="18" charset="0"/>
                        </a:rPr>
                        <a:t>Window Size</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Specifies how much data the receiver can accept.</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8775242"/>
                  </a:ext>
                </a:extLst>
              </a:tr>
              <a:tr h="338665">
                <a:tc>
                  <a:txBody>
                    <a:bodyPr/>
                    <a:lstStyle/>
                    <a:p>
                      <a:pPr>
                        <a:buNone/>
                      </a:pPr>
                      <a:r>
                        <a:rPr lang="en-IN" sz="1800" b="1">
                          <a:latin typeface="Times New Roman" panose="02020603050405020304" pitchFamily="18" charset="0"/>
                          <a:cs typeface="Times New Roman" panose="02020603050405020304" pitchFamily="18" charset="0"/>
                        </a:rPr>
                        <a:t>Checksum</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Detects errors in the TCP segment.</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4984658"/>
                  </a:ext>
                </a:extLst>
              </a:tr>
              <a:tr h="596921">
                <a:tc>
                  <a:txBody>
                    <a:bodyPr/>
                    <a:lstStyle/>
                    <a:p>
                      <a:pPr>
                        <a:buNone/>
                      </a:pPr>
                      <a:r>
                        <a:rPr lang="en-IN" sz="1800" b="1">
                          <a:latin typeface="Times New Roman" panose="02020603050405020304" pitchFamily="18" charset="0"/>
                          <a:cs typeface="Times New Roman" panose="02020603050405020304" pitchFamily="18" charset="0"/>
                        </a:rPr>
                        <a:t>Urgent Pointer</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Times New Roman" panose="02020603050405020304" pitchFamily="18" charset="0"/>
                          <a:cs typeface="Times New Roman" panose="02020603050405020304" pitchFamily="18" charset="0"/>
                        </a:rPr>
                        <a:t>Indicates the position of urgent data when the URG flag is set.</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0959272"/>
                  </a:ext>
                </a:extLst>
              </a:tr>
              <a:tr h="338665">
                <a:tc>
                  <a:txBody>
                    <a:bodyPr/>
                    <a:lstStyle/>
                    <a:p>
                      <a:pPr>
                        <a:buNone/>
                      </a:pPr>
                      <a:r>
                        <a:rPr lang="en-IN" sz="1800" b="1">
                          <a:latin typeface="Times New Roman" panose="02020603050405020304" pitchFamily="18" charset="0"/>
                          <a:cs typeface="Times New Roman" panose="02020603050405020304" pitchFamily="18" charset="0"/>
                        </a:rPr>
                        <a:t>Options + Padding</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Provides additional TCP features and aligns the header.</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122956"/>
                  </a:ext>
                </a:extLst>
              </a:tr>
              <a:tr h="338665">
                <a:tc>
                  <a:txBody>
                    <a:bodyPr/>
                    <a:lstStyle/>
                    <a:p>
                      <a:pPr>
                        <a:buNone/>
                      </a:pPr>
                      <a:r>
                        <a:rPr lang="en-IN" sz="1800" b="1">
                          <a:latin typeface="Times New Roman" panose="02020603050405020304" pitchFamily="18" charset="0"/>
                          <a:cs typeface="Times New Roman" panose="02020603050405020304" pitchFamily="18" charset="0"/>
                        </a:rPr>
                        <a:t>Data</a:t>
                      </a:r>
                      <a:endParaRPr lang="en-IN" sz="1800">
                        <a:latin typeface="Times New Roman" panose="02020603050405020304" pitchFamily="18" charset="0"/>
                        <a:cs typeface="Times New Roman" panose="02020603050405020304" pitchFamily="18" charset="0"/>
                      </a:endParaRP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Times New Roman" panose="02020603050405020304" pitchFamily="18" charset="0"/>
                          <a:cs typeface="Times New Roman" panose="02020603050405020304" pitchFamily="18" charset="0"/>
                        </a:rPr>
                        <a:t>Contains the actual application data.</a:t>
                      </a:r>
                    </a:p>
                  </a:txBody>
                  <a:tcPr marL="80408" marR="80408" marT="40204" marB="402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388422"/>
                  </a:ext>
                </a:extLst>
              </a:tr>
            </a:tbl>
          </a:graphicData>
        </a:graphic>
      </p:graphicFrame>
      <p:sp>
        <p:nvSpPr>
          <p:cNvPr id="8" name="Title 1">
            <a:extLst>
              <a:ext uri="{FF2B5EF4-FFF2-40B4-BE49-F238E27FC236}">
                <a16:creationId xmlns:a16="http://schemas.microsoft.com/office/drawing/2014/main" id="{79238136-AB6D-5182-5065-3D7D8789CAC2}"/>
              </a:ext>
            </a:extLst>
          </p:cNvPr>
          <p:cNvSpPr>
            <a:spLocks noGrp="1"/>
          </p:cNvSpPr>
          <p:nvPr>
            <p:ph type="title"/>
          </p:nvPr>
        </p:nvSpPr>
        <p:spPr>
          <a:xfrm>
            <a:off x="2146410" y="-425226"/>
            <a:ext cx="12473104" cy="1419457"/>
          </a:xfrm>
        </p:spPr>
        <p:txBody>
          <a:bodyPr/>
          <a:lstStyle/>
          <a:p>
            <a:r>
              <a:rPr lang="en-US" sz="4800" dirty="0">
                <a:solidFill>
                  <a:srgbClr val="3D29CD"/>
                </a:solidFill>
                <a:latin typeface="Times New Roman" panose="02020603050405020304" pitchFamily="18" charset="0"/>
                <a:cs typeface="Times New Roman" panose="02020603050405020304" pitchFamily="18" charset="0"/>
              </a:rPr>
              <a:t>Transmission Control Protocol (TCP)</a:t>
            </a:r>
            <a:endParaRPr lang="en-IN" dirty="0">
              <a:solidFill>
                <a:srgbClr val="3D29CD"/>
              </a:solidFill>
            </a:endParaRPr>
          </a:p>
        </p:txBody>
      </p:sp>
    </p:spTree>
    <p:extLst>
      <p:ext uri="{BB962C8B-B14F-4D97-AF65-F5344CB8AC3E}">
        <p14:creationId xmlns:p14="http://schemas.microsoft.com/office/powerpoint/2010/main" val="4154868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5CF7ACD8-359C-19AF-39D6-CA5A2F19C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6230" y="1273803"/>
            <a:ext cx="7644400" cy="431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DC865D3F-B79E-900E-155E-BD4373C4BA6D}"/>
              </a:ext>
            </a:extLst>
          </p:cNvPr>
          <p:cNvSpPr txBox="1"/>
          <p:nvPr/>
        </p:nvSpPr>
        <p:spPr>
          <a:xfrm>
            <a:off x="190498" y="1320802"/>
            <a:ext cx="5622472" cy="4524315"/>
          </a:xfrm>
          <a:prstGeom prst="rect">
            <a:avLst/>
          </a:prstGeom>
          <a:noFill/>
        </p:spPr>
        <p:txBody>
          <a:bodyPr wrap="square">
            <a:spAutoFit/>
          </a:bodyPr>
          <a:lstStyle/>
          <a:p>
            <a:r>
              <a:rPr lang="en-US" sz="2400" b="1" i="0" dirty="0">
                <a:solidFill>
                  <a:srgbClr val="C00000"/>
                </a:solidFill>
                <a:effectLst/>
                <a:latin typeface="Times New Roman" panose="02020603050405020304" pitchFamily="18" charset="0"/>
                <a:cs typeface="Times New Roman" panose="02020603050405020304" pitchFamily="18" charset="0"/>
              </a:rPr>
              <a:t>Source port address: </a:t>
            </a:r>
            <a:r>
              <a:rPr lang="en-US" sz="2400" b="0" i="0" dirty="0">
                <a:solidFill>
                  <a:srgbClr val="000000"/>
                </a:solidFill>
                <a:effectLst/>
                <a:latin typeface="Times New Roman" panose="02020603050405020304" pitchFamily="18" charset="0"/>
                <a:cs typeface="Times New Roman" panose="02020603050405020304" pitchFamily="18" charset="0"/>
              </a:rPr>
              <a:t>It is used to define the address of the application program in a source computer. It is a 16-bit field.</a:t>
            </a:r>
            <a:br>
              <a:rPr lang="en-US" sz="2400" b="0" i="0" dirty="0">
                <a:solidFill>
                  <a:srgbClr val="000000"/>
                </a:solidFill>
                <a:effectLst/>
                <a:latin typeface="Times New Roman" panose="02020603050405020304" pitchFamily="18" charset="0"/>
                <a:cs typeface="Times New Roman" panose="02020603050405020304" pitchFamily="18" charset="0"/>
              </a:rPr>
            </a:br>
            <a:r>
              <a:rPr lang="en-US" sz="2400" b="1" i="0" dirty="0">
                <a:solidFill>
                  <a:srgbClr val="C00000"/>
                </a:solidFill>
                <a:effectLst/>
                <a:latin typeface="Times New Roman" panose="02020603050405020304" pitchFamily="18" charset="0"/>
                <a:cs typeface="Times New Roman" panose="02020603050405020304" pitchFamily="18" charset="0"/>
              </a:rPr>
              <a:t>Destination port address: </a:t>
            </a:r>
            <a:r>
              <a:rPr lang="en-US" sz="2400" b="0" i="0" dirty="0">
                <a:solidFill>
                  <a:srgbClr val="000000"/>
                </a:solidFill>
                <a:effectLst/>
                <a:latin typeface="Times New Roman" panose="02020603050405020304" pitchFamily="18" charset="0"/>
                <a:cs typeface="Times New Roman" panose="02020603050405020304" pitchFamily="18" charset="0"/>
              </a:rPr>
              <a:t>It is used to define the address of the application program in a destination computer. It is a 16-bit field.</a:t>
            </a:r>
            <a:br>
              <a:rPr lang="en-US" sz="2400" b="0" i="0" dirty="0">
                <a:solidFill>
                  <a:srgbClr val="000000"/>
                </a:solidFill>
                <a:effectLst/>
                <a:latin typeface="Times New Roman" panose="02020603050405020304" pitchFamily="18" charset="0"/>
                <a:cs typeface="Times New Roman" panose="02020603050405020304" pitchFamily="18" charset="0"/>
              </a:rPr>
            </a:br>
            <a:r>
              <a:rPr lang="en-US" sz="2400" b="1" i="0" dirty="0">
                <a:solidFill>
                  <a:srgbClr val="C00000"/>
                </a:solidFill>
                <a:effectLst/>
                <a:latin typeface="Times New Roman" panose="02020603050405020304" pitchFamily="18" charset="0"/>
                <a:cs typeface="Times New Roman" panose="02020603050405020304" pitchFamily="18" charset="0"/>
              </a:rPr>
              <a:t>Sequence number: </a:t>
            </a:r>
            <a:r>
              <a:rPr lang="en-US" sz="2400" b="0" i="0" dirty="0">
                <a:solidFill>
                  <a:srgbClr val="000000"/>
                </a:solidFill>
                <a:effectLst/>
                <a:latin typeface="Times New Roman" panose="02020603050405020304" pitchFamily="18" charset="0"/>
                <a:cs typeface="Times New Roman" panose="02020603050405020304" pitchFamily="18" charset="0"/>
              </a:rPr>
              <a:t>A stream of data is divided into two or more TCP segments. The 32-bit sequence number field represents the position of the data in an original data stream.</a:t>
            </a:r>
            <a:endParaRPr lang="en-IN" dirty="0"/>
          </a:p>
        </p:txBody>
      </p:sp>
      <p:sp>
        <p:nvSpPr>
          <p:cNvPr id="6" name="Title 1">
            <a:extLst>
              <a:ext uri="{FF2B5EF4-FFF2-40B4-BE49-F238E27FC236}">
                <a16:creationId xmlns:a16="http://schemas.microsoft.com/office/drawing/2014/main" id="{FF69AE02-77C2-312A-D118-407C8DBF36EB}"/>
              </a:ext>
            </a:extLst>
          </p:cNvPr>
          <p:cNvSpPr>
            <a:spLocks noGrp="1"/>
          </p:cNvSpPr>
          <p:nvPr>
            <p:ph type="title"/>
          </p:nvPr>
        </p:nvSpPr>
        <p:spPr>
          <a:xfrm>
            <a:off x="2146410" y="-425226"/>
            <a:ext cx="12473104" cy="1419457"/>
          </a:xfrm>
        </p:spPr>
        <p:txBody>
          <a:bodyPr/>
          <a:lstStyle/>
          <a:p>
            <a:r>
              <a:rPr lang="en-US" sz="4800" dirty="0">
                <a:solidFill>
                  <a:srgbClr val="3D29CD"/>
                </a:solidFill>
                <a:latin typeface="Times New Roman" panose="02020603050405020304" pitchFamily="18" charset="0"/>
                <a:cs typeface="Times New Roman" panose="02020603050405020304" pitchFamily="18" charset="0"/>
              </a:rPr>
              <a:t>Transmission Control Protocol (TCP)</a:t>
            </a:r>
            <a:endParaRPr lang="en-IN" dirty="0">
              <a:solidFill>
                <a:srgbClr val="3D29CD"/>
              </a:solidFill>
            </a:endParaRPr>
          </a:p>
        </p:txBody>
      </p:sp>
      <p:sp>
        <p:nvSpPr>
          <p:cNvPr id="9" name="TextBox 8">
            <a:extLst>
              <a:ext uri="{FF2B5EF4-FFF2-40B4-BE49-F238E27FC236}">
                <a16:creationId xmlns:a16="http://schemas.microsoft.com/office/drawing/2014/main" id="{80B26314-8E9F-E81B-0239-16DC42E08A97}"/>
              </a:ext>
            </a:extLst>
          </p:cNvPr>
          <p:cNvSpPr txBox="1"/>
          <p:nvPr/>
        </p:nvSpPr>
        <p:spPr>
          <a:xfrm>
            <a:off x="190498" y="5737674"/>
            <a:ext cx="13688787" cy="1200329"/>
          </a:xfrm>
          <a:prstGeom prst="rect">
            <a:avLst/>
          </a:prstGeom>
          <a:noFill/>
        </p:spPr>
        <p:txBody>
          <a:bodyPr wrap="square">
            <a:spAutoFit/>
          </a:bodyPr>
          <a:lstStyle/>
          <a:p>
            <a:r>
              <a:rPr lang="en-US" sz="2400" b="1" i="0" dirty="0">
                <a:solidFill>
                  <a:srgbClr val="C00000"/>
                </a:solidFill>
                <a:effectLst/>
                <a:latin typeface="Times New Roman" panose="02020603050405020304" pitchFamily="18" charset="0"/>
                <a:cs typeface="Times New Roman" panose="02020603050405020304" pitchFamily="18" charset="0"/>
              </a:rPr>
              <a:t>Acknowledgement number: </a:t>
            </a:r>
            <a:r>
              <a:rPr lang="en-US" sz="2400" b="0" i="0" dirty="0">
                <a:solidFill>
                  <a:srgbClr val="000000"/>
                </a:solidFill>
                <a:effectLst/>
                <a:latin typeface="Times New Roman" panose="02020603050405020304" pitchFamily="18" charset="0"/>
                <a:cs typeface="Times New Roman" panose="02020603050405020304" pitchFamily="18" charset="0"/>
              </a:rPr>
              <a:t>A 32-field acknowledgement number acknowledge the data from other communicating devices. If ACK field is set to 1, then it specifies the sequence </a:t>
            </a:r>
            <a:r>
              <a:rPr lang="en-US" sz="2400" dirty="0">
                <a:latin typeface="Times New Roman" panose="02020603050405020304" pitchFamily="18" charset="0"/>
                <a:cs typeface="Times New Roman" panose="02020603050405020304" pitchFamily="18" charset="0"/>
              </a:rPr>
              <a:t>number that the receiver is expecting to receive </a:t>
            </a:r>
            <a:endParaRPr lang="en-IN" sz="2400" dirty="0"/>
          </a:p>
        </p:txBody>
      </p:sp>
      <p:sp>
        <p:nvSpPr>
          <p:cNvPr id="3" name="TextBox 2">
            <a:extLst>
              <a:ext uri="{FF2B5EF4-FFF2-40B4-BE49-F238E27FC236}">
                <a16:creationId xmlns:a16="http://schemas.microsoft.com/office/drawing/2014/main" id="{AF4EEF77-67F7-76C4-FF2F-D818123814FF}"/>
              </a:ext>
            </a:extLst>
          </p:cNvPr>
          <p:cNvSpPr txBox="1"/>
          <p:nvPr/>
        </p:nvSpPr>
        <p:spPr>
          <a:xfrm>
            <a:off x="22258" y="763398"/>
            <a:ext cx="11581423" cy="461665"/>
          </a:xfrm>
          <a:prstGeom prst="rect">
            <a:avLst/>
          </a:prstGeom>
          <a:noFill/>
        </p:spPr>
        <p:txBody>
          <a:bodyPr wrap="square">
            <a:spAutoFit/>
          </a:bodyPr>
          <a:lstStyle/>
          <a:p>
            <a:r>
              <a:rPr lang="en-US" sz="2400" b="1" dirty="0">
                <a:solidFill>
                  <a:srgbClr val="00B050"/>
                </a:solidFill>
                <a:latin typeface="Times New Roman" panose="02020603050405020304" pitchFamily="18" charset="0"/>
                <a:cs typeface="Times New Roman" panose="02020603050405020304" pitchFamily="18" charset="0"/>
              </a:rPr>
              <a:t>The minimum TCP header size is 20 bytes, and the maximum is 60 bytes.</a:t>
            </a:r>
            <a:endParaRPr lang="en-IN" sz="24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869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5C0BE83-64C8-E526-4558-86C8045FDB82}"/>
              </a:ext>
            </a:extLst>
          </p:cNvPr>
          <p:cNvSpPr txBox="1"/>
          <p:nvPr/>
        </p:nvSpPr>
        <p:spPr>
          <a:xfrm>
            <a:off x="198211" y="1286618"/>
            <a:ext cx="5076199" cy="4770537"/>
          </a:xfrm>
          <a:prstGeom prst="rect">
            <a:avLst/>
          </a:prstGeom>
          <a:noFill/>
        </p:spPr>
        <p:txBody>
          <a:bodyPr wrap="square">
            <a:spAutoFit/>
          </a:bodyPr>
          <a:lstStyle/>
          <a:p>
            <a:r>
              <a:rPr lang="en-US" sz="2600" b="1" i="0" dirty="0">
                <a:solidFill>
                  <a:srgbClr val="C00000"/>
                </a:solidFill>
                <a:effectLst/>
                <a:latin typeface="Times New Roman" panose="02020603050405020304" pitchFamily="18" charset="0"/>
                <a:cs typeface="Times New Roman" panose="02020603050405020304" pitchFamily="18" charset="0"/>
              </a:rPr>
              <a:t>Header Length (HLEN): </a:t>
            </a:r>
            <a:r>
              <a:rPr lang="en-US" sz="2600" b="0" i="0" dirty="0">
                <a:solidFill>
                  <a:srgbClr val="000000"/>
                </a:solidFill>
                <a:effectLst/>
                <a:latin typeface="Times New Roman" panose="02020603050405020304" pitchFamily="18" charset="0"/>
                <a:cs typeface="Times New Roman" panose="02020603050405020304" pitchFamily="18" charset="0"/>
              </a:rPr>
              <a:t>It specifies the size of the header which is 4-bit.</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Reserved: </a:t>
            </a:r>
            <a:r>
              <a:rPr lang="en-US" sz="2600" b="0" i="0" dirty="0">
                <a:solidFill>
                  <a:srgbClr val="000000"/>
                </a:solidFill>
                <a:effectLst/>
                <a:latin typeface="Times New Roman" panose="02020603050405020304" pitchFamily="18" charset="0"/>
                <a:cs typeface="Times New Roman" panose="02020603050405020304" pitchFamily="18" charset="0"/>
              </a:rPr>
              <a:t>It is a six-bit field which is reserved for future use.</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Control bits: </a:t>
            </a:r>
            <a:r>
              <a:rPr lang="en-US" sz="2600" b="0" i="0" dirty="0">
                <a:solidFill>
                  <a:srgbClr val="000000"/>
                </a:solidFill>
                <a:effectLst/>
                <a:latin typeface="Times New Roman" panose="02020603050405020304" pitchFamily="18" charset="0"/>
                <a:cs typeface="Times New Roman" panose="02020603050405020304" pitchFamily="18" charset="0"/>
              </a:rPr>
              <a:t>Each bit of a control field functions individually and</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0" i="0" dirty="0">
                <a:solidFill>
                  <a:srgbClr val="000000"/>
                </a:solidFill>
                <a:effectLst/>
                <a:latin typeface="Times New Roman" panose="02020603050405020304" pitchFamily="18" charset="0"/>
                <a:cs typeface="Times New Roman" panose="02020603050405020304" pitchFamily="18" charset="0"/>
              </a:rPr>
              <a:t>independently. </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Window Size: </a:t>
            </a:r>
            <a:r>
              <a:rPr lang="en-US" sz="2600" b="0" i="0" dirty="0">
                <a:solidFill>
                  <a:srgbClr val="000000"/>
                </a:solidFill>
                <a:effectLst/>
                <a:latin typeface="Times New Roman" panose="02020603050405020304" pitchFamily="18" charset="0"/>
                <a:cs typeface="Times New Roman" panose="02020603050405020304" pitchFamily="18" charset="0"/>
              </a:rPr>
              <a:t>The window is a 16-bit field that defines the size of the</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0" i="0" dirty="0">
                <a:solidFill>
                  <a:srgbClr val="000000"/>
                </a:solidFill>
                <a:effectLst/>
                <a:latin typeface="Times New Roman" panose="02020603050405020304" pitchFamily="18" charset="0"/>
                <a:cs typeface="Times New Roman" panose="02020603050405020304" pitchFamily="18" charset="0"/>
              </a:rPr>
              <a:t>window.</a:t>
            </a:r>
            <a:br>
              <a:rPr lang="en-US" sz="1800" b="0" i="0" dirty="0">
                <a:solidFill>
                  <a:srgbClr val="000000"/>
                </a:solidFill>
                <a:effectLst/>
                <a:latin typeface="Calibri" panose="020F0502020204030204" pitchFamily="34" charset="0"/>
              </a:rPr>
            </a:br>
            <a:endParaRPr lang="en-IN" dirty="0"/>
          </a:p>
        </p:txBody>
      </p:sp>
      <p:sp>
        <p:nvSpPr>
          <p:cNvPr id="8" name="TextBox 7">
            <a:extLst>
              <a:ext uri="{FF2B5EF4-FFF2-40B4-BE49-F238E27FC236}">
                <a16:creationId xmlns:a16="http://schemas.microsoft.com/office/drawing/2014/main" id="{3553040A-6CDB-14CD-A888-213087892B89}"/>
              </a:ext>
            </a:extLst>
          </p:cNvPr>
          <p:cNvSpPr txBox="1"/>
          <p:nvPr/>
        </p:nvSpPr>
        <p:spPr>
          <a:xfrm>
            <a:off x="5486400" y="3399803"/>
            <a:ext cx="8752114" cy="3170099"/>
          </a:xfrm>
          <a:prstGeom prst="rect">
            <a:avLst/>
          </a:prstGeom>
          <a:noFill/>
        </p:spPr>
        <p:txBody>
          <a:bodyPr wrap="square">
            <a:spAutoFit/>
          </a:bodyPr>
          <a:lstStyle/>
          <a:p>
            <a:r>
              <a:rPr lang="en-US" sz="2600" b="1" i="0" dirty="0">
                <a:solidFill>
                  <a:srgbClr val="C00000"/>
                </a:solidFill>
                <a:effectLst/>
                <a:latin typeface="Times New Roman" panose="02020603050405020304" pitchFamily="18" charset="0"/>
                <a:cs typeface="Times New Roman" panose="02020603050405020304" pitchFamily="18" charset="0"/>
              </a:rPr>
              <a:t>Checksum: </a:t>
            </a:r>
            <a:r>
              <a:rPr lang="en-US" sz="2600" b="0" i="0" dirty="0">
                <a:solidFill>
                  <a:srgbClr val="000000"/>
                </a:solidFill>
                <a:effectLst/>
                <a:latin typeface="Times New Roman" panose="02020603050405020304" pitchFamily="18" charset="0"/>
                <a:cs typeface="Times New Roman" panose="02020603050405020304" pitchFamily="18" charset="0"/>
              </a:rPr>
              <a:t>The checksum is a 16-bit field used in error detection.</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Urgent pointer: </a:t>
            </a:r>
            <a:r>
              <a:rPr lang="en-US" sz="2600" b="0" i="0" dirty="0">
                <a:solidFill>
                  <a:srgbClr val="000000"/>
                </a:solidFill>
                <a:effectLst/>
                <a:latin typeface="Times New Roman" panose="02020603050405020304" pitchFamily="18" charset="0"/>
                <a:cs typeface="Times New Roman" panose="02020603050405020304" pitchFamily="18" charset="0"/>
              </a:rPr>
              <a:t>If URG flag is set to 1, then this 16-bit field is an offset from the sequence number indicating that it is a last urgent data byte.</a:t>
            </a:r>
            <a:br>
              <a:rPr lang="en-US" sz="2600" b="0" i="0" dirty="0">
                <a:solidFill>
                  <a:srgbClr val="000000"/>
                </a:solidFill>
                <a:effectLst/>
                <a:latin typeface="Times New Roman" panose="02020603050405020304" pitchFamily="18" charset="0"/>
                <a:cs typeface="Times New Roman" panose="02020603050405020304" pitchFamily="18" charset="0"/>
              </a:rPr>
            </a:br>
            <a:r>
              <a:rPr lang="en-US" sz="2600" b="1" i="0" dirty="0">
                <a:solidFill>
                  <a:srgbClr val="C00000"/>
                </a:solidFill>
                <a:effectLst/>
                <a:latin typeface="Times New Roman" panose="02020603050405020304" pitchFamily="18" charset="0"/>
                <a:cs typeface="Times New Roman" panose="02020603050405020304" pitchFamily="18" charset="0"/>
              </a:rPr>
              <a:t>Options and padding: </a:t>
            </a:r>
            <a:r>
              <a:rPr lang="en-US" sz="2600" b="0" i="0" dirty="0">
                <a:solidFill>
                  <a:srgbClr val="000000"/>
                </a:solidFill>
                <a:effectLst/>
                <a:latin typeface="Times New Roman" panose="02020603050405020304" pitchFamily="18" charset="0"/>
                <a:cs typeface="Times New Roman" panose="02020603050405020304" pitchFamily="18" charset="0"/>
              </a:rPr>
              <a:t>It defines the optional fields that convey the additional information to the receiver.</a:t>
            </a:r>
            <a:r>
              <a:rPr lang="en-US" sz="2600" dirty="0">
                <a:latin typeface="Times New Roman" panose="02020603050405020304" pitchFamily="18" charset="0"/>
                <a:cs typeface="Times New Roman" panose="02020603050405020304" pitchFamily="18" charset="0"/>
              </a:rPr>
              <a:t> </a:t>
            </a:r>
            <a:br>
              <a:rPr lang="en-US" dirty="0"/>
            </a:br>
            <a:endParaRPr lang="en-IN" dirty="0"/>
          </a:p>
        </p:txBody>
      </p:sp>
      <p:sp>
        <p:nvSpPr>
          <p:cNvPr id="3" name="Title 1">
            <a:extLst>
              <a:ext uri="{FF2B5EF4-FFF2-40B4-BE49-F238E27FC236}">
                <a16:creationId xmlns:a16="http://schemas.microsoft.com/office/drawing/2014/main" id="{389D234A-4E91-FE06-C9BC-492E5D730EA1}"/>
              </a:ext>
            </a:extLst>
          </p:cNvPr>
          <p:cNvSpPr>
            <a:spLocks noGrp="1"/>
          </p:cNvSpPr>
          <p:nvPr>
            <p:ph type="title"/>
          </p:nvPr>
        </p:nvSpPr>
        <p:spPr>
          <a:xfrm>
            <a:off x="2886302" y="-245242"/>
            <a:ext cx="9980612" cy="1419225"/>
          </a:xfrm>
        </p:spPr>
        <p:txBody>
          <a:bodyPr/>
          <a:lstStyle/>
          <a:p>
            <a:r>
              <a:rPr lang="en-US" sz="4800" dirty="0">
                <a:solidFill>
                  <a:srgbClr val="3D29CD"/>
                </a:solidFill>
                <a:latin typeface="Times New Roman" panose="02020603050405020304" pitchFamily="18" charset="0"/>
                <a:cs typeface="Times New Roman" panose="02020603050405020304" pitchFamily="18" charset="0"/>
              </a:rPr>
              <a:t>Transmission Control Protocol (TCP)</a:t>
            </a:r>
            <a:endParaRPr lang="en-IN" dirty="0">
              <a:solidFill>
                <a:srgbClr val="3D29CD"/>
              </a:solidFill>
            </a:endParaRPr>
          </a:p>
        </p:txBody>
      </p:sp>
      <p:pic>
        <p:nvPicPr>
          <p:cNvPr id="2" name="Picture 6">
            <a:extLst>
              <a:ext uri="{FF2B5EF4-FFF2-40B4-BE49-F238E27FC236}">
                <a16:creationId xmlns:a16="http://schemas.microsoft.com/office/drawing/2014/main" id="{9DCDA977-7842-1A53-2874-FB4F2C53B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258" y="1286618"/>
            <a:ext cx="7629566" cy="179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9818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CD39-C6BB-F217-6FF1-3CEF17907728}"/>
              </a:ext>
            </a:extLst>
          </p:cNvPr>
          <p:cNvSpPr>
            <a:spLocks noGrp="1"/>
          </p:cNvSpPr>
          <p:nvPr>
            <p:ph type="title"/>
          </p:nvPr>
        </p:nvSpPr>
        <p:spPr>
          <a:xfrm>
            <a:off x="2309697" y="-131525"/>
            <a:ext cx="6975817" cy="1419457"/>
          </a:xfrm>
        </p:spPr>
        <p:txBody>
          <a:bodyPr/>
          <a:lstStyle/>
          <a:p>
            <a:r>
              <a:rPr lang="en-US" dirty="0">
                <a:solidFill>
                  <a:srgbClr val="3D29CD"/>
                </a:solidFill>
              </a:rPr>
              <a:t>Comparison of TCP Vs DSP</a:t>
            </a:r>
            <a:endParaRPr lang="en-IN" dirty="0">
              <a:solidFill>
                <a:srgbClr val="3D29CD"/>
              </a:solidFill>
            </a:endParaRPr>
          </a:p>
        </p:txBody>
      </p:sp>
      <p:pic>
        <p:nvPicPr>
          <p:cNvPr id="6" name="Picture 5">
            <a:extLst>
              <a:ext uri="{FF2B5EF4-FFF2-40B4-BE49-F238E27FC236}">
                <a16:creationId xmlns:a16="http://schemas.microsoft.com/office/drawing/2014/main" id="{707CCF50-01C6-875F-2F23-C18E1B6772CB}"/>
              </a:ext>
            </a:extLst>
          </p:cNvPr>
          <p:cNvPicPr>
            <a:picLocks noChangeAspect="1"/>
          </p:cNvPicPr>
          <p:nvPr/>
        </p:nvPicPr>
        <p:blipFill>
          <a:blip r:embed="rId2"/>
          <a:stretch>
            <a:fillRect/>
          </a:stretch>
        </p:blipFill>
        <p:spPr>
          <a:xfrm>
            <a:off x="457542" y="911678"/>
            <a:ext cx="13793587" cy="5674180"/>
          </a:xfrm>
          <a:prstGeom prst="rect">
            <a:avLst/>
          </a:prstGeom>
        </p:spPr>
      </p:pic>
    </p:spTree>
    <p:extLst>
      <p:ext uri="{BB962C8B-B14F-4D97-AF65-F5344CB8AC3E}">
        <p14:creationId xmlns:p14="http://schemas.microsoft.com/office/powerpoint/2010/main" val="825093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9" name="Text Box 3">
            <a:extLst>
              <a:ext uri="{FF2B5EF4-FFF2-40B4-BE49-F238E27FC236}">
                <a16:creationId xmlns:a16="http://schemas.microsoft.com/office/drawing/2014/main" id="{E7AF9710-2F15-6EFE-4A47-23838A5C6791}"/>
              </a:ext>
            </a:extLst>
          </p:cNvPr>
          <p:cNvSpPr txBox="1">
            <a:spLocks noChangeArrowheads="1"/>
          </p:cNvSpPr>
          <p:nvPr/>
        </p:nvSpPr>
        <p:spPr bwMode="auto">
          <a:xfrm>
            <a:off x="2567305" y="435187"/>
            <a:ext cx="600677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rgbClr val="3D29CD"/>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CONGESTION CONTROL</a:t>
            </a:r>
          </a:p>
        </p:txBody>
      </p:sp>
      <p:sp>
        <p:nvSpPr>
          <p:cNvPr id="859140" name="Text Box 4">
            <a:extLst>
              <a:ext uri="{FF2B5EF4-FFF2-40B4-BE49-F238E27FC236}">
                <a16:creationId xmlns:a16="http://schemas.microsoft.com/office/drawing/2014/main" id="{A4956E51-4E59-4CC5-F263-B5685477F82C}"/>
              </a:ext>
            </a:extLst>
          </p:cNvPr>
          <p:cNvSpPr txBox="1">
            <a:spLocks noChangeArrowheads="1"/>
          </p:cNvSpPr>
          <p:nvPr/>
        </p:nvSpPr>
        <p:spPr bwMode="auto">
          <a:xfrm>
            <a:off x="11135043" y="6854190"/>
            <a:ext cx="184731" cy="388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927">
              <a:latin typeface="Times New Roman" panose="02020603050405020304" pitchFamily="18" charset="0"/>
            </a:endParaRPr>
          </a:p>
        </p:txBody>
      </p:sp>
      <p:sp>
        <p:nvSpPr>
          <p:cNvPr id="859141" name="Rectangle 5">
            <a:extLst>
              <a:ext uri="{FF2B5EF4-FFF2-40B4-BE49-F238E27FC236}">
                <a16:creationId xmlns:a16="http://schemas.microsoft.com/office/drawing/2014/main" id="{31EA281F-3EB1-64D4-69B0-314C5A3F0D5F}"/>
              </a:ext>
            </a:extLst>
          </p:cNvPr>
          <p:cNvSpPr>
            <a:spLocks noChangeArrowheads="1"/>
          </p:cNvSpPr>
          <p:nvPr/>
        </p:nvSpPr>
        <p:spPr bwMode="auto">
          <a:xfrm>
            <a:off x="202520" y="1143073"/>
            <a:ext cx="1403168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eaLnBrk="1" hangingPunct="1">
              <a:buFont typeface="Wingdings" panose="05000000000000000000" pitchFamily="2" charset="2"/>
              <a:buChar char="q"/>
            </a:pPr>
            <a:r>
              <a:rPr lang="en-US" altLang="en-US" sz="2800" dirty="0">
                <a:solidFill>
                  <a:srgbClr val="FF0000"/>
                </a:solidFill>
                <a:latin typeface="Times New Roman" panose="02020603050405020304" pitchFamily="18" charset="0"/>
              </a:rPr>
              <a:t>Congestion control </a:t>
            </a:r>
            <a:r>
              <a:rPr lang="en-US" altLang="en-US" sz="2800" dirty="0">
                <a:latin typeface="Times New Roman" panose="02020603050405020304" pitchFamily="18" charset="0"/>
              </a:rPr>
              <a:t>refers to techniques and mechanisms that can either </a:t>
            </a:r>
            <a:r>
              <a:rPr lang="en-US" altLang="en-US" sz="2800" dirty="0">
                <a:solidFill>
                  <a:srgbClr val="FF0000"/>
                </a:solidFill>
                <a:latin typeface="Times New Roman" panose="02020603050405020304" pitchFamily="18" charset="0"/>
              </a:rPr>
              <a:t>prevent congestion</a:t>
            </a:r>
            <a:r>
              <a:rPr lang="en-US" altLang="en-US" sz="2800" dirty="0">
                <a:latin typeface="Times New Roman" panose="02020603050405020304" pitchFamily="18" charset="0"/>
              </a:rPr>
              <a:t>, before it happens, or </a:t>
            </a:r>
            <a:r>
              <a:rPr lang="en-US" altLang="en-US" sz="2800" dirty="0">
                <a:solidFill>
                  <a:srgbClr val="FF0000"/>
                </a:solidFill>
                <a:latin typeface="Times New Roman" panose="02020603050405020304" pitchFamily="18" charset="0"/>
              </a:rPr>
              <a:t>remove congestion</a:t>
            </a:r>
            <a:r>
              <a:rPr lang="en-US" altLang="en-US" sz="2800" dirty="0">
                <a:latin typeface="Times New Roman" panose="02020603050405020304" pitchFamily="18" charset="0"/>
              </a:rPr>
              <a:t>, after it has happened. </a:t>
            </a:r>
          </a:p>
          <a:p>
            <a:pPr marL="457200" indent="-457200" eaLnBrk="1" hangingPunct="1">
              <a:buFont typeface="Wingdings" panose="05000000000000000000" pitchFamily="2" charset="2"/>
              <a:buChar char="q"/>
            </a:pPr>
            <a:r>
              <a:rPr lang="en-US" altLang="en-US" sz="2800" dirty="0">
                <a:latin typeface="Times New Roman" panose="02020603050405020304" pitchFamily="18" charset="0"/>
              </a:rPr>
              <a:t>In general, we can </a:t>
            </a:r>
            <a:r>
              <a:rPr lang="en-US" altLang="en-US" sz="2800" dirty="0">
                <a:solidFill>
                  <a:srgbClr val="FF0000"/>
                </a:solidFill>
                <a:latin typeface="Times New Roman" panose="02020603050405020304" pitchFamily="18" charset="0"/>
              </a:rPr>
              <a:t>divide congestion control </a:t>
            </a:r>
            <a:r>
              <a:rPr lang="en-US" altLang="en-US" sz="2800" dirty="0">
                <a:latin typeface="Times New Roman" panose="02020603050405020304" pitchFamily="18" charset="0"/>
              </a:rPr>
              <a:t>mechanisms into two broad categories: </a:t>
            </a:r>
            <a:r>
              <a:rPr lang="en-US" altLang="en-US" sz="2800" dirty="0">
                <a:solidFill>
                  <a:srgbClr val="FF0000"/>
                </a:solidFill>
                <a:latin typeface="Times New Roman" panose="02020603050405020304" pitchFamily="18" charset="0"/>
              </a:rPr>
              <a:t>open-loop</a:t>
            </a:r>
            <a:r>
              <a:rPr lang="en-US" altLang="en-US" sz="2800" dirty="0">
                <a:latin typeface="Times New Roman" panose="02020603050405020304" pitchFamily="18" charset="0"/>
              </a:rPr>
              <a:t> congestion control (prevention) and </a:t>
            </a:r>
            <a:r>
              <a:rPr lang="en-US" altLang="en-US" sz="2800" dirty="0">
                <a:solidFill>
                  <a:srgbClr val="FF0000"/>
                </a:solidFill>
                <a:latin typeface="Times New Roman" panose="02020603050405020304" pitchFamily="18" charset="0"/>
              </a:rPr>
              <a:t>closed-loop</a:t>
            </a:r>
            <a:r>
              <a:rPr lang="en-US" altLang="en-US" sz="2800" dirty="0">
                <a:latin typeface="Times New Roman" panose="02020603050405020304" pitchFamily="18" charset="0"/>
              </a:rPr>
              <a:t> congestion control (removal).</a:t>
            </a:r>
          </a:p>
        </p:txBody>
      </p:sp>
      <p:pic>
        <p:nvPicPr>
          <p:cNvPr id="3" name="Picture 6">
            <a:extLst>
              <a:ext uri="{FF2B5EF4-FFF2-40B4-BE49-F238E27FC236}">
                <a16:creationId xmlns:a16="http://schemas.microsoft.com/office/drawing/2014/main" id="{AF9A23E1-2669-DA9D-B85D-FF0FFD6C2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0523" y="3172103"/>
            <a:ext cx="7253678" cy="368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555240-2B50-5F94-8172-15D135449A5A}"/>
              </a:ext>
            </a:extLst>
          </p:cNvPr>
          <p:cNvPicPr>
            <a:picLocks noChangeAspect="1"/>
          </p:cNvPicPr>
          <p:nvPr/>
        </p:nvPicPr>
        <p:blipFill>
          <a:blip r:embed="rId2"/>
          <a:stretch>
            <a:fillRect/>
          </a:stretch>
        </p:blipFill>
        <p:spPr>
          <a:xfrm>
            <a:off x="3147014" y="644979"/>
            <a:ext cx="11087553" cy="6416194"/>
          </a:xfrm>
          <a:prstGeom prst="rect">
            <a:avLst/>
          </a:prstGeom>
        </p:spPr>
      </p:pic>
      <p:sp>
        <p:nvSpPr>
          <p:cNvPr id="4" name="Text Box 3">
            <a:extLst>
              <a:ext uri="{FF2B5EF4-FFF2-40B4-BE49-F238E27FC236}">
                <a16:creationId xmlns:a16="http://schemas.microsoft.com/office/drawing/2014/main" id="{37840B99-F675-5FA6-9E70-0C68EE139D55}"/>
              </a:ext>
            </a:extLst>
          </p:cNvPr>
          <p:cNvSpPr txBox="1">
            <a:spLocks noChangeArrowheads="1"/>
          </p:cNvSpPr>
          <p:nvPr/>
        </p:nvSpPr>
        <p:spPr bwMode="auto">
          <a:xfrm>
            <a:off x="3568791" y="-62907"/>
            <a:ext cx="64972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rgbClr val="3D29CD"/>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Open loop Congestion Control</a:t>
            </a:r>
          </a:p>
        </p:txBody>
      </p:sp>
      <p:sp>
        <p:nvSpPr>
          <p:cNvPr id="6" name="TextBox 5">
            <a:extLst>
              <a:ext uri="{FF2B5EF4-FFF2-40B4-BE49-F238E27FC236}">
                <a16:creationId xmlns:a16="http://schemas.microsoft.com/office/drawing/2014/main" id="{656BA76D-10E9-A160-B553-3846515DE215}"/>
              </a:ext>
            </a:extLst>
          </p:cNvPr>
          <p:cNvSpPr txBox="1"/>
          <p:nvPr/>
        </p:nvSpPr>
        <p:spPr>
          <a:xfrm>
            <a:off x="202157" y="1271230"/>
            <a:ext cx="3096213" cy="3385542"/>
          </a:xfrm>
          <a:prstGeom prst="rect">
            <a:avLst/>
          </a:prstGeom>
          <a:noFill/>
        </p:spPr>
        <p:txBody>
          <a:bodyPr wrap="square">
            <a:spAutoFit/>
          </a:bodyPr>
          <a:lstStyle/>
          <a:p>
            <a:r>
              <a:rPr lang="en-US" sz="2800" b="1" i="0" dirty="0">
                <a:solidFill>
                  <a:srgbClr val="C00000"/>
                </a:solidFill>
                <a:effectLst/>
                <a:latin typeface="Times New Roman" panose="02020603050405020304" pitchFamily="18" charset="0"/>
                <a:cs typeface="Times New Roman" panose="02020603050405020304" pitchFamily="18" charset="0"/>
              </a:rPr>
              <a:t>In Open Loop</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Congestion</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Control, policies</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are used to</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prevent the</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congestion before</a:t>
            </a:r>
            <a:br>
              <a:rPr lang="en-US" sz="2800" b="1" i="0" dirty="0">
                <a:solidFill>
                  <a:srgbClr val="C00000"/>
                </a:solidFill>
                <a:effectLst/>
                <a:latin typeface="Times New Roman" panose="02020603050405020304" pitchFamily="18" charset="0"/>
                <a:cs typeface="Times New Roman" panose="02020603050405020304" pitchFamily="18" charset="0"/>
              </a:rPr>
            </a:br>
            <a:r>
              <a:rPr lang="en-US" sz="2800" b="1" i="0" dirty="0">
                <a:solidFill>
                  <a:srgbClr val="C00000"/>
                </a:solidFill>
                <a:effectLst/>
                <a:latin typeface="Times New Roman" panose="02020603050405020304" pitchFamily="18" charset="0"/>
                <a:cs typeface="Times New Roman" panose="02020603050405020304" pitchFamily="18" charset="0"/>
              </a:rPr>
              <a:t>it happens.</a:t>
            </a:r>
            <a:r>
              <a:rPr lang="en-US" sz="2800" dirty="0">
                <a:latin typeface="Times New Roman" panose="02020603050405020304" pitchFamily="18" charset="0"/>
                <a:cs typeface="Times New Roman" panose="02020603050405020304" pitchFamily="18" charset="0"/>
              </a:rPr>
              <a:t> </a:t>
            </a:r>
            <a:br>
              <a:rPr lang="en-US" dirty="0"/>
            </a:br>
            <a:endParaRPr lang="en-IN" dirty="0"/>
          </a:p>
        </p:txBody>
      </p:sp>
    </p:spTree>
    <p:extLst>
      <p:ext uri="{BB962C8B-B14F-4D97-AF65-F5344CB8AC3E}">
        <p14:creationId xmlns:p14="http://schemas.microsoft.com/office/powerpoint/2010/main" val="12038677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8C572-11F2-83C4-F3D4-10E818C8215B}"/>
              </a:ext>
            </a:extLst>
          </p:cNvPr>
          <p:cNvSpPr txBox="1"/>
          <p:nvPr/>
        </p:nvSpPr>
        <p:spPr>
          <a:xfrm>
            <a:off x="228599" y="1190536"/>
            <a:ext cx="13443858" cy="954107"/>
          </a:xfrm>
          <a:prstGeom prst="rect">
            <a:avLst/>
          </a:prstGeom>
          <a:noFill/>
        </p:spPr>
        <p:txBody>
          <a:bodyPr wrap="square">
            <a:spAutoFit/>
          </a:bodyPr>
          <a:lstStyle/>
          <a:p>
            <a:r>
              <a:rPr lang="en-US" sz="2800" b="1" i="0" dirty="0">
                <a:solidFill>
                  <a:srgbClr val="C00000"/>
                </a:solidFill>
                <a:effectLst/>
                <a:latin typeface="Times New Roman" panose="02020603050405020304" pitchFamily="18" charset="0"/>
                <a:cs typeface="Times New Roman" panose="02020603050405020304" pitchFamily="18" charset="0"/>
              </a:rPr>
              <a:t>Closed-loop congestion control </a:t>
            </a:r>
            <a:r>
              <a:rPr lang="en-US" sz="2800" b="1" i="0" dirty="0">
                <a:solidFill>
                  <a:srgbClr val="000000"/>
                </a:solidFill>
                <a:effectLst/>
                <a:latin typeface="Times New Roman" panose="02020603050405020304" pitchFamily="18" charset="0"/>
                <a:cs typeface="Times New Roman" panose="02020603050405020304" pitchFamily="18" charset="0"/>
              </a:rPr>
              <a:t>mechanisms try to alleviate congestion after it happens. Several mechanisms have been used by different protocols.</a:t>
            </a:r>
            <a:r>
              <a:rPr lang="en-US" sz="2800" dirty="0">
                <a:latin typeface="Times New Roman" panose="02020603050405020304" pitchFamily="18" charset="0"/>
                <a:cs typeface="Times New Roman" panose="02020603050405020304" pitchFamily="18" charset="0"/>
              </a:rPr>
              <a:t> </a:t>
            </a:r>
            <a:endParaRPr lang="en-IN" sz="2800" dirty="0"/>
          </a:p>
        </p:txBody>
      </p:sp>
      <p:sp>
        <p:nvSpPr>
          <p:cNvPr id="5" name="TextBox 4">
            <a:extLst>
              <a:ext uri="{FF2B5EF4-FFF2-40B4-BE49-F238E27FC236}">
                <a16:creationId xmlns:a16="http://schemas.microsoft.com/office/drawing/2014/main" id="{A2062F63-EB8B-23BC-684E-69661847906A}"/>
              </a:ext>
            </a:extLst>
          </p:cNvPr>
          <p:cNvSpPr txBox="1"/>
          <p:nvPr/>
        </p:nvSpPr>
        <p:spPr>
          <a:xfrm>
            <a:off x="337456" y="2336465"/>
            <a:ext cx="13226142" cy="1661993"/>
          </a:xfrm>
          <a:prstGeom prst="rect">
            <a:avLst/>
          </a:prstGeom>
          <a:noFill/>
        </p:spPr>
        <p:txBody>
          <a:bodyPr wrap="square">
            <a:spAutoFit/>
          </a:bodyPr>
          <a:lstStyle/>
          <a:p>
            <a:r>
              <a:rPr lang="en-US" sz="2800" b="1" i="0" dirty="0" err="1">
                <a:solidFill>
                  <a:srgbClr val="C00000"/>
                </a:solidFill>
                <a:effectLst/>
                <a:latin typeface="Times New Roman" panose="02020603050405020304" pitchFamily="18" charset="0"/>
                <a:cs typeface="Times New Roman" panose="02020603050405020304" pitchFamily="18" charset="0"/>
              </a:rPr>
              <a:t>i</a:t>
            </a:r>
            <a:r>
              <a:rPr lang="en-US" sz="2800" b="1" i="0" dirty="0">
                <a:solidFill>
                  <a:srgbClr val="C00000"/>
                </a:solidFill>
                <a:effectLst/>
                <a:latin typeface="Times New Roman" panose="02020603050405020304" pitchFamily="18" charset="0"/>
                <a:cs typeface="Times New Roman" panose="02020603050405020304" pitchFamily="18" charset="0"/>
              </a:rPr>
              <a:t>. Backpressure : </a:t>
            </a:r>
            <a:r>
              <a:rPr lang="en-US" sz="2800" b="0" i="0" dirty="0">
                <a:solidFill>
                  <a:srgbClr val="000000"/>
                </a:solidFill>
                <a:effectLst/>
                <a:latin typeface="Times New Roman" panose="02020603050405020304" pitchFamily="18" charset="0"/>
                <a:cs typeface="Times New Roman" panose="02020603050405020304" pitchFamily="18" charset="0"/>
              </a:rPr>
              <a:t>Backpressure is a </a:t>
            </a:r>
            <a:r>
              <a:rPr lang="en-US" sz="2800" b="0" i="0" dirty="0">
                <a:solidFill>
                  <a:srgbClr val="FF0000"/>
                </a:solidFill>
                <a:effectLst/>
                <a:latin typeface="Times New Roman" panose="02020603050405020304" pitchFamily="18" charset="0"/>
                <a:cs typeface="Times New Roman" panose="02020603050405020304" pitchFamily="18" charset="0"/>
              </a:rPr>
              <a:t>technique</a:t>
            </a:r>
            <a:r>
              <a:rPr lang="en-US" sz="2800" b="0" i="0" dirty="0">
                <a:solidFill>
                  <a:srgbClr val="000000"/>
                </a:solidFill>
                <a:effectLst/>
                <a:latin typeface="Times New Roman" panose="02020603050405020304" pitchFamily="18" charset="0"/>
                <a:cs typeface="Times New Roman" panose="02020603050405020304" pitchFamily="18" charset="0"/>
              </a:rPr>
              <a:t> in which a </a:t>
            </a:r>
            <a:r>
              <a:rPr lang="en-US" sz="2800" b="0" i="0" dirty="0">
                <a:solidFill>
                  <a:srgbClr val="FF0000"/>
                </a:solidFill>
                <a:effectLst/>
                <a:latin typeface="Times New Roman" panose="02020603050405020304" pitchFamily="18" charset="0"/>
                <a:cs typeface="Times New Roman" panose="02020603050405020304" pitchFamily="18" charset="0"/>
              </a:rPr>
              <a:t>congested node stop receiving </a:t>
            </a:r>
            <a:r>
              <a:rPr lang="en-US" sz="2800" b="0" i="0" dirty="0">
                <a:solidFill>
                  <a:srgbClr val="000000"/>
                </a:solidFill>
                <a:effectLst/>
                <a:latin typeface="Times New Roman" panose="02020603050405020304" pitchFamily="18" charset="0"/>
                <a:cs typeface="Times New Roman" panose="02020603050405020304" pitchFamily="18" charset="0"/>
              </a:rPr>
              <a:t>packet from upstream node. This may cause the upstream node or nodes to become congested and rejects receiving data from above nodes.</a:t>
            </a:r>
            <a:r>
              <a:rPr lang="en-US" sz="2800" dirty="0">
                <a:latin typeface="Times New Roman" panose="02020603050405020304" pitchFamily="18" charset="0"/>
                <a:cs typeface="Times New Roman" panose="02020603050405020304" pitchFamily="18" charset="0"/>
              </a:rPr>
              <a:t> </a:t>
            </a:r>
            <a:br>
              <a:rPr lang="en-US" dirty="0"/>
            </a:br>
            <a:endParaRPr lang="en-IN" dirty="0"/>
          </a:p>
        </p:txBody>
      </p:sp>
      <p:pic>
        <p:nvPicPr>
          <p:cNvPr id="6" name="Picture 6">
            <a:extLst>
              <a:ext uri="{FF2B5EF4-FFF2-40B4-BE49-F238E27FC236}">
                <a16:creationId xmlns:a16="http://schemas.microsoft.com/office/drawing/2014/main" id="{CA3A4783-BB8F-A9BD-5AEF-1A47C6C1D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50" y="3998458"/>
            <a:ext cx="12665753" cy="2046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3">
            <a:extLst>
              <a:ext uri="{FF2B5EF4-FFF2-40B4-BE49-F238E27FC236}">
                <a16:creationId xmlns:a16="http://schemas.microsoft.com/office/drawing/2014/main" id="{BA8BE680-E51A-7576-48A4-A273A2CC695A}"/>
              </a:ext>
            </a:extLst>
          </p:cNvPr>
          <p:cNvSpPr txBox="1">
            <a:spLocks noChangeArrowheads="1"/>
          </p:cNvSpPr>
          <p:nvPr/>
        </p:nvSpPr>
        <p:spPr bwMode="auto">
          <a:xfrm>
            <a:off x="3544787" y="297812"/>
            <a:ext cx="681148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rgbClr val="3D29CD"/>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Closed loop Congestion Control</a:t>
            </a:r>
          </a:p>
        </p:txBody>
      </p:sp>
      <p:sp>
        <p:nvSpPr>
          <p:cNvPr id="8" name="Text Box 4">
            <a:extLst>
              <a:ext uri="{FF2B5EF4-FFF2-40B4-BE49-F238E27FC236}">
                <a16:creationId xmlns:a16="http://schemas.microsoft.com/office/drawing/2014/main" id="{AB9935BD-C7F4-2B99-E702-30EA2DADC997}"/>
              </a:ext>
            </a:extLst>
          </p:cNvPr>
          <p:cNvSpPr txBox="1">
            <a:spLocks noChangeArrowheads="1"/>
          </p:cNvSpPr>
          <p:nvPr/>
        </p:nvSpPr>
        <p:spPr bwMode="auto">
          <a:xfrm>
            <a:off x="3281951" y="6357257"/>
            <a:ext cx="69345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rgbClr val="00B050"/>
                </a:solidFill>
                <a:latin typeface="Times New Roman" panose="02020603050405020304" pitchFamily="18" charset="0"/>
              </a:rPr>
              <a:t>Figure </a:t>
            </a:r>
            <a:r>
              <a:rPr lang="en-US" altLang="en-US" sz="2400" i="1" dirty="0">
                <a:solidFill>
                  <a:srgbClr val="00B050"/>
                </a:solidFill>
                <a:latin typeface="Times New Roman" panose="02020603050405020304" pitchFamily="18" charset="0"/>
              </a:rPr>
              <a:t>Backpressure method for alleviating congestion</a:t>
            </a:r>
          </a:p>
        </p:txBody>
      </p:sp>
    </p:spTree>
    <p:extLst>
      <p:ext uri="{BB962C8B-B14F-4D97-AF65-F5344CB8AC3E}">
        <p14:creationId xmlns:p14="http://schemas.microsoft.com/office/powerpoint/2010/main" val="2584983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1D686A-98AF-CAD9-37E2-F5225690620D}"/>
              </a:ext>
            </a:extLst>
          </p:cNvPr>
          <p:cNvSpPr txBox="1"/>
          <p:nvPr/>
        </p:nvSpPr>
        <p:spPr>
          <a:xfrm>
            <a:off x="420233" y="651755"/>
            <a:ext cx="13596257" cy="3046988"/>
          </a:xfrm>
          <a:prstGeom prst="rect">
            <a:avLst/>
          </a:prstGeom>
          <a:noFill/>
        </p:spPr>
        <p:txBody>
          <a:bodyPr wrap="square">
            <a:spAutoFit/>
          </a:bodyPr>
          <a:lstStyle/>
          <a:p>
            <a:r>
              <a:rPr lang="en-US" sz="2400" b="1" i="0" dirty="0">
                <a:effectLst/>
                <a:latin typeface="Times New Roman" panose="02020603050405020304" pitchFamily="18" charset="0"/>
                <a:cs typeface="Times New Roman" panose="02020603050405020304" pitchFamily="18" charset="0"/>
              </a:rPr>
              <a:t>ii. Choke Packet: </a:t>
            </a:r>
          </a:p>
          <a:p>
            <a:pPr marL="342900" indent="-342900">
              <a:buFont typeface="Wingdings" panose="05000000000000000000" pitchFamily="2" charset="2"/>
              <a:buChar char="Ø"/>
            </a:pPr>
            <a:r>
              <a:rPr lang="en-US" sz="2400" b="0" i="0" dirty="0">
                <a:solidFill>
                  <a:srgbClr val="FF0000"/>
                </a:solidFill>
                <a:effectLst/>
                <a:latin typeface="Times New Roman" panose="02020603050405020304" pitchFamily="18" charset="0"/>
                <a:cs typeface="Times New Roman" panose="02020603050405020304" pitchFamily="18" charset="0"/>
              </a:rPr>
              <a:t>A choke packet is a packet sent by a node to the source to inform it of congestion. </a:t>
            </a:r>
          </a:p>
          <a:p>
            <a:pPr marL="342900" indent="-342900">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Note the difference between the backpressure and choke packet methods. In </a:t>
            </a:r>
            <a:r>
              <a:rPr lang="en-US" sz="2400" b="0" i="0" dirty="0">
                <a:solidFill>
                  <a:srgbClr val="FF0000"/>
                </a:solidFill>
                <a:effectLst/>
                <a:latin typeface="Times New Roman" panose="02020603050405020304" pitchFamily="18" charset="0"/>
                <a:cs typeface="Times New Roman" panose="02020603050405020304" pitchFamily="18" charset="0"/>
              </a:rPr>
              <a:t>back pressure</a:t>
            </a:r>
            <a:r>
              <a:rPr lang="en-US" sz="2400" b="0" i="0" dirty="0">
                <a:effectLst/>
                <a:latin typeface="Times New Roman" panose="02020603050405020304" pitchFamily="18" charset="0"/>
                <a:cs typeface="Times New Roman" panose="02020603050405020304" pitchFamily="18" charset="0"/>
              </a:rPr>
              <a:t>, the warning is from </a:t>
            </a:r>
            <a:r>
              <a:rPr lang="en-US" sz="2400" b="0" i="0" dirty="0">
                <a:solidFill>
                  <a:srgbClr val="FF0000"/>
                </a:solidFill>
                <a:effectLst/>
                <a:latin typeface="Times New Roman" panose="02020603050405020304" pitchFamily="18" charset="0"/>
                <a:cs typeface="Times New Roman" panose="02020603050405020304" pitchFamily="18" charset="0"/>
              </a:rPr>
              <a:t>one node to its upstream node</a:t>
            </a:r>
            <a:r>
              <a:rPr lang="en-US" sz="2400" b="0" i="0" dirty="0">
                <a:effectLst/>
                <a:latin typeface="Times New Roman" panose="02020603050405020304" pitchFamily="18" charset="0"/>
                <a:cs typeface="Times New Roman" panose="02020603050405020304" pitchFamily="18" charset="0"/>
              </a:rPr>
              <a:t>, although the warning may eventually reach the source station. </a:t>
            </a:r>
          </a:p>
          <a:p>
            <a:pPr marL="342900" indent="-342900">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In the choke packet method, the warning is from the router, which has encountered congestion, to the source station directly.</a:t>
            </a:r>
          </a:p>
          <a:p>
            <a:pPr marL="342900" indent="-342900">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 The intermediate nodes through which the packet has traveled are not warned.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7D9E98A3-5B61-6825-3095-D65CAB609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535" y="3436819"/>
            <a:ext cx="11871653" cy="325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3">
            <a:extLst>
              <a:ext uri="{FF2B5EF4-FFF2-40B4-BE49-F238E27FC236}">
                <a16:creationId xmlns:a16="http://schemas.microsoft.com/office/drawing/2014/main" id="{CF40F46E-0301-942F-EB21-CBA8E709E84A}"/>
              </a:ext>
            </a:extLst>
          </p:cNvPr>
          <p:cNvSpPr txBox="1">
            <a:spLocks noChangeArrowheads="1"/>
          </p:cNvSpPr>
          <p:nvPr/>
        </p:nvSpPr>
        <p:spPr bwMode="auto">
          <a:xfrm>
            <a:off x="3468587" y="0"/>
            <a:ext cx="681148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rgbClr val="3D29CD"/>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Closed loop Congestion Control</a:t>
            </a:r>
          </a:p>
        </p:txBody>
      </p:sp>
    </p:spTree>
    <p:extLst>
      <p:ext uri="{BB962C8B-B14F-4D97-AF65-F5344CB8AC3E}">
        <p14:creationId xmlns:p14="http://schemas.microsoft.com/office/powerpoint/2010/main" val="9940877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2392</TotalTime>
  <Words>3844</Words>
  <Application>Microsoft Office PowerPoint</Application>
  <PresentationFormat>Custom</PresentationFormat>
  <Paragraphs>302</Paragraphs>
  <Slides>50</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50</vt:i4>
      </vt:variant>
    </vt:vector>
  </HeadingPairs>
  <TitlesOfParts>
    <vt:vector size="61" baseType="lpstr">
      <vt:lpstr>Gibson</vt:lpstr>
      <vt:lpstr>sohne</vt:lpstr>
      <vt:lpstr>Times-BoldItalic</vt:lpstr>
      <vt:lpstr>TimesNewRomanPS-BoldMT</vt:lpstr>
      <vt:lpstr>Arial</vt:lpstr>
      <vt:lpstr>Calibri</vt:lpstr>
      <vt:lpstr>Calibri Light</vt:lpstr>
      <vt:lpstr>Cambria Math</vt:lpstr>
      <vt:lpstr>Times New Roman</vt:lpstr>
      <vt:lpstr>Wingdings</vt:lpstr>
      <vt:lpstr>Office Theme</vt:lpstr>
      <vt:lpstr>Network and Transport Layer</vt:lpstr>
      <vt:lpstr>PowerPoint Presentation</vt:lpstr>
      <vt:lpstr>Internetworking</vt:lpstr>
      <vt:lpstr>Router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IPv4 Addresses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 Resolution Protocol (ARP)</vt:lpstr>
      <vt:lpstr>Address Resolution Protocol (ARP)</vt:lpstr>
      <vt:lpstr>Address Resolution Protocol (ARP)</vt:lpstr>
      <vt:lpstr>Address Resolution Protocol (ARP)</vt:lpstr>
      <vt:lpstr>Internet Control Message Protocol ICMP</vt:lpstr>
      <vt:lpstr>PowerPoint Presentation</vt:lpstr>
      <vt:lpstr>ICMP Query Messages  </vt:lpstr>
      <vt:lpstr>Transport Layer</vt:lpstr>
      <vt:lpstr>Port Number</vt:lpstr>
      <vt:lpstr>User Datagram Protocol </vt:lpstr>
      <vt:lpstr>Transmission Control Protocol (TCP)</vt:lpstr>
      <vt:lpstr>Transmission Control Protocol (TCP)</vt:lpstr>
      <vt:lpstr>Transmission Control Protocol (TCP)</vt:lpstr>
      <vt:lpstr>Transmission Control Protocol (TCP)</vt:lpstr>
      <vt:lpstr>Comparison of TCP Vs DSP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Jyoti Prasanna Patra</dc:creator>
  <cp:lastModifiedBy>Jyoti Prasanna Patra</cp:lastModifiedBy>
  <cp:revision>57</cp:revision>
  <cp:lastPrinted>2026-09-21T08:19:51Z</cp:lastPrinted>
  <dcterms:created xsi:type="dcterms:W3CDTF">2025-10-07T05:43:18Z</dcterms:created>
  <dcterms:modified xsi:type="dcterms:W3CDTF">2026-09-23T09:14:47Z</dcterms:modified>
</cp:coreProperties>
</file>