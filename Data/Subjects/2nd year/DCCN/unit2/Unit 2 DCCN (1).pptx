
<file path=[Content_Types].xml><?xml version="1.0" encoding="utf-8"?>
<Types xmlns="http://schemas.openxmlformats.org/package/2006/content-types">
  <Default Extension="jpeg" ContentType="image/jpeg"/>
  <Default Extension="jpg" ContentType="image/unknown"/>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48.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00" r:id="rId3"/>
    <p:sldId id="301" r:id="rId4"/>
    <p:sldId id="257" r:id="rId5"/>
    <p:sldId id="258" r:id="rId6"/>
    <p:sldId id="296" r:id="rId7"/>
    <p:sldId id="259" r:id="rId8"/>
    <p:sldId id="260" r:id="rId9"/>
    <p:sldId id="261" r:id="rId10"/>
    <p:sldId id="297" r:id="rId11"/>
    <p:sldId id="298" r:id="rId12"/>
    <p:sldId id="262" r:id="rId13"/>
    <p:sldId id="263" r:id="rId14"/>
    <p:sldId id="264" r:id="rId15"/>
    <p:sldId id="265" r:id="rId16"/>
    <p:sldId id="266" r:id="rId17"/>
    <p:sldId id="267" r:id="rId18"/>
    <p:sldId id="268" r:id="rId19"/>
    <p:sldId id="269" r:id="rId20"/>
    <p:sldId id="270" r:id="rId21"/>
    <p:sldId id="271" r:id="rId22"/>
    <p:sldId id="273" r:id="rId23"/>
    <p:sldId id="299" r:id="rId24"/>
    <p:sldId id="691" r:id="rId25"/>
    <p:sldId id="750" r:id="rId26"/>
    <p:sldId id="692" r:id="rId27"/>
    <p:sldId id="730" r:id="rId28"/>
    <p:sldId id="729" r:id="rId29"/>
    <p:sldId id="275" r:id="rId30"/>
    <p:sldId id="732" r:id="rId31"/>
    <p:sldId id="276" r:id="rId32"/>
    <p:sldId id="731" r:id="rId33"/>
    <p:sldId id="713" r:id="rId34"/>
    <p:sldId id="761" r:id="rId35"/>
    <p:sldId id="726" r:id="rId36"/>
    <p:sldId id="279" r:id="rId37"/>
    <p:sldId id="280" r:id="rId38"/>
    <p:sldId id="281" r:id="rId39"/>
    <p:sldId id="282" r:id="rId40"/>
    <p:sldId id="751" r:id="rId41"/>
    <p:sldId id="752" r:id="rId42"/>
    <p:sldId id="753" r:id="rId43"/>
    <p:sldId id="754" r:id="rId44"/>
    <p:sldId id="733" r:id="rId45"/>
    <p:sldId id="734" r:id="rId46"/>
    <p:sldId id="283" r:id="rId47"/>
    <p:sldId id="284" r:id="rId48"/>
    <p:sldId id="286" r:id="rId49"/>
    <p:sldId id="287" r:id="rId50"/>
    <p:sldId id="288" r:id="rId51"/>
    <p:sldId id="289" r:id="rId52"/>
    <p:sldId id="290" r:id="rId53"/>
    <p:sldId id="764" r:id="rId54"/>
    <p:sldId id="291" r:id="rId55"/>
    <p:sldId id="294" r:id="rId56"/>
    <p:sldId id="755" r:id="rId57"/>
    <p:sldId id="30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3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9D0FA-116C-42AE-AE6C-04B4A2CC5FFE}"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51AD1F-CBCE-47F2-93AD-39AEE47E1DD2}" type="slidenum">
              <a:rPr lang="en-IN" smtClean="0"/>
              <a:t>‹#›</a:t>
            </a:fld>
            <a:endParaRPr lang="en-IN"/>
          </a:p>
        </p:txBody>
      </p:sp>
    </p:spTree>
    <p:extLst>
      <p:ext uri="{BB962C8B-B14F-4D97-AF65-F5344CB8AC3E}">
        <p14:creationId xmlns:p14="http://schemas.microsoft.com/office/powerpoint/2010/main" val="350410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51AD1F-CBCE-47F2-93AD-39AEE47E1DD2}" type="slidenum">
              <a:rPr lang="en-IN" smtClean="0"/>
              <a:t>6</a:t>
            </a:fld>
            <a:endParaRPr lang="en-IN"/>
          </a:p>
        </p:txBody>
      </p:sp>
    </p:spTree>
    <p:extLst>
      <p:ext uri="{BB962C8B-B14F-4D97-AF65-F5344CB8AC3E}">
        <p14:creationId xmlns:p14="http://schemas.microsoft.com/office/powerpoint/2010/main" val="43399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a:extLst>
              <a:ext uri="{FF2B5EF4-FFF2-40B4-BE49-F238E27FC236}">
                <a16:creationId xmlns:a16="http://schemas.microsoft.com/office/drawing/2014/main" id="{6742B153-E293-B818-60F1-235FDB457E24}"/>
              </a:ext>
            </a:extLst>
          </p:cNvPr>
          <p:cNvSpPr>
            <a:spLocks noGrp="1" noRot="1" noChangeAspect="1" noChangeArrowheads="1" noTextEdit="1"/>
          </p:cNvSpPr>
          <p:nvPr>
            <p:ph type="sldImg"/>
          </p:nvPr>
        </p:nvSpPr>
        <p:spPr>
          <a:ln/>
        </p:spPr>
      </p:sp>
      <p:sp>
        <p:nvSpPr>
          <p:cNvPr id="864259" name="Rectangle 3">
            <a:extLst>
              <a:ext uri="{FF2B5EF4-FFF2-40B4-BE49-F238E27FC236}">
                <a16:creationId xmlns:a16="http://schemas.microsoft.com/office/drawing/2014/main" id="{0F5E52E2-F837-E9D6-0428-3EF5A0AD0B2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a:extLst>
              <a:ext uri="{FF2B5EF4-FFF2-40B4-BE49-F238E27FC236}">
                <a16:creationId xmlns:a16="http://schemas.microsoft.com/office/drawing/2014/main" id="{D15DC9D8-9C45-B947-81F2-18909EE57B36}"/>
              </a:ext>
            </a:extLst>
          </p:cNvPr>
          <p:cNvSpPr>
            <a:spLocks noGrp="1" noRot="1" noChangeAspect="1" noChangeArrowheads="1" noTextEdit="1"/>
          </p:cNvSpPr>
          <p:nvPr>
            <p:ph type="sldImg"/>
          </p:nvPr>
        </p:nvSpPr>
        <p:spPr>
          <a:ln/>
        </p:spPr>
      </p:sp>
      <p:sp>
        <p:nvSpPr>
          <p:cNvPr id="936963" name="Rectangle 3">
            <a:extLst>
              <a:ext uri="{FF2B5EF4-FFF2-40B4-BE49-F238E27FC236}">
                <a16:creationId xmlns:a16="http://schemas.microsoft.com/office/drawing/2014/main" id="{E811FE78-8E31-94B2-7DE5-4721177ECEA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Rectangle 2">
            <a:extLst>
              <a:ext uri="{FF2B5EF4-FFF2-40B4-BE49-F238E27FC236}">
                <a16:creationId xmlns:a16="http://schemas.microsoft.com/office/drawing/2014/main" id="{90F57C9E-A43C-D69C-D099-20097446BAED}"/>
              </a:ext>
            </a:extLst>
          </p:cNvPr>
          <p:cNvSpPr>
            <a:spLocks noGrp="1" noRot="1" noChangeAspect="1" noChangeArrowheads="1" noTextEdit="1"/>
          </p:cNvSpPr>
          <p:nvPr>
            <p:ph type="sldImg"/>
          </p:nvPr>
        </p:nvSpPr>
        <p:spPr>
          <a:ln/>
        </p:spPr>
      </p:sp>
      <p:sp>
        <p:nvSpPr>
          <p:cNvPr id="865283" name="Rectangle 3">
            <a:extLst>
              <a:ext uri="{FF2B5EF4-FFF2-40B4-BE49-F238E27FC236}">
                <a16:creationId xmlns:a16="http://schemas.microsoft.com/office/drawing/2014/main" id="{E54F7E8A-4905-F898-2887-6337BB5FB08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0FBC4EF-9B28-0CC4-E26B-B063A18E9E44}"/>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69578D0D-4E4F-89D5-2ECB-81208B7A23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a:extLst>
              <a:ext uri="{FF2B5EF4-FFF2-40B4-BE49-F238E27FC236}">
                <a16:creationId xmlns:a16="http://schemas.microsoft.com/office/drawing/2014/main" id="{931B37DA-7B4E-6C41-3BD2-8DDB18F1DBA1}"/>
              </a:ext>
            </a:extLst>
          </p:cNvPr>
          <p:cNvSpPr>
            <a:spLocks noGrp="1" noRot="1" noChangeAspect="1" noChangeArrowheads="1" noTextEdit="1"/>
          </p:cNvSpPr>
          <p:nvPr>
            <p:ph type="sldImg"/>
          </p:nvPr>
        </p:nvSpPr>
        <p:spPr>
          <a:ln/>
        </p:spPr>
      </p:sp>
      <p:sp>
        <p:nvSpPr>
          <p:cNvPr id="903171" name="Rectangle 3">
            <a:extLst>
              <a:ext uri="{FF2B5EF4-FFF2-40B4-BE49-F238E27FC236}">
                <a16:creationId xmlns:a16="http://schemas.microsoft.com/office/drawing/2014/main" id="{389C2364-1CF0-F22A-FE93-95DFB5E0DE7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a:extLst>
              <a:ext uri="{FF2B5EF4-FFF2-40B4-BE49-F238E27FC236}">
                <a16:creationId xmlns:a16="http://schemas.microsoft.com/office/drawing/2014/main" id="{AE1B5C0E-DA04-3986-59A8-027A82D33918}"/>
              </a:ext>
            </a:extLst>
          </p:cNvPr>
          <p:cNvSpPr>
            <a:spLocks noGrp="1" noRot="1" noChangeAspect="1" noChangeArrowheads="1" noTextEdit="1"/>
          </p:cNvSpPr>
          <p:nvPr>
            <p:ph type="sldImg"/>
          </p:nvPr>
        </p:nvSpPr>
        <p:spPr>
          <a:ln/>
        </p:spPr>
      </p:sp>
      <p:sp>
        <p:nvSpPr>
          <p:cNvPr id="899075" name="Rectangle 3">
            <a:extLst>
              <a:ext uri="{FF2B5EF4-FFF2-40B4-BE49-F238E27FC236}">
                <a16:creationId xmlns:a16="http://schemas.microsoft.com/office/drawing/2014/main" id="{1405A262-C5C6-8AAB-0984-D932B4EE1B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16746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51AD1F-CBCE-47F2-93AD-39AEE47E1DD2}" type="slidenum">
              <a:rPr lang="en-IN" smtClean="0"/>
              <a:t>42</a:t>
            </a:fld>
            <a:endParaRPr lang="en-IN"/>
          </a:p>
        </p:txBody>
      </p:sp>
    </p:spTree>
    <p:extLst>
      <p:ext uri="{BB962C8B-B14F-4D97-AF65-F5344CB8AC3E}">
        <p14:creationId xmlns:p14="http://schemas.microsoft.com/office/powerpoint/2010/main" val="3428541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862C-3856-30EA-8004-992732D4A0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2AD155-05BB-7630-7E3E-84E71B6624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263FF8-C434-6B60-D481-3FD656898B0F}"/>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A1326FB7-921E-58A0-659B-E5F38E4330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BDC4C7-943F-8A25-6A03-A9A011B389D2}"/>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146392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CE7D2-5E37-5680-5392-3B0F2C1B5F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448045-1834-AA04-0A58-E7D2C12B3C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8CE1D9-6A2E-8EA5-2823-C3339ED82989}"/>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7E14F093-7E27-B8D7-029E-E3038B3D6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F8715-0032-981C-2053-B6D4F0310C4A}"/>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3614256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1B0A-4A82-5042-339F-D4D58894FA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72894C-FEEC-60B2-4832-EA08F83F41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4ED941-B3FC-9823-CC37-71CAFF8BA0BB}"/>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7311751D-D2B4-9AC2-8DB6-679C44181E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0B13E2-323E-AF5F-5408-7DD638A51B1B}"/>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1380924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340E-0027-4F4C-4220-55F5FFBB36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37DF67-73A2-E7A7-A283-21B3612FB2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039416-C668-2940-4526-B1D71AEC74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C57CD4-C88C-A348-43AF-5688B456B57B}"/>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6" name="Footer Placeholder 5">
            <a:extLst>
              <a:ext uri="{FF2B5EF4-FFF2-40B4-BE49-F238E27FC236}">
                <a16:creationId xmlns:a16="http://schemas.microsoft.com/office/drawing/2014/main" id="{770FB01A-2220-A8D9-2998-ADEEDD5158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A64C0F-6EF9-DBD7-8AE6-777FFEB5629D}"/>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414679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13B0-5C8D-CD78-BD9B-118208C412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B9376B-73CC-0BB8-B57B-3EF8CC18DB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E02366-6290-95EC-DAAB-2BC444F08A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AE4FDD-CFDE-F9F9-815B-720730411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9AC990-3470-CFA6-99AD-5CC840BA19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F12872-38CC-5CEB-3577-DD2F7A265505}"/>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8" name="Footer Placeholder 7">
            <a:extLst>
              <a:ext uri="{FF2B5EF4-FFF2-40B4-BE49-F238E27FC236}">
                <a16:creationId xmlns:a16="http://schemas.microsoft.com/office/drawing/2014/main" id="{6B340DE8-C973-9AD3-B028-98228AD3A0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30234E-B325-CFE5-4CAE-32DD7838DA38}"/>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2044453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1F05-797A-71E1-6FD0-6523386F73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4C7E6D-6A8A-8E63-2894-874B08CF4DF7}"/>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4" name="Footer Placeholder 3">
            <a:extLst>
              <a:ext uri="{FF2B5EF4-FFF2-40B4-BE49-F238E27FC236}">
                <a16:creationId xmlns:a16="http://schemas.microsoft.com/office/drawing/2014/main" id="{C116FCA2-1B54-FF43-0A37-496C13953D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59D803-559B-91AC-FFD6-2971FD7B7391}"/>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2069846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4AA3AC-D74D-B992-11DC-4B7639B71E44}"/>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3" name="Footer Placeholder 2">
            <a:extLst>
              <a:ext uri="{FF2B5EF4-FFF2-40B4-BE49-F238E27FC236}">
                <a16:creationId xmlns:a16="http://schemas.microsoft.com/office/drawing/2014/main" id="{7E01B66F-5160-7A23-A987-E5D78FEDB1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FA1233E-F177-4DB1-9025-4584FB754E8B}"/>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2484653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8995-585F-1BAE-D978-6059FF58A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466881-D8B9-8C21-4B1D-8A89BC80D1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16F53C-9CFF-B2ED-BB5D-7313DA6AA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796F0-B2AE-87BE-8747-43252A778848}"/>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6" name="Footer Placeholder 5">
            <a:extLst>
              <a:ext uri="{FF2B5EF4-FFF2-40B4-BE49-F238E27FC236}">
                <a16:creationId xmlns:a16="http://schemas.microsoft.com/office/drawing/2014/main" id="{7E213EF1-DEAD-33CB-D635-B841E4BEA0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6E9780-CE9F-1D64-5D41-36C3A2705F1F}"/>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387910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4BCD-7D5D-3089-1934-EEC17DB8A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62E7E9-F6A2-10E9-2299-83D7993843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A360A5-D619-8FC2-8325-59270E24BC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5C4054-6C3C-F060-7E1E-A6D33F896746}"/>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6" name="Footer Placeholder 5">
            <a:extLst>
              <a:ext uri="{FF2B5EF4-FFF2-40B4-BE49-F238E27FC236}">
                <a16:creationId xmlns:a16="http://schemas.microsoft.com/office/drawing/2014/main" id="{D71FA84D-D57C-192F-249D-8F52DAAD00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C01653-9DCA-C7A2-A296-A57C68695A1C}"/>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4149827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F7A3-A963-F4EF-FA63-101A1C2CFB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2D8B10-86B8-27AA-8410-9A0A4986B7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75CA05-8839-353D-93D7-4B4D6220E912}"/>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003F0C52-CAA4-7636-F1DB-0C49A7C821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13C78-5492-8D5B-0CE8-7A3DD7B97312}"/>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113406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898A9-C124-ADBE-133A-8DAB36A1EE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4330B5-2CD8-2BD1-0EE1-32366DE278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4C875-CCAA-2F96-76A4-ECF3336CE9C9}"/>
              </a:ext>
            </a:extLst>
          </p:cNvPr>
          <p:cNvSpPr>
            <a:spLocks noGrp="1"/>
          </p:cNvSpPr>
          <p:nvPr>
            <p:ph type="dt" sz="half" idx="10"/>
          </p:nvPr>
        </p:nvSpPr>
        <p:spPr/>
        <p:txBody>
          <a:body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8EC164FD-A103-8BAF-B763-8B898E74E3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3146F2-6C18-36D2-F18B-D25F19E91525}"/>
              </a:ext>
            </a:extLst>
          </p:cNvPr>
          <p:cNvSpPr>
            <a:spLocks noGrp="1"/>
          </p:cNvSpPr>
          <p:nvPr>
            <p:ph type="sldNum" sz="quarter" idx="12"/>
          </p:nvPr>
        </p:nvSpPr>
        <p:spPr/>
        <p:txBody>
          <a:bodyPr/>
          <a:lstStyle/>
          <a:p>
            <a:fld id="{717882A9-FBBE-443D-B323-8E647085789C}" type="slidenum">
              <a:rPr lang="en-IN" smtClean="0"/>
              <a:t>‹#›</a:t>
            </a:fld>
            <a:endParaRPr lang="en-IN"/>
          </a:p>
        </p:txBody>
      </p:sp>
    </p:spTree>
    <p:extLst>
      <p:ext uri="{BB962C8B-B14F-4D97-AF65-F5344CB8AC3E}">
        <p14:creationId xmlns:p14="http://schemas.microsoft.com/office/powerpoint/2010/main" val="1627062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C98B55-8EA4-7911-C7B9-BE3D796385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572722-9992-B3DE-3A1E-E52C92EDB0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291D08-A89C-2558-B67F-BB6D0C25EB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D0B2FD-77F2-497B-A7CF-C5D582F63620}" type="datetimeFigureOut">
              <a:rPr lang="en-IN" smtClean="0"/>
              <a:t>13-08-2026</a:t>
            </a:fld>
            <a:endParaRPr lang="en-IN"/>
          </a:p>
        </p:txBody>
      </p:sp>
      <p:sp>
        <p:nvSpPr>
          <p:cNvPr id="5" name="Footer Placeholder 4">
            <a:extLst>
              <a:ext uri="{FF2B5EF4-FFF2-40B4-BE49-F238E27FC236}">
                <a16:creationId xmlns:a16="http://schemas.microsoft.com/office/drawing/2014/main" id="{ECAFC99C-C491-3D90-A6A6-EB7DBA677F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328597-F3D1-983D-DCF1-D8D53079A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7882A9-FBBE-443D-B323-8E647085789C}" type="slidenum">
              <a:rPr lang="en-IN" smtClean="0"/>
              <a:t>‹#›</a:t>
            </a:fld>
            <a:endParaRPr lang="en-IN"/>
          </a:p>
        </p:txBody>
      </p:sp>
    </p:spTree>
    <p:extLst>
      <p:ext uri="{BB962C8B-B14F-4D97-AF65-F5344CB8AC3E}">
        <p14:creationId xmlns:p14="http://schemas.microsoft.com/office/powerpoint/2010/main" val="3498374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web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web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w.geeksforgeeks.org/computer-networks/what-is-coaxial-cabl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2.web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webp"/><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7.web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AF847-13C9-10A2-1F7A-86604644E6C9}"/>
              </a:ext>
            </a:extLst>
          </p:cNvPr>
          <p:cNvSpPr>
            <a:spLocks noGrp="1"/>
          </p:cNvSpPr>
          <p:nvPr>
            <p:ph type="ctrTitle"/>
          </p:nvPr>
        </p:nvSpPr>
        <p:spPr>
          <a:xfrm>
            <a:off x="1696720" y="1788160"/>
            <a:ext cx="9144000" cy="1808480"/>
          </a:xfrm>
        </p:spPr>
        <p:txBody>
          <a:bodyPr>
            <a:normAutofit/>
          </a:bodyPr>
          <a:lstStyle/>
          <a:p>
            <a:r>
              <a:rPr lang="en-IN" altLang="en-US" sz="44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Unit-2:  Modulation and Switching Techniques</a:t>
            </a:r>
            <a:endParaRPr lang="en-IN" sz="4400" b="1" dirty="0">
              <a:solidFill>
                <a:srgbClr val="00B050"/>
              </a:solidFill>
              <a:latin typeface="BacktalkSerif BTN" panose="02060604050405040405" pitchFamily="18" charset="0"/>
            </a:endParaRPr>
          </a:p>
        </p:txBody>
      </p:sp>
    </p:spTree>
    <p:extLst>
      <p:ext uri="{BB962C8B-B14F-4D97-AF65-F5344CB8AC3E}">
        <p14:creationId xmlns:p14="http://schemas.microsoft.com/office/powerpoint/2010/main" val="246069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ADC017-1BA6-38BA-48D3-90988B75BD9F}"/>
              </a:ext>
            </a:extLst>
          </p:cNvPr>
          <p:cNvSpPr>
            <a:spLocks noGrp="1"/>
          </p:cNvSpPr>
          <p:nvPr>
            <p:ph idx="1"/>
          </p:nvPr>
        </p:nvSpPr>
        <p:spPr>
          <a:xfrm>
            <a:off x="767080" y="647065"/>
            <a:ext cx="11099800" cy="4351338"/>
          </a:xfrm>
        </p:spPr>
        <p:txBody>
          <a:bodyPr/>
          <a:lstStyle/>
          <a:p>
            <a:pPr marL="0" indent="0">
              <a:lnSpc>
                <a:spcPct val="107000"/>
              </a:lnSpc>
              <a:spcAft>
                <a:spcPts val="800"/>
              </a:spcAft>
              <a:buNone/>
            </a:pPr>
            <a:r>
              <a:rPr lang="en-IN" altLang="en-US" b="1" dirty="0">
                <a:latin typeface="Times New Roman" panose="02020603050405020304" pitchFamily="18" charset="0"/>
                <a:ea typeface="Calibri" panose="020F0502020204030204" pitchFamily="34" charset="0"/>
                <a:cs typeface="Times New Roman" panose="02020603050405020304" pitchFamily="18" charset="0"/>
              </a:rPr>
              <a:t>Unit-2:  </a:t>
            </a:r>
            <a:r>
              <a:rPr lang="en-IN" altLang="en-US" b="1" u="sng" dirty="0">
                <a:latin typeface="Times New Roman" panose="02020603050405020304" pitchFamily="18" charset="0"/>
                <a:ea typeface="Calibri" panose="020F0502020204030204" pitchFamily="34" charset="0"/>
                <a:cs typeface="Times New Roman" panose="02020603050405020304" pitchFamily="18" charset="0"/>
              </a:rPr>
              <a:t>Modulation and Switching</a:t>
            </a:r>
            <a:endParaRPr lang="en-IN" alt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Analog Transmission: Modulation of Digital Data, Modulation of Analog signals. Multiplexing: FDM, WDM, TDM, Transmission Media: Guided Media, Unguided Media, Circuit Switching and Packet Switching.</a:t>
            </a:r>
            <a:endParaRPr lang="en-IN"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07496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6E6EA-9E53-2257-06B6-68C96F22F8B3}"/>
              </a:ext>
            </a:extLst>
          </p:cNvPr>
          <p:cNvSpPr>
            <a:spLocks noGrp="1"/>
          </p:cNvSpPr>
          <p:nvPr>
            <p:ph type="title"/>
          </p:nvPr>
        </p:nvSpPr>
        <p:spPr>
          <a:xfrm>
            <a:off x="2517140" y="2559685"/>
            <a:ext cx="7157720" cy="1325563"/>
          </a:xfrm>
        </p:spPr>
        <p:txBody>
          <a:bodyPr>
            <a:normAutofit/>
          </a:bodyPr>
          <a:lstStyle/>
          <a:p>
            <a:r>
              <a:rPr lang="en-US" sz="6600" b="1" dirty="0">
                <a:solidFill>
                  <a:srgbClr val="0070C0"/>
                </a:solidFill>
              </a:rPr>
              <a:t>Analog Transmission</a:t>
            </a:r>
            <a:endParaRPr lang="en-IN" sz="6600" b="1" dirty="0">
              <a:solidFill>
                <a:srgbClr val="0070C0"/>
              </a:solidFill>
            </a:endParaRPr>
          </a:p>
        </p:txBody>
      </p:sp>
    </p:spTree>
    <p:extLst>
      <p:ext uri="{BB962C8B-B14F-4D97-AF65-F5344CB8AC3E}">
        <p14:creationId xmlns:p14="http://schemas.microsoft.com/office/powerpoint/2010/main" val="1568845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D5C6-7B6E-E162-7D0E-88B20AE2E569}"/>
              </a:ext>
            </a:extLst>
          </p:cNvPr>
          <p:cNvSpPr>
            <a:spLocks noGrp="1"/>
          </p:cNvSpPr>
          <p:nvPr>
            <p:ph type="title"/>
          </p:nvPr>
        </p:nvSpPr>
        <p:spPr>
          <a:xfrm>
            <a:off x="2237530" y="-120562"/>
            <a:ext cx="7777899" cy="1114883"/>
          </a:xfrm>
        </p:spPr>
        <p:txBody>
          <a:bodyPr>
            <a:normAutofit/>
          </a:bodyPr>
          <a:lstStyle/>
          <a:p>
            <a:r>
              <a:rPr lang="en-IN" sz="4800" b="1" dirty="0">
                <a:solidFill>
                  <a:srgbClr val="0070C0"/>
                </a:solidFill>
                <a:latin typeface="Times New Roman" panose="02020603050405020304" pitchFamily="18" charset="0"/>
                <a:cs typeface="Times New Roman" panose="02020603050405020304" pitchFamily="18" charset="0"/>
              </a:rPr>
              <a:t>Digital to Analog Conversion</a:t>
            </a:r>
          </a:p>
        </p:txBody>
      </p:sp>
      <p:sp>
        <p:nvSpPr>
          <p:cNvPr id="3" name="Content Placeholder 2">
            <a:extLst>
              <a:ext uri="{FF2B5EF4-FFF2-40B4-BE49-F238E27FC236}">
                <a16:creationId xmlns:a16="http://schemas.microsoft.com/office/drawing/2014/main" id="{AA470C25-FB4B-3FD2-8207-D8C07D2E491D}"/>
              </a:ext>
            </a:extLst>
          </p:cNvPr>
          <p:cNvSpPr>
            <a:spLocks noGrp="1"/>
          </p:cNvSpPr>
          <p:nvPr>
            <p:ph idx="1"/>
          </p:nvPr>
        </p:nvSpPr>
        <p:spPr>
          <a:xfrm>
            <a:off x="502602" y="869410"/>
            <a:ext cx="10947718" cy="3557080"/>
          </a:xfrm>
        </p:spPr>
        <p:txBody>
          <a:bodyPr>
            <a:noAutofit/>
          </a:bodyPr>
          <a:lstStyle/>
          <a:p>
            <a:pPr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Digital-to-analog conversion is the process of changing one of the characteristics of an analog signal based on the information in digital data.</a:t>
            </a:r>
          </a:p>
          <a:p>
            <a:pPr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Digital data needs to be carried on an analog signal.</a:t>
            </a:r>
          </a:p>
          <a:p>
            <a:pPr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 carrier signal (frequency fc) performs the function of transporting the digital data in an analog waveform. </a:t>
            </a:r>
          </a:p>
        </p:txBody>
      </p:sp>
      <p:pic>
        <p:nvPicPr>
          <p:cNvPr id="4" name="Picture 10">
            <a:extLst>
              <a:ext uri="{FF2B5EF4-FFF2-40B4-BE49-F238E27FC236}">
                <a16:creationId xmlns:a16="http://schemas.microsoft.com/office/drawing/2014/main" id="{AC7AB03E-6364-2147-0E90-EBB160F38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879" y="3429000"/>
            <a:ext cx="9545657" cy="2790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997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43A16-945C-ACFD-9F2F-0BC8B08D2D9E}"/>
              </a:ext>
            </a:extLst>
          </p:cNvPr>
          <p:cNvSpPr>
            <a:spLocks noGrp="1"/>
          </p:cNvSpPr>
          <p:nvPr>
            <p:ph type="title"/>
          </p:nvPr>
        </p:nvSpPr>
        <p:spPr>
          <a:xfrm>
            <a:off x="1529080" y="141605"/>
            <a:ext cx="10515600" cy="1325563"/>
          </a:xfrm>
        </p:spPr>
        <p:txBody>
          <a:bodyPr>
            <a:normAutofit/>
          </a:bodyPr>
          <a:lstStyle/>
          <a:p>
            <a:r>
              <a:rPr lang="en-US" altLang="en-US" sz="4800" dirty="0">
                <a:solidFill>
                  <a:srgbClr val="0070C0"/>
                </a:solidFill>
                <a:latin typeface="Times New Roman" panose="02020603050405020304" pitchFamily="18" charset="0"/>
              </a:rPr>
              <a:t>Types of digital-to-analog conversion</a:t>
            </a:r>
            <a:endParaRPr lang="en-IN" sz="4800" b="1"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2639F62-6066-FF44-195B-AFAADC2B0E7D}"/>
              </a:ext>
            </a:extLst>
          </p:cNvPr>
          <p:cNvPicPr>
            <a:picLocks noChangeAspect="1"/>
          </p:cNvPicPr>
          <p:nvPr/>
        </p:nvPicPr>
        <p:blipFill rotWithShape="1">
          <a:blip r:embed="rId2">
            <a:extLst>
              <a:ext uri="{28A0092B-C50C-407E-A947-70E740481C1C}">
                <a14:useLocalDpi xmlns:a14="http://schemas.microsoft.com/office/drawing/2010/main" val="0"/>
              </a:ext>
            </a:extLst>
          </a:blip>
          <a:srcRect l="3540" t="26941" r="3573" b="28935"/>
          <a:stretch/>
        </p:blipFill>
        <p:spPr>
          <a:xfrm>
            <a:off x="676387" y="1690688"/>
            <a:ext cx="10839226" cy="3861700"/>
          </a:xfrm>
          <a:prstGeom prst="rect">
            <a:avLst/>
          </a:prstGeom>
        </p:spPr>
      </p:pic>
    </p:spTree>
    <p:extLst>
      <p:ext uri="{BB962C8B-B14F-4D97-AF65-F5344CB8AC3E}">
        <p14:creationId xmlns:p14="http://schemas.microsoft.com/office/powerpoint/2010/main" val="97625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940998-CA95-480A-B412-58D683791D9B}"/>
              </a:ext>
            </a:extLst>
          </p:cNvPr>
          <p:cNvSpPr txBox="1"/>
          <p:nvPr/>
        </p:nvSpPr>
        <p:spPr>
          <a:xfrm>
            <a:off x="375920" y="1027906"/>
            <a:ext cx="11409680" cy="4227119"/>
          </a:xfrm>
          <a:prstGeom prst="rect">
            <a:avLst/>
          </a:prstGeom>
          <a:noFill/>
        </p:spPr>
        <p:txBody>
          <a:bodyPr wrap="square">
            <a:spAutoFit/>
          </a:bodyPr>
          <a:lstStyle/>
          <a:p>
            <a:pPr marL="342900" indent="-342900">
              <a:lnSpc>
                <a:spcPct val="20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Bit rate, N, is the number of bits per second (bps). </a:t>
            </a:r>
          </a:p>
          <a:p>
            <a:pPr marL="342900" indent="-342900">
              <a:lnSpc>
                <a:spcPct val="200000"/>
              </a:lnSpc>
              <a:spcBef>
                <a:spcPts val="600"/>
              </a:spcBef>
              <a:spcAft>
                <a:spcPts val="600"/>
              </a:spcAft>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Baud rate is the number of signal elements per second (bauds). </a:t>
            </a:r>
          </a:p>
          <a:p>
            <a:pPr marL="342900" indent="-342900">
              <a:spcBef>
                <a:spcPts val="600"/>
              </a:spcBef>
              <a:spcAft>
                <a:spcPts val="600"/>
              </a:spcAft>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In the analog transmission of digital data, the signal or baud rate is less than or equal to the bit rate.</a:t>
            </a:r>
          </a:p>
          <a:p>
            <a:pPr>
              <a:lnSpc>
                <a:spcPct val="200000"/>
              </a:lnSpc>
            </a:pPr>
            <a:r>
              <a:rPr lang="en-US" altLang="en-US" sz="2400" dirty="0">
                <a:latin typeface="Times New Roman" panose="02020603050405020304" pitchFamily="18" charset="0"/>
                <a:cs typeface="Times New Roman" panose="02020603050405020304" pitchFamily="18" charset="0"/>
              </a:rPr>
              <a:t>                                                  </a:t>
            </a:r>
            <a:r>
              <a:rPr lang="en-US" altLang="en-US" sz="3200" dirty="0">
                <a:solidFill>
                  <a:srgbClr val="FF0000"/>
                </a:solidFill>
                <a:latin typeface="Times New Roman" panose="02020603050405020304" pitchFamily="18" charset="0"/>
                <a:cs typeface="Times New Roman" panose="02020603050405020304" pitchFamily="18" charset="0"/>
              </a:rPr>
              <a:t> S=Nx1/r bauds</a:t>
            </a:r>
          </a:p>
          <a:p>
            <a:pPr>
              <a:lnSpc>
                <a:spcPct val="200000"/>
              </a:lnSpc>
            </a:pPr>
            <a:r>
              <a:rPr lang="en-US" altLang="en-US" sz="2400" dirty="0">
                <a:latin typeface="Times New Roman" panose="02020603050405020304" pitchFamily="18" charset="0"/>
                <a:cs typeface="Times New Roman" panose="02020603050405020304" pitchFamily="18" charset="0"/>
              </a:rPr>
              <a:t>           r is the number of data bits per signal element.</a:t>
            </a:r>
          </a:p>
        </p:txBody>
      </p:sp>
      <p:grpSp>
        <p:nvGrpSpPr>
          <p:cNvPr id="6" name="Group 12">
            <a:extLst>
              <a:ext uri="{FF2B5EF4-FFF2-40B4-BE49-F238E27FC236}">
                <a16:creationId xmlns:a16="http://schemas.microsoft.com/office/drawing/2014/main" id="{1A0D4A9B-F81B-E2BF-8401-23A69BBB256A}"/>
              </a:ext>
            </a:extLst>
          </p:cNvPr>
          <p:cNvGrpSpPr>
            <a:grpSpLocks/>
          </p:cNvGrpSpPr>
          <p:nvPr/>
        </p:nvGrpSpPr>
        <p:grpSpPr bwMode="auto">
          <a:xfrm>
            <a:off x="990600" y="609600"/>
            <a:ext cx="1143000" cy="566738"/>
            <a:chOff x="1200" y="1248"/>
            <a:chExt cx="720" cy="357"/>
          </a:xfrm>
        </p:grpSpPr>
        <p:pic>
          <p:nvPicPr>
            <p:cNvPr id="7" name="Picture 13">
              <a:extLst>
                <a:ext uri="{FF2B5EF4-FFF2-40B4-BE49-F238E27FC236}">
                  <a16:creationId xmlns:a16="http://schemas.microsoft.com/office/drawing/2014/main" id="{71AB510B-D86D-0ED5-A67F-14A90FD7F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4">
              <a:extLst>
                <a:ext uri="{FF2B5EF4-FFF2-40B4-BE49-F238E27FC236}">
                  <a16:creationId xmlns:a16="http://schemas.microsoft.com/office/drawing/2014/main" id="{B3C75426-7429-E35E-DBB5-C3508F97613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extLst>
      <p:ext uri="{BB962C8B-B14F-4D97-AF65-F5344CB8AC3E}">
        <p14:creationId xmlns:p14="http://schemas.microsoft.com/office/powerpoint/2010/main" val="201836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D7680A-C51C-8FBF-555E-652A1D80FC51}"/>
              </a:ext>
            </a:extLst>
          </p:cNvPr>
          <p:cNvSpPr>
            <a:spLocks noGrp="1"/>
          </p:cNvSpPr>
          <p:nvPr>
            <p:ph idx="1"/>
          </p:nvPr>
        </p:nvSpPr>
        <p:spPr>
          <a:xfrm>
            <a:off x="558800" y="907891"/>
            <a:ext cx="11531600" cy="1459389"/>
          </a:xfrm>
        </p:spPr>
        <p:txBody>
          <a:bodyPr/>
          <a:lstStyle/>
          <a:p>
            <a:pPr marL="0" indent="0" algn="just">
              <a:lnSpc>
                <a:spcPct val="150000"/>
              </a:lnSpc>
              <a:buNone/>
            </a:pPr>
            <a:r>
              <a:rPr lang="en-IN" dirty="0">
                <a:solidFill>
                  <a:srgbClr val="FF0000"/>
                </a:solidFill>
                <a:latin typeface="Times New Roman" panose="02020603050405020304" pitchFamily="18" charset="0"/>
                <a:cs typeface="Times New Roman" panose="02020603050405020304" pitchFamily="18" charset="0"/>
              </a:rPr>
              <a:t>Q1. An analog signal carries 4 bits per signal element. If 1000 signal elements are sent per second. Find the bit rate.  </a:t>
            </a:r>
          </a:p>
        </p:txBody>
      </p:sp>
      <p:sp>
        <p:nvSpPr>
          <p:cNvPr id="4" name="TextBox 3">
            <a:extLst>
              <a:ext uri="{FF2B5EF4-FFF2-40B4-BE49-F238E27FC236}">
                <a16:creationId xmlns:a16="http://schemas.microsoft.com/office/drawing/2014/main" id="{70999079-77C4-3C6F-425D-DA822D6CFFE3}"/>
              </a:ext>
            </a:extLst>
          </p:cNvPr>
          <p:cNvSpPr txBox="1"/>
          <p:nvPr/>
        </p:nvSpPr>
        <p:spPr>
          <a:xfrm>
            <a:off x="863600" y="2706959"/>
            <a:ext cx="10922000" cy="1200329"/>
          </a:xfrm>
          <a:prstGeom prst="rect">
            <a:avLst/>
          </a:prstGeom>
          <a:noFill/>
        </p:spPr>
        <p:txBody>
          <a:bodyPr wrap="square" rtlCol="0">
            <a:spAutoFit/>
          </a:bodyPr>
          <a:lstStyle/>
          <a:p>
            <a:r>
              <a:rPr lang="en-IN" sz="2400" b="1" dirty="0">
                <a:solidFill>
                  <a:schemeClr val="accent1"/>
                </a:solidFill>
                <a:latin typeface="Times New Roman" panose="02020603050405020304" pitchFamily="18" charset="0"/>
                <a:cs typeface="Times New Roman" panose="02020603050405020304" pitchFamily="18" charset="0"/>
              </a:rPr>
              <a:t>Solution:</a:t>
            </a:r>
            <a:r>
              <a:rPr lang="en-IN" sz="2400" dirty="0">
                <a:latin typeface="Times New Roman" panose="02020603050405020304" pitchFamily="18" charset="0"/>
                <a:cs typeface="Times New Roman" panose="02020603050405020304" pitchFamily="18" charset="0"/>
              </a:rPr>
              <a:t>    In this case, </a:t>
            </a:r>
            <a:r>
              <a:rPr lang="en-IN" sz="2400" i="1" dirty="0">
                <a:latin typeface="Times New Roman" panose="02020603050405020304" pitchFamily="18" charset="0"/>
                <a:cs typeface="Times New Roman" panose="02020603050405020304" pitchFamily="18" charset="0"/>
              </a:rPr>
              <a:t>r</a:t>
            </a:r>
            <a:r>
              <a:rPr lang="en-IN" sz="2400" dirty="0">
                <a:latin typeface="Times New Roman" panose="02020603050405020304" pitchFamily="18" charset="0"/>
                <a:cs typeface="Times New Roman" panose="02020603050405020304" pitchFamily="18" charset="0"/>
              </a:rPr>
              <a:t> =4, </a:t>
            </a:r>
            <a:r>
              <a:rPr lang="en-IN" sz="2400" i="1" dirty="0">
                <a:latin typeface="Times New Roman" panose="02020603050405020304" pitchFamily="18" charset="0"/>
                <a:cs typeface="Times New Roman" panose="02020603050405020304" pitchFamily="18" charset="0"/>
              </a:rPr>
              <a:t>S</a:t>
            </a:r>
            <a:r>
              <a:rPr lang="en-IN" sz="2400" dirty="0">
                <a:latin typeface="Times New Roman" panose="02020603050405020304" pitchFamily="18" charset="0"/>
                <a:cs typeface="Times New Roman" panose="02020603050405020304" pitchFamily="18" charset="0"/>
              </a:rPr>
              <a:t>=1000</a:t>
            </a:r>
          </a:p>
          <a:p>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S</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N</a:t>
            </a:r>
            <a:r>
              <a:rPr lang="en-IN" sz="2400" dirty="0">
                <a:latin typeface="Times New Roman" panose="02020603050405020304" pitchFamily="18" charset="0"/>
                <a:cs typeface="Times New Roman" panose="02020603050405020304" pitchFamily="18" charset="0"/>
              </a:rPr>
              <a:t> ×1/</a:t>
            </a:r>
            <a:r>
              <a:rPr lang="en-IN" sz="2400" i="1" dirty="0">
                <a:latin typeface="Times New Roman" panose="02020603050405020304" pitchFamily="18" charset="0"/>
                <a:cs typeface="Times New Roman" panose="02020603050405020304" pitchFamily="18" charset="0"/>
              </a:rPr>
              <a:t>r</a:t>
            </a:r>
          </a:p>
          <a:p>
            <a:r>
              <a:rPr lang="en-IN" sz="2400" dirty="0">
                <a:latin typeface="Times New Roman" panose="02020603050405020304" pitchFamily="18" charset="0"/>
                <a:cs typeface="Times New Roman" panose="02020603050405020304" pitchFamily="18" charset="0"/>
              </a:rPr>
              <a:t>                          Hence,  </a:t>
            </a:r>
            <a:r>
              <a:rPr lang="en-IN" sz="2400" i="1" dirty="0">
                <a:latin typeface="Times New Roman" panose="02020603050405020304" pitchFamily="18" charset="0"/>
                <a:cs typeface="Times New Roman" panose="02020603050405020304" pitchFamily="18" charset="0"/>
              </a:rPr>
              <a:t>N</a:t>
            </a:r>
            <a:r>
              <a:rPr lang="en-IN" sz="2400" dirty="0">
                <a:latin typeface="Times New Roman" panose="02020603050405020304" pitchFamily="18" charset="0"/>
                <a:cs typeface="Times New Roman" panose="02020603050405020304" pitchFamily="18" charset="0"/>
              </a:rPr>
              <a:t>=</a:t>
            </a:r>
            <a:r>
              <a:rPr lang="en-IN" sz="2400" i="1" dirty="0">
                <a:latin typeface="Times New Roman" panose="02020603050405020304" pitchFamily="18" charset="0"/>
                <a:cs typeface="Times New Roman" panose="02020603050405020304" pitchFamily="18" charset="0"/>
              </a:rPr>
              <a:t>S</a:t>
            </a:r>
            <a:r>
              <a:rPr lang="en-IN" sz="2400" dirty="0">
                <a:latin typeface="Times New Roman" panose="02020603050405020304" pitchFamily="18" charset="0"/>
                <a:cs typeface="Times New Roman" panose="02020603050405020304" pitchFamily="18" charset="0"/>
              </a:rPr>
              <a:t> × </a:t>
            </a:r>
            <a:r>
              <a:rPr lang="en-IN" sz="2400" i="1" dirty="0">
                <a:latin typeface="Times New Roman" panose="02020603050405020304" pitchFamily="18" charset="0"/>
                <a:cs typeface="Times New Roman" panose="02020603050405020304" pitchFamily="18" charset="0"/>
              </a:rPr>
              <a:t>r</a:t>
            </a:r>
            <a:r>
              <a:rPr lang="en-IN" sz="2400" dirty="0">
                <a:latin typeface="Times New Roman" panose="02020603050405020304" pitchFamily="18" charset="0"/>
                <a:cs typeface="Times New Roman" panose="02020603050405020304" pitchFamily="18" charset="0"/>
              </a:rPr>
              <a:t> =1000 × 4 =4000bps</a:t>
            </a:r>
          </a:p>
        </p:txBody>
      </p:sp>
    </p:spTree>
    <p:extLst>
      <p:ext uri="{BB962C8B-B14F-4D97-AF65-F5344CB8AC3E}">
        <p14:creationId xmlns:p14="http://schemas.microsoft.com/office/powerpoint/2010/main" val="392404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809D-887F-EE2D-BBD0-C35991C40711}"/>
              </a:ext>
            </a:extLst>
          </p:cNvPr>
          <p:cNvSpPr>
            <a:spLocks noGrp="1"/>
          </p:cNvSpPr>
          <p:nvPr>
            <p:ph type="title"/>
          </p:nvPr>
        </p:nvSpPr>
        <p:spPr>
          <a:xfrm>
            <a:off x="0" y="204869"/>
            <a:ext cx="1051560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Amplitude Shift Keying (ASK)</a:t>
            </a:r>
          </a:p>
        </p:txBody>
      </p:sp>
      <p:sp>
        <p:nvSpPr>
          <p:cNvPr id="3" name="Content Placeholder 2">
            <a:extLst>
              <a:ext uri="{FF2B5EF4-FFF2-40B4-BE49-F238E27FC236}">
                <a16:creationId xmlns:a16="http://schemas.microsoft.com/office/drawing/2014/main" id="{58EBAD69-B396-9575-2A1C-0AD47B548F4C}"/>
              </a:ext>
            </a:extLst>
          </p:cNvPr>
          <p:cNvSpPr>
            <a:spLocks noGrp="1"/>
          </p:cNvSpPr>
          <p:nvPr>
            <p:ph idx="1"/>
          </p:nvPr>
        </p:nvSpPr>
        <p:spPr>
          <a:xfrm>
            <a:off x="0" y="1382566"/>
            <a:ext cx="12192000" cy="4351338"/>
          </a:xfrm>
        </p:spPr>
        <p:txBody>
          <a:bodyPr>
            <a:normAutofit/>
          </a:bodyPr>
          <a:lstStyle/>
          <a:p>
            <a:pPr>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The general expression of an electrical signal is given by</a:t>
            </a:r>
          </a:p>
          <a:p>
            <a:pPr marL="0" indent="0">
              <a:lnSpc>
                <a:spcPct val="150000"/>
              </a:lnSpc>
              <a:buNone/>
            </a:pP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C(t) =A cos </a:t>
            </a:r>
            <a:r>
              <a:rPr lang="en-IN" sz="24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l-GR" sz="24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π</a:t>
            </a:r>
            <a:r>
              <a:rPr lang="en-IN" sz="2400" kern="1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100" baseline="-250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2400" kern="1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4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 φ)</a:t>
            </a:r>
          </a:p>
          <a:p>
            <a:pPr marL="0" indent="0">
              <a:lnSpc>
                <a:spcPct val="150000"/>
              </a:lnSpc>
              <a:buNone/>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618EFC4-E769-FAEA-0ED4-A492DA41CB7C}"/>
              </a:ext>
            </a:extLst>
          </p:cNvPr>
          <p:cNvSpPr txBox="1"/>
          <p:nvPr/>
        </p:nvSpPr>
        <p:spPr>
          <a:xfrm>
            <a:off x="4034672" y="2564090"/>
            <a:ext cx="3619892" cy="2447145"/>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A= Amplitude</a:t>
            </a:r>
          </a:p>
          <a:p>
            <a:pPr>
              <a:lnSpc>
                <a:spcPct val="150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a:t>
            </a:r>
            <a:r>
              <a:rPr lang="en-IN" sz="2400" kern="100" baseline="-25000" dirty="0">
                <a:effectLst/>
                <a:latin typeface="Times New Roman" panose="02020603050405020304" pitchFamily="18" charset="0"/>
                <a:ea typeface="Calibri" panose="020F0502020204030204" pitchFamily="34" charset="0"/>
                <a:cs typeface="Times New Roman" panose="02020603050405020304" pitchFamily="18" charset="0"/>
              </a:rPr>
              <a:t>c</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 Frequency</a:t>
            </a:r>
          </a:p>
          <a:p>
            <a:pPr>
              <a:lnSpc>
                <a:spcPct val="150000"/>
              </a:lnSpc>
              <a:spcAft>
                <a:spcPts val="800"/>
              </a:spcAft>
            </a:pPr>
            <a:r>
              <a:rPr lang="el-GR" sz="2400" kern="100" dirty="0">
                <a:effectLst/>
                <a:latin typeface="Times New Roman" panose="02020603050405020304" pitchFamily="18" charset="0"/>
                <a:ea typeface="Calibri" panose="020F0502020204030204" pitchFamily="34" charset="0"/>
                <a:cs typeface="Times New Roman" panose="02020603050405020304" pitchFamily="18" charset="0"/>
              </a:rPr>
              <a:t>Φ</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Phase angle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68020E9-B17A-AA7C-6E82-A06F8EB09581}"/>
              </a:ext>
            </a:extLst>
          </p:cNvPr>
          <p:cNvSpPr txBox="1"/>
          <p:nvPr/>
        </p:nvSpPr>
        <p:spPr>
          <a:xfrm>
            <a:off x="169682" y="4826524"/>
            <a:ext cx="10427198" cy="1133965"/>
          </a:xfrm>
          <a:prstGeom prst="rect">
            <a:avLst/>
          </a:prstGeom>
          <a:noFill/>
        </p:spPr>
        <p:txBody>
          <a:bodyPr wrap="square" rtlCol="0">
            <a:spAutoFit/>
          </a:bodyPr>
          <a:lstStyle/>
          <a:p>
            <a:pPr marL="342900" indent="-342900"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 </a:t>
            </a:r>
            <a:r>
              <a:rPr lang="en-IN" sz="2400" i="1" dirty="0">
                <a:solidFill>
                  <a:schemeClr val="accent1"/>
                </a:solidFill>
                <a:latin typeface="Times New Roman" panose="02020603050405020304" pitchFamily="18" charset="0"/>
                <a:cs typeface="Times New Roman" panose="02020603050405020304" pitchFamily="18" charset="0"/>
              </a:rPr>
              <a:t>ASK</a:t>
            </a:r>
            <a:r>
              <a:rPr lang="en-IN" sz="2400" dirty="0">
                <a:latin typeface="Times New Roman" panose="02020603050405020304" pitchFamily="18" charset="0"/>
                <a:cs typeface="Times New Roman" panose="02020603050405020304" pitchFamily="18" charset="0"/>
              </a:rPr>
              <a:t>, the amplitude of the carrier signal is varied to create signal elements. Where as both  frequency and phase remain constant.</a:t>
            </a:r>
          </a:p>
        </p:txBody>
      </p:sp>
    </p:spTree>
    <p:extLst>
      <p:ext uri="{BB962C8B-B14F-4D97-AF65-F5344CB8AC3E}">
        <p14:creationId xmlns:p14="http://schemas.microsoft.com/office/powerpoint/2010/main" val="2398055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48086-6CA2-0C04-A8AB-3F08C31EDFA1}"/>
              </a:ext>
            </a:extLst>
          </p:cNvPr>
          <p:cNvSpPr>
            <a:spLocks noGrp="1"/>
          </p:cNvSpPr>
          <p:nvPr>
            <p:ph type="title"/>
          </p:nvPr>
        </p:nvSpPr>
        <p:spPr>
          <a:xfrm>
            <a:off x="4363720" y="-279622"/>
            <a:ext cx="383540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Binary ASK</a:t>
            </a:r>
          </a:p>
        </p:txBody>
      </p:sp>
      <p:sp>
        <p:nvSpPr>
          <p:cNvPr id="3" name="Content Placeholder 2">
            <a:extLst>
              <a:ext uri="{FF2B5EF4-FFF2-40B4-BE49-F238E27FC236}">
                <a16:creationId xmlns:a16="http://schemas.microsoft.com/office/drawing/2014/main" id="{57B18D23-8CC9-1818-117E-C89B92120868}"/>
              </a:ext>
            </a:extLst>
          </p:cNvPr>
          <p:cNvSpPr>
            <a:spLocks noGrp="1"/>
          </p:cNvSpPr>
          <p:nvPr>
            <p:ph idx="1"/>
          </p:nvPr>
        </p:nvSpPr>
        <p:spPr>
          <a:xfrm>
            <a:off x="0" y="761461"/>
            <a:ext cx="11216640" cy="2564525"/>
          </a:xfrm>
        </p:spPr>
        <p:txBody>
          <a:bodyPr>
            <a:noAutofit/>
          </a:bodyPr>
          <a:lstStyle/>
          <a:p>
            <a:pPr algn="just">
              <a:lnSpc>
                <a:spcPct val="15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ASK is implemented by changing the amplitude of a carrier signal to reflect amplitude levels in the digital signal.</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Courier New" panose="02070309020205020404" pitchFamily="49" charset="0"/>
              <a:buChar char="o"/>
            </a:pPr>
            <a:r>
              <a:rPr lang="en-US" altLang="en-US" sz="2400" dirty="0">
                <a:latin typeface="Times New Roman" panose="02020603050405020304" pitchFamily="18" charset="0"/>
                <a:cs typeface="Times New Roman" panose="02020603050405020304" pitchFamily="18" charset="0"/>
              </a:rPr>
              <a:t>a digital “1” could not affect the signal, whereas a digital “0” would, by making it zero.</a:t>
            </a:r>
            <a:endParaRPr lang="en-IN" sz="2400" dirty="0">
              <a:latin typeface="Times New Roman" panose="02020603050405020304" pitchFamily="18" charset="0"/>
              <a:cs typeface="Times New Roman" panose="02020603050405020304" pitchFamily="18" charset="0"/>
            </a:endParaRPr>
          </a:p>
        </p:txBody>
      </p:sp>
      <p:pic>
        <p:nvPicPr>
          <p:cNvPr id="4" name="Picture 8">
            <a:extLst>
              <a:ext uri="{FF2B5EF4-FFF2-40B4-BE49-F238E27FC236}">
                <a16:creationId xmlns:a16="http://schemas.microsoft.com/office/drawing/2014/main" id="{39530CB5-8337-0D0C-E33A-513EE3A89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213" y="2677850"/>
            <a:ext cx="9413073" cy="256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674E5B-D760-2495-ED04-BA9A217A4C1D}"/>
                  </a:ext>
                </a:extLst>
              </p:cNvPr>
              <p:cNvSpPr txBox="1"/>
              <p:nvPr/>
            </p:nvSpPr>
            <p:spPr>
              <a:xfrm>
                <a:off x="1104900" y="5363031"/>
                <a:ext cx="9685020" cy="1200329"/>
              </a:xfrm>
              <a:prstGeom prst="rect">
                <a:avLst/>
              </a:prstGeom>
              <a:noFill/>
            </p:spPr>
            <p:txBody>
              <a:bodyPr wrap="square">
                <a:spAutoFit/>
              </a:bodyPr>
              <a:lstStyle/>
              <a:p>
                <a:pPr marL="342900" indent="-342900">
                  <a:buFont typeface="Wingdings" panose="05000000000000000000" pitchFamily="2" charset="2"/>
                  <a:buChar char="§"/>
                </a:pPr>
                <a:r>
                  <a:rPr kumimoji="0" lang="en-US" sz="2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The value of </a:t>
                </a:r>
                <a14:m>
                  <m:oMath xmlns:m="http://schemas.openxmlformats.org/officeDocument/2006/math">
                    <m:r>
                      <a:rPr kumimoji="0" lang="en-US" sz="2400" b="0" i="1" u="none" strike="noStrike" kern="1200" cap="none" spc="0" normalizeH="0" baseline="0" noProof="0" dirty="0" smtClean="0">
                        <a:ln>
                          <a:noFill/>
                        </a:ln>
                        <a:effectLst/>
                        <a:uLnTx/>
                        <a:uFillTx/>
                        <a:latin typeface="Cambria Math" panose="02040503050406030204" pitchFamily="18" charset="0"/>
                        <a:ea typeface="+mj-ea"/>
                        <a:cs typeface="+mj-cs"/>
                      </a:rPr>
                      <m:t>𝑑</m:t>
                    </m:r>
                  </m:oMath>
                </a14:m>
                <a:r>
                  <a:rPr kumimoji="0" lang="en-US" sz="2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 is between 0 and 1</a:t>
                </a:r>
                <a:r>
                  <a:rPr lang="en-US" sz="2400" noProof="0" dirty="0">
                    <a:latin typeface="Times New Roman" panose="02020603050405020304" pitchFamily="18" charset="0"/>
                    <a:ea typeface="+mj-ea"/>
                    <a:cs typeface="Times New Roman" panose="02020603050405020304" pitchFamily="18" charset="0"/>
                  </a:rPr>
                  <a:t>. </a:t>
                </a:r>
                <a:r>
                  <a:rPr kumimoji="0" lang="en-US" sz="2400" b="0" i="0" u="none" strike="noStrike" kern="1200" cap="none" spc="0" normalizeH="0" noProof="0" dirty="0">
                    <a:ln>
                      <a:noFill/>
                    </a:ln>
                    <a:effectLst/>
                    <a:uLnTx/>
                    <a:uFillTx/>
                    <a:latin typeface="Times New Roman" panose="02020603050405020304" pitchFamily="18" charset="0"/>
                    <a:ea typeface="+mj-ea"/>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oMath>
                </a14:m>
                <a:r>
                  <a:rPr lang="en-US" sz="2400" dirty="0">
                    <a:latin typeface="Times New Roman" panose="02020603050405020304" pitchFamily="18" charset="0"/>
                    <a:cs typeface="Times New Roman" panose="02020603050405020304" pitchFamily="18" charset="0"/>
                  </a:rPr>
                  <a:t> is the carrier frequency which is located the middle of bandwidth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Bandwidth:   </a:t>
                </a:r>
                <a:r>
                  <a:rPr lang="en-US" sz="2400" b="1" dirty="0">
                    <a:solidFill>
                      <a:srgbClr val="FF0000"/>
                    </a:solidFill>
                    <a:latin typeface="Times New Roman" panose="02020603050405020304" pitchFamily="18" charset="0"/>
                    <a:cs typeface="Times New Roman" panose="02020603050405020304" pitchFamily="18" charset="0"/>
                  </a:rPr>
                  <a:t>B = (1+d)S</a:t>
                </a:r>
                <a:endParaRPr kumimoji="0" lang="en-US" sz="2400" b="1" i="0" u="none" strike="noStrike" kern="1200" cap="none" spc="0" normalizeH="0" baseline="0" noProof="0" dirty="0">
                  <a:ln>
                    <a:noFill/>
                  </a:ln>
                  <a:solidFill>
                    <a:srgbClr val="FF0000"/>
                  </a:solidFill>
                  <a:effectLst/>
                  <a:uLnTx/>
                  <a:uFillTx/>
                  <a:latin typeface="Times-Bold"/>
                  <a:ea typeface="+mj-ea"/>
                  <a:cs typeface="+mj-cs"/>
                </a:endParaRPr>
              </a:p>
            </p:txBody>
          </p:sp>
        </mc:Choice>
        <mc:Fallback xmlns="">
          <p:sp>
            <p:nvSpPr>
              <p:cNvPr id="8" name="TextBox 7">
                <a:extLst>
                  <a:ext uri="{FF2B5EF4-FFF2-40B4-BE49-F238E27FC236}">
                    <a16:creationId xmlns:a16="http://schemas.microsoft.com/office/drawing/2014/main" id="{22674E5B-D760-2495-ED04-BA9A217A4C1D}"/>
                  </a:ext>
                </a:extLst>
              </p:cNvPr>
              <p:cNvSpPr txBox="1">
                <a:spLocks noRot="1" noChangeAspect="1" noMove="1" noResize="1" noEditPoints="1" noAdjustHandles="1" noChangeArrowheads="1" noChangeShapeType="1" noTextEdit="1"/>
              </p:cNvSpPr>
              <p:nvPr/>
            </p:nvSpPr>
            <p:spPr>
              <a:xfrm>
                <a:off x="1104900" y="5363031"/>
                <a:ext cx="9685020" cy="1200329"/>
              </a:xfrm>
              <a:prstGeom prst="rect">
                <a:avLst/>
              </a:prstGeom>
              <a:blipFill>
                <a:blip r:embed="rId3"/>
                <a:stretch>
                  <a:fillRect l="-818" t="-4061" b="-10660"/>
                </a:stretch>
              </a:blipFill>
            </p:spPr>
            <p:txBody>
              <a:bodyPr/>
              <a:lstStyle/>
              <a:p>
                <a:r>
                  <a:rPr lang="en-IN">
                    <a:noFill/>
                  </a:rPr>
                  <a:t> </a:t>
                </a:r>
              </a:p>
            </p:txBody>
          </p:sp>
        </mc:Fallback>
      </mc:AlternateContent>
    </p:spTree>
    <p:extLst>
      <p:ext uri="{BB962C8B-B14F-4D97-AF65-F5344CB8AC3E}">
        <p14:creationId xmlns:p14="http://schemas.microsoft.com/office/powerpoint/2010/main" val="2439508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134AFF7B-4D94-DB0B-1AB0-D6C791C59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940" y="2786538"/>
            <a:ext cx="9947088" cy="2882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8A2E7A38-3FEE-E730-3701-3889EEBBB218}"/>
              </a:ext>
            </a:extLst>
          </p:cNvPr>
          <p:cNvSpPr txBox="1"/>
          <p:nvPr/>
        </p:nvSpPr>
        <p:spPr>
          <a:xfrm>
            <a:off x="264160" y="1037718"/>
            <a:ext cx="11430000" cy="830997"/>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The line encoding will determine the values of the analog waveform to reflect the digital data being carried.</a:t>
            </a:r>
          </a:p>
        </p:txBody>
      </p:sp>
      <p:sp>
        <p:nvSpPr>
          <p:cNvPr id="7" name="Title 1">
            <a:extLst>
              <a:ext uri="{FF2B5EF4-FFF2-40B4-BE49-F238E27FC236}">
                <a16:creationId xmlns:a16="http://schemas.microsoft.com/office/drawing/2014/main" id="{EC463806-E39F-4536-086C-BB57E0939A10}"/>
              </a:ext>
            </a:extLst>
          </p:cNvPr>
          <p:cNvSpPr>
            <a:spLocks noGrp="1"/>
          </p:cNvSpPr>
          <p:nvPr>
            <p:ph type="title"/>
          </p:nvPr>
        </p:nvSpPr>
        <p:spPr>
          <a:xfrm>
            <a:off x="4282440" y="-91123"/>
            <a:ext cx="386588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Binary ASK</a:t>
            </a:r>
          </a:p>
        </p:txBody>
      </p:sp>
      <p:sp>
        <p:nvSpPr>
          <p:cNvPr id="9" name="TextBox 8">
            <a:extLst>
              <a:ext uri="{FF2B5EF4-FFF2-40B4-BE49-F238E27FC236}">
                <a16:creationId xmlns:a16="http://schemas.microsoft.com/office/drawing/2014/main" id="{F35A93EF-5044-F933-A4AC-E068F016B84D}"/>
              </a:ext>
            </a:extLst>
          </p:cNvPr>
          <p:cNvSpPr txBox="1"/>
          <p:nvPr/>
        </p:nvSpPr>
        <p:spPr>
          <a:xfrm>
            <a:off x="264160" y="2008147"/>
            <a:ext cx="10942320" cy="461665"/>
          </a:xfrm>
          <a:prstGeom prst="rect">
            <a:avLst/>
          </a:prstGeom>
          <a:noFill/>
        </p:spPr>
        <p:txBody>
          <a:bodyPr wrap="square">
            <a:spAutoFit/>
          </a:bodyPr>
          <a:lstStyle/>
          <a:p>
            <a:r>
              <a:rPr lang="en-US" sz="2400" dirty="0">
                <a:solidFill>
                  <a:srgbClr val="00B050"/>
                </a:solidFill>
                <a:latin typeface="Times New Roman" panose="02020603050405020304" pitchFamily="18" charset="0"/>
                <a:ea typeface="+mj-ea"/>
                <a:cs typeface="Times New Roman" panose="02020603050405020304" pitchFamily="18" charset="0"/>
              </a:rPr>
              <a:t>BASK modulated signal is generated by multiplying unipolar NRZ with carrier signal.</a:t>
            </a:r>
          </a:p>
        </p:txBody>
      </p:sp>
    </p:spTree>
    <p:extLst>
      <p:ext uri="{BB962C8B-B14F-4D97-AF65-F5344CB8AC3E}">
        <p14:creationId xmlns:p14="http://schemas.microsoft.com/office/powerpoint/2010/main" val="194103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037C2FF1-CAF3-DD9D-BCB0-62201826775B}"/>
              </a:ext>
            </a:extLst>
          </p:cNvPr>
          <p:cNvSpPr>
            <a:spLocks noChangeArrowheads="1"/>
          </p:cNvSpPr>
          <p:nvPr/>
        </p:nvSpPr>
        <p:spPr bwMode="auto">
          <a:xfrm>
            <a:off x="452120" y="545773"/>
            <a:ext cx="1045972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dirty="0">
                <a:solidFill>
                  <a:srgbClr val="FF0000"/>
                </a:solidFill>
                <a:latin typeface="Times New Roman" panose="02020603050405020304" pitchFamily="18" charset="0"/>
              </a:rPr>
              <a:t>We have an available bandwidth of 100 kHz which spans from 200 to 300 kHz. What are the carrier frequency and the bit rate if we modulated our data by using ASK with d = 1?</a:t>
            </a:r>
          </a:p>
        </p:txBody>
      </p:sp>
      <p:sp>
        <p:nvSpPr>
          <p:cNvPr id="5" name="Rectangle 14">
            <a:extLst>
              <a:ext uri="{FF2B5EF4-FFF2-40B4-BE49-F238E27FC236}">
                <a16:creationId xmlns:a16="http://schemas.microsoft.com/office/drawing/2014/main" id="{83B0306C-D6EB-373B-64BF-2B99ACE5E10B}"/>
              </a:ext>
            </a:extLst>
          </p:cNvPr>
          <p:cNvSpPr>
            <a:spLocks noChangeArrowheads="1"/>
          </p:cNvSpPr>
          <p:nvPr/>
        </p:nvSpPr>
        <p:spPr bwMode="auto">
          <a:xfrm>
            <a:off x="452120" y="2126298"/>
            <a:ext cx="1056132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dirty="0">
                <a:solidFill>
                  <a:schemeClr val="hlink"/>
                </a:solidFill>
                <a:latin typeface="Times New Roman" panose="02020603050405020304" pitchFamily="18" charset="0"/>
              </a:rPr>
              <a:t>Solution</a:t>
            </a:r>
          </a:p>
          <a:p>
            <a:pPr algn="just"/>
            <a:r>
              <a:rPr lang="en-US" altLang="en-US" sz="2800" i="1" dirty="0">
                <a:latin typeface="Times" panose="02020603050405020304" pitchFamily="18" charset="0"/>
              </a:rPr>
              <a:t>The middle of the bandwidth is located at 250 kHz. This means that our carrier frequency can be at f</a:t>
            </a:r>
            <a:r>
              <a:rPr lang="en-US" altLang="en-US" sz="2800" i="1" baseline="-25000" dirty="0">
                <a:latin typeface="Times" panose="02020603050405020304" pitchFamily="18" charset="0"/>
              </a:rPr>
              <a:t>c</a:t>
            </a:r>
            <a:r>
              <a:rPr lang="en-US" altLang="en-US" sz="2800" i="1" dirty="0">
                <a:latin typeface="Times" panose="02020603050405020304" pitchFamily="18" charset="0"/>
              </a:rPr>
              <a:t> = 250 kHz. We can use the formula for bandwidth to find the bit rate (with d = 1 and r = 1).</a:t>
            </a:r>
          </a:p>
        </p:txBody>
      </p:sp>
      <p:pic>
        <p:nvPicPr>
          <p:cNvPr id="6" name="Picture 15">
            <a:extLst>
              <a:ext uri="{FF2B5EF4-FFF2-40B4-BE49-F238E27FC236}">
                <a16:creationId xmlns:a16="http://schemas.microsoft.com/office/drawing/2014/main" id="{7FC57B44-D09B-E653-C8C8-DC1DBDEA6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615" y="4820920"/>
            <a:ext cx="8282305" cy="57626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406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B418-43A7-A1D3-B07C-597BDD1B88C4}"/>
              </a:ext>
            </a:extLst>
          </p:cNvPr>
          <p:cNvSpPr>
            <a:spLocks noGrp="1"/>
          </p:cNvSpPr>
          <p:nvPr>
            <p:ph type="title"/>
          </p:nvPr>
        </p:nvSpPr>
        <p:spPr>
          <a:xfrm>
            <a:off x="2169160" y="-258027"/>
            <a:ext cx="1051560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Frequency Shift Keying (FSK)</a:t>
            </a:r>
          </a:p>
        </p:txBody>
      </p:sp>
      <p:sp>
        <p:nvSpPr>
          <p:cNvPr id="3" name="Content Placeholder 2">
            <a:extLst>
              <a:ext uri="{FF2B5EF4-FFF2-40B4-BE49-F238E27FC236}">
                <a16:creationId xmlns:a16="http://schemas.microsoft.com/office/drawing/2014/main" id="{C385841C-0B81-F556-697C-B85E7D27C8C0}"/>
              </a:ext>
            </a:extLst>
          </p:cNvPr>
          <p:cNvSpPr>
            <a:spLocks noGrp="1"/>
          </p:cNvSpPr>
          <p:nvPr>
            <p:ph idx="1"/>
          </p:nvPr>
        </p:nvSpPr>
        <p:spPr>
          <a:xfrm>
            <a:off x="101600" y="849846"/>
            <a:ext cx="11353800" cy="4351338"/>
          </a:xfrm>
        </p:spPr>
        <p:txBody>
          <a:bodyPr>
            <a:normAutofit/>
          </a:bodyPr>
          <a:lstStyle/>
          <a:p>
            <a:pPr algn="just">
              <a:lnSpc>
                <a:spcPct val="150000"/>
              </a:lnSpc>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 In </a:t>
            </a:r>
            <a:r>
              <a:rPr lang="en-IN" i="1" dirty="0">
                <a:solidFill>
                  <a:schemeClr val="accent1"/>
                </a:solidFill>
                <a:latin typeface="Times New Roman" panose="02020603050405020304" pitchFamily="18" charset="0"/>
                <a:cs typeface="Times New Roman" panose="02020603050405020304" pitchFamily="18" charset="0"/>
              </a:rPr>
              <a:t>FSK</a:t>
            </a:r>
            <a:r>
              <a:rPr lang="en-IN" dirty="0">
                <a:latin typeface="Times New Roman" panose="02020603050405020304" pitchFamily="18" charset="0"/>
                <a:cs typeface="Times New Roman" panose="02020603050405020304" pitchFamily="18" charset="0"/>
              </a:rPr>
              <a:t>, the frequency of the carrier signal is varied to represent data. </a:t>
            </a:r>
          </a:p>
          <a:p>
            <a:r>
              <a:rPr lang="en-US" altLang="en-US" dirty="0">
                <a:latin typeface="Times New Roman" panose="02020603050405020304" pitchFamily="18" charset="0"/>
                <a:cs typeface="Times New Roman" panose="02020603050405020304" pitchFamily="18" charset="0"/>
              </a:rPr>
              <a:t>For example, a “1” could be represented by f</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=f</a:t>
            </a:r>
            <a:r>
              <a:rPr lang="en-US" altLang="en-US" baseline="-25000" dirty="0">
                <a:latin typeface="Times New Roman" panose="02020603050405020304" pitchFamily="18" charset="0"/>
                <a:cs typeface="Times New Roman" panose="02020603050405020304" pitchFamily="18" charset="0"/>
              </a:rPr>
              <a:t>c</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latin typeface="Times New Roman" panose="02020603050405020304" pitchFamily="18" charset="0"/>
                <a:cs typeface="Times New Roman" panose="02020603050405020304" pitchFamily="18" charset="0"/>
              </a:rPr>
              <a:t>f, and a “0” could be represented by f</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=f</a:t>
            </a:r>
            <a:r>
              <a:rPr lang="en-US" altLang="en-US" baseline="-25000" dirty="0">
                <a:latin typeface="Times New Roman" panose="02020603050405020304" pitchFamily="18" charset="0"/>
                <a:cs typeface="Times New Roman" panose="02020603050405020304" pitchFamily="18" charset="0"/>
              </a:rPr>
              <a:t>c</a:t>
            </a:r>
            <a:r>
              <a:rPr lang="en-US"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latin typeface="Times New Roman" panose="02020603050405020304" pitchFamily="18" charset="0"/>
                <a:cs typeface="Times New Roman" panose="02020603050405020304" pitchFamily="18" charset="0"/>
              </a:rPr>
              <a:t>f.</a:t>
            </a:r>
          </a:p>
        </p:txBody>
      </p:sp>
      <p:pic>
        <p:nvPicPr>
          <p:cNvPr id="4" name="Picture 7">
            <a:extLst>
              <a:ext uri="{FF2B5EF4-FFF2-40B4-BE49-F238E27FC236}">
                <a16:creationId xmlns:a16="http://schemas.microsoft.com/office/drawing/2014/main" id="{75D19EF2-D351-E208-B8EE-0DE3622F4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724" y="3428380"/>
            <a:ext cx="9346312" cy="288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8999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C93CE2-E184-9CAB-9155-364776C621E1}"/>
              </a:ext>
            </a:extLst>
          </p:cNvPr>
          <p:cNvPicPr>
            <a:picLocks noChangeAspect="1"/>
          </p:cNvPicPr>
          <p:nvPr/>
        </p:nvPicPr>
        <p:blipFill rotWithShape="1">
          <a:blip r:embed="rId2">
            <a:extLst>
              <a:ext uri="{28A0092B-C50C-407E-A947-70E740481C1C}">
                <a14:useLocalDpi xmlns:a14="http://schemas.microsoft.com/office/drawing/2010/main" val="0"/>
              </a:ext>
            </a:extLst>
          </a:blip>
          <a:srcRect l="3436" t="34502" r="5430" b="25773"/>
          <a:stretch/>
        </p:blipFill>
        <p:spPr>
          <a:xfrm>
            <a:off x="918481" y="2315210"/>
            <a:ext cx="10294073" cy="3365369"/>
          </a:xfrm>
          <a:prstGeom prst="rect">
            <a:avLst/>
          </a:prstGeom>
        </p:spPr>
      </p:pic>
      <p:sp>
        <p:nvSpPr>
          <p:cNvPr id="6" name="TextBox 5">
            <a:extLst>
              <a:ext uri="{FF2B5EF4-FFF2-40B4-BE49-F238E27FC236}">
                <a16:creationId xmlns:a16="http://schemas.microsoft.com/office/drawing/2014/main" id="{C923DAB3-03D2-E5F6-ED0D-5D9D3387C7C6}"/>
              </a:ext>
            </a:extLst>
          </p:cNvPr>
          <p:cNvSpPr txBox="1"/>
          <p:nvPr/>
        </p:nvSpPr>
        <p:spPr>
          <a:xfrm>
            <a:off x="629918" y="1090523"/>
            <a:ext cx="10871201" cy="461665"/>
          </a:xfrm>
          <a:prstGeom prst="rect">
            <a:avLst/>
          </a:prstGeom>
          <a:noFill/>
        </p:spPr>
        <p:txBody>
          <a:bodyPr wrap="square">
            <a:spAutoFit/>
          </a:bodyPr>
          <a:lstStyle/>
          <a:p>
            <a:pPr marL="514350" indent="-5143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BFSK can be implemented </a:t>
            </a:r>
            <a:r>
              <a:rPr lang="en-US" sz="2400" dirty="0">
                <a:latin typeface="Times New Roman" panose="02020603050405020304" pitchFamily="18" charset="0"/>
                <a:ea typeface="+mj-ea"/>
                <a:cs typeface="Times New Roman" panose="02020603050405020304" pitchFamily="18" charset="0"/>
              </a:rPr>
              <a:t>u</a:t>
            </a:r>
            <a:r>
              <a:rPr kumimoji="0" lang="en-US" sz="24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sing NRZ and VCO </a:t>
            </a:r>
          </a:p>
        </p:txBody>
      </p:sp>
      <p:sp>
        <p:nvSpPr>
          <p:cNvPr id="7" name="Title 1">
            <a:extLst>
              <a:ext uri="{FF2B5EF4-FFF2-40B4-BE49-F238E27FC236}">
                <a16:creationId xmlns:a16="http://schemas.microsoft.com/office/drawing/2014/main" id="{3FB02641-5CED-5AB4-5C57-7DD72522A37A}"/>
              </a:ext>
            </a:extLst>
          </p:cNvPr>
          <p:cNvSpPr txBox="1">
            <a:spLocks/>
          </p:cNvSpPr>
          <p:nvPr/>
        </p:nvSpPr>
        <p:spPr>
          <a:xfrm>
            <a:off x="2291080" y="222885"/>
            <a:ext cx="733044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800" b="1" dirty="0">
                <a:solidFill>
                  <a:schemeClr val="accent1"/>
                </a:solidFill>
                <a:latin typeface="Times New Roman" panose="02020603050405020304" pitchFamily="18" charset="0"/>
                <a:cs typeface="Times New Roman" panose="02020603050405020304" pitchFamily="18" charset="0"/>
              </a:rPr>
              <a:t>Implementation of BFSK</a:t>
            </a:r>
          </a:p>
        </p:txBody>
      </p:sp>
      <p:sp>
        <p:nvSpPr>
          <p:cNvPr id="4" name="TextBox 3">
            <a:extLst>
              <a:ext uri="{FF2B5EF4-FFF2-40B4-BE49-F238E27FC236}">
                <a16:creationId xmlns:a16="http://schemas.microsoft.com/office/drawing/2014/main" id="{EB32234D-0434-5CB4-5C0B-7EA65FA9CA59}"/>
              </a:ext>
            </a:extLst>
          </p:cNvPr>
          <p:cNvSpPr txBox="1"/>
          <p:nvPr/>
        </p:nvSpPr>
        <p:spPr>
          <a:xfrm>
            <a:off x="629918" y="1659101"/>
            <a:ext cx="11638280" cy="461665"/>
          </a:xfrm>
          <a:prstGeom prst="rect">
            <a:avLst/>
          </a:prstGeom>
          <a:noFill/>
        </p:spPr>
        <p:txBody>
          <a:bodyPr wrap="square">
            <a:spAutoFit/>
          </a:bodyPr>
          <a:lstStyle/>
          <a:p>
            <a:pPr marL="342900" indent="-342900">
              <a:buFont typeface="Wingdings" panose="05000000000000000000" pitchFamily="2" charset="2"/>
              <a:buChar char="Ø"/>
            </a:pPr>
            <a:r>
              <a:rPr lang="en-US" sz="2400" dirty="0">
                <a:solidFill>
                  <a:srgbClr val="002060"/>
                </a:solidFill>
                <a:latin typeface="Times New Roman" panose="02020603050405020304" pitchFamily="18" charset="0"/>
                <a:cs typeface="Times New Roman" panose="02020603050405020304" pitchFamily="18" charset="0"/>
              </a:rPr>
              <a:t>A </a:t>
            </a:r>
            <a:r>
              <a:rPr lang="en-US" sz="2400" b="1" dirty="0">
                <a:solidFill>
                  <a:srgbClr val="002060"/>
                </a:solidFill>
                <a:latin typeface="Times New Roman" panose="02020603050405020304" pitchFamily="18" charset="0"/>
                <a:cs typeface="Times New Roman" panose="02020603050405020304" pitchFamily="18" charset="0"/>
              </a:rPr>
              <a:t>VCO</a:t>
            </a:r>
            <a:r>
              <a:rPr lang="en-US" sz="2400" dirty="0">
                <a:solidFill>
                  <a:srgbClr val="002060"/>
                </a:solidFill>
                <a:latin typeface="Times New Roman" panose="02020603050405020304" pitchFamily="18" charset="0"/>
                <a:cs typeface="Times New Roman" panose="02020603050405020304" pitchFamily="18" charset="0"/>
              </a:rPr>
              <a:t> is an oscillator whose </a:t>
            </a:r>
            <a:r>
              <a:rPr lang="en-US" sz="2400" b="1" dirty="0">
                <a:solidFill>
                  <a:srgbClr val="002060"/>
                </a:solidFill>
                <a:latin typeface="Times New Roman" panose="02020603050405020304" pitchFamily="18" charset="0"/>
                <a:cs typeface="Times New Roman" panose="02020603050405020304" pitchFamily="18" charset="0"/>
              </a:rPr>
              <a:t>output frequency</a:t>
            </a:r>
            <a:r>
              <a:rPr lang="en-US" sz="2400" dirty="0">
                <a:solidFill>
                  <a:srgbClr val="002060"/>
                </a:solidFill>
                <a:latin typeface="Times New Roman" panose="02020603050405020304" pitchFamily="18" charset="0"/>
                <a:cs typeface="Times New Roman" panose="02020603050405020304" pitchFamily="18" charset="0"/>
              </a:rPr>
              <a:t> depends on an </a:t>
            </a:r>
            <a:r>
              <a:rPr lang="en-US" sz="2400" b="1" dirty="0">
                <a:solidFill>
                  <a:srgbClr val="002060"/>
                </a:solidFill>
                <a:latin typeface="Times New Roman" panose="02020603050405020304" pitchFamily="18" charset="0"/>
                <a:cs typeface="Times New Roman" panose="02020603050405020304" pitchFamily="18" charset="0"/>
              </a:rPr>
              <a:t>input control voltage</a:t>
            </a:r>
            <a:r>
              <a:rPr lang="en-US" sz="2400" dirty="0">
                <a:solidFill>
                  <a:srgbClr val="002060"/>
                </a:solidFill>
                <a:latin typeface="Times New Roman" panose="02020603050405020304" pitchFamily="18" charset="0"/>
                <a:cs typeface="Times New Roman" panose="02020603050405020304" pitchFamily="18" charset="0"/>
              </a:rPr>
              <a: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7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ABB8-C79E-FEE3-EF5A-7C15B9DFEEFA}"/>
              </a:ext>
            </a:extLst>
          </p:cNvPr>
          <p:cNvSpPr>
            <a:spLocks noGrp="1"/>
          </p:cNvSpPr>
          <p:nvPr>
            <p:ph type="title"/>
          </p:nvPr>
        </p:nvSpPr>
        <p:spPr>
          <a:xfrm>
            <a:off x="2778760" y="-131976"/>
            <a:ext cx="7297132" cy="1162017"/>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Phase Shift Keying (PSK)</a:t>
            </a:r>
          </a:p>
        </p:txBody>
      </p:sp>
      <p:sp>
        <p:nvSpPr>
          <p:cNvPr id="3" name="Content Placeholder 2">
            <a:extLst>
              <a:ext uri="{FF2B5EF4-FFF2-40B4-BE49-F238E27FC236}">
                <a16:creationId xmlns:a16="http://schemas.microsoft.com/office/drawing/2014/main" id="{A11E2D9D-6914-CDCC-DA19-96B17D288C3B}"/>
              </a:ext>
            </a:extLst>
          </p:cNvPr>
          <p:cNvSpPr>
            <a:spLocks noGrp="1"/>
          </p:cNvSpPr>
          <p:nvPr>
            <p:ph idx="1"/>
          </p:nvPr>
        </p:nvSpPr>
        <p:spPr>
          <a:xfrm>
            <a:off x="132080" y="856687"/>
            <a:ext cx="11673840" cy="3028489"/>
          </a:xfrm>
        </p:spPr>
        <p:txBody>
          <a:bodyPr>
            <a:normAutofit/>
          </a:bodyPr>
          <a:lstStyle/>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In PSK, the phase of the carrier is varied to represent two or more different signal elements.</a:t>
            </a:r>
          </a:p>
          <a:p>
            <a:r>
              <a:rPr lang="en-US" sz="2400" dirty="0">
                <a:latin typeface="Times-Bold"/>
              </a:rPr>
              <a:t>Noise can change the amplitude easier than it can change phase.</a:t>
            </a:r>
          </a:p>
          <a:p>
            <a:r>
              <a:rPr lang="en-US" sz="2400" dirty="0">
                <a:latin typeface="Times-Bold"/>
              </a:rPr>
              <a:t>PSK is superior to FSK because we do not need two carrier signals.</a:t>
            </a:r>
          </a:p>
          <a:p>
            <a:r>
              <a:rPr lang="en-US" sz="2400" dirty="0">
                <a:latin typeface="Times-Bold"/>
              </a:rPr>
              <a:t>PSK needs more sophisticated hardware compared to FSK to be able to distinguish between phases.</a:t>
            </a:r>
            <a:endParaRPr lang="en-US" sz="2400" dirty="0">
              <a:solidFill>
                <a:srgbClr val="4472C4"/>
              </a:solidFill>
              <a:latin typeface="Times-Bold"/>
            </a:endParaRPr>
          </a:p>
          <a:p>
            <a:pPr marL="0" indent="0" algn="just">
              <a:lnSpc>
                <a:spcPct val="150000"/>
              </a:lnSpc>
              <a:buNone/>
            </a:pPr>
            <a:r>
              <a:rPr lang="en-IN" sz="2400" dirty="0">
                <a:latin typeface="Times New Roman" panose="02020603050405020304" pitchFamily="18" charset="0"/>
                <a:cs typeface="Times New Roman" panose="02020603050405020304" pitchFamily="18" charset="0"/>
              </a:rPr>
              <a:t> </a:t>
            </a:r>
          </a:p>
        </p:txBody>
      </p:sp>
      <p:pic>
        <p:nvPicPr>
          <p:cNvPr id="4" name="Picture 6">
            <a:extLst>
              <a:ext uri="{FF2B5EF4-FFF2-40B4-BE49-F238E27FC236}">
                <a16:creationId xmlns:a16="http://schemas.microsoft.com/office/drawing/2014/main" id="{27A8A934-8F5D-2F63-5663-00399C3A2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095" y="3429000"/>
            <a:ext cx="9570908" cy="257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8838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5010E-1855-9BC3-A286-A690B8AAFD94}"/>
              </a:ext>
            </a:extLst>
          </p:cNvPr>
          <p:cNvPicPr>
            <a:picLocks noChangeAspect="1"/>
          </p:cNvPicPr>
          <p:nvPr/>
        </p:nvPicPr>
        <p:blipFill rotWithShape="1">
          <a:blip r:embed="rId2">
            <a:extLst>
              <a:ext uri="{28A0092B-C50C-407E-A947-70E740481C1C}">
                <a14:useLocalDpi xmlns:a14="http://schemas.microsoft.com/office/drawing/2010/main" val="0"/>
              </a:ext>
            </a:extLst>
          </a:blip>
          <a:srcRect l="5086" t="34777" r="5120" b="24948"/>
          <a:stretch/>
        </p:blipFill>
        <p:spPr>
          <a:xfrm>
            <a:off x="546755" y="2114379"/>
            <a:ext cx="10957002" cy="3685882"/>
          </a:xfrm>
          <a:prstGeom prst="rect">
            <a:avLst/>
          </a:prstGeom>
        </p:spPr>
      </p:pic>
      <p:sp>
        <p:nvSpPr>
          <p:cNvPr id="5" name="TextBox 4">
            <a:extLst>
              <a:ext uri="{FF2B5EF4-FFF2-40B4-BE49-F238E27FC236}">
                <a16:creationId xmlns:a16="http://schemas.microsoft.com/office/drawing/2014/main" id="{CFFCB04B-EC32-24B0-572F-5CA4CF608408}"/>
              </a:ext>
            </a:extLst>
          </p:cNvPr>
          <p:cNvSpPr txBox="1"/>
          <p:nvPr/>
        </p:nvSpPr>
        <p:spPr>
          <a:xfrm>
            <a:off x="3870750" y="5902884"/>
            <a:ext cx="4958499" cy="400110"/>
          </a:xfrm>
          <a:prstGeom prst="rect">
            <a:avLst/>
          </a:prstGeom>
          <a:noFill/>
        </p:spPr>
        <p:txBody>
          <a:bodyPr wrap="square" rtlCol="0">
            <a:spAutoFit/>
          </a:bodyPr>
          <a:lstStyle/>
          <a:p>
            <a:r>
              <a:rPr lang="en-IN" sz="2000" b="1" dirty="0">
                <a:solidFill>
                  <a:schemeClr val="accent1"/>
                </a:solidFill>
                <a:latin typeface="Times New Roman" panose="02020603050405020304" pitchFamily="18" charset="0"/>
                <a:cs typeface="Times New Roman" panose="02020603050405020304" pitchFamily="18" charset="0"/>
              </a:rPr>
              <a:t>Figure: </a:t>
            </a:r>
            <a:r>
              <a:rPr lang="en-IN" sz="2000" b="1" i="1" dirty="0">
                <a:latin typeface="Times New Roman" panose="02020603050405020304" pitchFamily="18" charset="0"/>
                <a:cs typeface="Times New Roman" panose="02020603050405020304" pitchFamily="18" charset="0"/>
              </a:rPr>
              <a:t>Implementation of BPSK</a:t>
            </a:r>
          </a:p>
        </p:txBody>
      </p:sp>
      <p:sp>
        <p:nvSpPr>
          <p:cNvPr id="2" name="TextBox 1">
            <a:extLst>
              <a:ext uri="{FF2B5EF4-FFF2-40B4-BE49-F238E27FC236}">
                <a16:creationId xmlns:a16="http://schemas.microsoft.com/office/drawing/2014/main" id="{49AC8709-AB06-4084-2FAB-A67657EF800A}"/>
              </a:ext>
            </a:extLst>
          </p:cNvPr>
          <p:cNvSpPr txBox="1"/>
          <p:nvPr/>
        </p:nvSpPr>
        <p:spPr>
          <a:xfrm>
            <a:off x="561437" y="1442796"/>
            <a:ext cx="10942320" cy="461665"/>
          </a:xfrm>
          <a:prstGeom prst="rect">
            <a:avLst/>
          </a:prstGeom>
          <a:noFill/>
        </p:spPr>
        <p:txBody>
          <a:bodyPr wrap="square">
            <a:spAutoFit/>
          </a:bodyPr>
          <a:lstStyle/>
          <a:p>
            <a:r>
              <a:rPr lang="en-US" sz="2400" dirty="0">
                <a:solidFill>
                  <a:srgbClr val="00B050"/>
                </a:solidFill>
                <a:latin typeface="Times New Roman" panose="02020603050405020304" pitchFamily="18" charset="0"/>
                <a:ea typeface="+mj-ea"/>
                <a:cs typeface="Times New Roman" panose="02020603050405020304" pitchFamily="18" charset="0"/>
              </a:rPr>
              <a:t>BPSK modulated signal is generated by multiplying </a:t>
            </a:r>
            <a:r>
              <a:rPr lang="en-US" sz="2400" dirty="0">
                <a:solidFill>
                  <a:srgbClr val="FF0000"/>
                </a:solidFill>
                <a:latin typeface="Times New Roman" panose="02020603050405020304" pitchFamily="18" charset="0"/>
                <a:ea typeface="+mj-ea"/>
                <a:cs typeface="Times New Roman" panose="02020603050405020304" pitchFamily="18" charset="0"/>
              </a:rPr>
              <a:t>Polar NRZ </a:t>
            </a:r>
            <a:r>
              <a:rPr lang="en-US" sz="2400" dirty="0">
                <a:solidFill>
                  <a:srgbClr val="00B050"/>
                </a:solidFill>
                <a:latin typeface="Times New Roman" panose="02020603050405020304" pitchFamily="18" charset="0"/>
                <a:ea typeface="+mj-ea"/>
                <a:cs typeface="Times New Roman" panose="02020603050405020304" pitchFamily="18" charset="0"/>
              </a:rPr>
              <a:t>with carrier signal.</a:t>
            </a:r>
          </a:p>
        </p:txBody>
      </p:sp>
      <p:sp>
        <p:nvSpPr>
          <p:cNvPr id="7" name="Title 1">
            <a:extLst>
              <a:ext uri="{FF2B5EF4-FFF2-40B4-BE49-F238E27FC236}">
                <a16:creationId xmlns:a16="http://schemas.microsoft.com/office/drawing/2014/main" id="{B46EF253-F245-F0F2-EE10-AC14ABE12589}"/>
              </a:ext>
            </a:extLst>
          </p:cNvPr>
          <p:cNvSpPr txBox="1">
            <a:spLocks/>
          </p:cNvSpPr>
          <p:nvPr/>
        </p:nvSpPr>
        <p:spPr>
          <a:xfrm>
            <a:off x="1215910" y="280779"/>
            <a:ext cx="9618692" cy="116201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800" b="1" dirty="0">
                <a:solidFill>
                  <a:schemeClr val="accent1"/>
                </a:solidFill>
                <a:latin typeface="Times New Roman" panose="02020603050405020304" pitchFamily="18" charset="0"/>
                <a:cs typeface="Times New Roman" panose="02020603050405020304" pitchFamily="18" charset="0"/>
              </a:rPr>
              <a:t>Binary Phase Shift Keying (BPSK)</a:t>
            </a:r>
          </a:p>
        </p:txBody>
      </p:sp>
    </p:spTree>
    <p:extLst>
      <p:ext uri="{BB962C8B-B14F-4D97-AF65-F5344CB8AC3E}">
        <p14:creationId xmlns:p14="http://schemas.microsoft.com/office/powerpoint/2010/main" val="1282625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B13B-E09C-B65B-03F2-2A7185FE1AEE}"/>
              </a:ext>
            </a:extLst>
          </p:cNvPr>
          <p:cNvSpPr>
            <a:spLocks noGrp="1"/>
          </p:cNvSpPr>
          <p:nvPr>
            <p:ph type="title"/>
          </p:nvPr>
        </p:nvSpPr>
        <p:spPr>
          <a:xfrm>
            <a:off x="159470" y="24614"/>
            <a:ext cx="8154971" cy="1312846"/>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Analog to Analog Conversion</a:t>
            </a:r>
          </a:p>
        </p:txBody>
      </p:sp>
      <p:sp>
        <p:nvSpPr>
          <p:cNvPr id="3" name="Content Placeholder 2">
            <a:extLst>
              <a:ext uri="{FF2B5EF4-FFF2-40B4-BE49-F238E27FC236}">
                <a16:creationId xmlns:a16="http://schemas.microsoft.com/office/drawing/2014/main" id="{2DEABF8C-FB07-17D6-E509-B4345E398105}"/>
              </a:ext>
            </a:extLst>
          </p:cNvPr>
          <p:cNvSpPr>
            <a:spLocks noGrp="1"/>
          </p:cNvSpPr>
          <p:nvPr>
            <p:ph idx="1"/>
          </p:nvPr>
        </p:nvSpPr>
        <p:spPr>
          <a:xfrm>
            <a:off x="304800" y="1204552"/>
            <a:ext cx="11277600" cy="3170581"/>
          </a:xfrm>
        </p:spPr>
        <p:txBody>
          <a:bodyPr>
            <a:normAutofit/>
          </a:bodyPr>
          <a:lstStyle/>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Analog-to-analog conversion or analog modulation is the representation of analog information by an analog signal.</a:t>
            </a:r>
          </a:p>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One may ask why we need to modulate an analog signal; it is already analog.</a:t>
            </a:r>
          </a:p>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Modulation is needed if the medium is bandpass in nature or if only a bandpass channel is available to us.</a:t>
            </a:r>
          </a:p>
        </p:txBody>
      </p:sp>
      <p:pic>
        <p:nvPicPr>
          <p:cNvPr id="5" name="Picture 4">
            <a:extLst>
              <a:ext uri="{FF2B5EF4-FFF2-40B4-BE49-F238E27FC236}">
                <a16:creationId xmlns:a16="http://schemas.microsoft.com/office/drawing/2014/main" id="{6EC2126A-1DF6-C169-6787-E88FEA02D6B7}"/>
              </a:ext>
            </a:extLst>
          </p:cNvPr>
          <p:cNvPicPr>
            <a:picLocks noChangeAspect="1"/>
          </p:cNvPicPr>
          <p:nvPr/>
        </p:nvPicPr>
        <p:blipFill rotWithShape="1">
          <a:blip r:embed="rId2">
            <a:extLst>
              <a:ext uri="{28A0092B-C50C-407E-A947-70E740481C1C}">
                <a14:useLocalDpi xmlns:a14="http://schemas.microsoft.com/office/drawing/2010/main" val="0"/>
              </a:ext>
            </a:extLst>
          </a:blip>
          <a:srcRect l="2508" t="35464" r="4605" b="31134"/>
          <a:stretch/>
        </p:blipFill>
        <p:spPr>
          <a:xfrm>
            <a:off x="1849225" y="4409713"/>
            <a:ext cx="8493550" cy="2290715"/>
          </a:xfrm>
          <a:prstGeom prst="rect">
            <a:avLst/>
          </a:prstGeom>
        </p:spPr>
      </p:pic>
    </p:spTree>
    <p:extLst>
      <p:ext uri="{BB962C8B-B14F-4D97-AF65-F5344CB8AC3E}">
        <p14:creationId xmlns:p14="http://schemas.microsoft.com/office/powerpoint/2010/main" val="4016283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3A81-8D80-F281-40A5-C73FC419DBDD}"/>
              </a:ext>
            </a:extLst>
          </p:cNvPr>
          <p:cNvSpPr>
            <a:spLocks noGrp="1"/>
          </p:cNvSpPr>
          <p:nvPr>
            <p:ph type="title"/>
          </p:nvPr>
        </p:nvSpPr>
        <p:spPr>
          <a:xfrm>
            <a:off x="2434577" y="-351013"/>
            <a:ext cx="7735583" cy="1325563"/>
          </a:xfrm>
        </p:spPr>
        <p:txBody>
          <a:bodyPr>
            <a:normAutofit fontScale="90000"/>
          </a:bodyPr>
          <a:lstStyle/>
          <a:p>
            <a:r>
              <a:rPr lang="en-IN" sz="4800" b="1" dirty="0">
                <a:solidFill>
                  <a:schemeClr val="accent1"/>
                </a:solidFill>
                <a:latin typeface="Times New Roman" panose="02020603050405020304" pitchFamily="18" charset="0"/>
                <a:cs typeface="Times New Roman" panose="02020603050405020304" pitchFamily="18" charset="0"/>
              </a:rPr>
              <a:t>Amplitude Modulation (AM)</a:t>
            </a:r>
          </a:p>
        </p:txBody>
      </p:sp>
      <p:sp>
        <p:nvSpPr>
          <p:cNvPr id="3" name="Content Placeholder 2">
            <a:extLst>
              <a:ext uri="{FF2B5EF4-FFF2-40B4-BE49-F238E27FC236}">
                <a16:creationId xmlns:a16="http://schemas.microsoft.com/office/drawing/2014/main" id="{617CBC50-AD8B-E56A-89B0-055E414CF1CA}"/>
              </a:ext>
            </a:extLst>
          </p:cNvPr>
          <p:cNvSpPr>
            <a:spLocks noGrp="1"/>
          </p:cNvSpPr>
          <p:nvPr>
            <p:ph idx="1"/>
          </p:nvPr>
        </p:nvSpPr>
        <p:spPr>
          <a:xfrm>
            <a:off x="0" y="716122"/>
            <a:ext cx="11887200" cy="1895475"/>
          </a:xfrm>
        </p:spPr>
        <p:txBody>
          <a:bodyPr>
            <a:normAutofit/>
          </a:bodyPr>
          <a:lstStyle/>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 </a:t>
            </a:r>
            <a:r>
              <a:rPr lang="en-IN" sz="2400" i="1" dirty="0">
                <a:solidFill>
                  <a:schemeClr val="accent1"/>
                </a:solidFill>
                <a:latin typeface="Times New Roman" panose="02020603050405020304" pitchFamily="18" charset="0"/>
                <a:cs typeface="Times New Roman" panose="02020603050405020304" pitchFamily="18" charset="0"/>
              </a:rPr>
              <a:t>AM transmission</a:t>
            </a:r>
            <a:r>
              <a:rPr lang="en-IN" sz="2400" dirty="0">
                <a:latin typeface="Times New Roman" panose="02020603050405020304" pitchFamily="18" charset="0"/>
                <a:cs typeface="Times New Roman" panose="02020603050405020304" pitchFamily="18" charset="0"/>
              </a:rPr>
              <a:t>, the </a:t>
            </a:r>
            <a:r>
              <a:rPr lang="en-IN" sz="2400" i="1" dirty="0">
                <a:solidFill>
                  <a:schemeClr val="accent1"/>
                </a:solidFill>
                <a:latin typeface="Times New Roman" panose="02020603050405020304" pitchFamily="18" charset="0"/>
                <a:cs typeface="Times New Roman" panose="02020603050405020304" pitchFamily="18" charset="0"/>
              </a:rPr>
              <a:t>amplitude</a:t>
            </a:r>
            <a:r>
              <a:rPr lang="en-IN" sz="2400" dirty="0">
                <a:latin typeface="Times New Roman" panose="02020603050405020304" pitchFamily="18" charset="0"/>
                <a:cs typeface="Times New Roman" panose="02020603050405020304" pitchFamily="18" charset="0"/>
              </a:rPr>
              <a:t> of the carrier signal varies with the changing amplitudes of the modulating signal. </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The modulating signal is the envelope of the carrier.</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The required bandwidth is </a:t>
            </a:r>
            <a:r>
              <a:rPr lang="en-IN" sz="2400" i="1" dirty="0">
                <a:solidFill>
                  <a:schemeClr val="accent1"/>
                </a:solidFill>
                <a:latin typeface="Times New Roman" panose="02020603050405020304" pitchFamily="18" charset="0"/>
                <a:cs typeface="Times New Roman" panose="02020603050405020304" pitchFamily="18" charset="0"/>
              </a:rPr>
              <a:t>2B</a:t>
            </a:r>
            <a:r>
              <a:rPr lang="en-IN" sz="2400" dirty="0">
                <a:latin typeface="Times New Roman" panose="02020603050405020304" pitchFamily="18" charset="0"/>
                <a:cs typeface="Times New Roman" panose="02020603050405020304" pitchFamily="18" charset="0"/>
              </a:rPr>
              <a:t>, where </a:t>
            </a:r>
            <a:r>
              <a:rPr lang="en-IN" sz="2400" i="1" dirty="0">
                <a:solidFill>
                  <a:schemeClr val="accent1"/>
                </a:solidFill>
                <a:latin typeface="Times New Roman" panose="02020603050405020304" pitchFamily="18" charset="0"/>
                <a:cs typeface="Times New Roman" panose="02020603050405020304" pitchFamily="18" charset="0"/>
              </a:rPr>
              <a:t>B</a:t>
            </a:r>
            <a:r>
              <a:rPr lang="en-IN" sz="2400" dirty="0">
                <a:latin typeface="Times New Roman" panose="02020603050405020304" pitchFamily="18" charset="0"/>
                <a:cs typeface="Times New Roman" panose="02020603050405020304" pitchFamily="18" charset="0"/>
              </a:rPr>
              <a:t> is the bandwidth of the modulating signal. </a:t>
            </a:r>
          </a:p>
        </p:txBody>
      </p:sp>
      <p:pic>
        <p:nvPicPr>
          <p:cNvPr id="4" name="Picture 3">
            <a:extLst>
              <a:ext uri="{FF2B5EF4-FFF2-40B4-BE49-F238E27FC236}">
                <a16:creationId xmlns:a16="http://schemas.microsoft.com/office/drawing/2014/main" id="{F5CAD4C7-4F77-AA15-0C00-C51C63BA2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731" y="2611597"/>
            <a:ext cx="8821737" cy="395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8945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C83E-FB2C-34D3-9B80-BA10A812E59B}"/>
              </a:ext>
            </a:extLst>
          </p:cNvPr>
          <p:cNvSpPr>
            <a:spLocks noGrp="1"/>
          </p:cNvSpPr>
          <p:nvPr>
            <p:ph type="title"/>
          </p:nvPr>
        </p:nvSpPr>
        <p:spPr>
          <a:xfrm>
            <a:off x="2350783" y="-132377"/>
            <a:ext cx="8711153" cy="1228005"/>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Frequency Modulation (FM)</a:t>
            </a:r>
          </a:p>
        </p:txBody>
      </p:sp>
      <p:sp>
        <p:nvSpPr>
          <p:cNvPr id="3" name="Content Placeholder 2">
            <a:extLst>
              <a:ext uri="{FF2B5EF4-FFF2-40B4-BE49-F238E27FC236}">
                <a16:creationId xmlns:a16="http://schemas.microsoft.com/office/drawing/2014/main" id="{C80A1849-4B98-92B6-D9BB-E07696DF81F8}"/>
              </a:ext>
            </a:extLst>
          </p:cNvPr>
          <p:cNvSpPr>
            <a:spLocks noGrp="1"/>
          </p:cNvSpPr>
          <p:nvPr>
            <p:ph idx="1"/>
          </p:nvPr>
        </p:nvSpPr>
        <p:spPr>
          <a:xfrm>
            <a:off x="162560" y="896803"/>
            <a:ext cx="12192000" cy="1429837"/>
          </a:xfrm>
        </p:spPr>
        <p:txBody>
          <a:bodyPr>
            <a:normAutofit/>
          </a:bodyPr>
          <a:lstStyle/>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modulating signal changes the </a:t>
            </a:r>
            <a:r>
              <a:rPr lang="en-IN" sz="2400" i="1" dirty="0">
                <a:solidFill>
                  <a:schemeClr val="accent1"/>
                </a:solidFill>
                <a:latin typeface="Times New Roman" panose="02020603050405020304" pitchFamily="18" charset="0"/>
                <a:cs typeface="Times New Roman" panose="02020603050405020304" pitchFamily="18" charset="0"/>
              </a:rPr>
              <a:t>frequency</a:t>
            </a:r>
            <a:r>
              <a:rPr lang="en-IN" sz="2400" dirty="0">
                <a:latin typeface="Times New Roman" panose="02020603050405020304" pitchFamily="18" charset="0"/>
                <a:cs typeface="Times New Roman" panose="02020603050405020304" pitchFamily="18" charset="0"/>
              </a:rPr>
              <a:t> </a:t>
            </a:r>
            <a:r>
              <a:rPr lang="en-IN" sz="2400" dirty="0">
                <a:solidFill>
                  <a:schemeClr val="accent1"/>
                </a:solidFill>
                <a:latin typeface="Times New Roman" panose="02020603050405020304" pitchFamily="18" charset="0"/>
                <a:cs typeface="Times New Roman" panose="02020603050405020304" pitchFamily="18" charset="0"/>
              </a:rPr>
              <a:t>(</a:t>
            </a:r>
            <a:r>
              <a:rPr lang="en-IN" sz="2400" i="1" dirty="0">
                <a:solidFill>
                  <a:schemeClr val="accent1"/>
                </a:solidFill>
                <a:latin typeface="Times New Roman" panose="02020603050405020304" pitchFamily="18" charset="0"/>
                <a:cs typeface="Times New Roman" panose="02020603050405020304" pitchFamily="18" charset="0"/>
              </a:rPr>
              <a:t>fc</a:t>
            </a:r>
            <a:r>
              <a:rPr lang="en-IN" sz="2400" dirty="0">
                <a:solidFill>
                  <a:schemeClr val="accent1"/>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of the carrier signal.</a:t>
            </a:r>
          </a:p>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frequency of the oscillator changes according to the input voltage.  </a:t>
            </a:r>
          </a:p>
        </p:txBody>
      </p:sp>
      <p:pic>
        <p:nvPicPr>
          <p:cNvPr id="4" name="Picture 3">
            <a:extLst>
              <a:ext uri="{FF2B5EF4-FFF2-40B4-BE49-F238E27FC236}">
                <a16:creationId xmlns:a16="http://schemas.microsoft.com/office/drawing/2014/main" id="{17929FF9-5D03-4EC2-9DAB-80C097C1D5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480" y="2326640"/>
            <a:ext cx="8839200" cy="433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1010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E7AAE-FB74-E76A-11E7-33E0BCF03DF6}"/>
              </a:ext>
            </a:extLst>
          </p:cNvPr>
          <p:cNvSpPr>
            <a:spLocks noGrp="1"/>
          </p:cNvSpPr>
          <p:nvPr>
            <p:ph type="title"/>
          </p:nvPr>
        </p:nvSpPr>
        <p:spPr>
          <a:xfrm>
            <a:off x="2647623" y="-142240"/>
            <a:ext cx="1051560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Phase Modulation (PM)</a:t>
            </a:r>
          </a:p>
        </p:txBody>
      </p:sp>
      <p:sp>
        <p:nvSpPr>
          <p:cNvPr id="3" name="Content Placeholder 2">
            <a:extLst>
              <a:ext uri="{FF2B5EF4-FFF2-40B4-BE49-F238E27FC236}">
                <a16:creationId xmlns:a16="http://schemas.microsoft.com/office/drawing/2014/main" id="{B336C9DD-928E-64B4-6066-7A57E8303E13}"/>
              </a:ext>
            </a:extLst>
          </p:cNvPr>
          <p:cNvSpPr>
            <a:spLocks noGrp="1"/>
          </p:cNvSpPr>
          <p:nvPr>
            <p:ph idx="1"/>
          </p:nvPr>
        </p:nvSpPr>
        <p:spPr>
          <a:xfrm>
            <a:off x="0" y="1102937"/>
            <a:ext cx="11887200" cy="1873943"/>
          </a:xfrm>
        </p:spPr>
        <p:txBody>
          <a:bodyPr>
            <a:normAutofit/>
          </a:bodyPr>
          <a:lstStyle/>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modulating signal only changes the phase of the carrier signal.</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a:t>
            </a:r>
            <a:r>
              <a:rPr lang="en-IN" sz="2400" i="1" dirty="0">
                <a:solidFill>
                  <a:schemeClr val="accent1"/>
                </a:solidFill>
                <a:latin typeface="Times New Roman" panose="02020603050405020304" pitchFamily="18" charset="0"/>
                <a:cs typeface="Times New Roman" panose="02020603050405020304" pitchFamily="18" charset="0"/>
              </a:rPr>
              <a:t>phase change </a:t>
            </a:r>
            <a:r>
              <a:rPr lang="en-IN" sz="2400" dirty="0">
                <a:latin typeface="Times New Roman" panose="02020603050405020304" pitchFamily="18" charset="0"/>
                <a:cs typeface="Times New Roman" panose="02020603050405020304" pitchFamily="18" charset="0"/>
              </a:rPr>
              <a:t>manifests itself as a frequency change but the instantaneous frequency change is proportional to the derivative of the amplitude.</a:t>
            </a:r>
          </a:p>
        </p:txBody>
      </p:sp>
      <p:pic>
        <p:nvPicPr>
          <p:cNvPr id="4" name="Picture 3">
            <a:extLst>
              <a:ext uri="{FF2B5EF4-FFF2-40B4-BE49-F238E27FC236}">
                <a16:creationId xmlns:a16="http://schemas.microsoft.com/office/drawing/2014/main" id="{75A94D55-9333-980E-B0D5-DED2AB368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950" y="2584450"/>
            <a:ext cx="877570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1583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87C8-DF9C-7C0D-3363-8FD1B388CDD2}"/>
              </a:ext>
            </a:extLst>
          </p:cNvPr>
          <p:cNvSpPr>
            <a:spLocks noGrp="1"/>
          </p:cNvSpPr>
          <p:nvPr>
            <p:ph type="title"/>
          </p:nvPr>
        </p:nvSpPr>
        <p:spPr>
          <a:xfrm>
            <a:off x="753359" y="2766218"/>
            <a:ext cx="10515600" cy="1325563"/>
          </a:xfrm>
        </p:spPr>
        <p:txBody>
          <a:bodyPr>
            <a:normAutofit/>
          </a:bodyPr>
          <a:lstStyle/>
          <a:p>
            <a:pPr algn="ctr"/>
            <a:r>
              <a:rPr lang="en-IN" sz="6800" dirty="0">
                <a:solidFill>
                  <a:schemeClr val="accent1"/>
                </a:solidFill>
                <a:latin typeface="Accord Heavy SF" panose="020BE200000000000000" pitchFamily="34" charset="0"/>
              </a:rPr>
              <a:t>MULTIPLEXING</a:t>
            </a:r>
          </a:p>
        </p:txBody>
      </p:sp>
    </p:spTree>
    <p:extLst>
      <p:ext uri="{BB962C8B-B14F-4D97-AF65-F5344CB8AC3E}">
        <p14:creationId xmlns:p14="http://schemas.microsoft.com/office/powerpoint/2010/main" val="1967635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B1C0CE-D6A5-2AA7-A6AE-43942331E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5" y="4075113"/>
            <a:ext cx="8464550"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a:extLst>
              <a:ext uri="{FF2B5EF4-FFF2-40B4-BE49-F238E27FC236}">
                <a16:creationId xmlns:a16="http://schemas.microsoft.com/office/drawing/2014/main" id="{EF4F3FFF-BC41-0C53-788C-64BD1C4978ED}"/>
              </a:ext>
            </a:extLst>
          </p:cNvPr>
          <p:cNvSpPr>
            <a:spLocks noGrp="1"/>
          </p:cNvSpPr>
          <p:nvPr>
            <p:ph idx="1"/>
          </p:nvPr>
        </p:nvSpPr>
        <p:spPr>
          <a:xfrm>
            <a:off x="213360" y="1047431"/>
            <a:ext cx="11744960" cy="2702561"/>
          </a:xfrm>
        </p:spPr>
        <p:txBody>
          <a:bodyPr>
            <a:normAutofit fontScale="92500"/>
          </a:bodyPr>
          <a:lstStyle/>
          <a:p>
            <a:pPr>
              <a:lnSpc>
                <a:spcPct val="110000"/>
              </a:lnSpc>
            </a:pPr>
            <a:r>
              <a:rPr lang="en-US" b="1" dirty="0">
                <a:latin typeface="Times New Roman" panose="02020603050405020304" pitchFamily="18" charset="0"/>
                <a:cs typeface="Times New Roman" panose="02020603050405020304" pitchFamily="18" charset="0"/>
              </a:rPr>
              <a:t>Multiplexing</a:t>
            </a:r>
            <a:r>
              <a:rPr lang="en-US" dirty="0">
                <a:latin typeface="Times New Roman" panose="02020603050405020304" pitchFamily="18" charset="0"/>
                <a:cs typeface="Times New Roman" panose="02020603050405020304" pitchFamily="18" charset="0"/>
              </a:rPr>
              <a:t> is a technique that allow the simultaneous transmission of multiple signals across a single data link.</a:t>
            </a:r>
          </a:p>
          <a:p>
            <a:pPr>
              <a:lnSpc>
                <a:spcPct val="110000"/>
              </a:lnSpc>
            </a:pPr>
            <a:r>
              <a:rPr lang="en-US" b="1" dirty="0">
                <a:latin typeface="Times New Roman" panose="02020603050405020304" pitchFamily="18" charset="0"/>
                <a:cs typeface="Times New Roman" panose="02020603050405020304" pitchFamily="18" charset="0"/>
              </a:rPr>
              <a:t>Multiplexer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(MUX), </a:t>
            </a:r>
            <a:r>
              <a:rPr lang="en-US" dirty="0">
                <a:latin typeface="Times New Roman" panose="02020603050405020304" pitchFamily="18" charset="0"/>
                <a:cs typeface="Times New Roman" panose="02020603050405020304" pitchFamily="18" charset="0"/>
              </a:rPr>
              <a:t>combines n streams of data into a single stream (many-to-one).</a:t>
            </a:r>
          </a:p>
          <a:p>
            <a:pPr>
              <a:lnSpc>
                <a:spcPct val="110000"/>
              </a:lnSpc>
            </a:pPr>
            <a:r>
              <a:rPr lang="en-US" b="1" dirty="0">
                <a:latin typeface="Times New Roman" panose="02020603050405020304" pitchFamily="18" charset="0"/>
                <a:cs typeface="Times New Roman" panose="02020603050405020304" pitchFamily="18" charset="0"/>
              </a:rPr>
              <a:t>Demultiplexer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(DEMUX), </a:t>
            </a:r>
            <a:r>
              <a:rPr lang="en-US" dirty="0">
                <a:latin typeface="Times New Roman" panose="02020603050405020304" pitchFamily="18" charset="0"/>
                <a:cs typeface="Times New Roman" panose="02020603050405020304" pitchFamily="18" charset="0"/>
              </a:rPr>
              <a:t>which separates the stream back into its component transmissions (one-to-many) and directs them to their corresponding lines.</a:t>
            </a:r>
            <a:endParaRPr lang="en-IN"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435CE647-23F0-7E40-AD70-E8A33A1B7FAB}"/>
              </a:ext>
            </a:extLst>
          </p:cNvPr>
          <p:cNvSpPr>
            <a:spLocks noGrp="1"/>
          </p:cNvSpPr>
          <p:nvPr>
            <p:ph type="title"/>
          </p:nvPr>
        </p:nvSpPr>
        <p:spPr>
          <a:xfrm>
            <a:off x="529839" y="-49847"/>
            <a:ext cx="10515600" cy="1325563"/>
          </a:xfrm>
        </p:spPr>
        <p:txBody>
          <a:bodyPr>
            <a:normAutofit/>
          </a:bodyPr>
          <a:lstStyle/>
          <a:p>
            <a:pPr algn="ctr"/>
            <a:r>
              <a:rPr lang="en-IN" dirty="0">
                <a:solidFill>
                  <a:srgbClr val="0070C0"/>
                </a:solidFill>
                <a:latin typeface="Times New Roman" panose="02020603050405020304" pitchFamily="18" charset="0"/>
                <a:cs typeface="Times New Roman" panose="02020603050405020304" pitchFamily="18" charset="0"/>
              </a:rPr>
              <a:t>MULTIPLEXING</a:t>
            </a:r>
          </a:p>
        </p:txBody>
      </p:sp>
    </p:spTree>
    <p:extLst>
      <p:ext uri="{BB962C8B-B14F-4D97-AF65-F5344CB8AC3E}">
        <p14:creationId xmlns:p14="http://schemas.microsoft.com/office/powerpoint/2010/main" val="2148281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7DAC3B-6557-4666-9E2B-56205CFE1590}"/>
              </a:ext>
            </a:extLst>
          </p:cNvPr>
          <p:cNvSpPr txBox="1"/>
          <p:nvPr/>
        </p:nvSpPr>
        <p:spPr>
          <a:xfrm>
            <a:off x="1703109" y="461913"/>
            <a:ext cx="8785781" cy="830997"/>
          </a:xfrm>
          <a:prstGeom prst="rect">
            <a:avLst/>
          </a:prstGeom>
          <a:noFill/>
        </p:spPr>
        <p:txBody>
          <a:bodyPr wrap="square" rtlCol="0">
            <a:spAutoFit/>
          </a:bodyPr>
          <a:lstStyle/>
          <a:p>
            <a:r>
              <a:rPr lang="en-IN" sz="4800" b="1" dirty="0">
                <a:solidFill>
                  <a:schemeClr val="accent1"/>
                </a:solidFill>
                <a:latin typeface="Accord SF" panose="020BE200000000000000" pitchFamily="34" charset="0"/>
              </a:rPr>
              <a:t>TYPES OF MULTIPLEXING</a:t>
            </a:r>
          </a:p>
        </p:txBody>
      </p:sp>
      <p:pic>
        <p:nvPicPr>
          <p:cNvPr id="2" name="Picture 1">
            <a:extLst>
              <a:ext uri="{FF2B5EF4-FFF2-40B4-BE49-F238E27FC236}">
                <a16:creationId xmlns:a16="http://schemas.microsoft.com/office/drawing/2014/main" id="{10E91B41-7996-4DD6-1E22-0C0178210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50" y="2224088"/>
            <a:ext cx="8318500"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188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E7C682-4ED4-3046-E365-9246CBC96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658" y="3778360"/>
            <a:ext cx="8793163" cy="225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a:extLst>
              <a:ext uri="{FF2B5EF4-FFF2-40B4-BE49-F238E27FC236}">
                <a16:creationId xmlns:a16="http://schemas.microsoft.com/office/drawing/2014/main" id="{EBDB8E54-A7CD-E226-7B93-AEC82CC5202A}"/>
              </a:ext>
            </a:extLst>
          </p:cNvPr>
          <p:cNvSpPr txBox="1">
            <a:spLocks/>
          </p:cNvSpPr>
          <p:nvPr/>
        </p:nvSpPr>
        <p:spPr>
          <a:xfrm>
            <a:off x="838200" y="911224"/>
            <a:ext cx="10957560" cy="265493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solidFill>
                  <a:srgbClr val="FF0000"/>
                </a:solidFill>
              </a:rPr>
              <a:t>FDM is an analog multiplexing technique that combines analog signals.</a:t>
            </a:r>
            <a:endParaRPr lang="en-US" b="1"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digital signal can be converted to an analog signal before FDM is used to multiplex them.</a:t>
            </a:r>
          </a:p>
          <a:p>
            <a:r>
              <a:rPr lang="en-US" b="1" dirty="0">
                <a:latin typeface="Times New Roman" panose="02020603050405020304" pitchFamily="18" charset="0"/>
                <a:cs typeface="Times New Roman" panose="02020603050405020304" pitchFamily="18" charset="0"/>
              </a:rPr>
              <a:t>Guard bands: </a:t>
            </a:r>
            <a:r>
              <a:rPr lang="en-US" dirty="0">
                <a:latin typeface="Times New Roman" panose="02020603050405020304" pitchFamily="18" charset="0"/>
                <a:cs typeface="Times New Roman" panose="02020603050405020304" pitchFamily="18" charset="0"/>
              </a:rPr>
              <a:t>to separate signals of different carrier frequencies.</a:t>
            </a:r>
          </a:p>
          <a:p>
            <a:r>
              <a:rPr lang="en-US" dirty="0">
                <a:latin typeface="Times New Roman" panose="02020603050405020304" pitchFamily="18" charset="0"/>
                <a:cs typeface="Times New Roman" panose="02020603050405020304" pitchFamily="18" charset="0"/>
              </a:rPr>
              <a:t>Use: Telephone lines, FM, AM.</a:t>
            </a:r>
          </a:p>
        </p:txBody>
      </p:sp>
      <p:sp>
        <p:nvSpPr>
          <p:cNvPr id="4" name="TextBox 3">
            <a:extLst>
              <a:ext uri="{FF2B5EF4-FFF2-40B4-BE49-F238E27FC236}">
                <a16:creationId xmlns:a16="http://schemas.microsoft.com/office/drawing/2014/main" id="{D98BEBF4-15AA-AD98-11CF-E11F3F80099E}"/>
              </a:ext>
            </a:extLst>
          </p:cNvPr>
          <p:cNvSpPr txBox="1"/>
          <p:nvPr/>
        </p:nvSpPr>
        <p:spPr>
          <a:xfrm>
            <a:off x="235670" y="263951"/>
            <a:ext cx="11142483" cy="646331"/>
          </a:xfrm>
          <a:prstGeom prst="rect">
            <a:avLst/>
          </a:prstGeom>
          <a:noFill/>
        </p:spPr>
        <p:txBody>
          <a:bodyPr wrap="square" rtlCol="0">
            <a:spAutoFit/>
          </a:bodyPr>
          <a:lstStyle/>
          <a:p>
            <a:r>
              <a:rPr lang="en-IN" sz="3600" b="1" dirty="0">
                <a:solidFill>
                  <a:schemeClr val="accent1"/>
                </a:solidFill>
                <a:latin typeface="Accord SF" panose="020BE200000000000000" pitchFamily="34" charset="0"/>
              </a:rPr>
              <a:t>FREQUENCY DIVISION MULTIPLEXING (FDM)</a:t>
            </a:r>
          </a:p>
        </p:txBody>
      </p:sp>
    </p:spTree>
    <p:extLst>
      <p:ext uri="{BB962C8B-B14F-4D97-AF65-F5344CB8AC3E}">
        <p14:creationId xmlns:p14="http://schemas.microsoft.com/office/powerpoint/2010/main" val="1702901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Line 2">
            <a:extLst>
              <a:ext uri="{FF2B5EF4-FFF2-40B4-BE49-F238E27FC236}">
                <a16:creationId xmlns:a16="http://schemas.microsoft.com/office/drawing/2014/main" id="{FB26CE59-5BD4-BC83-92AB-2238208EF69F}"/>
              </a:ext>
            </a:extLst>
          </p:cNvPr>
          <p:cNvSpPr>
            <a:spLocks noChangeShapeType="1"/>
          </p:cNvSpPr>
          <p:nvPr/>
        </p:nvSpPr>
        <p:spPr bwMode="auto">
          <a:xfrm>
            <a:off x="1676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1795" name="Line 3">
            <a:extLst>
              <a:ext uri="{FF2B5EF4-FFF2-40B4-BE49-F238E27FC236}">
                <a16:creationId xmlns:a16="http://schemas.microsoft.com/office/drawing/2014/main" id="{5B619F69-850D-7477-EAB6-B1DEB9D57709}"/>
              </a:ext>
            </a:extLst>
          </p:cNvPr>
          <p:cNvSpPr>
            <a:spLocks noChangeShapeType="1"/>
          </p:cNvSpPr>
          <p:nvPr/>
        </p:nvSpPr>
        <p:spPr bwMode="auto">
          <a:xfrm>
            <a:off x="1676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1796" name="Text Box 4">
            <a:extLst>
              <a:ext uri="{FF2B5EF4-FFF2-40B4-BE49-F238E27FC236}">
                <a16:creationId xmlns:a16="http://schemas.microsoft.com/office/drawing/2014/main" id="{DF67D470-4C3C-B021-35B9-51A7527C2452}"/>
              </a:ext>
            </a:extLst>
          </p:cNvPr>
          <p:cNvSpPr txBox="1">
            <a:spLocks noChangeArrowheads="1"/>
          </p:cNvSpPr>
          <p:nvPr/>
        </p:nvSpPr>
        <p:spPr bwMode="auto">
          <a:xfrm>
            <a:off x="1828800" y="762000"/>
            <a:ext cx="15778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FDM process</a:t>
            </a:r>
          </a:p>
        </p:txBody>
      </p:sp>
      <p:sp>
        <p:nvSpPr>
          <p:cNvPr id="801797" name="Line 5">
            <a:extLst>
              <a:ext uri="{FF2B5EF4-FFF2-40B4-BE49-F238E27FC236}">
                <a16:creationId xmlns:a16="http://schemas.microsoft.com/office/drawing/2014/main" id="{91A3F175-D9D5-4788-DA52-11F7B4826394}"/>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01798" name="Picture 6">
            <a:extLst>
              <a:ext uri="{FF2B5EF4-FFF2-40B4-BE49-F238E27FC236}">
                <a16:creationId xmlns:a16="http://schemas.microsoft.com/office/drawing/2014/main" id="{07968DDC-7A7E-5A15-816B-87D1C86B8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00" y="1973264"/>
            <a:ext cx="8255000" cy="374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a:extLst>
              <a:ext uri="{FF2B5EF4-FFF2-40B4-BE49-F238E27FC236}">
                <a16:creationId xmlns:a16="http://schemas.microsoft.com/office/drawing/2014/main" id="{6D2D96F9-BFBC-BE6C-C2DB-D4E51A4E9068}"/>
              </a:ext>
            </a:extLst>
          </p:cNvPr>
          <p:cNvSpPr>
            <a:spLocks noGrp="1" noChangeArrowheads="1"/>
          </p:cNvSpPr>
          <p:nvPr>
            <p:ph type="title"/>
          </p:nvPr>
        </p:nvSpPr>
        <p:spPr bwMode="auto">
          <a:xfrm>
            <a:off x="2209800" y="6096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en-US" dirty="0"/>
              <a:t>Frequency Modulation</a:t>
            </a:r>
          </a:p>
        </p:txBody>
      </p:sp>
      <p:pic>
        <p:nvPicPr>
          <p:cNvPr id="929795" name="Picture 3">
            <a:extLst>
              <a:ext uri="{FF2B5EF4-FFF2-40B4-BE49-F238E27FC236}">
                <a16:creationId xmlns:a16="http://schemas.microsoft.com/office/drawing/2014/main" id="{E736229A-D2CF-D2FA-AC83-1E25D70A9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676" y="3089276"/>
            <a:ext cx="79343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Line 2">
            <a:extLst>
              <a:ext uri="{FF2B5EF4-FFF2-40B4-BE49-F238E27FC236}">
                <a16:creationId xmlns:a16="http://schemas.microsoft.com/office/drawing/2014/main" id="{F712EA4E-C96C-54DD-324B-E0AD06A43F8B}"/>
              </a:ext>
            </a:extLst>
          </p:cNvPr>
          <p:cNvSpPr>
            <a:spLocks noChangeShapeType="1"/>
          </p:cNvSpPr>
          <p:nvPr/>
        </p:nvSpPr>
        <p:spPr bwMode="auto">
          <a:xfrm>
            <a:off x="1676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2819" name="Line 3">
            <a:extLst>
              <a:ext uri="{FF2B5EF4-FFF2-40B4-BE49-F238E27FC236}">
                <a16:creationId xmlns:a16="http://schemas.microsoft.com/office/drawing/2014/main" id="{D3E89D09-275F-1D49-EA20-55B35F979BCE}"/>
              </a:ext>
            </a:extLst>
          </p:cNvPr>
          <p:cNvSpPr>
            <a:spLocks noChangeShapeType="1"/>
          </p:cNvSpPr>
          <p:nvPr/>
        </p:nvSpPr>
        <p:spPr bwMode="auto">
          <a:xfrm>
            <a:off x="1676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2820" name="Text Box 4">
            <a:extLst>
              <a:ext uri="{FF2B5EF4-FFF2-40B4-BE49-F238E27FC236}">
                <a16:creationId xmlns:a16="http://schemas.microsoft.com/office/drawing/2014/main" id="{C408D678-04B6-014C-A01A-E1AC00197913}"/>
              </a:ext>
            </a:extLst>
          </p:cNvPr>
          <p:cNvSpPr txBox="1">
            <a:spLocks noChangeArrowheads="1"/>
          </p:cNvSpPr>
          <p:nvPr/>
        </p:nvSpPr>
        <p:spPr bwMode="auto">
          <a:xfrm>
            <a:off x="1828801" y="762000"/>
            <a:ext cx="32447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FDM demultiplexing example</a:t>
            </a:r>
          </a:p>
        </p:txBody>
      </p:sp>
      <p:sp>
        <p:nvSpPr>
          <p:cNvPr id="802821" name="Line 5">
            <a:extLst>
              <a:ext uri="{FF2B5EF4-FFF2-40B4-BE49-F238E27FC236}">
                <a16:creationId xmlns:a16="http://schemas.microsoft.com/office/drawing/2014/main" id="{F2B8AA47-343E-BBFC-DF5F-263F91F3378E}"/>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02822" name="Picture 6">
            <a:extLst>
              <a:ext uri="{FF2B5EF4-FFF2-40B4-BE49-F238E27FC236}">
                <a16:creationId xmlns:a16="http://schemas.microsoft.com/office/drawing/2014/main" id="{B1E76494-ACD6-27D0-AD4D-ECA5DD8DD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576" y="1870076"/>
            <a:ext cx="8556625"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1CEBF4A9-FE6B-504F-3328-F1ECADD2986C}"/>
              </a:ext>
            </a:extLst>
          </p:cNvPr>
          <p:cNvSpPr>
            <a:spLocks noChangeArrowheads="1"/>
          </p:cNvSpPr>
          <p:nvPr/>
        </p:nvSpPr>
        <p:spPr bwMode="auto">
          <a:xfrm>
            <a:off x="205270" y="636171"/>
            <a:ext cx="117814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400" i="1" dirty="0">
                <a:latin typeface="Times New Roman" panose="02020603050405020304" pitchFamily="18" charset="0"/>
              </a:rPr>
              <a:t>Assume that a voice channel occupies a bandwidth of 4 kHz. We need to combine three voice channels into a link with a bandwidth of 12 kHz, from 20 to 32 kHz. Show the configuration, using the frequency domain. Assume there are no guard bands.</a:t>
            </a:r>
          </a:p>
        </p:txBody>
      </p:sp>
      <p:pic>
        <p:nvPicPr>
          <p:cNvPr id="4" name="Picture 6">
            <a:extLst>
              <a:ext uri="{FF2B5EF4-FFF2-40B4-BE49-F238E27FC236}">
                <a16:creationId xmlns:a16="http://schemas.microsoft.com/office/drawing/2014/main" id="{A2A6298D-1A4F-744C-DEE6-6C05114AED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080" y="2063929"/>
            <a:ext cx="7120090" cy="467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EE1B982-C982-5B0A-B80A-29864320762B}"/>
              </a:ext>
            </a:extLst>
          </p:cNvPr>
          <p:cNvSpPr txBox="1"/>
          <p:nvPr/>
        </p:nvSpPr>
        <p:spPr>
          <a:xfrm>
            <a:off x="1373590" y="-10160"/>
            <a:ext cx="11142483" cy="646331"/>
          </a:xfrm>
          <a:prstGeom prst="rect">
            <a:avLst/>
          </a:prstGeom>
          <a:noFill/>
        </p:spPr>
        <p:txBody>
          <a:bodyPr wrap="square" rtlCol="0">
            <a:spAutoFit/>
          </a:bodyPr>
          <a:lstStyle/>
          <a:p>
            <a:r>
              <a:rPr lang="en-IN" sz="3600" b="1" dirty="0">
                <a:solidFill>
                  <a:schemeClr val="accent1"/>
                </a:solidFill>
                <a:latin typeface="Accord SF" panose="020BE200000000000000" pitchFamily="34" charset="0"/>
              </a:rPr>
              <a:t>FREQUENCY DIVISION MULTIPLEXING (FDM)</a:t>
            </a:r>
          </a:p>
        </p:txBody>
      </p:sp>
    </p:spTree>
    <p:extLst>
      <p:ext uri="{BB962C8B-B14F-4D97-AF65-F5344CB8AC3E}">
        <p14:creationId xmlns:p14="http://schemas.microsoft.com/office/powerpoint/2010/main" val="563082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9" name="Rectangle 10">
            <a:extLst>
              <a:ext uri="{FF2B5EF4-FFF2-40B4-BE49-F238E27FC236}">
                <a16:creationId xmlns:a16="http://schemas.microsoft.com/office/drawing/2014/main" id="{67210A2A-76EC-4F5F-43ED-A60C31F7BA4A}"/>
              </a:ext>
            </a:extLst>
          </p:cNvPr>
          <p:cNvSpPr>
            <a:spLocks noChangeArrowheads="1"/>
          </p:cNvSpPr>
          <p:nvPr/>
        </p:nvSpPr>
        <p:spPr bwMode="auto">
          <a:xfrm>
            <a:off x="228600" y="269241"/>
            <a:ext cx="11607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dirty="0">
                <a:solidFill>
                  <a:srgbClr val="FF0000"/>
                </a:solidFill>
                <a:latin typeface="Times New Roman" panose="02020603050405020304" pitchFamily="18" charset="0"/>
              </a:rPr>
              <a:t>Five channels, each with a 100-kHz bandwidth, are to be multiplexed together. What is the minimum bandwidth of the link if there is a need for a guard band of 10 kHz between the channels to prevent interference?</a:t>
            </a:r>
          </a:p>
        </p:txBody>
      </p:sp>
      <p:sp>
        <p:nvSpPr>
          <p:cNvPr id="15370" name="Rectangle 11">
            <a:extLst>
              <a:ext uri="{FF2B5EF4-FFF2-40B4-BE49-F238E27FC236}">
                <a16:creationId xmlns:a16="http://schemas.microsoft.com/office/drawing/2014/main" id="{706411D6-0271-BBE4-EA6E-735985B4D465}"/>
              </a:ext>
            </a:extLst>
          </p:cNvPr>
          <p:cNvSpPr>
            <a:spLocks noChangeArrowheads="1"/>
          </p:cNvSpPr>
          <p:nvPr/>
        </p:nvSpPr>
        <p:spPr bwMode="auto">
          <a:xfrm>
            <a:off x="350520" y="1838672"/>
            <a:ext cx="8686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dirty="0">
                <a:solidFill>
                  <a:schemeClr val="hlink"/>
                </a:solidFill>
                <a:latin typeface="Times New Roman" panose="02020603050405020304" pitchFamily="18" charset="0"/>
              </a:rPr>
              <a:t>Solution</a:t>
            </a:r>
          </a:p>
          <a:p>
            <a:pPr algn="just"/>
            <a:r>
              <a:rPr lang="en-US" altLang="en-US" sz="2800" i="1" dirty="0">
                <a:latin typeface="Times" panose="02020603050405020304" pitchFamily="18" charset="0"/>
              </a:rPr>
              <a:t>For five channels, we need at least four guard bands. This means that the required bandwidth is at least </a:t>
            </a:r>
          </a:p>
          <a:p>
            <a:pPr algn="ctr"/>
            <a:r>
              <a:rPr lang="en-US" altLang="en-US" sz="2800" i="1" dirty="0">
                <a:solidFill>
                  <a:schemeClr val="hlink"/>
                </a:solidFill>
                <a:latin typeface="Times" panose="02020603050405020304" pitchFamily="18" charset="0"/>
              </a:rPr>
              <a:t>5 × 100 + 4 × 10 = 540 kHz,</a:t>
            </a:r>
            <a:r>
              <a:rPr lang="en-US" altLang="en-US" sz="2800" i="1" dirty="0">
                <a:latin typeface="Times" panose="02020603050405020304" pitchFamily="18" charset="0"/>
              </a:rPr>
              <a:t> </a:t>
            </a:r>
          </a:p>
          <a:p>
            <a:pPr algn="just"/>
            <a:r>
              <a:rPr lang="en-US" altLang="en-US" sz="2800" i="1" dirty="0">
                <a:latin typeface="Times" panose="02020603050405020304" pitchFamily="18" charset="0"/>
              </a:rPr>
              <a:t>as shown in Figure</a:t>
            </a:r>
          </a:p>
        </p:txBody>
      </p:sp>
      <p:pic>
        <p:nvPicPr>
          <p:cNvPr id="2" name="Picture 6">
            <a:extLst>
              <a:ext uri="{FF2B5EF4-FFF2-40B4-BE49-F238E27FC236}">
                <a16:creationId xmlns:a16="http://schemas.microsoft.com/office/drawing/2014/main" id="{372CE557-A5AD-1881-918F-944183F221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900" y="4250371"/>
            <a:ext cx="7696200"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1361E-97D8-43E9-F4F9-CAFFC196039E}"/>
              </a:ext>
            </a:extLst>
          </p:cNvPr>
          <p:cNvSpPr>
            <a:spLocks noGrp="1"/>
          </p:cNvSpPr>
          <p:nvPr>
            <p:ph idx="1"/>
          </p:nvPr>
        </p:nvSpPr>
        <p:spPr>
          <a:xfrm>
            <a:off x="0" y="1101408"/>
            <a:ext cx="12192000" cy="4351338"/>
          </a:xfrm>
        </p:spPr>
        <p:txBody>
          <a:bodyPr>
            <a:normAutofit/>
          </a:bodyPr>
          <a:lstStyle/>
          <a:p>
            <a:pPr algn="just">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This is an analog multiplexing technique to combine optical signals. </a:t>
            </a:r>
          </a:p>
        </p:txBody>
      </p:sp>
      <p:sp>
        <p:nvSpPr>
          <p:cNvPr id="4" name="Title 3">
            <a:extLst>
              <a:ext uri="{FF2B5EF4-FFF2-40B4-BE49-F238E27FC236}">
                <a16:creationId xmlns:a16="http://schemas.microsoft.com/office/drawing/2014/main" id="{0723966D-5BB3-4B95-20EA-0BF0449FB08E}"/>
              </a:ext>
            </a:extLst>
          </p:cNvPr>
          <p:cNvSpPr txBox="1">
            <a:spLocks noGrp="1"/>
          </p:cNvSpPr>
          <p:nvPr>
            <p:ph type="title"/>
          </p:nvPr>
        </p:nvSpPr>
        <p:spPr>
          <a:xfrm>
            <a:off x="0" y="260665"/>
            <a:ext cx="12056882" cy="840743"/>
          </a:xfrm>
          <a:prstGeom prst="rect">
            <a:avLst/>
          </a:prstGeom>
          <a:noFill/>
        </p:spPr>
        <p:txBody>
          <a:bodyPr wrap="square" rtlCol="0">
            <a:spAutoFit/>
          </a:bodyPr>
          <a:lstStyle/>
          <a:p>
            <a:pPr>
              <a:lnSpc>
                <a:spcPct val="150000"/>
              </a:lnSpc>
            </a:pPr>
            <a:r>
              <a:rPr lang="en-IN" sz="3600" b="1" dirty="0">
                <a:solidFill>
                  <a:schemeClr val="accent1"/>
                </a:solidFill>
                <a:latin typeface="Accord SF" panose="020BE200000000000000" pitchFamily="34" charset="0"/>
              </a:rPr>
              <a:t>WAVELENGTH DIVISION MULTIPLEXING (WDM)</a:t>
            </a:r>
          </a:p>
        </p:txBody>
      </p:sp>
      <p:pic>
        <p:nvPicPr>
          <p:cNvPr id="2" name="Picture 6">
            <a:extLst>
              <a:ext uri="{FF2B5EF4-FFF2-40B4-BE49-F238E27FC236}">
                <a16:creationId xmlns:a16="http://schemas.microsoft.com/office/drawing/2014/main" id="{783601D5-3AAF-5B50-6841-5C9909DC8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845" y="2023904"/>
            <a:ext cx="801687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614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5DA52E64-94FD-CFEF-4D15-E8DA5F461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4" y="1890077"/>
            <a:ext cx="840105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455941A3-9537-3295-D800-31414D4310EE}"/>
              </a:ext>
            </a:extLst>
          </p:cNvPr>
          <p:cNvSpPr txBox="1">
            <a:spLocks noGrp="1" noChangeArrowheads="1"/>
          </p:cNvSpPr>
          <p:nvPr>
            <p:ph type="title"/>
          </p:nvPr>
        </p:nvSpPr>
        <p:spPr bwMode="auto">
          <a:xfrm>
            <a:off x="1323699" y="655761"/>
            <a:ext cx="9544601"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dirty="0">
                <a:solidFill>
                  <a:srgbClr val="0070C0"/>
                </a:solidFill>
                <a:latin typeface="Times New Roman" panose="02020603050405020304" pitchFamily="18" charset="0"/>
              </a:rPr>
              <a:t>Prisms in wavelength-division multiplexing and demultiplexing</a:t>
            </a:r>
          </a:p>
        </p:txBody>
      </p:sp>
    </p:spTree>
    <p:extLst>
      <p:ext uri="{BB962C8B-B14F-4D97-AF65-F5344CB8AC3E}">
        <p14:creationId xmlns:p14="http://schemas.microsoft.com/office/powerpoint/2010/main" val="3372149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08359CB-75ED-ABA9-57A0-3E3334B5860A}"/>
              </a:ext>
            </a:extLst>
          </p:cNvPr>
          <p:cNvSpPr txBox="1">
            <a:spLocks/>
          </p:cNvSpPr>
          <p:nvPr/>
        </p:nvSpPr>
        <p:spPr>
          <a:xfrm>
            <a:off x="1378199" y="0"/>
            <a:ext cx="7735321" cy="840743"/>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IN" sz="3600" b="1" dirty="0">
                <a:solidFill>
                  <a:schemeClr val="accent1"/>
                </a:solidFill>
                <a:latin typeface="Accord SF" panose="020BE200000000000000" pitchFamily="34" charset="0"/>
              </a:rPr>
              <a:t>TIME DIVISION MULTIPLEXING (TDM)</a:t>
            </a:r>
          </a:p>
        </p:txBody>
      </p:sp>
      <p:sp>
        <p:nvSpPr>
          <p:cNvPr id="4" name="TextBox 3">
            <a:extLst>
              <a:ext uri="{FF2B5EF4-FFF2-40B4-BE49-F238E27FC236}">
                <a16:creationId xmlns:a16="http://schemas.microsoft.com/office/drawing/2014/main" id="{5E6B06C8-F012-E0A3-ABDF-2AF4CC6E0FD8}"/>
              </a:ext>
            </a:extLst>
          </p:cNvPr>
          <p:cNvSpPr txBox="1"/>
          <p:nvPr/>
        </p:nvSpPr>
        <p:spPr>
          <a:xfrm>
            <a:off x="254524" y="840743"/>
            <a:ext cx="10951956" cy="1877437"/>
          </a:xfrm>
          <a:prstGeom prst="rect">
            <a:avLst/>
          </a:prstGeom>
          <a:noFill/>
        </p:spPr>
        <p:txBody>
          <a:bodyPr wrap="square" rtlCol="0">
            <a:spAutoFit/>
          </a:bodyPr>
          <a:lstStyle/>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Instead of sharing a portion of the bandwidth as in FDM, time is shared.</a:t>
            </a: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Analog data can be changed to digital data, and then multiplexed by using TDM.</a:t>
            </a:r>
          </a:p>
          <a:p>
            <a:pPr marL="342900" indent="-342900">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TDM is a digital multiplexing technique for combining several low-rate channels into one high-rate one.</a:t>
            </a:r>
          </a:p>
        </p:txBody>
      </p:sp>
      <p:pic>
        <p:nvPicPr>
          <p:cNvPr id="2" name="Picture 6">
            <a:extLst>
              <a:ext uri="{FF2B5EF4-FFF2-40B4-BE49-F238E27FC236}">
                <a16:creationId xmlns:a16="http://schemas.microsoft.com/office/drawing/2014/main" id="{37FCAECC-D0D7-7A9E-A00A-729A53CE9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558" y="2825433"/>
            <a:ext cx="7980362" cy="3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67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013D5C3-E721-3662-E1AA-2111030AD947}"/>
                  </a:ext>
                </a:extLst>
              </p:cNvPr>
              <p:cNvSpPr txBox="1"/>
              <p:nvPr/>
            </p:nvSpPr>
            <p:spPr>
              <a:xfrm>
                <a:off x="782320" y="997357"/>
                <a:ext cx="10891520" cy="1938992"/>
              </a:xfrm>
              <a:prstGeom prst="rect">
                <a:avLst/>
              </a:prstGeom>
              <a:noFill/>
            </p:spPr>
            <p:txBody>
              <a:bodyPr wrap="square">
                <a:spAutoFit/>
              </a:bodyPr>
              <a:lstStyle/>
              <a:p>
                <a:pPr marL="0" indent="0">
                  <a:buNone/>
                </a:pPr>
                <a:r>
                  <a:rPr lang="en-US" sz="2400" dirty="0">
                    <a:solidFill>
                      <a:schemeClr val="accent1"/>
                    </a:solidFill>
                    <a:latin typeface="Times New Roman" panose="02020603050405020304" pitchFamily="18" charset="0"/>
                    <a:cs typeface="Times New Roman" panose="02020603050405020304" pitchFamily="18" charset="0"/>
                  </a:rPr>
                  <a:t>Time Slots and Frames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Synchronous TDM, the data flow of each input connection is divided into units, where each input occupies one input time slot.</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duration of an output time slot is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𝑛</m:t>
                    </m:r>
                  </m:oMath>
                </a14:m>
                <a:r>
                  <a:rPr lang="en-US" sz="2400" dirty="0">
                    <a:latin typeface="Times New Roman" panose="02020603050405020304" pitchFamily="18" charset="0"/>
                    <a:cs typeface="Times New Roman" panose="02020603050405020304" pitchFamily="18" charset="0"/>
                  </a:rPr>
                  <a:t> times shorter than the duration of an input time slot.</a:t>
                </a:r>
              </a:p>
            </p:txBody>
          </p:sp>
        </mc:Choice>
        <mc:Fallback xmlns="">
          <p:sp>
            <p:nvSpPr>
              <p:cNvPr id="3" name="TextBox 2">
                <a:extLst>
                  <a:ext uri="{FF2B5EF4-FFF2-40B4-BE49-F238E27FC236}">
                    <a16:creationId xmlns:a16="http://schemas.microsoft.com/office/drawing/2014/main" id="{8013D5C3-E721-3662-E1AA-2111030AD947}"/>
                  </a:ext>
                </a:extLst>
              </p:cNvPr>
              <p:cNvSpPr txBox="1">
                <a:spLocks noRot="1" noChangeAspect="1" noMove="1" noResize="1" noEditPoints="1" noAdjustHandles="1" noChangeArrowheads="1" noChangeShapeType="1" noTextEdit="1"/>
              </p:cNvSpPr>
              <p:nvPr/>
            </p:nvSpPr>
            <p:spPr>
              <a:xfrm>
                <a:off x="782320" y="997357"/>
                <a:ext cx="10891520" cy="1938992"/>
              </a:xfrm>
              <a:prstGeom prst="rect">
                <a:avLst/>
              </a:prstGeom>
              <a:blipFill>
                <a:blip r:embed="rId2"/>
                <a:stretch>
                  <a:fillRect l="-839" t="-2516" b="-6289"/>
                </a:stretch>
              </a:blipFill>
            </p:spPr>
            <p:txBody>
              <a:bodyPr/>
              <a:lstStyle/>
              <a:p>
                <a:r>
                  <a:rPr lang="en-IN">
                    <a:noFill/>
                  </a:rPr>
                  <a:t> </a:t>
                </a:r>
              </a:p>
            </p:txBody>
          </p:sp>
        </mc:Fallback>
      </mc:AlternateContent>
      <p:pic>
        <p:nvPicPr>
          <p:cNvPr id="4" name="Picture 6">
            <a:extLst>
              <a:ext uri="{FF2B5EF4-FFF2-40B4-BE49-F238E27FC236}">
                <a16:creationId xmlns:a16="http://schemas.microsoft.com/office/drawing/2014/main" id="{8A981688-D385-C123-8608-DA9E65072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292793"/>
            <a:ext cx="8153400" cy="3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3">
            <a:extLst>
              <a:ext uri="{FF2B5EF4-FFF2-40B4-BE49-F238E27FC236}">
                <a16:creationId xmlns:a16="http://schemas.microsoft.com/office/drawing/2014/main" id="{7271F673-1614-929F-06C6-3E08A4308C68}"/>
              </a:ext>
            </a:extLst>
          </p:cNvPr>
          <p:cNvSpPr txBox="1">
            <a:spLocks/>
          </p:cNvSpPr>
          <p:nvPr/>
        </p:nvSpPr>
        <p:spPr>
          <a:xfrm>
            <a:off x="2698999" y="107948"/>
            <a:ext cx="7735321" cy="840743"/>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IN" sz="3600" b="1" dirty="0">
                <a:solidFill>
                  <a:schemeClr val="accent1"/>
                </a:solidFill>
                <a:latin typeface="Accord SF" panose="020BE200000000000000" pitchFamily="34" charset="0"/>
              </a:rPr>
              <a:t>TIME DIVISION MULTIPLEXING (TDM)</a:t>
            </a:r>
          </a:p>
        </p:txBody>
      </p:sp>
    </p:spTree>
    <p:extLst>
      <p:ext uri="{BB962C8B-B14F-4D97-AF65-F5344CB8AC3E}">
        <p14:creationId xmlns:p14="http://schemas.microsoft.com/office/powerpoint/2010/main" val="1906844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4" name="Text Box 4">
            <a:extLst>
              <a:ext uri="{FF2B5EF4-FFF2-40B4-BE49-F238E27FC236}">
                <a16:creationId xmlns:a16="http://schemas.microsoft.com/office/drawing/2014/main" id="{0378E8A4-7A71-E3FF-30D8-98D1D0C68AA8}"/>
              </a:ext>
            </a:extLst>
          </p:cNvPr>
          <p:cNvSpPr txBox="1">
            <a:spLocks noChangeArrowheads="1"/>
          </p:cNvSpPr>
          <p:nvPr/>
        </p:nvSpPr>
        <p:spPr bwMode="auto">
          <a:xfrm>
            <a:off x="2733040" y="223520"/>
            <a:ext cx="558678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800" dirty="0">
                <a:solidFill>
                  <a:srgbClr val="0070C0"/>
                </a:solidFill>
                <a:latin typeface="Times New Roman" panose="02020603050405020304" pitchFamily="18" charset="0"/>
              </a:rPr>
              <a:t>TDM slot comparison</a:t>
            </a:r>
          </a:p>
        </p:txBody>
      </p:sp>
      <p:pic>
        <p:nvPicPr>
          <p:cNvPr id="824326" name="Picture 6">
            <a:extLst>
              <a:ext uri="{FF2B5EF4-FFF2-40B4-BE49-F238E27FC236}">
                <a16:creationId xmlns:a16="http://schemas.microsoft.com/office/drawing/2014/main" id="{76F6D59E-5ED1-C348-AF72-904CABD716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160" y="1513930"/>
            <a:ext cx="6389688"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3F8107BD-212B-B297-1C89-7D6F9E5FB72A}"/>
              </a:ext>
            </a:extLst>
          </p:cNvPr>
          <p:cNvSpPr txBox="1"/>
          <p:nvPr/>
        </p:nvSpPr>
        <p:spPr>
          <a:xfrm>
            <a:off x="233680" y="1597026"/>
            <a:ext cx="4450080" cy="4524315"/>
          </a:xfrm>
          <a:prstGeom prst="rect">
            <a:avLst/>
          </a:prstGeom>
          <a:noFill/>
        </p:spPr>
        <p:txBody>
          <a:bodyPr wrap="square">
            <a:spAutoFit/>
          </a:bodyPr>
          <a:lstStyle/>
          <a:p>
            <a:pPr marL="342900" indent="-342900">
              <a:buFont typeface="Wingdings" panose="05000000000000000000" pitchFamily="2" charset="2"/>
              <a:buChar char="Ø"/>
            </a:pPr>
            <a:r>
              <a:rPr lang="en-US" sz="2400" b="0" i="0" dirty="0">
                <a:solidFill>
                  <a:srgbClr val="273239"/>
                </a:solidFill>
                <a:effectLst/>
                <a:latin typeface="Times New Roman" panose="02020603050405020304" pitchFamily="18" charset="0"/>
                <a:cs typeface="Times New Roman" panose="02020603050405020304" pitchFamily="18" charset="0"/>
              </a:rPr>
              <a:t>The </a:t>
            </a:r>
            <a:r>
              <a:rPr lang="en-US" sz="2400" b="0" i="0" dirty="0">
                <a:solidFill>
                  <a:srgbClr val="FF0000"/>
                </a:solidFill>
                <a:effectLst/>
                <a:latin typeface="Times New Roman" panose="02020603050405020304" pitchFamily="18" charset="0"/>
                <a:cs typeface="Times New Roman" panose="02020603050405020304" pitchFamily="18" charset="0"/>
              </a:rPr>
              <a:t>asynchronous time division multiplexing</a:t>
            </a:r>
            <a:r>
              <a:rPr lang="en-US" sz="2400" b="0" i="0" dirty="0">
                <a:solidFill>
                  <a:srgbClr val="273239"/>
                </a:solidFill>
                <a:effectLst/>
                <a:latin typeface="Times New Roman" panose="02020603050405020304" pitchFamily="18" charset="0"/>
                <a:cs typeface="Times New Roman" panose="02020603050405020304" pitchFamily="18" charset="0"/>
              </a:rPr>
              <a:t>, which is also called statistical TDM, allocates the time slots dynamically to the data streams based on requirements. </a:t>
            </a:r>
          </a:p>
          <a:p>
            <a:pPr marL="342900" indent="-342900">
              <a:buFont typeface="Wingdings" panose="05000000000000000000" pitchFamily="2" charset="2"/>
              <a:buChar char="Ø"/>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273239"/>
                </a:solidFill>
                <a:effectLst/>
                <a:latin typeface="Times New Roman" panose="02020603050405020304" pitchFamily="18" charset="0"/>
                <a:cs typeface="Times New Roman" panose="02020603050405020304" pitchFamily="18" charset="0"/>
              </a:rPr>
              <a:t>In such types of multiplexing, the time slot is assigned only when the data stream has some information to be sent, making it more flexible.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56D5113-98E0-C8C0-A077-676B56F8D1BE}"/>
              </a:ext>
            </a:extLst>
          </p:cNvPr>
          <p:cNvGraphicFramePr>
            <a:graphicFrameLocks noGrp="1"/>
          </p:cNvGraphicFramePr>
          <p:nvPr>
            <p:extLst>
              <p:ext uri="{D42A27DB-BD31-4B8C-83A1-F6EECF244321}">
                <p14:modId xmlns:p14="http://schemas.microsoft.com/office/powerpoint/2010/main" val="4065717110"/>
              </p:ext>
            </p:extLst>
          </p:nvPr>
        </p:nvGraphicFramePr>
        <p:xfrm>
          <a:off x="101600" y="191822"/>
          <a:ext cx="11988800" cy="6173450"/>
        </p:xfrm>
        <a:graphic>
          <a:graphicData uri="http://schemas.openxmlformats.org/drawingml/2006/table">
            <a:tbl>
              <a:tblPr/>
              <a:tblGrid>
                <a:gridCol w="2001520">
                  <a:extLst>
                    <a:ext uri="{9D8B030D-6E8A-4147-A177-3AD203B41FA5}">
                      <a16:colId xmlns:a16="http://schemas.microsoft.com/office/drawing/2014/main" val="802324622"/>
                    </a:ext>
                  </a:extLst>
                </a:gridCol>
                <a:gridCol w="5140960">
                  <a:extLst>
                    <a:ext uri="{9D8B030D-6E8A-4147-A177-3AD203B41FA5}">
                      <a16:colId xmlns:a16="http://schemas.microsoft.com/office/drawing/2014/main" val="870995588"/>
                    </a:ext>
                  </a:extLst>
                </a:gridCol>
                <a:gridCol w="4846320">
                  <a:extLst>
                    <a:ext uri="{9D8B030D-6E8A-4147-A177-3AD203B41FA5}">
                      <a16:colId xmlns:a16="http://schemas.microsoft.com/office/drawing/2014/main" val="3230773216"/>
                    </a:ext>
                  </a:extLst>
                </a:gridCol>
              </a:tblGrid>
              <a:tr h="662836">
                <a:tc>
                  <a:txBody>
                    <a:bodyPr/>
                    <a:lstStyle/>
                    <a:p>
                      <a:pPr algn="l" rtl="0" fontAlgn="base">
                        <a:spcAft>
                          <a:spcPts val="750"/>
                        </a:spcAft>
                        <a:buNone/>
                      </a:pPr>
                      <a:r>
                        <a:rPr lang="en-IN" sz="2000" b="1" dirty="0">
                          <a:effectLst/>
                          <a:latin typeface="Times New Roman" panose="02020603050405020304" pitchFamily="18" charset="0"/>
                          <a:cs typeface="Times New Roman" panose="02020603050405020304" pitchFamily="18" charset="0"/>
                        </a:rPr>
                        <a:t>Feature</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IN" sz="2000" b="1" dirty="0">
                          <a:effectLst/>
                          <a:latin typeface="Times New Roman" panose="02020603050405020304" pitchFamily="18" charset="0"/>
                          <a:cs typeface="Times New Roman" panose="02020603050405020304" pitchFamily="18" charset="0"/>
                        </a:rPr>
                        <a:t>Synchronous TDM</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IN" sz="2000" b="1" dirty="0">
                          <a:effectLst/>
                          <a:latin typeface="Times New Roman" panose="02020603050405020304" pitchFamily="18" charset="0"/>
                          <a:cs typeface="Times New Roman" panose="02020603050405020304" pitchFamily="18" charset="0"/>
                        </a:rPr>
                        <a:t>Asynchronous TDM (Statistical TDM)</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1559200518"/>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Time Slot Allocation</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Fixed time slots pre-assigned to each data stream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Time slots are dynamically assigned based on demand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1223069385"/>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Bandwidth Utilization</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Inefficient; unused slots lead to bandwidth wastage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Efficient; slots are only used when data is present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385935730"/>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Data Transmission</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Consistent, regardless of whether data is available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Transmits only when data is ready to be sent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2879448697"/>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Suitability</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Ideal for continuous, predictable data streams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Suitable for bursty or irregular data transmission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3082721372"/>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Latency</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Predictable latency due to fixed slots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Latency may vary based on demand and slot availability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4188337569"/>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Complexity</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Simpler to implement with pre-determined slots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More complex due to dynamic slot assignment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3849760012"/>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Synchronization</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Easier to synchronize due to fixed time slots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Harder to synchronize with dynamic allocation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1221871630"/>
                  </a:ext>
                </a:extLst>
              </a:tr>
              <a:tr h="607926">
                <a:tc>
                  <a:txBody>
                    <a:bodyPr/>
                    <a:lstStyle/>
                    <a:p>
                      <a:pPr algn="l" rtl="0" fontAlgn="base">
                        <a:spcAft>
                          <a:spcPts val="750"/>
                        </a:spcAft>
                        <a:buNone/>
                      </a:pPr>
                      <a:r>
                        <a:rPr lang="en-IN" sz="1900" b="1" dirty="0">
                          <a:effectLst/>
                          <a:latin typeface="Times New Roman" panose="02020603050405020304" pitchFamily="18" charset="0"/>
                          <a:cs typeface="Times New Roman" panose="02020603050405020304" pitchFamily="18" charset="0"/>
                        </a:rPr>
                        <a:t>Cost Efficiency</a:t>
                      </a:r>
                    </a:p>
                  </a:txBody>
                  <a:tcPr marL="38100" marR="38100" marT="40018" marB="4001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0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Less cost-efficient due to potential unused slots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00B0F0"/>
                    </a:solidFill>
                  </a:tcPr>
                </a:tc>
                <a:tc>
                  <a:txBody>
                    <a:bodyPr/>
                    <a:lstStyle/>
                    <a:p>
                      <a:pPr algn="l" rtl="0" fontAlgn="base">
                        <a:spcAft>
                          <a:spcPts val="750"/>
                        </a:spcAft>
                        <a:buNone/>
                      </a:pPr>
                      <a:r>
                        <a:rPr lang="en-US" sz="1900" b="0" dirty="0">
                          <a:effectLst/>
                          <a:latin typeface="Times New Roman" panose="02020603050405020304" pitchFamily="18" charset="0"/>
                          <a:cs typeface="Times New Roman" panose="02020603050405020304" pitchFamily="18" charset="0"/>
                        </a:rPr>
                        <a:t>More cost-efficient, as resources are allocated on demand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92D050"/>
                    </a:solidFill>
                  </a:tcPr>
                </a:tc>
                <a:extLst>
                  <a:ext uri="{0D108BD9-81ED-4DB2-BD59-A6C34878D82A}">
                    <a16:rowId xmlns:a16="http://schemas.microsoft.com/office/drawing/2014/main" val="2495819661"/>
                  </a:ext>
                </a:extLst>
              </a:tr>
            </a:tbl>
          </a:graphicData>
        </a:graphic>
      </p:graphicFrame>
    </p:spTree>
    <p:extLst>
      <p:ext uri="{BB962C8B-B14F-4D97-AF65-F5344CB8AC3E}">
        <p14:creationId xmlns:p14="http://schemas.microsoft.com/office/powerpoint/2010/main" val="2265866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Text Box 2">
            <a:extLst>
              <a:ext uri="{FF2B5EF4-FFF2-40B4-BE49-F238E27FC236}">
                <a16:creationId xmlns:a16="http://schemas.microsoft.com/office/drawing/2014/main" id="{11C1B83D-E496-9DA5-DEAC-E35B9A9F57EA}"/>
              </a:ext>
            </a:extLst>
          </p:cNvPr>
          <p:cNvSpPr txBox="1">
            <a:spLocks noChangeArrowheads="1"/>
          </p:cNvSpPr>
          <p:nvPr/>
        </p:nvSpPr>
        <p:spPr bwMode="auto">
          <a:xfrm>
            <a:off x="1954213" y="327967"/>
            <a:ext cx="29269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Table </a:t>
            </a:r>
            <a:r>
              <a:rPr lang="en-US" altLang="en-US" sz="2000" i="1" dirty="0">
                <a:latin typeface="Times New Roman" panose="02020603050405020304" pitchFamily="18" charset="0"/>
              </a:rPr>
              <a:t>DS and T line rates</a:t>
            </a:r>
          </a:p>
        </p:txBody>
      </p:sp>
      <p:pic>
        <p:nvPicPr>
          <p:cNvPr id="837636" name="Picture 4">
            <a:extLst>
              <a:ext uri="{FF2B5EF4-FFF2-40B4-BE49-F238E27FC236}">
                <a16:creationId xmlns:a16="http://schemas.microsoft.com/office/drawing/2014/main" id="{8677B88C-AB05-4967-DC94-832215137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680" y="958171"/>
            <a:ext cx="9937455" cy="227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10">
            <a:extLst>
              <a:ext uri="{FF2B5EF4-FFF2-40B4-BE49-F238E27FC236}">
                <a16:creationId xmlns:a16="http://schemas.microsoft.com/office/drawing/2014/main" id="{9C834440-F357-CCFC-6557-496E194E4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7360" y="3400691"/>
            <a:ext cx="7725787" cy="3129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7178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685200-6315-947B-D9E8-41D7ED9AEE72}"/>
              </a:ext>
            </a:extLst>
          </p:cNvPr>
          <p:cNvSpPr txBox="1"/>
          <p:nvPr/>
        </p:nvSpPr>
        <p:spPr>
          <a:xfrm>
            <a:off x="857838" y="2828835"/>
            <a:ext cx="10916239" cy="1200329"/>
          </a:xfrm>
          <a:prstGeom prst="rect">
            <a:avLst/>
          </a:prstGeom>
          <a:noFill/>
        </p:spPr>
        <p:txBody>
          <a:bodyPr wrap="square" rtlCol="0">
            <a:spAutoFit/>
          </a:bodyPr>
          <a:lstStyle/>
          <a:p>
            <a:r>
              <a:rPr lang="en-IN" sz="7200" b="1" dirty="0">
                <a:solidFill>
                  <a:srgbClr val="0070C0"/>
                </a:solidFill>
                <a:latin typeface="Times New Roman" panose="02020603050405020304" pitchFamily="18" charset="0"/>
                <a:cs typeface="Times New Roman" panose="02020603050405020304" pitchFamily="18" charset="0"/>
              </a:rPr>
              <a:t>TRANSMISSION MEDIA</a:t>
            </a:r>
          </a:p>
        </p:txBody>
      </p:sp>
    </p:spTree>
    <p:extLst>
      <p:ext uri="{BB962C8B-B14F-4D97-AF65-F5344CB8AC3E}">
        <p14:creationId xmlns:p14="http://schemas.microsoft.com/office/powerpoint/2010/main" val="3638192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2AD6-CC35-7B3C-A75C-A51984BE1C7F}"/>
              </a:ext>
            </a:extLst>
          </p:cNvPr>
          <p:cNvSpPr>
            <a:spLocks noGrp="1"/>
          </p:cNvSpPr>
          <p:nvPr>
            <p:ph type="title"/>
          </p:nvPr>
        </p:nvSpPr>
        <p:spPr>
          <a:xfrm>
            <a:off x="3169920" y="90805"/>
            <a:ext cx="5445760" cy="1325563"/>
          </a:xfrm>
        </p:spPr>
        <p:txBody>
          <a:bodyPr/>
          <a:lstStyle/>
          <a:p>
            <a:r>
              <a:rPr lang="en-IN" dirty="0">
                <a:solidFill>
                  <a:srgbClr val="0070C0"/>
                </a:solidFill>
                <a:latin typeface="Accord SF" panose="020BE200000000000000" pitchFamily="34" charset="0"/>
              </a:rPr>
              <a:t>Transmission Medium</a:t>
            </a:r>
          </a:p>
        </p:txBody>
      </p:sp>
      <p:sp>
        <p:nvSpPr>
          <p:cNvPr id="3" name="Content Placeholder 2">
            <a:extLst>
              <a:ext uri="{FF2B5EF4-FFF2-40B4-BE49-F238E27FC236}">
                <a16:creationId xmlns:a16="http://schemas.microsoft.com/office/drawing/2014/main" id="{EDBA6429-B404-5241-34D5-E87CF6F3AB4D}"/>
              </a:ext>
            </a:extLst>
          </p:cNvPr>
          <p:cNvSpPr>
            <a:spLocks noGrp="1"/>
          </p:cNvSpPr>
          <p:nvPr>
            <p:ph idx="1"/>
          </p:nvPr>
        </p:nvSpPr>
        <p:spPr>
          <a:xfrm>
            <a:off x="802640" y="1161978"/>
            <a:ext cx="10149840" cy="2267022"/>
          </a:xfrm>
        </p:spPr>
        <p:txBody>
          <a:bodyPr>
            <a:normAutofit lnSpcReduction="10000"/>
          </a:bodyPr>
          <a:lstStyle/>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A transmission medium can be broadly defined as anything that can carry information from a source to a destination.</a:t>
            </a:r>
          </a:p>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transmission medium is usually free space, metallic cable, or fiber-optic cable. </a:t>
            </a:r>
          </a:p>
        </p:txBody>
      </p:sp>
      <p:pic>
        <p:nvPicPr>
          <p:cNvPr id="4" name="Picture 3">
            <a:extLst>
              <a:ext uri="{FF2B5EF4-FFF2-40B4-BE49-F238E27FC236}">
                <a16:creationId xmlns:a16="http://schemas.microsoft.com/office/drawing/2014/main" id="{BB5FFDAE-1906-3155-C261-75BEA2BD2D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169" y="3712845"/>
            <a:ext cx="8729662"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4408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B90673-4CEF-2A5D-7094-98A799553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1575912"/>
            <a:ext cx="7715250" cy="315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08139DAB-7992-1D54-01B7-6892DAC1EA54}"/>
              </a:ext>
            </a:extLst>
          </p:cNvPr>
          <p:cNvSpPr txBox="1"/>
          <p:nvPr/>
        </p:nvSpPr>
        <p:spPr>
          <a:xfrm>
            <a:off x="2265680" y="236974"/>
            <a:ext cx="8239760" cy="707886"/>
          </a:xfrm>
          <a:prstGeom prst="rect">
            <a:avLst/>
          </a:prstGeom>
          <a:noFill/>
        </p:spPr>
        <p:txBody>
          <a:bodyPr wrap="square">
            <a:spAutoFit/>
          </a:bodyPr>
          <a:lstStyle/>
          <a:p>
            <a:r>
              <a:rPr lang="en-IN" sz="4000" dirty="0">
                <a:solidFill>
                  <a:srgbClr val="0070C0"/>
                </a:solidFill>
              </a:rPr>
              <a:t>Types of Transmission Medium</a:t>
            </a:r>
            <a:endParaRPr lang="en-IN" sz="4000" dirty="0"/>
          </a:p>
        </p:txBody>
      </p:sp>
    </p:spTree>
    <p:extLst>
      <p:ext uri="{BB962C8B-B14F-4D97-AF65-F5344CB8AC3E}">
        <p14:creationId xmlns:p14="http://schemas.microsoft.com/office/powerpoint/2010/main" val="2056907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4393-3934-0F8A-8BAE-A8600E605584}"/>
              </a:ext>
            </a:extLst>
          </p:cNvPr>
          <p:cNvSpPr>
            <a:spLocks noGrp="1"/>
          </p:cNvSpPr>
          <p:nvPr>
            <p:ph type="title"/>
          </p:nvPr>
        </p:nvSpPr>
        <p:spPr>
          <a:xfrm>
            <a:off x="3703320" y="-96625"/>
            <a:ext cx="3743960" cy="1325563"/>
          </a:xfrm>
        </p:spPr>
        <p:txBody>
          <a:bodyPr/>
          <a:lstStyle/>
          <a:p>
            <a:r>
              <a:rPr lang="en-IN" dirty="0">
                <a:solidFill>
                  <a:srgbClr val="0070C0"/>
                </a:solidFill>
                <a:latin typeface="Accord SF" panose="020BE200000000000000" pitchFamily="34" charset="0"/>
              </a:rPr>
              <a:t>Guided Media</a:t>
            </a:r>
          </a:p>
        </p:txBody>
      </p:sp>
      <p:sp>
        <p:nvSpPr>
          <p:cNvPr id="3" name="Content Placeholder 2">
            <a:extLst>
              <a:ext uri="{FF2B5EF4-FFF2-40B4-BE49-F238E27FC236}">
                <a16:creationId xmlns:a16="http://schemas.microsoft.com/office/drawing/2014/main" id="{E13B2575-5D26-69C7-BEC6-5B1154A0C950}"/>
              </a:ext>
            </a:extLst>
          </p:cNvPr>
          <p:cNvSpPr>
            <a:spLocks noGrp="1"/>
          </p:cNvSpPr>
          <p:nvPr>
            <p:ph idx="1"/>
          </p:nvPr>
        </p:nvSpPr>
        <p:spPr>
          <a:xfrm>
            <a:off x="528320" y="1228938"/>
            <a:ext cx="11135360" cy="1203593"/>
          </a:xfrm>
        </p:spPr>
        <p:txBody>
          <a:bodyPr>
            <a:normAutofit/>
          </a:bodyPr>
          <a:lstStyle/>
          <a:p>
            <a:pPr marL="0" indent="0" algn="just">
              <a:lnSpc>
                <a:spcPct val="150000"/>
              </a:lnSpc>
              <a:buNone/>
            </a:pPr>
            <a:r>
              <a:rPr lang="en-US" altLang="en-US" sz="2400" dirty="0">
                <a:effectLst>
                  <a:outerShdw blurRad="38100" dist="38100" dir="2700000" algn="tl">
                    <a:srgbClr val="C0C0C0"/>
                  </a:outerShdw>
                </a:effectLst>
                <a:latin typeface="Times New Roman" panose="02020603050405020304" pitchFamily="18" charset="0"/>
              </a:rPr>
              <a:t>Guided media, which are those that provide a conduit from one device to another, include twisted-pair cable, coaxial cable, and fiber-optic cable.</a:t>
            </a:r>
          </a:p>
          <a:p>
            <a:pPr algn="just">
              <a:lnSpc>
                <a:spcPct val="150000"/>
              </a:lnSpc>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sp>
        <p:nvSpPr>
          <p:cNvPr id="4" name="Rectangle 29">
            <a:extLst>
              <a:ext uri="{FF2B5EF4-FFF2-40B4-BE49-F238E27FC236}">
                <a16:creationId xmlns:a16="http://schemas.microsoft.com/office/drawing/2014/main" id="{1DC473C0-2589-86CC-5039-281CD8441C33}"/>
              </a:ext>
            </a:extLst>
          </p:cNvPr>
          <p:cNvSpPr>
            <a:spLocks noChangeArrowheads="1"/>
          </p:cNvSpPr>
          <p:nvPr/>
        </p:nvSpPr>
        <p:spPr bwMode="auto">
          <a:xfrm>
            <a:off x="467360" y="2846377"/>
            <a:ext cx="670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dirty="0">
                <a:solidFill>
                  <a:srgbClr val="FF0000"/>
                </a:solidFill>
                <a:latin typeface="Times New Roman" panose="02020603050405020304" pitchFamily="18" charset="0"/>
              </a:rPr>
              <a:t>Types of Guided Media</a:t>
            </a:r>
          </a:p>
          <a:p>
            <a:pPr>
              <a:buClr>
                <a:schemeClr val="tx1"/>
              </a:buClr>
              <a:buSzPct val="117000"/>
              <a:buFont typeface="Wingdings" panose="05000000000000000000" pitchFamily="2" charset="2"/>
              <a:buNone/>
            </a:pPr>
            <a:r>
              <a:rPr lang="en-US" altLang="en-US" sz="2400" dirty="0">
                <a:solidFill>
                  <a:srgbClr val="0033CC"/>
                </a:solidFill>
                <a:latin typeface="Times New Roman" panose="02020603050405020304" pitchFamily="18" charset="0"/>
              </a:rPr>
              <a:t>Twisted-Pair Cable</a:t>
            </a:r>
            <a:br>
              <a:rPr lang="fr-FR" altLang="en-US" sz="2400" dirty="0">
                <a:solidFill>
                  <a:srgbClr val="0033CC"/>
                </a:solidFill>
                <a:latin typeface="Times New Roman" panose="02020603050405020304" pitchFamily="18" charset="0"/>
              </a:rPr>
            </a:br>
            <a:r>
              <a:rPr lang="fr-FR" altLang="en-US" sz="2400" dirty="0">
                <a:solidFill>
                  <a:srgbClr val="0033CC"/>
                </a:solidFill>
                <a:latin typeface="Times New Roman" panose="02020603050405020304" pitchFamily="18" charset="0"/>
              </a:rPr>
              <a:t>Coaxial Cable</a:t>
            </a:r>
            <a:br>
              <a:rPr lang="fr-FR" altLang="en-US" sz="2400" dirty="0">
                <a:solidFill>
                  <a:srgbClr val="0033CC"/>
                </a:solidFill>
                <a:latin typeface="Times New Roman" panose="02020603050405020304" pitchFamily="18" charset="0"/>
              </a:rPr>
            </a:br>
            <a:r>
              <a:rPr lang="fr-FR" altLang="en-US" sz="2400" dirty="0" err="1">
                <a:solidFill>
                  <a:srgbClr val="0033CC"/>
                </a:solidFill>
                <a:latin typeface="Times New Roman" panose="02020603050405020304" pitchFamily="18" charset="0"/>
              </a:rPr>
              <a:t>Fiber</a:t>
            </a:r>
            <a:r>
              <a:rPr lang="fr-FR" altLang="en-US" sz="2400" dirty="0">
                <a:solidFill>
                  <a:srgbClr val="0033CC"/>
                </a:solidFill>
                <a:latin typeface="Times New Roman" panose="02020603050405020304" pitchFamily="18" charset="0"/>
              </a:rPr>
              <a:t>-Optic Cable</a:t>
            </a:r>
            <a:endParaRPr lang="en-US" altLang="en-US" sz="2400" dirty="0">
              <a:solidFill>
                <a:srgbClr val="0033CC"/>
              </a:solidFill>
              <a:latin typeface="Times New Roman" panose="02020603050405020304" pitchFamily="18" charset="0"/>
            </a:endParaRPr>
          </a:p>
        </p:txBody>
      </p:sp>
      <p:pic>
        <p:nvPicPr>
          <p:cNvPr id="6" name="Picture 5">
            <a:extLst>
              <a:ext uri="{FF2B5EF4-FFF2-40B4-BE49-F238E27FC236}">
                <a16:creationId xmlns:a16="http://schemas.microsoft.com/office/drawing/2014/main" id="{0072CD0D-4DCA-D758-E37A-24FE61F2C521}"/>
              </a:ext>
            </a:extLst>
          </p:cNvPr>
          <p:cNvPicPr>
            <a:picLocks noChangeAspect="1"/>
          </p:cNvPicPr>
          <p:nvPr/>
        </p:nvPicPr>
        <p:blipFill>
          <a:blip r:embed="rId2"/>
          <a:stretch>
            <a:fillRect/>
          </a:stretch>
        </p:blipFill>
        <p:spPr>
          <a:xfrm>
            <a:off x="5204142" y="2846377"/>
            <a:ext cx="5705475" cy="2943225"/>
          </a:xfrm>
          <a:prstGeom prst="rect">
            <a:avLst/>
          </a:prstGeom>
        </p:spPr>
      </p:pic>
    </p:spTree>
    <p:extLst>
      <p:ext uri="{BB962C8B-B14F-4D97-AF65-F5344CB8AC3E}">
        <p14:creationId xmlns:p14="http://schemas.microsoft.com/office/powerpoint/2010/main" val="1210387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78747A-2B52-2E09-3F72-143D75678C7B}"/>
              </a:ext>
            </a:extLst>
          </p:cNvPr>
          <p:cNvSpPr txBox="1"/>
          <p:nvPr/>
        </p:nvSpPr>
        <p:spPr>
          <a:xfrm>
            <a:off x="589280" y="1190267"/>
            <a:ext cx="10500360" cy="2677656"/>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Twisted Pair Cable : </a:t>
            </a:r>
            <a:r>
              <a:rPr lang="en-US" sz="2400" dirty="0">
                <a:latin typeface="Times New Roman" panose="02020603050405020304" pitchFamily="18" charset="0"/>
                <a:cs typeface="Times New Roman" panose="02020603050405020304" pitchFamily="18" charset="0"/>
              </a:rPr>
              <a:t>Wires are twisted together in pairs. Each pair would consist of a wire used for the positive data signal and a wire used for the negative data signal. </a:t>
            </a:r>
          </a:p>
          <a:p>
            <a:r>
              <a:rPr lang="en-US" sz="2400" dirty="0">
                <a:latin typeface="Times New Roman" panose="02020603050405020304" pitchFamily="18" charset="0"/>
                <a:cs typeface="Times New Roman" panose="02020603050405020304" pitchFamily="18" charset="0"/>
              </a:rPr>
              <a:t>Consists of pairs of insulated copper wires twisted around each other.</a:t>
            </a:r>
          </a:p>
          <a:p>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Unshielded Twisted Pair (UTP): </a:t>
            </a:r>
            <a:r>
              <a:rPr lang="en-US" sz="2400" dirty="0">
                <a:latin typeface="Times New Roman" panose="02020603050405020304" pitchFamily="18" charset="0"/>
                <a:cs typeface="Times New Roman" panose="02020603050405020304" pitchFamily="18" charset="0"/>
              </a:rPr>
              <a:t>Cables without shields </a:t>
            </a:r>
          </a:p>
          <a:p>
            <a:pPr lvl="1"/>
            <a:r>
              <a:rPr lang="en-US" sz="2400" b="1" dirty="0">
                <a:latin typeface="Times New Roman" panose="02020603050405020304" pitchFamily="18" charset="0"/>
                <a:cs typeface="Times New Roman" panose="02020603050405020304" pitchFamily="18" charset="0"/>
              </a:rPr>
              <a:t>     Shielded Twisted Pair (STP):  </a:t>
            </a:r>
            <a:r>
              <a:rPr lang="en-US" sz="2400" dirty="0">
                <a:latin typeface="Times New Roman" panose="02020603050405020304" pitchFamily="18" charset="0"/>
                <a:cs typeface="Times New Roman" panose="02020603050405020304" pitchFamily="18" charset="0"/>
              </a:rPr>
              <a:t>Cables with shields</a:t>
            </a:r>
          </a:p>
          <a:p>
            <a:pPr lvl="1"/>
            <a:endParaRPr lang="en-US" sz="2400" dirty="0">
              <a:latin typeface="Times New Roman" panose="02020603050405020304" pitchFamily="18" charset="0"/>
              <a:cs typeface="Times New Roman" panose="02020603050405020304" pitchFamily="18" charset="0"/>
            </a:endParaRPr>
          </a:p>
        </p:txBody>
      </p:sp>
      <p:pic>
        <p:nvPicPr>
          <p:cNvPr id="6" name="Picture 7">
            <a:extLst>
              <a:ext uri="{FF2B5EF4-FFF2-40B4-BE49-F238E27FC236}">
                <a16:creationId xmlns:a16="http://schemas.microsoft.com/office/drawing/2014/main" id="{6EF7C8CA-A96B-A53A-214F-A75BC9BD3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389" y="4108828"/>
            <a:ext cx="6733222" cy="267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F61299EE-74A3-CD23-9884-28F3B8DF9805}"/>
              </a:ext>
            </a:extLst>
          </p:cNvPr>
          <p:cNvSpPr txBox="1"/>
          <p:nvPr/>
        </p:nvSpPr>
        <p:spPr>
          <a:xfrm>
            <a:off x="3366611" y="241476"/>
            <a:ext cx="6096000" cy="707886"/>
          </a:xfrm>
          <a:prstGeom prst="rect">
            <a:avLst/>
          </a:prstGeom>
          <a:noFill/>
        </p:spPr>
        <p:txBody>
          <a:bodyPr wrap="square">
            <a:spAutoFit/>
          </a:bodyPr>
          <a:lstStyle/>
          <a:p>
            <a:r>
              <a:rPr lang="en-US" altLang="en-US" sz="4000" dirty="0">
                <a:solidFill>
                  <a:srgbClr val="0033CC"/>
                </a:solidFill>
                <a:latin typeface="Times New Roman" panose="02020603050405020304" pitchFamily="18" charset="0"/>
              </a:rPr>
              <a:t>Twisted-Pair Cable</a:t>
            </a:r>
            <a:endParaRPr lang="en-IN" sz="4000" dirty="0"/>
          </a:p>
        </p:txBody>
      </p:sp>
    </p:spTree>
    <p:extLst>
      <p:ext uri="{BB962C8B-B14F-4D97-AF65-F5344CB8AC3E}">
        <p14:creationId xmlns:p14="http://schemas.microsoft.com/office/powerpoint/2010/main" val="10278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D1D2-110B-32B8-1E84-F09D6AEDA7C3}"/>
              </a:ext>
            </a:extLst>
          </p:cNvPr>
          <p:cNvSpPr>
            <a:spLocks noGrp="1"/>
          </p:cNvSpPr>
          <p:nvPr>
            <p:ph type="title"/>
          </p:nvPr>
        </p:nvSpPr>
        <p:spPr>
          <a:xfrm>
            <a:off x="4054365" y="-223454"/>
            <a:ext cx="10515600" cy="1325563"/>
          </a:xfrm>
        </p:spPr>
        <p:txBody>
          <a:bodyPr/>
          <a:lstStyle/>
          <a:p>
            <a:r>
              <a:rPr lang="fr-FR" altLang="en-US" dirty="0">
                <a:solidFill>
                  <a:srgbClr val="0033CC"/>
                </a:solidFill>
                <a:latin typeface="Times New Roman" panose="02020603050405020304" pitchFamily="18" charset="0"/>
              </a:rPr>
              <a:t>Coaxial Cable</a:t>
            </a:r>
            <a:endParaRPr lang="en-IN" dirty="0"/>
          </a:p>
        </p:txBody>
      </p:sp>
      <p:sp>
        <p:nvSpPr>
          <p:cNvPr id="4" name="Rectangle 1">
            <a:extLst>
              <a:ext uri="{FF2B5EF4-FFF2-40B4-BE49-F238E27FC236}">
                <a16:creationId xmlns:a16="http://schemas.microsoft.com/office/drawing/2014/main" id="{905024FC-F973-4DFF-A525-5694DA857597}"/>
              </a:ext>
            </a:extLst>
          </p:cNvPr>
          <p:cNvSpPr>
            <a:spLocks noChangeArrowheads="1"/>
          </p:cNvSpPr>
          <p:nvPr/>
        </p:nvSpPr>
        <p:spPr bwMode="auto">
          <a:xfrm>
            <a:off x="333703" y="821084"/>
            <a:ext cx="11157257"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consists of two conductors. The inner conductor of the </a:t>
            </a:r>
            <a:r>
              <a:rPr lang="en-US" sz="2400" u="sng" dirty="0">
                <a:latin typeface="Times New Roman" panose="02020603050405020304" pitchFamily="18" charset="0"/>
                <a:cs typeface="Times New Roman" panose="02020603050405020304" pitchFamily="18" charset="0"/>
                <a:hlinkClick r:id="rId2"/>
              </a:rPr>
              <a:t>coaxial cable</a:t>
            </a:r>
            <a:r>
              <a:rPr lang="en-US" sz="2400" dirty="0">
                <a:latin typeface="Times New Roman" panose="02020603050405020304" pitchFamily="18" charset="0"/>
                <a:cs typeface="Times New Roman" panose="02020603050405020304" pitchFamily="18" charset="0"/>
              </a:rPr>
              <a:t> is contained inside the insulator with the other conductor weaves around it providing a shield. </a:t>
            </a:r>
          </a:p>
          <a:p>
            <a:pPr marL="342900" lvl="0"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Consists of </a:t>
            </a:r>
            <a:r>
              <a:rPr lang="en-US" altLang="en-US" sz="2400" dirty="0">
                <a:latin typeface="Times New Roman" panose="02020603050405020304" pitchFamily="18" charset="0"/>
                <a:cs typeface="Times New Roman" panose="02020603050405020304" pitchFamily="18" charset="0"/>
              </a:rPr>
              <a:t>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opper core conductor, dielectric insulator, metallic shield, and outer cover.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shielding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than twisted pair, hence higher bandwidth.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Cable TV, broadband Internet, early computer networks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6">
            <a:extLst>
              <a:ext uri="{FF2B5EF4-FFF2-40B4-BE49-F238E27FC236}">
                <a16:creationId xmlns:a16="http://schemas.microsoft.com/office/drawing/2014/main" id="{E9DD980F-5AA8-C334-02EE-C263B4413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9265" y="3780766"/>
            <a:ext cx="6453469"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648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948CC-FEE3-6F00-EFCB-5B3F4F3E3E3F}"/>
              </a:ext>
            </a:extLst>
          </p:cNvPr>
          <p:cNvSpPr>
            <a:spLocks noGrp="1"/>
          </p:cNvSpPr>
          <p:nvPr>
            <p:ph type="title"/>
          </p:nvPr>
        </p:nvSpPr>
        <p:spPr>
          <a:xfrm>
            <a:off x="3032760" y="-173355"/>
            <a:ext cx="10515600" cy="1325563"/>
          </a:xfrm>
        </p:spPr>
        <p:txBody>
          <a:bodyPr/>
          <a:lstStyle/>
          <a:p>
            <a:r>
              <a:rPr lang="fr-FR" altLang="en-US" dirty="0" err="1">
                <a:solidFill>
                  <a:srgbClr val="0033CC"/>
                </a:solidFill>
                <a:latin typeface="Times New Roman" panose="02020603050405020304" pitchFamily="18" charset="0"/>
              </a:rPr>
              <a:t>Fiber</a:t>
            </a:r>
            <a:r>
              <a:rPr lang="fr-FR" altLang="en-US" dirty="0">
                <a:solidFill>
                  <a:srgbClr val="0033CC"/>
                </a:solidFill>
                <a:latin typeface="Times New Roman" panose="02020603050405020304" pitchFamily="18" charset="0"/>
              </a:rPr>
              <a:t>-Optic Cable</a:t>
            </a:r>
            <a:endParaRPr lang="en-IN" dirty="0"/>
          </a:p>
        </p:txBody>
      </p:sp>
      <p:sp>
        <p:nvSpPr>
          <p:cNvPr id="4" name="Rectangle 1">
            <a:extLst>
              <a:ext uri="{FF2B5EF4-FFF2-40B4-BE49-F238E27FC236}">
                <a16:creationId xmlns:a16="http://schemas.microsoft.com/office/drawing/2014/main" id="{BE3D4ED3-6E7C-1FE0-7694-FD2AEBA0DAC2}"/>
              </a:ext>
            </a:extLst>
          </p:cNvPr>
          <p:cNvSpPr>
            <a:spLocks noChangeArrowheads="1"/>
          </p:cNvSpPr>
          <p:nvPr/>
        </p:nvSpPr>
        <p:spPr bwMode="auto">
          <a:xfrm>
            <a:off x="680720" y="1152208"/>
            <a:ext cx="6248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Made of thin strands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glass or plastic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transmit data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signals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internal reflection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confine light inside the core.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Very high bandwidth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Tbps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range).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Immune to electromagnetic interference.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Long-distance communication with low attenuation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6">
            <a:extLst>
              <a:ext uri="{FF2B5EF4-FFF2-40B4-BE49-F238E27FC236}">
                <a16:creationId xmlns:a16="http://schemas.microsoft.com/office/drawing/2014/main" id="{EECA2E99-90A7-D487-3074-521F8C3BC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960" y="4542903"/>
            <a:ext cx="8067040" cy="1538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81C0B6B3-C9E3-70EA-379E-6369CE12DF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4560" y="1546000"/>
            <a:ext cx="4815840" cy="2925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8D22F351-1C41-786D-4C91-A7817FB257AB}"/>
              </a:ext>
            </a:extLst>
          </p:cNvPr>
          <p:cNvSpPr txBox="1"/>
          <p:nvPr/>
        </p:nvSpPr>
        <p:spPr>
          <a:xfrm>
            <a:off x="4475480" y="6414902"/>
            <a:ext cx="6776720" cy="369332"/>
          </a:xfrm>
          <a:prstGeom prst="rect">
            <a:avLst/>
          </a:prstGeom>
          <a:noFill/>
        </p:spPr>
        <p:txBody>
          <a:bodyPr wrap="square">
            <a:spAutoFit/>
          </a:bodyPr>
          <a:lstStyle/>
          <a:p>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total internal reflection</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endParaRPr lang="en-IN" dirty="0">
              <a:solidFill>
                <a:srgbClr val="FF0000"/>
              </a:solidFill>
            </a:endParaRPr>
          </a:p>
        </p:txBody>
      </p:sp>
    </p:spTree>
    <p:extLst>
      <p:ext uri="{BB962C8B-B14F-4D97-AF65-F5344CB8AC3E}">
        <p14:creationId xmlns:p14="http://schemas.microsoft.com/office/powerpoint/2010/main" val="2942589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070C-FF67-8D25-E22D-0D4194E34264}"/>
              </a:ext>
            </a:extLst>
          </p:cNvPr>
          <p:cNvSpPr>
            <a:spLocks noGrp="1"/>
          </p:cNvSpPr>
          <p:nvPr>
            <p:ph type="title"/>
          </p:nvPr>
        </p:nvSpPr>
        <p:spPr>
          <a:xfrm>
            <a:off x="2153920" y="170190"/>
            <a:ext cx="7884160" cy="1325563"/>
          </a:xfrm>
        </p:spPr>
        <p:txBody>
          <a:bodyPr>
            <a:normAutofit/>
          </a:bodyPr>
          <a:lstStyle/>
          <a:p>
            <a:r>
              <a:rPr lang="en-US" dirty="0">
                <a:solidFill>
                  <a:srgbClr val="0070C0"/>
                </a:solidFill>
              </a:rPr>
              <a:t>Guided Meida Comparison Table</a:t>
            </a:r>
            <a:endParaRPr lang="en-IN" dirty="0">
              <a:solidFill>
                <a:srgbClr val="0070C0"/>
              </a:solidFill>
            </a:endParaRPr>
          </a:p>
        </p:txBody>
      </p:sp>
      <p:pic>
        <p:nvPicPr>
          <p:cNvPr id="8" name="Picture 7">
            <a:extLst>
              <a:ext uri="{FF2B5EF4-FFF2-40B4-BE49-F238E27FC236}">
                <a16:creationId xmlns:a16="http://schemas.microsoft.com/office/drawing/2014/main" id="{D60377C9-BE16-2EEF-8629-B88D1D5A575D}"/>
              </a:ext>
            </a:extLst>
          </p:cNvPr>
          <p:cNvPicPr>
            <a:picLocks noChangeAspect="1"/>
          </p:cNvPicPr>
          <p:nvPr/>
        </p:nvPicPr>
        <p:blipFill>
          <a:blip r:embed="rId2"/>
          <a:stretch>
            <a:fillRect/>
          </a:stretch>
        </p:blipFill>
        <p:spPr>
          <a:xfrm>
            <a:off x="152400" y="1495753"/>
            <a:ext cx="11887200" cy="2857500"/>
          </a:xfrm>
          <a:prstGeom prst="rect">
            <a:avLst/>
          </a:prstGeom>
        </p:spPr>
      </p:pic>
    </p:spTree>
    <p:extLst>
      <p:ext uri="{BB962C8B-B14F-4D97-AF65-F5344CB8AC3E}">
        <p14:creationId xmlns:p14="http://schemas.microsoft.com/office/powerpoint/2010/main" val="2856549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8186-29AC-2A0F-EE8F-D5597823C68D}"/>
              </a:ext>
            </a:extLst>
          </p:cNvPr>
          <p:cNvSpPr>
            <a:spLocks noGrp="1"/>
          </p:cNvSpPr>
          <p:nvPr>
            <p:ph type="title"/>
          </p:nvPr>
        </p:nvSpPr>
        <p:spPr>
          <a:xfrm>
            <a:off x="3945255" y="-149293"/>
            <a:ext cx="4892040" cy="1325563"/>
          </a:xfrm>
        </p:spPr>
        <p:txBody>
          <a:bodyPr/>
          <a:lstStyle/>
          <a:p>
            <a:r>
              <a:rPr lang="en-US" dirty="0">
                <a:solidFill>
                  <a:srgbClr val="0070C0"/>
                </a:solidFill>
              </a:rPr>
              <a:t>Unguided Media</a:t>
            </a:r>
            <a:endParaRPr lang="en-IN" dirty="0">
              <a:solidFill>
                <a:srgbClr val="0070C0"/>
              </a:solidFill>
            </a:endParaRPr>
          </a:p>
        </p:txBody>
      </p:sp>
      <p:sp>
        <p:nvSpPr>
          <p:cNvPr id="4" name="Rectangle 5">
            <a:extLst>
              <a:ext uri="{FF2B5EF4-FFF2-40B4-BE49-F238E27FC236}">
                <a16:creationId xmlns:a16="http://schemas.microsoft.com/office/drawing/2014/main" id="{A8F85B53-72F7-8603-44BC-054338705256}"/>
              </a:ext>
            </a:extLst>
          </p:cNvPr>
          <p:cNvSpPr>
            <a:spLocks noChangeArrowheads="1"/>
          </p:cNvSpPr>
          <p:nvPr/>
        </p:nvSpPr>
        <p:spPr bwMode="auto">
          <a:xfrm>
            <a:off x="355600" y="787679"/>
            <a:ext cx="107899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defRPr/>
            </a:pPr>
            <a:r>
              <a:rPr lang="en-US" altLang="en-US" sz="2800" i="1" dirty="0">
                <a:effectLst>
                  <a:outerShdw blurRad="38100" dist="38100" dir="2700000" algn="tl">
                    <a:srgbClr val="C0C0C0"/>
                  </a:outerShdw>
                </a:effectLst>
                <a:latin typeface="Times New Roman" panose="02020603050405020304" pitchFamily="18" charset="0"/>
              </a:rPr>
              <a:t>Unguided media transport electromagnetic waves without using a physical conductor. This type of communication is often referred to as wireless communication.</a:t>
            </a:r>
          </a:p>
        </p:txBody>
      </p:sp>
      <p:pic>
        <p:nvPicPr>
          <p:cNvPr id="7" name="Picture 6">
            <a:extLst>
              <a:ext uri="{FF2B5EF4-FFF2-40B4-BE49-F238E27FC236}">
                <a16:creationId xmlns:a16="http://schemas.microsoft.com/office/drawing/2014/main" id="{929430F5-7D6E-CA5D-6BF1-92C98390A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360" y="2927024"/>
            <a:ext cx="7305760" cy="2457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3351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5">
            <a:extLst>
              <a:ext uri="{FF2B5EF4-FFF2-40B4-BE49-F238E27FC236}">
                <a16:creationId xmlns:a16="http://schemas.microsoft.com/office/drawing/2014/main" id="{AFFF397F-E3EC-803D-3950-A995C39C613F}"/>
              </a:ext>
            </a:extLst>
          </p:cNvPr>
          <p:cNvSpPr>
            <a:spLocks noChangeArrowheads="1"/>
          </p:cNvSpPr>
          <p:nvPr/>
        </p:nvSpPr>
        <p:spPr bwMode="auto">
          <a:xfrm>
            <a:off x="259080" y="719455"/>
            <a:ext cx="11673840" cy="4524315"/>
          </a:xfrm>
          <a:prstGeom prst="rect">
            <a:avLst/>
          </a:prstGeom>
          <a:solidFill>
            <a:schemeClr val="bg1"/>
          </a:solidFill>
          <a:ln>
            <a:noFill/>
          </a:ln>
          <a:effec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dirty="0">
                <a:solidFill>
                  <a:srgbClr val="00B050"/>
                </a:solidFill>
                <a:latin typeface="Times New Roman" panose="02020603050405020304" pitchFamily="18" charset="0"/>
                <a:cs typeface="Times New Roman" panose="02020603050405020304" pitchFamily="18" charset="0"/>
              </a:rPr>
              <a:t>Radio Waves: </a:t>
            </a:r>
            <a:r>
              <a:rPr lang="en-US" altLang="en-US" sz="2400" b="0" dirty="0">
                <a:latin typeface="Times New Roman" panose="02020603050405020304" pitchFamily="18" charset="0"/>
                <a:cs typeface="Times New Roman" panose="02020603050405020304" pitchFamily="18" charset="0"/>
              </a:rPr>
              <a:t>Radio waves are used for multicast communications, such as radio and television, and paging systems.</a:t>
            </a:r>
          </a:p>
          <a:p>
            <a:r>
              <a:rPr lang="en-US" altLang="en-US" sz="2400" b="0" dirty="0">
                <a:latin typeface="Times New Roman" panose="02020603050405020304" pitchFamily="18" charset="0"/>
                <a:cs typeface="Times New Roman" panose="02020603050405020304" pitchFamily="18" charset="0"/>
              </a:rPr>
              <a:t> They can penetrate through walls. Use omni directional antennas.</a:t>
            </a:r>
          </a:p>
          <a:p>
            <a:endParaRPr lang="en-US" altLang="en-US" sz="2400" b="0" dirty="0">
              <a:latin typeface="Times New Roman" panose="02020603050405020304" pitchFamily="18" charset="0"/>
              <a:cs typeface="Times New Roman" panose="02020603050405020304" pitchFamily="18" charset="0"/>
            </a:endParaRPr>
          </a:p>
          <a:p>
            <a:r>
              <a:rPr lang="en-US" altLang="en-US" sz="2400" dirty="0">
                <a:solidFill>
                  <a:srgbClr val="00B0F0"/>
                </a:solidFill>
                <a:latin typeface="Times New Roman" panose="02020603050405020304" pitchFamily="18" charset="0"/>
                <a:cs typeface="Times New Roman" panose="02020603050405020304" pitchFamily="18" charset="0"/>
              </a:rPr>
              <a:t>Microwaves: </a:t>
            </a:r>
            <a:r>
              <a:rPr lang="en-US" altLang="en-US" sz="2400" b="0" dirty="0">
                <a:latin typeface="Times New Roman" panose="02020603050405020304" pitchFamily="18" charset="0"/>
                <a:cs typeface="Times New Roman" panose="02020603050405020304" pitchFamily="18" charset="0"/>
              </a:rPr>
              <a:t>Microwaves are used for unicast communication such as cellular telephones, satellite networks, and wireless LANs.</a:t>
            </a:r>
          </a:p>
          <a:p>
            <a:r>
              <a:rPr lang="en-US" altLang="en-US" sz="2400" b="0" dirty="0">
                <a:latin typeface="Times New Roman" panose="02020603050405020304" pitchFamily="18" charset="0"/>
                <a:cs typeface="Times New Roman" panose="02020603050405020304" pitchFamily="18" charset="0"/>
              </a:rPr>
              <a:t> Higher frequency ranges cannot penetrate walls. Use directional antennas - point to point line of sight communications.</a:t>
            </a:r>
          </a:p>
          <a:p>
            <a:endParaRPr lang="en-US" altLang="en-US" sz="2400" b="0" dirty="0">
              <a:latin typeface="Times New Roman" panose="02020603050405020304" pitchFamily="18" charset="0"/>
              <a:cs typeface="Times New Roman" panose="02020603050405020304" pitchFamily="18" charset="0"/>
            </a:endParaRPr>
          </a:p>
          <a:p>
            <a:r>
              <a:rPr lang="en-US" altLang="en-US" sz="2400" dirty="0">
                <a:solidFill>
                  <a:srgbClr val="FF0000"/>
                </a:solidFill>
                <a:latin typeface="Times New Roman" panose="02020603050405020304" pitchFamily="18" charset="0"/>
                <a:cs typeface="Times New Roman" panose="02020603050405020304" pitchFamily="18" charset="0"/>
              </a:rPr>
              <a:t>Infrared: </a:t>
            </a:r>
            <a:r>
              <a:rPr lang="en-US" altLang="en-US" sz="2400" b="0" dirty="0">
                <a:latin typeface="Times New Roman" panose="02020603050405020304" pitchFamily="18" charset="0"/>
                <a:cs typeface="Times New Roman" panose="02020603050405020304" pitchFamily="18" charset="0"/>
              </a:rPr>
              <a:t>Infrared signals can be used for short-range communication in a closed area using line-of-sight propagation.</a:t>
            </a:r>
          </a:p>
          <a:p>
            <a:endParaRPr lang="en-US" altLang="en-US" sz="2400" b="0"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03ECC5B7-3927-853A-716A-13C28F1F8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8879" y="4740204"/>
            <a:ext cx="7578725" cy="1924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56A6F7F8-3A2C-D2FE-E9D0-961B5A5A5959}"/>
              </a:ext>
            </a:extLst>
          </p:cNvPr>
          <p:cNvSpPr txBox="1"/>
          <p:nvPr/>
        </p:nvSpPr>
        <p:spPr>
          <a:xfrm>
            <a:off x="3159760" y="0"/>
            <a:ext cx="6096000" cy="646331"/>
          </a:xfrm>
          <a:prstGeom prst="rect">
            <a:avLst/>
          </a:prstGeom>
          <a:noFill/>
        </p:spPr>
        <p:txBody>
          <a:bodyPr wrap="square">
            <a:spAutoFit/>
          </a:bodyPr>
          <a:lstStyle/>
          <a:p>
            <a:r>
              <a:rPr lang="en-US" altLang="en-US" sz="3600" dirty="0">
                <a:solidFill>
                  <a:srgbClr val="00B0F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Wireless Communication</a:t>
            </a:r>
            <a:endParaRPr lang="en-IN" sz="36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4217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7DBA5F-EC3C-5249-1674-81290FB80491}"/>
              </a:ext>
            </a:extLst>
          </p:cNvPr>
          <p:cNvSpPr txBox="1"/>
          <p:nvPr/>
        </p:nvSpPr>
        <p:spPr>
          <a:xfrm>
            <a:off x="3195686" y="2828835"/>
            <a:ext cx="6231118" cy="1200329"/>
          </a:xfrm>
          <a:prstGeom prst="rect">
            <a:avLst/>
          </a:prstGeom>
          <a:noFill/>
        </p:spPr>
        <p:txBody>
          <a:bodyPr wrap="square" rtlCol="0">
            <a:spAutoFit/>
          </a:bodyPr>
          <a:lstStyle/>
          <a:p>
            <a:r>
              <a:rPr lang="en-IN" sz="7200" b="1" dirty="0">
                <a:solidFill>
                  <a:schemeClr val="accent1"/>
                </a:solidFill>
                <a:latin typeface="Times New Roman" panose="02020603050405020304" pitchFamily="18" charset="0"/>
                <a:cs typeface="Times New Roman" panose="02020603050405020304" pitchFamily="18" charset="0"/>
              </a:rPr>
              <a:t>SWITCHING </a:t>
            </a:r>
          </a:p>
        </p:txBody>
      </p:sp>
    </p:spTree>
    <p:extLst>
      <p:ext uri="{BB962C8B-B14F-4D97-AF65-F5344CB8AC3E}">
        <p14:creationId xmlns:p14="http://schemas.microsoft.com/office/powerpoint/2010/main" val="3274496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9DDECE-42ED-E376-4EE1-9BFB290DCE31}"/>
              </a:ext>
            </a:extLst>
          </p:cNvPr>
          <p:cNvSpPr>
            <a:spLocks noGrp="1"/>
          </p:cNvSpPr>
          <p:nvPr>
            <p:ph idx="1"/>
          </p:nvPr>
        </p:nvSpPr>
        <p:spPr>
          <a:xfrm>
            <a:off x="525177" y="960885"/>
            <a:ext cx="10502298" cy="3544479"/>
          </a:xfrm>
        </p:spPr>
        <p:txBody>
          <a:bodyPr>
            <a:normAutofit/>
          </a:bodyPr>
          <a:lstStyle/>
          <a:p>
            <a:pPr algn="just">
              <a:lnSpc>
                <a:spcPct val="100000"/>
              </a:lnSpc>
              <a:buFont typeface="Wingdings" panose="05000000000000000000" pitchFamily="2" charset="2"/>
              <a:buChar char="Ø"/>
            </a:pPr>
            <a:r>
              <a:rPr lang="en-IN" sz="2400" i="1" dirty="0">
                <a:solidFill>
                  <a:schemeClr val="accent1"/>
                </a:solidFill>
                <a:latin typeface="Times New Roman" panose="02020603050405020304" pitchFamily="18" charset="0"/>
                <a:cs typeface="Times New Roman" panose="02020603050405020304" pitchFamily="18" charset="0"/>
              </a:rPr>
              <a:t>Switches</a:t>
            </a:r>
            <a:r>
              <a:rPr lang="en-IN" sz="2400" dirty="0">
                <a:latin typeface="Times New Roman" panose="02020603050405020304" pitchFamily="18" charset="0"/>
                <a:cs typeface="Times New Roman" panose="02020603050405020304" pitchFamily="18" charset="0"/>
              </a:rPr>
              <a:t> are devices capable of creating temporary connections between two or more devices linked to the switch. </a:t>
            </a:r>
          </a:p>
          <a:p>
            <a:pPr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In a switched network, some of these nodes are connected to the end systems. Others are used only for routing.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a:t>
            </a:r>
            <a:r>
              <a:rPr lang="en-IN" sz="2400" i="1" dirty="0">
                <a:solidFill>
                  <a:schemeClr val="accent1"/>
                </a:solidFill>
                <a:latin typeface="Times New Roman" panose="02020603050405020304" pitchFamily="18" charset="0"/>
                <a:cs typeface="Times New Roman" panose="02020603050405020304" pitchFamily="18" charset="0"/>
              </a:rPr>
              <a:t>Example</a:t>
            </a:r>
            <a:r>
              <a:rPr lang="en-IN" sz="2400" dirty="0">
                <a:latin typeface="Times New Roman" panose="02020603050405020304" pitchFamily="18" charset="0"/>
                <a:cs typeface="Times New Roman" panose="02020603050405020304" pitchFamily="18" charset="0"/>
              </a:rPr>
              <a:t>- Computers or telephones etc. </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3F11625-B663-CEA8-AA40-94911175FCD7}"/>
              </a:ext>
            </a:extLst>
          </p:cNvPr>
          <p:cNvPicPr>
            <a:picLocks noChangeAspect="1"/>
          </p:cNvPicPr>
          <p:nvPr/>
        </p:nvPicPr>
        <p:blipFill>
          <a:blip r:embed="rId2">
            <a:extLst>
              <a:ext uri="{28A0092B-C50C-407E-A947-70E740481C1C}">
                <a14:useLocalDpi xmlns:a14="http://schemas.microsoft.com/office/drawing/2010/main" val="0"/>
              </a:ext>
            </a:extLst>
          </a:blip>
          <a:srcRect l="11271" t="26392" r="14090" b="22062"/>
          <a:stretch/>
        </p:blipFill>
        <p:spPr>
          <a:xfrm>
            <a:off x="4135120" y="3429000"/>
            <a:ext cx="6221795" cy="3222616"/>
          </a:xfrm>
          <a:prstGeom prst="rect">
            <a:avLst/>
          </a:prstGeom>
        </p:spPr>
      </p:pic>
      <p:sp>
        <p:nvSpPr>
          <p:cNvPr id="5" name="TextBox 4">
            <a:extLst>
              <a:ext uri="{FF2B5EF4-FFF2-40B4-BE49-F238E27FC236}">
                <a16:creationId xmlns:a16="http://schemas.microsoft.com/office/drawing/2014/main" id="{8F5F91D7-109F-57F2-FBD6-43674A9D3798}"/>
              </a:ext>
            </a:extLst>
          </p:cNvPr>
          <p:cNvSpPr txBox="1"/>
          <p:nvPr/>
        </p:nvSpPr>
        <p:spPr>
          <a:xfrm>
            <a:off x="3220720" y="206384"/>
            <a:ext cx="6096000" cy="707886"/>
          </a:xfrm>
          <a:prstGeom prst="rect">
            <a:avLst/>
          </a:prstGeom>
          <a:noFill/>
        </p:spPr>
        <p:txBody>
          <a:bodyPr wrap="square">
            <a:spAutoFit/>
          </a:bodyPr>
          <a:lstStyle/>
          <a:p>
            <a:r>
              <a:rPr lang="en-IN" sz="4000" b="1" dirty="0">
                <a:solidFill>
                  <a:srgbClr val="0070C0"/>
                </a:solidFill>
                <a:latin typeface="Times New Roman" panose="02020603050405020304" pitchFamily="18" charset="0"/>
                <a:cs typeface="Times New Roman" panose="02020603050405020304" pitchFamily="18" charset="0"/>
              </a:rPr>
              <a:t>Switched Networks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874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0F4A0D-D5E3-938A-F624-BEC2BA93EE4F}"/>
              </a:ext>
            </a:extLst>
          </p:cNvPr>
          <p:cNvPicPr>
            <a:picLocks noChangeAspect="1"/>
          </p:cNvPicPr>
          <p:nvPr/>
        </p:nvPicPr>
        <p:blipFill>
          <a:blip r:embed="rId2">
            <a:extLst>
              <a:ext uri="{28A0092B-C50C-407E-A947-70E740481C1C}">
                <a14:useLocalDpi xmlns:a14="http://schemas.microsoft.com/office/drawing/2010/main" val="0"/>
              </a:ext>
            </a:extLst>
          </a:blip>
          <a:srcRect l="4364" t="24741" r="3780" b="23574"/>
          <a:stretch/>
        </p:blipFill>
        <p:spPr>
          <a:xfrm>
            <a:off x="2086099" y="1177542"/>
            <a:ext cx="8019801" cy="3384338"/>
          </a:xfrm>
          <a:prstGeom prst="rect">
            <a:avLst/>
          </a:prstGeom>
        </p:spPr>
      </p:pic>
      <p:sp>
        <p:nvSpPr>
          <p:cNvPr id="5" name="TextBox 4">
            <a:extLst>
              <a:ext uri="{FF2B5EF4-FFF2-40B4-BE49-F238E27FC236}">
                <a16:creationId xmlns:a16="http://schemas.microsoft.com/office/drawing/2014/main" id="{D0556DEA-E0AA-7D80-1906-FAB4FA82469E}"/>
              </a:ext>
            </a:extLst>
          </p:cNvPr>
          <p:cNvSpPr txBox="1"/>
          <p:nvPr/>
        </p:nvSpPr>
        <p:spPr>
          <a:xfrm>
            <a:off x="2890519" y="277614"/>
            <a:ext cx="9301481" cy="584775"/>
          </a:xfrm>
          <a:prstGeom prst="rect">
            <a:avLst/>
          </a:prstGeom>
          <a:noFill/>
        </p:spPr>
        <p:txBody>
          <a:bodyPr wrap="square">
            <a:spAutoFit/>
          </a:bodyPr>
          <a:lstStyle/>
          <a:p>
            <a:r>
              <a:rPr lang="en-IN" sz="3200" b="1" dirty="0">
                <a:solidFill>
                  <a:srgbClr val="0070C0"/>
                </a:solidFill>
                <a:latin typeface="Times New Roman" panose="02020603050405020304" pitchFamily="18" charset="0"/>
                <a:cs typeface="Times New Roman" panose="02020603050405020304" pitchFamily="18" charset="0"/>
              </a:rPr>
              <a:t>Classification of switched Networks</a:t>
            </a:r>
            <a:endParaRPr lang="en-IN" sz="3200" b="1" dirty="0">
              <a:solidFill>
                <a:srgbClr val="0070C0"/>
              </a:solidFill>
            </a:endParaRPr>
          </a:p>
        </p:txBody>
      </p:sp>
      <p:sp>
        <p:nvSpPr>
          <p:cNvPr id="6" name="Rectangle: Rounded Corners 5">
            <a:extLst>
              <a:ext uri="{FF2B5EF4-FFF2-40B4-BE49-F238E27FC236}">
                <a16:creationId xmlns:a16="http://schemas.microsoft.com/office/drawing/2014/main" id="{B21B4AC6-DB60-3FBC-3EE2-9E12C584D526}"/>
              </a:ext>
            </a:extLst>
          </p:cNvPr>
          <p:cNvSpPr/>
          <p:nvPr/>
        </p:nvSpPr>
        <p:spPr>
          <a:xfrm>
            <a:off x="259079" y="4981065"/>
            <a:ext cx="11673840" cy="1398786"/>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dirty="0">
                <a:solidFill>
                  <a:schemeClr val="tx1"/>
                </a:solidFill>
                <a:latin typeface="Times New Roman" panose="02020603050405020304" pitchFamily="18" charset="0"/>
                <a:cs typeface="Times New Roman" panose="02020603050405020304" pitchFamily="18" charset="0"/>
              </a:rPr>
              <a:t>A circuit-switched network is implemented in the physical layer, a datagram network in the network layer and  a virtual-circuit network is implemented in the data link layer. </a:t>
            </a:r>
          </a:p>
        </p:txBody>
      </p:sp>
    </p:spTree>
    <p:extLst>
      <p:ext uri="{BB962C8B-B14F-4D97-AF65-F5344CB8AC3E}">
        <p14:creationId xmlns:p14="http://schemas.microsoft.com/office/powerpoint/2010/main" val="3828973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A0223-62BB-1E6B-7C27-F30207DD068E}"/>
              </a:ext>
            </a:extLst>
          </p:cNvPr>
          <p:cNvSpPr>
            <a:spLocks noGrp="1"/>
          </p:cNvSpPr>
          <p:nvPr>
            <p:ph type="title"/>
          </p:nvPr>
        </p:nvSpPr>
        <p:spPr>
          <a:xfrm>
            <a:off x="2209800" y="94089"/>
            <a:ext cx="10515600" cy="813435"/>
          </a:xfrm>
        </p:spPr>
        <p:txBody>
          <a:bodyPr>
            <a:normAutofit/>
          </a:bodyPr>
          <a:lstStyle/>
          <a:p>
            <a:r>
              <a:rPr lang="en-IN" sz="3600" b="1" dirty="0">
                <a:solidFill>
                  <a:schemeClr val="accent1"/>
                </a:solidFill>
                <a:latin typeface="Times New Roman" panose="02020603050405020304" pitchFamily="18" charset="0"/>
                <a:cs typeface="Times New Roman" panose="02020603050405020304" pitchFamily="18" charset="0"/>
              </a:rPr>
              <a:t>CIRCUIT-SWITCHED NETWROKS</a:t>
            </a:r>
          </a:p>
        </p:txBody>
      </p:sp>
      <p:sp>
        <p:nvSpPr>
          <p:cNvPr id="3" name="Content Placeholder 2">
            <a:extLst>
              <a:ext uri="{FF2B5EF4-FFF2-40B4-BE49-F238E27FC236}">
                <a16:creationId xmlns:a16="http://schemas.microsoft.com/office/drawing/2014/main" id="{4B90BD3F-93EA-2D90-B89D-A01BFB4F53B8}"/>
              </a:ext>
            </a:extLst>
          </p:cNvPr>
          <p:cNvSpPr>
            <a:spLocks noGrp="1"/>
          </p:cNvSpPr>
          <p:nvPr>
            <p:ph idx="1"/>
          </p:nvPr>
        </p:nvSpPr>
        <p:spPr>
          <a:xfrm>
            <a:off x="238760" y="907524"/>
            <a:ext cx="11023600" cy="1998236"/>
          </a:xfrm>
        </p:spPr>
        <p:txBody>
          <a:bodyPr>
            <a:noAutofit/>
          </a:bodyPr>
          <a:lstStyle/>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 circuit-switched network consists of a set of switches connected by physical links.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Circuit switching takes place at the physical layer.</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Each link is divided into </a:t>
            </a:r>
            <a:r>
              <a:rPr lang="en-IN" sz="2400" i="1" dirty="0">
                <a:solidFill>
                  <a:schemeClr val="accent1"/>
                </a:solidFill>
                <a:latin typeface="Times New Roman" panose="02020603050405020304" pitchFamily="18" charset="0"/>
                <a:cs typeface="Times New Roman" panose="02020603050405020304" pitchFamily="18" charset="0"/>
              </a:rPr>
              <a:t>n</a:t>
            </a:r>
            <a:r>
              <a:rPr lang="en-IN" sz="2400" dirty="0">
                <a:latin typeface="Times New Roman" panose="02020603050405020304" pitchFamily="18" charset="0"/>
                <a:cs typeface="Times New Roman" panose="02020603050405020304" pitchFamily="18" charset="0"/>
              </a:rPr>
              <a:t> channels by using </a:t>
            </a:r>
            <a:r>
              <a:rPr lang="en-IN" sz="2400" i="1" dirty="0">
                <a:solidFill>
                  <a:schemeClr val="accent1"/>
                </a:solidFill>
                <a:latin typeface="Times New Roman" panose="02020603050405020304" pitchFamily="18" charset="0"/>
                <a:cs typeface="Times New Roman" panose="02020603050405020304" pitchFamily="18" charset="0"/>
              </a:rPr>
              <a:t>FDM</a:t>
            </a:r>
            <a:r>
              <a:rPr lang="en-IN" sz="2400" dirty="0">
                <a:latin typeface="Times New Roman" panose="02020603050405020304" pitchFamily="18" charset="0"/>
                <a:cs typeface="Times New Roman" panose="02020603050405020304" pitchFamily="18" charset="0"/>
              </a:rPr>
              <a:t> or </a:t>
            </a:r>
            <a:r>
              <a:rPr lang="en-IN" sz="2400" i="1" dirty="0">
                <a:solidFill>
                  <a:schemeClr val="accent1"/>
                </a:solidFill>
                <a:latin typeface="Times New Roman" panose="02020603050405020304" pitchFamily="18" charset="0"/>
                <a:cs typeface="Times New Roman" panose="02020603050405020304" pitchFamily="18" charset="0"/>
              </a:rPr>
              <a:t>TDM</a:t>
            </a:r>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transferred between the two stations are “not packetized” (“continuous flow”)</a:t>
            </a:r>
          </a:p>
        </p:txBody>
      </p:sp>
      <p:pic>
        <p:nvPicPr>
          <p:cNvPr id="4" name="Picture 3">
            <a:extLst>
              <a:ext uri="{FF2B5EF4-FFF2-40B4-BE49-F238E27FC236}">
                <a16:creationId xmlns:a16="http://schemas.microsoft.com/office/drawing/2014/main" id="{656C1E1F-46C9-8888-DFFC-F6EEE63F0A54}"/>
              </a:ext>
            </a:extLst>
          </p:cNvPr>
          <p:cNvPicPr>
            <a:picLocks noChangeAspect="1"/>
          </p:cNvPicPr>
          <p:nvPr/>
        </p:nvPicPr>
        <p:blipFill>
          <a:blip r:embed="rId2">
            <a:extLst>
              <a:ext uri="{28A0092B-C50C-407E-A947-70E740481C1C}">
                <a14:useLocalDpi xmlns:a14="http://schemas.microsoft.com/office/drawing/2010/main" val="0"/>
              </a:ext>
            </a:extLst>
          </a:blip>
          <a:srcRect l="7045" t="18969" r="8729" b="12302"/>
          <a:stretch/>
        </p:blipFill>
        <p:spPr>
          <a:xfrm>
            <a:off x="6096000" y="3046463"/>
            <a:ext cx="5908294" cy="3615848"/>
          </a:xfrm>
          <a:prstGeom prst="rect">
            <a:avLst/>
          </a:prstGeom>
        </p:spPr>
      </p:pic>
      <p:sp>
        <p:nvSpPr>
          <p:cNvPr id="7" name="TextBox 6">
            <a:extLst>
              <a:ext uri="{FF2B5EF4-FFF2-40B4-BE49-F238E27FC236}">
                <a16:creationId xmlns:a16="http://schemas.microsoft.com/office/drawing/2014/main" id="{B356ACDD-3319-8DFE-CD0C-3743EB37CA09}"/>
              </a:ext>
            </a:extLst>
          </p:cNvPr>
          <p:cNvSpPr txBox="1"/>
          <p:nvPr/>
        </p:nvSpPr>
        <p:spPr>
          <a:xfrm>
            <a:off x="193040" y="3185160"/>
            <a:ext cx="6438900" cy="2246769"/>
          </a:xfrm>
          <a:prstGeom prst="rect">
            <a:avLst/>
          </a:prstGeom>
          <a:noFill/>
        </p:spPr>
        <p:txBody>
          <a:bodyPr wrap="square">
            <a:spAutoFit/>
          </a:bodyPr>
          <a:lstStyle/>
          <a:p>
            <a:pPr>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Before starting communication, the stations must make a reservation for the resources to be used during the communication (till teardown phase is over)</a:t>
            </a:r>
          </a:p>
        </p:txBody>
      </p:sp>
    </p:spTree>
    <p:extLst>
      <p:ext uri="{BB962C8B-B14F-4D97-AF65-F5344CB8AC3E}">
        <p14:creationId xmlns:p14="http://schemas.microsoft.com/office/powerpoint/2010/main" val="5785238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A38DD85-6CC9-0B2A-EC64-26EBE366C156}"/>
              </a:ext>
            </a:extLst>
          </p:cNvPr>
          <p:cNvSpPr txBox="1">
            <a:spLocks/>
          </p:cNvSpPr>
          <p:nvPr/>
        </p:nvSpPr>
        <p:spPr>
          <a:xfrm>
            <a:off x="301375" y="1121853"/>
            <a:ext cx="11589250" cy="247561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The end systems, such as computers or telephones, are directly connected to a switch.</a:t>
            </a:r>
          </a:p>
          <a:p>
            <a:r>
              <a:rPr lang="en-US" b="1" dirty="0">
                <a:latin typeface="Times New Roman" panose="02020603050405020304" pitchFamily="18" charset="0"/>
                <a:cs typeface="Times New Roman" panose="02020603050405020304" pitchFamily="18" charset="0"/>
              </a:rPr>
              <a:t>Setup Phase</a:t>
            </a:r>
            <a:r>
              <a:rPr lang="en-US" dirty="0">
                <a:latin typeface="Times New Roman" panose="02020603050405020304" pitchFamily="18" charset="0"/>
                <a:cs typeface="Times New Roman" panose="02020603050405020304" pitchFamily="18" charset="0"/>
              </a:rPr>
              <a:t>: A needs to request a connection to M that must be accepted by all switches as well as by M itself.</a:t>
            </a:r>
          </a:p>
          <a:p>
            <a:r>
              <a:rPr lang="en-US" b="1" dirty="0">
                <a:latin typeface="Times New Roman" panose="02020603050405020304" pitchFamily="18" charset="0"/>
                <a:cs typeface="Times New Roman" panose="02020603050405020304" pitchFamily="18" charset="0"/>
              </a:rPr>
              <a:t>Data-Transfer Phase</a:t>
            </a:r>
            <a:r>
              <a:rPr lang="en-US" dirty="0">
                <a:latin typeface="Times New Roman" panose="02020603050405020304" pitchFamily="18" charset="0"/>
                <a:cs typeface="Times New Roman" panose="02020603050405020304" pitchFamily="18" charset="0"/>
              </a:rPr>
              <a:t>: Data transfers, after all data have been transferred, the circuits are </a:t>
            </a:r>
            <a:r>
              <a:rPr lang="en-US" dirty="0">
                <a:solidFill>
                  <a:srgbClr val="FF0000"/>
                </a:solidFill>
                <a:latin typeface="Times New Roman" panose="02020603050405020304" pitchFamily="18" charset="0"/>
                <a:cs typeface="Times New Roman" panose="02020603050405020304" pitchFamily="18" charset="0"/>
              </a:rPr>
              <a:t>torn down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3F89412-7585-B1CF-EC1C-5DF99B4FD5ED}"/>
              </a:ext>
            </a:extLst>
          </p:cNvPr>
          <p:cNvPicPr>
            <a:picLocks noChangeAspect="1"/>
          </p:cNvPicPr>
          <p:nvPr/>
        </p:nvPicPr>
        <p:blipFill>
          <a:blip r:embed="rId2">
            <a:extLst>
              <a:ext uri="{28A0092B-C50C-407E-A947-70E740481C1C}">
                <a14:useLocalDpi xmlns:a14="http://schemas.microsoft.com/office/drawing/2010/main" val="0"/>
              </a:ext>
            </a:extLst>
          </a:blip>
          <a:srcRect l="7045" t="18969" r="8729" b="12302"/>
          <a:stretch/>
        </p:blipFill>
        <p:spPr>
          <a:xfrm>
            <a:off x="3942080" y="3597467"/>
            <a:ext cx="5199380" cy="3181995"/>
          </a:xfrm>
          <a:prstGeom prst="rect">
            <a:avLst/>
          </a:prstGeom>
        </p:spPr>
      </p:pic>
      <p:sp>
        <p:nvSpPr>
          <p:cNvPr id="6" name="Title 1">
            <a:extLst>
              <a:ext uri="{FF2B5EF4-FFF2-40B4-BE49-F238E27FC236}">
                <a16:creationId xmlns:a16="http://schemas.microsoft.com/office/drawing/2014/main" id="{964AE7B8-75F2-40C0-5DD0-9E914D8639AC}"/>
              </a:ext>
            </a:extLst>
          </p:cNvPr>
          <p:cNvSpPr txBox="1">
            <a:spLocks/>
          </p:cNvSpPr>
          <p:nvPr/>
        </p:nvSpPr>
        <p:spPr>
          <a:xfrm>
            <a:off x="838200" y="365125"/>
            <a:ext cx="10515600" cy="81343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a:solidFill>
                  <a:schemeClr val="accent1"/>
                </a:solidFill>
                <a:latin typeface="Times New Roman" panose="02020603050405020304" pitchFamily="18" charset="0"/>
                <a:cs typeface="Times New Roman" panose="02020603050405020304" pitchFamily="18" charset="0"/>
              </a:rPr>
              <a:t>CIRCUIT-SWITCHED NETWROKS</a:t>
            </a:r>
            <a:endParaRPr lang="en-IN" sz="36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746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82AC-4FA4-92FF-71C1-BB5BC1A15282}"/>
              </a:ext>
            </a:extLst>
          </p:cNvPr>
          <p:cNvSpPr>
            <a:spLocks noGrp="1"/>
          </p:cNvSpPr>
          <p:nvPr>
            <p:ph type="title"/>
          </p:nvPr>
        </p:nvSpPr>
        <p:spPr>
          <a:xfrm>
            <a:off x="3317240" y="-75882"/>
            <a:ext cx="5857240" cy="1325563"/>
          </a:xfrm>
        </p:spPr>
        <p:txBody>
          <a:bodyPr>
            <a:normAutofit/>
          </a:bodyPr>
          <a:lstStyle/>
          <a:p>
            <a:r>
              <a:rPr lang="en-IN" sz="3600" b="1" dirty="0">
                <a:solidFill>
                  <a:schemeClr val="accent1"/>
                </a:solidFill>
                <a:latin typeface="Times New Roman" panose="02020603050405020304" pitchFamily="18" charset="0"/>
                <a:cs typeface="Times New Roman" panose="02020603050405020304" pitchFamily="18" charset="0"/>
              </a:rPr>
              <a:t>DATAGRAM NETWORKS</a:t>
            </a:r>
          </a:p>
        </p:txBody>
      </p:sp>
      <p:sp>
        <p:nvSpPr>
          <p:cNvPr id="3" name="Content Placeholder 2">
            <a:extLst>
              <a:ext uri="{FF2B5EF4-FFF2-40B4-BE49-F238E27FC236}">
                <a16:creationId xmlns:a16="http://schemas.microsoft.com/office/drawing/2014/main" id="{8F30881A-FD2B-5862-81FB-3ED30B221135}"/>
              </a:ext>
            </a:extLst>
          </p:cNvPr>
          <p:cNvSpPr>
            <a:spLocks noGrp="1"/>
          </p:cNvSpPr>
          <p:nvPr>
            <p:ph idx="1"/>
          </p:nvPr>
        </p:nvSpPr>
        <p:spPr>
          <a:xfrm>
            <a:off x="271780" y="897142"/>
            <a:ext cx="11361420" cy="3745977"/>
          </a:xfrm>
        </p:spPr>
        <p:txBody>
          <a:bodyPr>
            <a:normAutofit/>
          </a:bodyPr>
          <a:lstStyle/>
          <a:p>
            <a:pPr>
              <a:lnSpc>
                <a:spcPct val="100000"/>
              </a:lnSpc>
              <a:spcBef>
                <a:spcPts val="600"/>
              </a:spcBef>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In </a:t>
            </a:r>
            <a:r>
              <a:rPr lang="en-IN" sz="2400" i="1" dirty="0">
                <a:solidFill>
                  <a:schemeClr val="accent1"/>
                </a:solidFill>
                <a:latin typeface="Times New Roman" panose="02020603050405020304" pitchFamily="18" charset="0"/>
                <a:cs typeface="Times New Roman" panose="02020603050405020304" pitchFamily="18" charset="0"/>
              </a:rPr>
              <a:t>packet –switched network</a:t>
            </a:r>
            <a:r>
              <a:rPr lang="en-IN" sz="2400" dirty="0">
                <a:latin typeface="Times New Roman" panose="02020603050405020304" pitchFamily="18" charset="0"/>
                <a:cs typeface="Times New Roman" panose="02020603050405020304" pitchFamily="18" charset="0"/>
              </a:rPr>
              <a:t>, message or data needs to be divided into packets of fixed or variable size. </a:t>
            </a:r>
          </a:p>
          <a:p>
            <a:pPr>
              <a:lnSpc>
                <a:spcPct val="150000"/>
              </a:lnSpc>
              <a:spcBef>
                <a:spcPts val="600"/>
              </a:spcBef>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The size of the packet is determined by the network and governing protocol. </a:t>
            </a:r>
          </a:p>
          <a:p>
            <a:pPr>
              <a:lnSpc>
                <a:spcPct val="150000"/>
              </a:lnSpc>
              <a:spcBef>
                <a:spcPts val="600"/>
              </a:spcBef>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 this switching, there is no resource allocation for a packet. </a:t>
            </a:r>
          </a:p>
          <a:p>
            <a:pPr>
              <a:lnSpc>
                <a:spcPct val="150000"/>
              </a:lnSpc>
              <a:spcBef>
                <a:spcPts val="600"/>
              </a:spcBef>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The allocation  is done on a first-come, first-served basis</a:t>
            </a:r>
          </a:p>
          <a:p>
            <a:pPr>
              <a:lnSpc>
                <a:spcPct val="150000"/>
              </a:lnSpc>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0E0F1B6-CD4C-D45D-ECFE-5DA21FDBC816}"/>
              </a:ext>
            </a:extLst>
          </p:cNvPr>
          <p:cNvPicPr>
            <a:picLocks noChangeAspect="1"/>
          </p:cNvPicPr>
          <p:nvPr/>
        </p:nvPicPr>
        <p:blipFill>
          <a:blip r:embed="rId2">
            <a:extLst>
              <a:ext uri="{28A0092B-C50C-407E-A947-70E740481C1C}">
                <a14:useLocalDpi xmlns:a14="http://schemas.microsoft.com/office/drawing/2010/main" val="0"/>
              </a:ext>
            </a:extLst>
          </a:blip>
          <a:srcRect l="2921" t="29141" r="3883" b="26048"/>
          <a:stretch/>
        </p:blipFill>
        <p:spPr>
          <a:xfrm>
            <a:off x="2113280" y="3759263"/>
            <a:ext cx="8142035" cy="2936177"/>
          </a:xfrm>
          <a:prstGeom prst="rect">
            <a:avLst/>
          </a:prstGeom>
        </p:spPr>
      </p:pic>
    </p:spTree>
    <p:extLst>
      <p:ext uri="{BB962C8B-B14F-4D97-AF65-F5344CB8AC3E}">
        <p14:creationId xmlns:p14="http://schemas.microsoft.com/office/powerpoint/2010/main" val="3773413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751CDC-FDB1-9801-659C-085B2498D5AA}"/>
              </a:ext>
            </a:extLst>
          </p:cNvPr>
          <p:cNvPicPr>
            <a:picLocks noChangeAspect="1"/>
          </p:cNvPicPr>
          <p:nvPr/>
        </p:nvPicPr>
        <p:blipFill>
          <a:blip r:embed="rId2">
            <a:extLst>
              <a:ext uri="{28A0092B-C50C-407E-A947-70E740481C1C}">
                <a14:useLocalDpi xmlns:a14="http://schemas.microsoft.com/office/drawing/2010/main" val="0"/>
              </a:ext>
            </a:extLst>
          </a:blip>
          <a:srcRect l="2921" t="29141" r="3883" b="26048"/>
          <a:stretch/>
        </p:blipFill>
        <p:spPr>
          <a:xfrm>
            <a:off x="2534658" y="4051535"/>
            <a:ext cx="7325883" cy="2641857"/>
          </a:xfrm>
          <a:prstGeom prst="rect">
            <a:avLst/>
          </a:prstGeom>
        </p:spPr>
      </p:pic>
      <p:sp>
        <p:nvSpPr>
          <p:cNvPr id="2" name="Content Placeholder 2">
            <a:extLst>
              <a:ext uri="{FF2B5EF4-FFF2-40B4-BE49-F238E27FC236}">
                <a16:creationId xmlns:a16="http://schemas.microsoft.com/office/drawing/2014/main" id="{46C689D1-71AB-4E6E-8BC3-A94E199F50B1}"/>
              </a:ext>
            </a:extLst>
          </p:cNvPr>
          <p:cNvSpPr txBox="1">
            <a:spLocks/>
          </p:cNvSpPr>
          <p:nvPr/>
        </p:nvSpPr>
        <p:spPr>
          <a:xfrm>
            <a:off x="402975" y="827390"/>
            <a:ext cx="11413105" cy="27560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latin typeface="Times New Roman" panose="02020603050405020304" pitchFamily="18" charset="0"/>
                <a:cs typeface="Times New Roman" panose="02020603050405020304" pitchFamily="18" charset="0"/>
              </a:rPr>
              <a:t>In a datagram network, each </a:t>
            </a:r>
            <a:r>
              <a:rPr lang="en-US" sz="2400" dirty="0">
                <a:solidFill>
                  <a:srgbClr val="FF0000"/>
                </a:solidFill>
                <a:latin typeface="Times New Roman" panose="02020603050405020304" pitchFamily="18" charset="0"/>
                <a:cs typeface="Times New Roman" panose="02020603050405020304" pitchFamily="18" charset="0"/>
              </a:rPr>
              <a:t>packet</a:t>
            </a:r>
            <a:r>
              <a:rPr lang="en-US" sz="2400" dirty="0">
                <a:latin typeface="Times New Roman" panose="02020603050405020304" pitchFamily="18" charset="0"/>
                <a:cs typeface="Times New Roman" panose="02020603050405020304" pitchFamily="18" charset="0"/>
              </a:rPr>
              <a:t> is treated </a:t>
            </a:r>
            <a:r>
              <a:rPr lang="en-US" sz="2400" dirty="0">
                <a:solidFill>
                  <a:srgbClr val="FF0000"/>
                </a:solidFill>
                <a:latin typeface="Times New Roman" panose="02020603050405020304" pitchFamily="18" charset="0"/>
                <a:cs typeface="Times New Roman" panose="02020603050405020304" pitchFamily="18" charset="0"/>
              </a:rPr>
              <a:t>independently</a:t>
            </a:r>
            <a:r>
              <a:rPr lang="en-US" sz="2400" dirty="0">
                <a:latin typeface="Times New Roman" panose="02020603050405020304" pitchFamily="18" charset="0"/>
                <a:cs typeface="Times New Roman" panose="02020603050405020304" pitchFamily="18" charset="0"/>
              </a:rPr>
              <a:t> of all others.</a:t>
            </a:r>
          </a:p>
          <a:p>
            <a:pPr>
              <a:lnSpc>
                <a:spcPct val="100000"/>
              </a:lnSpc>
            </a:pPr>
            <a:r>
              <a:rPr lang="en-US" sz="2400" dirty="0">
                <a:latin typeface="Times New Roman" panose="02020603050405020304" pitchFamily="18" charset="0"/>
                <a:cs typeface="Times New Roman" panose="02020603050405020304" pitchFamily="18" charset="0"/>
              </a:rPr>
              <a:t>This switching is done at </a:t>
            </a:r>
            <a:r>
              <a:rPr lang="en-US" sz="2400" dirty="0">
                <a:solidFill>
                  <a:srgbClr val="FF0000"/>
                </a:solidFill>
                <a:latin typeface="Times New Roman" panose="02020603050405020304" pitchFamily="18" charset="0"/>
                <a:cs typeface="Times New Roman" panose="02020603050405020304" pitchFamily="18" charset="0"/>
              </a:rPr>
              <a:t>network layer</a:t>
            </a:r>
            <a:r>
              <a:rPr lang="en-US" sz="2400" dirty="0">
                <a:latin typeface="Times New Roman" panose="02020603050405020304" pitchFamily="18" charset="0"/>
                <a:cs typeface="Times New Roman" panose="02020603050405020304" pitchFamily="18" charset="0"/>
              </a:rPr>
              <a:t>. The switches in a datagram network are traditionally referred to as </a:t>
            </a:r>
            <a:r>
              <a:rPr lang="en-US" sz="2400" dirty="0">
                <a:solidFill>
                  <a:srgbClr val="FF0000"/>
                </a:solidFill>
                <a:latin typeface="Times New Roman" panose="02020603050405020304" pitchFamily="18" charset="0"/>
                <a:cs typeface="Times New Roman" panose="02020603050405020304" pitchFamily="18" charset="0"/>
              </a:rPr>
              <a:t>routers</a:t>
            </a:r>
            <a:r>
              <a:rPr lang="en-US" sz="2400" dirty="0">
                <a:latin typeface="Times New Roman" panose="02020603050405020304" pitchFamily="18" charset="0"/>
                <a:cs typeface="Times New Roman" panose="02020603050405020304" pitchFamily="18" charset="0"/>
              </a:rPr>
              <a:t>.</a:t>
            </a:r>
          </a:p>
          <a:p>
            <a:pPr>
              <a:lnSpc>
                <a:spcPct val="100000"/>
              </a:lnSpc>
            </a:pPr>
            <a:r>
              <a:rPr lang="en-US" sz="2400" dirty="0">
                <a:latin typeface="Times New Roman" panose="02020603050405020304" pitchFamily="18" charset="0"/>
                <a:cs typeface="Times New Roman" panose="02020603050405020304" pitchFamily="18" charset="0"/>
              </a:rPr>
              <a:t>May </a:t>
            </a:r>
            <a:r>
              <a:rPr lang="en-US" sz="2400" dirty="0">
                <a:solidFill>
                  <a:srgbClr val="7030A0"/>
                </a:solidFill>
                <a:latin typeface="Times New Roman" panose="02020603050405020304" pitchFamily="18" charset="0"/>
                <a:cs typeface="Times New Roman" panose="02020603050405020304" pitchFamily="18" charset="0"/>
              </a:rPr>
              <a:t>reach out of order </a:t>
            </a:r>
            <a:r>
              <a:rPr lang="en-US" sz="2400" dirty="0">
                <a:latin typeface="Times New Roman" panose="02020603050405020304" pitchFamily="18" charset="0"/>
                <a:cs typeface="Times New Roman" panose="02020603050405020304" pitchFamily="18" charset="0"/>
              </a:rPr>
              <a:t>with different delays between the packets. </a:t>
            </a:r>
          </a:p>
          <a:p>
            <a:pPr>
              <a:lnSpc>
                <a:spcPct val="100000"/>
              </a:lnSpc>
            </a:pPr>
            <a:r>
              <a:rPr lang="en-US" sz="2400" dirty="0">
                <a:solidFill>
                  <a:srgbClr val="FF0000"/>
                </a:solidFill>
                <a:latin typeface="Times New Roman" panose="02020603050405020304" pitchFamily="18" charset="0"/>
                <a:cs typeface="Times New Roman" panose="02020603050405020304" pitchFamily="18" charset="0"/>
              </a:rPr>
              <a:t>Packets</a:t>
            </a:r>
            <a:r>
              <a:rPr lang="en-US" sz="2400" dirty="0">
                <a:latin typeface="Times New Roman" panose="02020603050405020304" pitchFamily="18" charset="0"/>
                <a:cs typeface="Times New Roman" panose="02020603050405020304" pitchFamily="18" charset="0"/>
              </a:rPr>
              <a:t> may also be </a:t>
            </a:r>
            <a:r>
              <a:rPr lang="en-US" sz="2400" dirty="0">
                <a:solidFill>
                  <a:srgbClr val="7030A0"/>
                </a:solidFill>
                <a:latin typeface="Times New Roman" panose="02020603050405020304" pitchFamily="18" charset="0"/>
                <a:cs typeface="Times New Roman" panose="02020603050405020304" pitchFamily="18" charset="0"/>
              </a:rPr>
              <a:t>lost or dropped </a:t>
            </a:r>
            <a:r>
              <a:rPr lang="en-US" sz="2400" dirty="0">
                <a:latin typeface="Times New Roman" panose="02020603050405020304" pitchFamily="18" charset="0"/>
                <a:cs typeface="Times New Roman" panose="02020603050405020304" pitchFamily="18" charset="0"/>
              </a:rPr>
              <a:t>because of a lack of resources. </a:t>
            </a:r>
          </a:p>
          <a:p>
            <a:pPr>
              <a:lnSpc>
                <a:spcPct val="100000"/>
              </a:lnSpc>
            </a:pPr>
            <a:r>
              <a:rPr lang="en-US" sz="2400" dirty="0">
                <a:latin typeface="Times New Roman" panose="02020603050405020304" pitchFamily="18" charset="0"/>
                <a:cs typeface="Times New Roman" panose="02020603050405020304" pitchFamily="18" charset="0"/>
              </a:rPr>
              <a:t>In most protocols, it is the </a:t>
            </a:r>
            <a:r>
              <a:rPr lang="en-US" sz="2400" dirty="0">
                <a:solidFill>
                  <a:srgbClr val="0070C0"/>
                </a:solidFill>
                <a:latin typeface="Times New Roman" panose="02020603050405020304" pitchFamily="18" charset="0"/>
                <a:cs typeface="Times New Roman" panose="02020603050405020304" pitchFamily="18" charset="0"/>
              </a:rPr>
              <a:t>responsibility </a:t>
            </a:r>
            <a:r>
              <a:rPr lang="en-US" sz="2400" dirty="0">
                <a:latin typeface="Times New Roman" panose="02020603050405020304" pitchFamily="18" charset="0"/>
                <a:cs typeface="Times New Roman" panose="02020603050405020304" pitchFamily="18" charset="0"/>
              </a:rPr>
              <a:t>of an </a:t>
            </a:r>
            <a:r>
              <a:rPr lang="en-US" sz="2400" dirty="0">
                <a:solidFill>
                  <a:srgbClr val="0070C0"/>
                </a:solidFill>
                <a:latin typeface="Times New Roman" panose="02020603050405020304" pitchFamily="18" charset="0"/>
                <a:cs typeface="Times New Roman" panose="02020603050405020304" pitchFamily="18" charset="0"/>
              </a:rPr>
              <a:t>upper-layer protocol to reorder </a:t>
            </a:r>
            <a:r>
              <a:rPr lang="en-US" sz="2400" dirty="0">
                <a:latin typeface="Times New Roman" panose="02020603050405020304" pitchFamily="18" charset="0"/>
                <a:cs typeface="Times New Roman" panose="02020603050405020304" pitchFamily="18" charset="0"/>
              </a:rPr>
              <a:t>the datagrams or ask for lost datagrams before passing them on to the application.</a:t>
            </a:r>
          </a:p>
        </p:txBody>
      </p:sp>
      <p:sp>
        <p:nvSpPr>
          <p:cNvPr id="5" name="Title 1">
            <a:extLst>
              <a:ext uri="{FF2B5EF4-FFF2-40B4-BE49-F238E27FC236}">
                <a16:creationId xmlns:a16="http://schemas.microsoft.com/office/drawing/2014/main" id="{0823724D-C697-F106-99BE-10CFAAD5DEFD}"/>
              </a:ext>
            </a:extLst>
          </p:cNvPr>
          <p:cNvSpPr txBox="1">
            <a:spLocks/>
          </p:cNvSpPr>
          <p:nvPr/>
        </p:nvSpPr>
        <p:spPr>
          <a:xfrm>
            <a:off x="3268980" y="164608"/>
            <a:ext cx="585724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solidFill>
                  <a:schemeClr val="accent1"/>
                </a:solidFill>
                <a:latin typeface="Times New Roman" panose="02020603050405020304" pitchFamily="18" charset="0"/>
                <a:cs typeface="Times New Roman" panose="02020603050405020304" pitchFamily="18" charset="0"/>
              </a:rPr>
              <a:t>DATAGRAM NETWORKS</a:t>
            </a:r>
          </a:p>
        </p:txBody>
      </p:sp>
    </p:spTree>
    <p:extLst>
      <p:ext uri="{BB962C8B-B14F-4D97-AF65-F5344CB8AC3E}">
        <p14:creationId xmlns:p14="http://schemas.microsoft.com/office/powerpoint/2010/main" val="6531004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E694C-0C88-BC0B-481C-9C017A1047F0}"/>
              </a:ext>
            </a:extLst>
          </p:cNvPr>
          <p:cNvPicPr>
            <a:picLocks noChangeAspect="1"/>
          </p:cNvPicPr>
          <p:nvPr/>
        </p:nvPicPr>
        <p:blipFill>
          <a:blip r:embed="rId2"/>
          <a:stretch>
            <a:fillRect/>
          </a:stretch>
        </p:blipFill>
        <p:spPr>
          <a:xfrm>
            <a:off x="767318" y="1309687"/>
            <a:ext cx="10589859" cy="4999673"/>
          </a:xfrm>
          <a:prstGeom prst="rect">
            <a:avLst/>
          </a:prstGeom>
        </p:spPr>
      </p:pic>
      <p:sp>
        <p:nvSpPr>
          <p:cNvPr id="6" name="Title 1">
            <a:extLst>
              <a:ext uri="{FF2B5EF4-FFF2-40B4-BE49-F238E27FC236}">
                <a16:creationId xmlns:a16="http://schemas.microsoft.com/office/drawing/2014/main" id="{4EA456A8-493B-B252-3CBC-FE88DB4E7809}"/>
              </a:ext>
            </a:extLst>
          </p:cNvPr>
          <p:cNvSpPr txBox="1">
            <a:spLocks/>
          </p:cNvSpPr>
          <p:nvPr/>
        </p:nvSpPr>
        <p:spPr>
          <a:xfrm>
            <a:off x="1207770" y="469408"/>
            <a:ext cx="977646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solidFill>
                  <a:schemeClr val="accent1"/>
                </a:solidFill>
                <a:latin typeface="Times New Roman" panose="02020603050405020304" pitchFamily="18" charset="0"/>
                <a:cs typeface="Times New Roman" panose="02020603050405020304" pitchFamily="18" charset="0"/>
              </a:rPr>
              <a:t>Comparison of Circuit Switch and Packet Switch</a:t>
            </a:r>
          </a:p>
        </p:txBody>
      </p:sp>
    </p:spTree>
    <p:extLst>
      <p:ext uri="{BB962C8B-B14F-4D97-AF65-F5344CB8AC3E}">
        <p14:creationId xmlns:p14="http://schemas.microsoft.com/office/powerpoint/2010/main" val="5638811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06A4-68C6-1003-8CFD-EE13A5CC306A}"/>
              </a:ext>
            </a:extLst>
          </p:cNvPr>
          <p:cNvSpPr>
            <a:spLocks noGrp="1"/>
          </p:cNvSpPr>
          <p:nvPr>
            <p:ph type="title"/>
          </p:nvPr>
        </p:nvSpPr>
        <p:spPr>
          <a:xfrm>
            <a:off x="2987040" y="0"/>
            <a:ext cx="7324627" cy="1199724"/>
          </a:xfrm>
        </p:spPr>
        <p:txBody>
          <a:bodyPr>
            <a:normAutofit/>
          </a:bodyPr>
          <a:lstStyle/>
          <a:p>
            <a:r>
              <a:rPr lang="en-IN" sz="3600" b="1" dirty="0">
                <a:solidFill>
                  <a:schemeClr val="accent1"/>
                </a:solidFill>
                <a:latin typeface="Accord SF" panose="020BE200000000000000" pitchFamily="34" charset="0"/>
              </a:rPr>
              <a:t>VIRTUAL-CIRCUIT NETWORKS</a:t>
            </a:r>
          </a:p>
        </p:txBody>
      </p:sp>
      <p:sp>
        <p:nvSpPr>
          <p:cNvPr id="3" name="Content Placeholder 2">
            <a:extLst>
              <a:ext uri="{FF2B5EF4-FFF2-40B4-BE49-F238E27FC236}">
                <a16:creationId xmlns:a16="http://schemas.microsoft.com/office/drawing/2014/main" id="{19AE9CFA-23C6-8394-10D3-F0FA6551968C}"/>
              </a:ext>
            </a:extLst>
          </p:cNvPr>
          <p:cNvSpPr>
            <a:spLocks noGrp="1"/>
          </p:cNvSpPr>
          <p:nvPr>
            <p:ph idx="1"/>
          </p:nvPr>
        </p:nvSpPr>
        <p:spPr>
          <a:xfrm>
            <a:off x="145277" y="946698"/>
            <a:ext cx="11538723" cy="2973369"/>
          </a:xfrm>
        </p:spPr>
        <p:txBody>
          <a:bodyPr>
            <a:normAutofit/>
          </a:bodyPr>
          <a:lstStyle/>
          <a:p>
            <a:pPr marL="285750" indent="-285750">
              <a:lnSpc>
                <a:spcPct val="100000"/>
              </a:lnSpc>
            </a:pPr>
            <a:r>
              <a:rPr lang="en-IN" sz="2400" dirty="0">
                <a:latin typeface="Times New Roman" panose="02020603050405020304" pitchFamily="18" charset="0"/>
                <a:cs typeface="Times New Roman" panose="02020603050405020304" pitchFamily="18" charset="0"/>
              </a:rPr>
              <a:t>A </a:t>
            </a:r>
            <a:r>
              <a:rPr lang="en-IN" sz="2400" i="1" dirty="0">
                <a:solidFill>
                  <a:schemeClr val="accent1"/>
                </a:solidFill>
                <a:latin typeface="Times New Roman" panose="02020603050405020304" pitchFamily="18" charset="0"/>
                <a:cs typeface="Times New Roman" panose="02020603050405020304" pitchFamily="18" charset="0"/>
              </a:rPr>
              <a:t>virtual-circuit</a:t>
            </a:r>
            <a:r>
              <a:rPr lang="en-IN" sz="2400" dirty="0">
                <a:latin typeface="Times New Roman" panose="02020603050405020304" pitchFamily="18" charset="0"/>
                <a:cs typeface="Times New Roman" panose="02020603050405020304" pitchFamily="18" charset="0"/>
              </a:rPr>
              <a:t> network is a cross between a </a:t>
            </a:r>
            <a:r>
              <a:rPr lang="en-IN" sz="2400" i="1" dirty="0">
                <a:solidFill>
                  <a:schemeClr val="accent1"/>
                </a:solidFill>
                <a:latin typeface="Times New Roman" panose="02020603050405020304" pitchFamily="18" charset="0"/>
                <a:cs typeface="Times New Roman" panose="02020603050405020304" pitchFamily="18" charset="0"/>
              </a:rPr>
              <a:t>circuit-switched</a:t>
            </a:r>
            <a:r>
              <a:rPr lang="en-IN" sz="2400" dirty="0">
                <a:latin typeface="Times New Roman" panose="02020603050405020304" pitchFamily="18" charset="0"/>
                <a:cs typeface="Times New Roman" panose="02020603050405020304" pitchFamily="18" charset="0"/>
              </a:rPr>
              <a:t> network and  a </a:t>
            </a:r>
            <a:r>
              <a:rPr lang="en-IN" sz="2400" i="1" dirty="0">
                <a:solidFill>
                  <a:schemeClr val="accent1"/>
                </a:solidFill>
                <a:latin typeface="Times New Roman" panose="02020603050405020304" pitchFamily="18" charset="0"/>
                <a:cs typeface="Times New Roman" panose="02020603050405020304" pitchFamily="18" charset="0"/>
              </a:rPr>
              <a:t>datagram network. </a:t>
            </a:r>
            <a:r>
              <a:rPr lang="en-IN" sz="2400" dirty="0">
                <a:latin typeface="Times New Roman" panose="02020603050405020304" pitchFamily="18" charset="0"/>
                <a:cs typeface="Times New Roman" panose="02020603050405020304" pitchFamily="18" charset="0"/>
              </a:rPr>
              <a:t>It has some characteristics of both</a:t>
            </a:r>
            <a:r>
              <a:rPr lang="en-IN" sz="2400" i="1" dirty="0">
                <a:solidFill>
                  <a:schemeClr val="accent1"/>
                </a:solidFill>
                <a:latin typeface="Times New Roman" panose="02020603050405020304" pitchFamily="18" charset="0"/>
                <a:cs typeface="Times New Roman" panose="02020603050405020304" pitchFamily="18" charset="0"/>
              </a:rPr>
              <a:t>. </a:t>
            </a:r>
          </a:p>
          <a:p>
            <a:pPr marL="285750" indent="-285750">
              <a:lnSpc>
                <a:spcPct val="100000"/>
              </a:lnSpc>
            </a:pPr>
            <a:r>
              <a:rPr lang="en-US" sz="2400" dirty="0">
                <a:latin typeface="Times New Roman" panose="02020603050405020304" pitchFamily="18" charset="0"/>
                <a:cs typeface="Times New Roman" panose="02020603050405020304" pitchFamily="18" charset="0"/>
              </a:rPr>
              <a:t>A virtual circuit network is a packet-switching technology that sets up a single, predefined path between a sender and a receiver before any data moves.</a:t>
            </a:r>
          </a:p>
          <a:p>
            <a:pPr marL="285750" indent="-285750">
              <a:lnSpc>
                <a:spcPct val="100000"/>
              </a:lnSpc>
            </a:pPr>
            <a:r>
              <a:rPr lang="en-US" sz="2400" dirty="0">
                <a:latin typeface="Times New Roman" panose="02020603050405020304" pitchFamily="18" charset="0"/>
                <a:cs typeface="Times New Roman" panose="02020603050405020304" pitchFamily="18" charset="0"/>
              </a:rPr>
              <a:t>Although the data packets may travel through shared physical links, they all follow the </a:t>
            </a:r>
            <a:r>
              <a:rPr lang="en-US" sz="2400" b="1" dirty="0">
                <a:latin typeface="Times New Roman" panose="02020603050405020304" pitchFamily="18" charset="0"/>
                <a:cs typeface="Times New Roman" panose="02020603050405020304" pitchFamily="18" charset="0"/>
              </a:rPr>
              <a:t>same predefined route</a:t>
            </a:r>
            <a:r>
              <a:rPr lang="en-US" sz="2400" dirty="0">
                <a:latin typeface="Times New Roman" panose="02020603050405020304" pitchFamily="18" charset="0"/>
                <a:cs typeface="Times New Roman" panose="02020603050405020304" pitchFamily="18" charset="0"/>
              </a:rPr>
              <a:t> and arrive in the correct order</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IN" sz="2400" i="1" dirty="0">
              <a:solidFill>
                <a:schemeClr val="accent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0FEC6D8-2F04-C8C6-07AD-8E799AA9DF4E}"/>
              </a:ext>
            </a:extLst>
          </p:cNvPr>
          <p:cNvPicPr>
            <a:picLocks noChangeAspect="1"/>
          </p:cNvPicPr>
          <p:nvPr/>
        </p:nvPicPr>
        <p:blipFill>
          <a:blip r:embed="rId2">
            <a:extLst>
              <a:ext uri="{28A0092B-C50C-407E-A947-70E740481C1C}">
                <a14:useLocalDpi xmlns:a14="http://schemas.microsoft.com/office/drawing/2010/main" val="0"/>
              </a:ext>
            </a:extLst>
          </a:blip>
          <a:srcRect l="15773" t="25979" r="15876" b="16701"/>
          <a:stretch/>
        </p:blipFill>
        <p:spPr>
          <a:xfrm>
            <a:off x="6096000" y="3764133"/>
            <a:ext cx="5804863" cy="2738267"/>
          </a:xfrm>
          <a:prstGeom prst="rect">
            <a:avLst/>
          </a:prstGeom>
        </p:spPr>
      </p:pic>
      <p:sp>
        <p:nvSpPr>
          <p:cNvPr id="7" name="TextBox 6">
            <a:extLst>
              <a:ext uri="{FF2B5EF4-FFF2-40B4-BE49-F238E27FC236}">
                <a16:creationId xmlns:a16="http://schemas.microsoft.com/office/drawing/2014/main" id="{088AB9ED-FD7A-BB49-4B58-988A2779B9E5}"/>
              </a:ext>
            </a:extLst>
          </p:cNvPr>
          <p:cNvSpPr txBox="1"/>
          <p:nvPr/>
        </p:nvSpPr>
        <p:spPr>
          <a:xfrm>
            <a:off x="145277" y="3920067"/>
            <a:ext cx="5950723" cy="2123658"/>
          </a:xfrm>
          <a:prstGeom prst="rect">
            <a:avLst/>
          </a:prstGeom>
          <a:noFill/>
        </p:spPr>
        <p:txBody>
          <a:bodyPr wrap="square">
            <a:spAutoFit/>
          </a:bodyPr>
          <a:lstStyle/>
          <a:p>
            <a:pPr>
              <a:buNone/>
            </a:pPr>
            <a:r>
              <a:rPr lang="en-US" sz="2200" b="1" dirty="0">
                <a:solidFill>
                  <a:srgbClr val="FF0000"/>
                </a:solidFill>
                <a:latin typeface="Times New Roman" panose="02020603050405020304" pitchFamily="18" charset="0"/>
                <a:cs typeface="Times New Roman" panose="02020603050405020304" pitchFamily="18" charset="0"/>
              </a:rPr>
              <a:t>Characteristics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connection is established before data transfer.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 packets follow the same path.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Packets arrive in sequence.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packet carries a Virtual Circuit Identifier (VCI).</a:t>
            </a:r>
          </a:p>
        </p:txBody>
      </p:sp>
    </p:spTree>
    <p:extLst>
      <p:ext uri="{BB962C8B-B14F-4D97-AF65-F5344CB8AC3E}">
        <p14:creationId xmlns:p14="http://schemas.microsoft.com/office/powerpoint/2010/main" val="2950453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DFD88-FB09-A5AB-7FBC-29C630891839}"/>
              </a:ext>
            </a:extLst>
          </p:cNvPr>
          <p:cNvSpPr>
            <a:spLocks noGrp="1"/>
          </p:cNvSpPr>
          <p:nvPr>
            <p:ph type="title"/>
          </p:nvPr>
        </p:nvSpPr>
        <p:spPr>
          <a:xfrm>
            <a:off x="3764280" y="-346075"/>
            <a:ext cx="10515600" cy="1325563"/>
          </a:xfrm>
        </p:spPr>
        <p:txBody>
          <a:bodyPr>
            <a:normAutofit/>
          </a:bodyPr>
          <a:lstStyle/>
          <a:p>
            <a:r>
              <a:rPr lang="en-IN" sz="3600" b="1" dirty="0">
                <a:solidFill>
                  <a:srgbClr val="0070C0"/>
                </a:solidFill>
                <a:latin typeface="Accord SF" panose="020BE200000000000000" pitchFamily="34" charset="0"/>
              </a:rPr>
              <a:t>ADDRESSING</a:t>
            </a:r>
          </a:p>
        </p:txBody>
      </p:sp>
      <p:sp>
        <p:nvSpPr>
          <p:cNvPr id="3" name="Content Placeholder 2">
            <a:extLst>
              <a:ext uri="{FF2B5EF4-FFF2-40B4-BE49-F238E27FC236}">
                <a16:creationId xmlns:a16="http://schemas.microsoft.com/office/drawing/2014/main" id="{514C6F0B-32BD-FB9B-E3DD-DB0E7DBF89F8}"/>
              </a:ext>
            </a:extLst>
          </p:cNvPr>
          <p:cNvSpPr>
            <a:spLocks noGrp="1"/>
          </p:cNvSpPr>
          <p:nvPr>
            <p:ph idx="1"/>
          </p:nvPr>
        </p:nvSpPr>
        <p:spPr>
          <a:xfrm>
            <a:off x="213360" y="643731"/>
            <a:ext cx="11765280" cy="3288189"/>
          </a:xfrm>
        </p:spPr>
        <p:txBody>
          <a:bodyPr>
            <a:normAutofit/>
          </a:bodyPr>
          <a:lstStyle/>
          <a:p>
            <a:pPr marL="0" indent="0" algn="just">
              <a:lnSpc>
                <a:spcPct val="100000"/>
              </a:lnSpc>
              <a:buNone/>
            </a:pPr>
            <a:r>
              <a:rPr lang="en-IN" sz="2400" dirty="0">
                <a:latin typeface="Times New Roman" panose="02020603050405020304" pitchFamily="18" charset="0"/>
                <a:cs typeface="Times New Roman" panose="02020603050405020304" pitchFamily="18" charset="0"/>
              </a:rPr>
              <a:t>In a virtual circuit network, </a:t>
            </a:r>
            <a:r>
              <a:rPr lang="en-IN" sz="2400" i="1" dirty="0">
                <a:solidFill>
                  <a:schemeClr val="accent1"/>
                </a:solidFill>
                <a:latin typeface="Times New Roman" panose="02020603050405020304" pitchFamily="18" charset="0"/>
                <a:cs typeface="Times New Roman" panose="02020603050405020304" pitchFamily="18" charset="0"/>
              </a:rPr>
              <a:t>two</a:t>
            </a:r>
            <a:r>
              <a:rPr lang="en-IN" sz="2400" dirty="0">
                <a:latin typeface="Times New Roman" panose="02020603050405020304" pitchFamily="18" charset="0"/>
                <a:cs typeface="Times New Roman" panose="02020603050405020304" pitchFamily="18" charset="0"/>
              </a:rPr>
              <a:t> types of addressing are involved: </a:t>
            </a:r>
            <a:r>
              <a:rPr lang="en-IN" sz="2400" i="1" dirty="0">
                <a:solidFill>
                  <a:srgbClr val="FF0000"/>
                </a:solidFill>
                <a:latin typeface="Times New Roman" panose="02020603050405020304" pitchFamily="18" charset="0"/>
                <a:cs typeface="Times New Roman" panose="02020603050405020304" pitchFamily="18" charset="0"/>
              </a:rPr>
              <a:t>global and local (Virtual-circuit identifier) </a:t>
            </a:r>
            <a:endParaRPr lang="en-IN" sz="2400" b="1" i="1"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buNone/>
            </a:pPr>
            <a:r>
              <a:rPr lang="en-IN" sz="2400" b="1" i="1" dirty="0">
                <a:solidFill>
                  <a:srgbClr val="FF0000"/>
                </a:solidFill>
                <a:latin typeface="Times New Roman" panose="02020603050405020304" pitchFamily="18" charset="0"/>
                <a:cs typeface="Times New Roman" panose="02020603050405020304" pitchFamily="18" charset="0"/>
              </a:rPr>
              <a:t>Global Addressing </a:t>
            </a:r>
            <a:r>
              <a:rPr lang="en-IN" sz="2400" dirty="0">
                <a:latin typeface="Times New Roman" panose="02020603050405020304" pitchFamily="18" charset="0"/>
                <a:cs typeface="Times New Roman" panose="02020603050405020304" pitchFamily="18" charset="0"/>
              </a:rPr>
              <a:t>A source or a destination address needs to have a global address-an address that can be unique in the scope of the network or internationally if the network is part of an international network. </a:t>
            </a:r>
          </a:p>
        </p:txBody>
      </p:sp>
      <p:sp>
        <p:nvSpPr>
          <p:cNvPr id="4" name="Content Placeholder 2">
            <a:extLst>
              <a:ext uri="{FF2B5EF4-FFF2-40B4-BE49-F238E27FC236}">
                <a16:creationId xmlns:a16="http://schemas.microsoft.com/office/drawing/2014/main" id="{F2E50F24-AF8A-43B6-6F26-518CD7B47A9D}"/>
              </a:ext>
            </a:extLst>
          </p:cNvPr>
          <p:cNvSpPr txBox="1">
            <a:spLocks/>
          </p:cNvSpPr>
          <p:nvPr/>
        </p:nvSpPr>
        <p:spPr>
          <a:xfrm>
            <a:off x="213360" y="2866273"/>
            <a:ext cx="1088136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IN" sz="2400" b="1" i="1" dirty="0">
                <a:solidFill>
                  <a:srgbClr val="FF0000"/>
                </a:solidFill>
                <a:latin typeface="Times New Roman" panose="02020603050405020304" pitchFamily="18" charset="0"/>
                <a:cs typeface="Times New Roman" panose="02020603050405020304" pitchFamily="18" charset="0"/>
              </a:rPr>
              <a:t>Virtual-Circuit Identifier : </a:t>
            </a:r>
            <a:r>
              <a:rPr lang="en-IN" sz="2400" dirty="0">
                <a:latin typeface="Times New Roman" panose="02020603050405020304" pitchFamily="18" charset="0"/>
                <a:cs typeface="Times New Roman" panose="02020603050405020304" pitchFamily="18" charset="0"/>
              </a:rPr>
              <a:t>The identifier that is actually used for data transfer is called the </a:t>
            </a:r>
            <a:r>
              <a:rPr lang="en-IN" sz="2400" i="1" dirty="0">
                <a:solidFill>
                  <a:schemeClr val="accent1"/>
                </a:solidFill>
                <a:latin typeface="Times New Roman" panose="02020603050405020304" pitchFamily="18" charset="0"/>
                <a:cs typeface="Times New Roman" panose="02020603050405020304" pitchFamily="18" charset="0"/>
              </a:rPr>
              <a:t>virtual-circuit identifier (VCI). </a:t>
            </a:r>
            <a:r>
              <a:rPr lang="en-IN" sz="2400" dirty="0">
                <a:latin typeface="Times New Roman" panose="02020603050405020304" pitchFamily="18" charset="0"/>
                <a:cs typeface="Times New Roman" panose="02020603050405020304" pitchFamily="18" charset="0"/>
              </a:rPr>
              <a:t>A VCI is a small number that has only switch scope. It is used by a frame between two switches.  </a:t>
            </a:r>
          </a:p>
          <a:p>
            <a:pPr marL="0" indent="0">
              <a:buFont typeface="Arial" panose="020B0604020202020204" pitchFamily="34" charset="0"/>
              <a:buNone/>
            </a:pPr>
            <a:endParaRPr lang="en-IN" sz="2400" dirty="0"/>
          </a:p>
        </p:txBody>
      </p:sp>
      <p:pic>
        <p:nvPicPr>
          <p:cNvPr id="5" name="Picture 4">
            <a:extLst>
              <a:ext uri="{FF2B5EF4-FFF2-40B4-BE49-F238E27FC236}">
                <a16:creationId xmlns:a16="http://schemas.microsoft.com/office/drawing/2014/main" id="{E85288AE-FEEB-8892-1597-DF17432582AA}"/>
              </a:ext>
            </a:extLst>
          </p:cNvPr>
          <p:cNvPicPr>
            <a:picLocks noChangeAspect="1"/>
          </p:cNvPicPr>
          <p:nvPr/>
        </p:nvPicPr>
        <p:blipFill>
          <a:blip r:embed="rId2">
            <a:extLst>
              <a:ext uri="{28A0092B-C50C-407E-A947-70E740481C1C}">
                <a14:useLocalDpi xmlns:a14="http://schemas.microsoft.com/office/drawing/2010/main" val="0"/>
              </a:ext>
            </a:extLst>
          </a:blip>
          <a:srcRect l="2575" t="36287" r="3331"/>
          <a:stretch/>
        </p:blipFill>
        <p:spPr>
          <a:xfrm>
            <a:off x="2987040" y="4542393"/>
            <a:ext cx="6856626" cy="1871985"/>
          </a:xfrm>
          <a:prstGeom prst="rect">
            <a:avLst/>
          </a:prstGeom>
        </p:spPr>
      </p:pic>
    </p:spTree>
    <p:extLst>
      <p:ext uri="{BB962C8B-B14F-4D97-AF65-F5344CB8AC3E}">
        <p14:creationId xmlns:p14="http://schemas.microsoft.com/office/powerpoint/2010/main" val="821489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97D79E-D37F-4E28-CAB0-6FE83BD3AB1D}"/>
              </a:ext>
            </a:extLst>
          </p:cNvPr>
          <p:cNvPicPr>
            <a:picLocks noChangeAspect="1"/>
          </p:cNvPicPr>
          <p:nvPr/>
        </p:nvPicPr>
        <p:blipFill>
          <a:blip r:embed="rId2"/>
          <a:stretch>
            <a:fillRect/>
          </a:stretch>
        </p:blipFill>
        <p:spPr>
          <a:xfrm>
            <a:off x="5761990" y="2622769"/>
            <a:ext cx="6344920" cy="4062511"/>
          </a:xfrm>
          <a:prstGeom prst="rect">
            <a:avLst/>
          </a:prstGeom>
        </p:spPr>
      </p:pic>
      <p:sp>
        <p:nvSpPr>
          <p:cNvPr id="8" name="TextBox 7">
            <a:extLst>
              <a:ext uri="{FF2B5EF4-FFF2-40B4-BE49-F238E27FC236}">
                <a16:creationId xmlns:a16="http://schemas.microsoft.com/office/drawing/2014/main" id="{A0B30210-89D7-7DD1-AE57-C8C0B5318217}"/>
              </a:ext>
            </a:extLst>
          </p:cNvPr>
          <p:cNvSpPr txBox="1"/>
          <p:nvPr/>
        </p:nvSpPr>
        <p:spPr>
          <a:xfrm>
            <a:off x="227330" y="2524581"/>
            <a:ext cx="5435600" cy="3416320"/>
          </a:xfrm>
          <a:prstGeom prst="rect">
            <a:avLst/>
          </a:prstGeom>
          <a:noFill/>
        </p:spPr>
        <p:txBody>
          <a:bodyPr wrap="square">
            <a:spAutoFit/>
          </a:bodyPr>
          <a:lstStyle/>
          <a:p>
            <a:pPr marL="342900" indent="-342900">
              <a:buFont typeface="Wingdings" panose="05000000000000000000" pitchFamily="2" charset="2"/>
              <a:buChar char="Ø"/>
            </a:pPr>
            <a:r>
              <a:rPr lang="en-US" sz="2400" b="1" dirty="0">
                <a:solidFill>
                  <a:srgbClr val="242021"/>
                </a:solidFill>
                <a:latin typeface="Times New Roman" panose="02020603050405020304" pitchFamily="18" charset="0"/>
                <a:cs typeface="Times New Roman" panose="02020603050405020304" pitchFamily="18" charset="0"/>
              </a:rPr>
              <a:t>S</a:t>
            </a:r>
            <a:r>
              <a:rPr lang="en-US" sz="2400" b="1" i="0" dirty="0">
                <a:solidFill>
                  <a:srgbClr val="242021"/>
                </a:solidFill>
                <a:effectLst/>
                <a:latin typeface="Times New Roman" panose="02020603050405020304" pitchFamily="18" charset="0"/>
                <a:cs typeface="Times New Roman" panose="02020603050405020304" pitchFamily="18" charset="0"/>
              </a:rPr>
              <a:t>etup phase</a:t>
            </a:r>
            <a:r>
              <a:rPr lang="en-US" sz="2400" b="1" dirty="0">
                <a:solidFill>
                  <a:srgbClr val="242021"/>
                </a:solidFill>
                <a:latin typeface="Times New Roman" panose="02020603050405020304" pitchFamily="18" charset="0"/>
                <a:cs typeface="Times New Roman" panose="02020603050405020304" pitchFamily="18" charset="0"/>
              </a:rPr>
              <a:t>:</a:t>
            </a:r>
            <a:r>
              <a:rPr lang="en-US" sz="2400" b="1" i="0" dirty="0">
                <a:solidFill>
                  <a:srgbClr val="242021"/>
                </a:solidFill>
                <a:effectLst/>
                <a:latin typeface="Times New Roman" panose="02020603050405020304" pitchFamily="18" charset="0"/>
                <a:cs typeface="Times New Roman" panose="02020603050405020304" pitchFamily="18" charset="0"/>
              </a:rPr>
              <a:t> </a:t>
            </a:r>
            <a:r>
              <a:rPr lang="en-US" sz="2400" b="0" i="0" dirty="0">
                <a:solidFill>
                  <a:srgbClr val="242021"/>
                </a:solidFill>
                <a:effectLst/>
                <a:latin typeface="Times New Roman" panose="02020603050405020304" pitchFamily="18" charset="0"/>
                <a:cs typeface="Times New Roman" panose="02020603050405020304" pitchFamily="18" charset="0"/>
              </a:rPr>
              <a:t>the source and destination use their global addresses</a:t>
            </a:r>
          </a:p>
          <a:p>
            <a:pPr marL="342900" indent="-342900">
              <a:buFont typeface="Wingdings" panose="05000000000000000000" pitchFamily="2" charset="2"/>
              <a:buChar char="Ø"/>
            </a:pPr>
            <a:endParaRPr lang="en-US" sz="2400" dirty="0">
              <a:solidFill>
                <a:srgbClr val="24202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i="1" dirty="0">
                <a:solidFill>
                  <a:srgbClr val="242021"/>
                </a:solidFill>
                <a:latin typeface="Times-BoldItalic"/>
              </a:rPr>
              <a:t>Data-Transfer Phase: </a:t>
            </a:r>
            <a:r>
              <a:rPr lang="en-US" sz="2400" dirty="0">
                <a:solidFill>
                  <a:srgbClr val="242021"/>
                </a:solidFill>
                <a:latin typeface="Times-Roman"/>
              </a:rPr>
              <a:t>To transfer a frame from a source to its destination, all switches need to have a table entry for this virtual circuit.  </a:t>
            </a:r>
            <a:r>
              <a:rPr lang="en-US" sz="2400" dirty="0">
                <a:latin typeface="Times New Roman" panose="02020603050405020304" pitchFamily="18" charset="0"/>
                <a:cs typeface="Times New Roman" panose="02020603050405020304" pitchFamily="18" charset="0"/>
              </a:rPr>
              <a:t>The table, in its simplest form, has four columns.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99D4A9E-D7AA-062A-ECD0-0770B0352F4E}"/>
              </a:ext>
            </a:extLst>
          </p:cNvPr>
          <p:cNvSpPr txBox="1"/>
          <p:nvPr/>
        </p:nvSpPr>
        <p:spPr>
          <a:xfrm>
            <a:off x="358140" y="1086902"/>
            <a:ext cx="11183620" cy="954107"/>
          </a:xfrm>
          <a:prstGeom prst="rect">
            <a:avLst/>
          </a:prstGeom>
          <a:noFill/>
        </p:spPr>
        <p:txBody>
          <a:bodyPr wrap="square">
            <a:spAutoFit/>
          </a:bodyPr>
          <a:lstStyle/>
          <a:p>
            <a:r>
              <a:rPr lang="en-US" sz="2800" b="0" i="0" dirty="0">
                <a:solidFill>
                  <a:srgbClr val="7030A0"/>
                </a:solidFill>
                <a:effectLst/>
                <a:latin typeface="Times New Roman" panose="02020603050405020304" pitchFamily="18" charset="0"/>
                <a:cs typeface="Times New Roman" panose="02020603050405020304" pitchFamily="18" charset="0"/>
              </a:rPr>
              <a:t>As in a circuit-switched network, a source and destination need to go through three phases in a virtual-circuit network: </a:t>
            </a:r>
            <a:r>
              <a:rPr lang="en-US" sz="2800" b="0" i="0" dirty="0">
                <a:solidFill>
                  <a:srgbClr val="FF0000"/>
                </a:solidFill>
                <a:effectLst/>
                <a:latin typeface="Times New Roman" panose="02020603050405020304" pitchFamily="18" charset="0"/>
                <a:cs typeface="Times New Roman" panose="02020603050405020304" pitchFamily="18" charset="0"/>
              </a:rPr>
              <a:t>setup, data transfer, and teardown.</a:t>
            </a:r>
          </a:p>
        </p:txBody>
      </p:sp>
      <p:sp>
        <p:nvSpPr>
          <p:cNvPr id="15" name="Title 1">
            <a:extLst>
              <a:ext uri="{FF2B5EF4-FFF2-40B4-BE49-F238E27FC236}">
                <a16:creationId xmlns:a16="http://schemas.microsoft.com/office/drawing/2014/main" id="{420293E5-7EB0-CDDC-D899-5A2379583677}"/>
              </a:ext>
            </a:extLst>
          </p:cNvPr>
          <p:cNvSpPr txBox="1">
            <a:spLocks/>
          </p:cNvSpPr>
          <p:nvPr/>
        </p:nvSpPr>
        <p:spPr>
          <a:xfrm>
            <a:off x="2519680" y="172720"/>
            <a:ext cx="6035040" cy="8013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3333B3"/>
                </a:solidFill>
                <a:latin typeface="Times New Roman" panose="02020603050405020304" pitchFamily="18" charset="0"/>
                <a:cs typeface="Times New Roman" panose="02020603050405020304" pitchFamily="18" charset="0"/>
              </a:rPr>
              <a:t>Virtual-Circuit Networks</a:t>
            </a:r>
            <a:endParaRPr lang="en-IN" dirty="0"/>
          </a:p>
        </p:txBody>
      </p:sp>
    </p:spTree>
    <p:extLst>
      <p:ext uri="{BB962C8B-B14F-4D97-AF65-F5344CB8AC3E}">
        <p14:creationId xmlns:p14="http://schemas.microsoft.com/office/powerpoint/2010/main" val="20810981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2519680" y="172720"/>
            <a:ext cx="6035040" cy="801384"/>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Virtual-Circuit Networks</a:t>
            </a:r>
            <a:endParaRPr lang="en-IN" dirty="0"/>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83569" y="1065544"/>
            <a:ext cx="11424862" cy="1962136"/>
          </a:xfrm>
        </p:spPr>
        <p:txBody>
          <a:bodyPr>
            <a:normAutofit/>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Teardown Phase</a:t>
            </a:r>
          </a:p>
          <a:p>
            <a:r>
              <a:rPr lang="en-US" sz="2400" dirty="0">
                <a:latin typeface="Times New Roman" panose="02020603050405020304" pitchFamily="18" charset="0"/>
                <a:cs typeface="Times New Roman" panose="02020603050405020304" pitchFamily="18" charset="0"/>
              </a:rPr>
              <a:t>Source A, after sending all frames to B, sends a special frame called a teardown request.</a:t>
            </a:r>
          </a:p>
          <a:p>
            <a:r>
              <a:rPr lang="en-US" sz="2400" dirty="0">
                <a:latin typeface="Times New Roman" panose="02020603050405020304" pitchFamily="18" charset="0"/>
                <a:cs typeface="Times New Roman" panose="02020603050405020304" pitchFamily="18" charset="0"/>
              </a:rPr>
              <a:t>Destination B responds with a teardown confirmation frame. </a:t>
            </a:r>
          </a:p>
          <a:p>
            <a:r>
              <a:rPr lang="en-US" sz="2400" dirty="0">
                <a:latin typeface="Times New Roman" panose="02020603050405020304" pitchFamily="18" charset="0"/>
                <a:cs typeface="Times New Roman" panose="02020603050405020304" pitchFamily="18" charset="0"/>
              </a:rPr>
              <a:t>All switches delete the corresponding entry from their tables.</a:t>
            </a:r>
          </a:p>
        </p:txBody>
      </p:sp>
      <p:pic>
        <p:nvPicPr>
          <p:cNvPr id="5" name="Picture 4">
            <a:extLst>
              <a:ext uri="{FF2B5EF4-FFF2-40B4-BE49-F238E27FC236}">
                <a16:creationId xmlns:a16="http://schemas.microsoft.com/office/drawing/2014/main" id="{D6AD9D65-A024-0C85-9954-5F2A757FB2C9}"/>
              </a:ext>
            </a:extLst>
          </p:cNvPr>
          <p:cNvPicPr>
            <a:picLocks noChangeAspect="1"/>
          </p:cNvPicPr>
          <p:nvPr/>
        </p:nvPicPr>
        <p:blipFill>
          <a:blip r:embed="rId2"/>
          <a:stretch>
            <a:fillRect/>
          </a:stretch>
        </p:blipFill>
        <p:spPr>
          <a:xfrm>
            <a:off x="2904172" y="2799080"/>
            <a:ext cx="6977473" cy="3804920"/>
          </a:xfrm>
          <a:prstGeom prst="rect">
            <a:avLst/>
          </a:prstGeom>
        </p:spPr>
      </p:pic>
    </p:spTree>
    <p:extLst>
      <p:ext uri="{BB962C8B-B14F-4D97-AF65-F5344CB8AC3E}">
        <p14:creationId xmlns:p14="http://schemas.microsoft.com/office/powerpoint/2010/main" val="307632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1102</TotalTime>
  <Words>2583</Words>
  <Application>Microsoft Office PowerPoint</Application>
  <PresentationFormat>Widescreen</PresentationFormat>
  <Paragraphs>223</Paragraphs>
  <Slides>57</Slides>
  <Notes>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57</vt:i4>
      </vt:variant>
    </vt:vector>
  </HeadingPairs>
  <TitlesOfParts>
    <vt:vector size="72" baseType="lpstr">
      <vt:lpstr>Accord Heavy SF</vt:lpstr>
      <vt:lpstr>Accord SF</vt:lpstr>
      <vt:lpstr>BacktalkSerif BTN</vt:lpstr>
      <vt:lpstr>Times-Bold</vt:lpstr>
      <vt:lpstr>Times-BoldItalic</vt:lpstr>
      <vt:lpstr>Times-Roman</vt:lpstr>
      <vt:lpstr>Arial</vt:lpstr>
      <vt:lpstr>Calibri</vt:lpstr>
      <vt:lpstr>Calibri Light</vt:lpstr>
      <vt:lpstr>Cambria Math</vt:lpstr>
      <vt:lpstr>Courier New</vt:lpstr>
      <vt:lpstr>Times</vt:lpstr>
      <vt:lpstr>Times New Roman</vt:lpstr>
      <vt:lpstr>Wingdings</vt:lpstr>
      <vt:lpstr>Office Theme</vt:lpstr>
      <vt:lpstr>Unit-2:  Modulation and Switching Techniques</vt:lpstr>
      <vt:lpstr>PowerPoint Presentation</vt:lpstr>
      <vt:lpstr>Analog Transmission</vt:lpstr>
      <vt:lpstr>Digital to Analog Conversion</vt:lpstr>
      <vt:lpstr>Types of digital-to-analog conversion</vt:lpstr>
      <vt:lpstr>PowerPoint Presentation</vt:lpstr>
      <vt:lpstr>PowerPoint Presentation</vt:lpstr>
      <vt:lpstr>Amplitude Shift Keying (ASK)</vt:lpstr>
      <vt:lpstr>Binary ASK</vt:lpstr>
      <vt:lpstr>Binary ASK</vt:lpstr>
      <vt:lpstr>PowerPoint Presentation</vt:lpstr>
      <vt:lpstr>Frequency Shift Keying (FSK)</vt:lpstr>
      <vt:lpstr>PowerPoint Presentation</vt:lpstr>
      <vt:lpstr>Phase Shift Keying (PSK)</vt:lpstr>
      <vt:lpstr>PowerPoint Presentation</vt:lpstr>
      <vt:lpstr>Analog to Analog Conversion</vt:lpstr>
      <vt:lpstr>Amplitude Modulation (AM)</vt:lpstr>
      <vt:lpstr>Frequency Modulation (FM)</vt:lpstr>
      <vt:lpstr>Phase Modulation (PM)</vt:lpstr>
      <vt:lpstr>MULTIPLEXING</vt:lpstr>
      <vt:lpstr>MULTIPLEXING</vt:lpstr>
      <vt:lpstr>PowerPoint Presentation</vt:lpstr>
      <vt:lpstr>PowerPoint Presentation</vt:lpstr>
      <vt:lpstr>PowerPoint Presentation</vt:lpstr>
      <vt:lpstr>Frequency Modulation</vt:lpstr>
      <vt:lpstr>PowerPoint Presentation</vt:lpstr>
      <vt:lpstr>PowerPoint Presentation</vt:lpstr>
      <vt:lpstr>PowerPoint Presentation</vt:lpstr>
      <vt:lpstr>WAVELENGTH DIVISION MULTIPLEXING (WDM)</vt:lpstr>
      <vt:lpstr>Prisms in wavelength-division multiplexing and demultiplexing</vt:lpstr>
      <vt:lpstr>PowerPoint Presentation</vt:lpstr>
      <vt:lpstr>PowerPoint Presentation</vt:lpstr>
      <vt:lpstr>PowerPoint Presentation</vt:lpstr>
      <vt:lpstr>PowerPoint Presentation</vt:lpstr>
      <vt:lpstr>PowerPoint Presentation</vt:lpstr>
      <vt:lpstr>PowerPoint Presentation</vt:lpstr>
      <vt:lpstr>Transmission Medium</vt:lpstr>
      <vt:lpstr>PowerPoint Presentation</vt:lpstr>
      <vt:lpstr>Guided Media</vt:lpstr>
      <vt:lpstr>PowerPoint Presentation</vt:lpstr>
      <vt:lpstr>Coaxial Cable</vt:lpstr>
      <vt:lpstr>Fiber-Optic Cable</vt:lpstr>
      <vt:lpstr>Guided Meida Comparison Table</vt:lpstr>
      <vt:lpstr>Unguided Media</vt:lpstr>
      <vt:lpstr>PowerPoint Presentation</vt:lpstr>
      <vt:lpstr>PowerPoint Presentation</vt:lpstr>
      <vt:lpstr>PowerPoint Presentation</vt:lpstr>
      <vt:lpstr>PowerPoint Presentation</vt:lpstr>
      <vt:lpstr>CIRCUIT-SWITCHED NETWROKS</vt:lpstr>
      <vt:lpstr>PowerPoint Presentation</vt:lpstr>
      <vt:lpstr>DATAGRAM NETWORKS</vt:lpstr>
      <vt:lpstr>PowerPoint Presentation</vt:lpstr>
      <vt:lpstr>PowerPoint Presentation</vt:lpstr>
      <vt:lpstr>VIRTUAL-CIRCUIT NETWORKS</vt:lpstr>
      <vt:lpstr>ADDRESSING</vt:lpstr>
      <vt:lpstr>PowerPoint Presentation</vt:lpstr>
      <vt:lpstr>Virtual-Circuit Networks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Santosh Kumar Sahu</dc:creator>
  <cp:lastModifiedBy>Jyoti Prasanna Patra</cp:lastModifiedBy>
  <cp:revision>305</cp:revision>
  <dcterms:created xsi:type="dcterms:W3CDTF">2024-08-20T08:54:55Z</dcterms:created>
  <dcterms:modified xsi:type="dcterms:W3CDTF">2026-08-13T11:51:31Z</dcterms:modified>
</cp:coreProperties>
</file>