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A7BEAE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CLASS 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Nature and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Existence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Participation in Harmony — Towards a Comprehensive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Existence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6126480"/>
            <a:ext cx="3108960" cy="54864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UHV-II (HS201)  |  Module 4  |  Class 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We've Been in Module 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Existence &amp; Nature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the four orders — Material, Bodily (Plant/Animal), and Human — and the idea that existence is a co-existence of these orders, not isolated parts.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83464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1089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Evolution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9319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self-exploration, self-awareness and self-evaluation as the process by which a human being awakens to right understanding.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0" y="17830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20574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039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83464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31089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Realization, Understanding &amp; Contemplation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9319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Four Orders and Harmony in Nature — how each order relates to the others in a self-regulating, mutually fulfilling system.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Knowing Harmony to Living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6675120" cy="1143000"/>
          </a:xfrm>
          <a:prstGeom prst="roundRect">
            <a:avLst>
              <a:gd name="adj" fmla="val 8000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3 asked: what is the harmony in Nature?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4 asks: what is MY part in that harmony?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0632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human being's unique role in existence — consciousness and choice.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904488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what genuine 'participation' in harmony looks like: self, family, society, nature.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48640" y="4837176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37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745736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this to everyday choices and relatable classroom / campus examples.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5678424"/>
            <a:ext cx="384048" cy="38404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678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586984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joined-up, comprehensive picture of existence — preparation for Module 5.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909560" y="1920240"/>
            <a:ext cx="3749040" cy="3749040"/>
          </a:xfrm>
          <a:prstGeom prst="ellipse">
            <a:avLst/>
          </a:prstGeom>
          <a:solidFill>
            <a:srgbClr val="5C2A22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331720"/>
            <a:ext cx="2926080" cy="2926080"/>
          </a:xfrm>
          <a:prstGeom prst="ellipse">
            <a:avLst/>
          </a:prstGeom>
          <a:solidFill>
            <a:srgbClr val="B85042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2520" y="2743200"/>
            <a:ext cx="2103120" cy="2103120"/>
          </a:xfrm>
          <a:prstGeom prst="ellipse">
            <a:avLst/>
          </a:prstGeom>
          <a:solidFill>
            <a:srgbClr val="5F7A6D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3154680"/>
            <a:ext cx="1280160" cy="1280160"/>
          </a:xfrm>
          <a:prstGeom prst="ellipse">
            <a:avLst/>
          </a:prstGeom>
          <a:solidFill>
            <a:srgbClr val="A7BEAE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24231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2834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CLASS 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Activities of the Self, Revisited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7E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5F7A6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93852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Realization (of Co-Existence)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938528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directly that 'I' and 'Nature' are not separate — my existence is already interconnected with the material, bodily and human orders around me.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7E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685032"/>
            <a:ext cx="731520" cy="731520"/>
          </a:xfrm>
          <a:prstGeom prst="ellipse">
            <a:avLst/>
          </a:prstGeom>
          <a:solidFill>
            <a:srgbClr val="5F7A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68503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47472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(of Harmony in Nature)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3474720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Grasping HOW the four orders relate: each order fulfils the one below and is fulfilled by the one above — a chain of mutual fulfilment, not isolated survival.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7E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221224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22122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010912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Contemplation (of Participation)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5010912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step — reflecting on how 'I', as a human being with awareness and choice, actually take part in and carry forward this harmony.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Orders of Existence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A7BE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Order  (Padarth)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9631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Self-organization only. e.g., an atom, a rock, water — stable, but no growth.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5F7A6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9476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/ Bodily Order  (Vanaspati)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9631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Self-organization + growth. e.g., a tree grows, heals, reproduces — but cannot move or choose.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4223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Order  (Jeev)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9087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Self-organization + growth + self-work. e.g., instinct-driven activity — a bird building a nest, a bee gathering nectar.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5C2A2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414223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Order  (Manushya)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690872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above, PLUS consciousness and choice — the ability to know, decide, and either be in harmony or contradiction.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DISTINCTION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Harmony Is a Fact. Participating in It Is a Choice.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NATURE'S ORDERS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plant and animal orders act spontaneously.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automatically in harmony — a river does not choose to flow, a tree does not choose to grow towards light.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question of contradiction — they cannot act otherwise.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ORDER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3774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have consciousness — the ability to know self and existence — and choice, the freedom to select our actions.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9319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harmony for us is not automatic — it must be understood, willed, and lived. Participation = choosing to act in line with the harmony that already exists.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IT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Human Participation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11099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75688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75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0195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Self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901952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body and self in harmony — sleep, discipline, honest self-evaluation instead of distraction or self-neglect.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111099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282696"/>
            <a:ext cx="548640" cy="548640"/>
          </a:xfrm>
          <a:prstGeom prst="ellipse">
            <a:avLst/>
          </a:prstGeom>
          <a:solidFill>
            <a:srgbClr val="5F7A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3282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089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Family / Society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31089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relationship — trust, respect, affection in the family; contributing to society rather than only taking from it.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42816"/>
            <a:ext cx="111099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48970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489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31596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Nature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315968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material and biological resources responsibly — e.g., not wasting water, food, or electricity in the hostel or at home.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449824"/>
            <a:ext cx="1110996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696712"/>
            <a:ext cx="548640" cy="548640"/>
          </a:xfrm>
          <a:prstGeom prst="ellipse">
            <a:avLst/>
          </a:prstGeom>
          <a:solidFill>
            <a:srgbClr val="5C2A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5696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522976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Existence as a Whole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5522976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that every choice ripples outward — a small daily habit either supports or disturbs the larger balance.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EXAMPLES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Contradiction vs. Participation in Daily Life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49240" cy="502920"/>
          </a:xfrm>
          <a:prstGeom prst="rect">
            <a:avLst/>
          </a:prstGeom>
          <a:solidFill>
            <a:srgbClr val="5C2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623560" cy="502920"/>
          </a:xfrm>
          <a:prstGeom prst="rect">
            <a:avLst/>
          </a:prstGeom>
          <a:solidFill>
            <a:srgbClr val="5F7A6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173736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IN HARMONY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taps running / wasting water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37744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5F7A6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377440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what is needed, fixing leaks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Littering the classroom or campus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338328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5F7A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3383280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Disposing of waste responsibly, segregating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3891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family to stay on the phone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438912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5F7A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4389120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undivided time and attention at home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9496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to put others down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35040" y="539496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5F7A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5394960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while respecting and helping peers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Knowledge About Existence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= the co-existence of the four orders, related to one another in space, in a mutually fulfilling, interconnected, self-regulating, recyclable relationship —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human being, once aware, willingly participating in and upholding that harmony.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3749040"/>
            <a:ext cx="7772400" cy="1920240"/>
          </a:xfrm>
          <a:prstGeom prst="roundRect">
            <a:avLst>
              <a:gd name="adj" fmla="val 6667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468880" y="39776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Orders   ·   1 Existence   ·   Your Choice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8920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knowledge = seeing all four orders AND my place among them, together.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Understanding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A7BE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03911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responsible use of natural resources — water, energy, materials — instead of exploitative use.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5F7A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5F7A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03911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&amp; Social Harmony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974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trust, respect and cooperation in relationships at home, in hostel life, and among peers.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3367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Well-Being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92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acting in contradiction with self and others lives in constant unease; participation brings inner ease.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1792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5C2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5C2A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23367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to Professional Ethics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8920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Module 5 — if I can act in harmony personally, I can extend the same to my future profession.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IT IN ACTION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&amp; Illustrative Examples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75720" y="32004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84248"/>
            <a:ext cx="566928" cy="566928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810512"/>
            <a:ext cx="2880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Honeybee &amp; the Flower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810512"/>
            <a:ext cx="6858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bee collects nectar for itself (self-work) while pollinating the flower in the process — the animal order fulfils the plant order without either being harmed. Nature's orders participate in harmony automatically.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154680"/>
            <a:ext cx="566928" cy="566928"/>
          </a:xfrm>
          <a:prstGeom prst="ellipse">
            <a:avLst/>
          </a:prstGeom>
          <a:solidFill>
            <a:srgbClr val="5F7A6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3154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980944"/>
            <a:ext cx="2880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Body — All Four Orders in One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980944"/>
            <a:ext cx="6858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body is a living example of co-existence: its atoms follow the material order, its cells grow and heal like the plant order, its organs function like the animal order — and only you, uniquely, can be aware of and choose all of this.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32511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325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51376"/>
            <a:ext cx="2880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Rotation vs. Over-Farming the Same Land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4151376"/>
            <a:ext cx="6858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who rotates crops and lets soil recover is deliberately participating in nature's self-organizing capacity; one who repeatedly over-extracts from the land is in contradiction with it, even though the harm shows up only years later.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48656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5495544"/>
            <a:ext cx="566928" cy="566928"/>
          </a:xfrm>
          <a:prstGeom prst="ellipse">
            <a:avLst/>
          </a:prstGeom>
          <a:solidFill>
            <a:srgbClr val="5C2A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54955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321808"/>
            <a:ext cx="28803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5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Family Meal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5321808"/>
            <a:ext cx="6858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daily meal cooked and eaten together — everyone contributing, no one served last or left out — is trust, respect and relationship in practice: the same 'harmony' logic scaled up from self to family and society.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from Module 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01368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is a co-existence of four inter-related orders: Material, Plant/Bodily, Animal, and Human.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734056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34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42616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order alone has consciousness and choice — so harmony for us must be understood and chosen, not automatic.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83864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means actively living in harmony with self, family, society, and nature — visible in everyday, ordinary choices.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40080" y="4416552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25112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knowledge of existence = seeing all four orders together with my own responsible place among them.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B850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25780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Up in Module 5: Understanding Human Conduct &amp; Professional Ethics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Nature and Existence — Module 4, Class 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2026-09-08T03:00:10Z</dcterms:created>
  <dcterms:modified xsi:type="dcterms:W3CDTF">2026-09-08T03:00:10Z</dcterms:modified>
</cp:coreProperties>
</file>