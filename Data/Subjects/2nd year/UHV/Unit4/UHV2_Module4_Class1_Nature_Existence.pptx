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914400"/>
            <a:ext cx="4572000" cy="45720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1645920"/>
            <a:ext cx="3108960" cy="3108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286000"/>
            <a:ext cx="1828800" cy="18288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283464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40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0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CLASS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Nature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Existence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Understanding of Existence — Nature Being Included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074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Universal Human Values-II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Humanities and Social Sciences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Family &amp; Society to Nature and Existence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3, we understood the family as the basic unit of human interaction, the seven relational feelings, and society as a level of living built on the Five Dimensions of Human Endeavour.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widen the circle further — from the human being and society to the whole of Nature and Existence.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084832" cy="2468880"/>
          </a:xfrm>
          <a:prstGeom prst="roundRect">
            <a:avLst>
              <a:gd name="adj" fmla="val 6140"/>
            </a:avLst>
          </a:prstGeom>
          <a:solidFill>
            <a:srgbClr val="A7BEA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61488" y="3246120"/>
            <a:ext cx="2084832" cy="2468880"/>
          </a:xfrm>
          <a:prstGeom prst="roundRect">
            <a:avLst>
              <a:gd name="adj" fmla="val 6140"/>
            </a:avLst>
          </a:prstGeom>
          <a:solidFill>
            <a:srgbClr val="A7BEAE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1296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52928" y="416052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Self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52928" y="53492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74336" y="3246120"/>
            <a:ext cx="2084832" cy="2468880"/>
          </a:xfrm>
          <a:prstGeom prst="roundRect">
            <a:avLst>
              <a:gd name="adj" fmla="val 6140"/>
            </a:avLst>
          </a:prstGeom>
          <a:solidFill>
            <a:srgbClr val="A7BEAE"/>
          </a:solidFill>
          <a:ln/>
        </p:spPr>
      </p:sp>
      <p:sp>
        <p:nvSpPr>
          <p:cNvPr id="18" name="Shape 16"/>
          <p:cNvSpPr/>
          <p:nvPr/>
        </p:nvSpPr>
        <p:spPr>
          <a:xfrm>
            <a:off x="5724144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724144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8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65776" y="416052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65776" y="53492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87184" y="3246120"/>
            <a:ext cx="2084832" cy="2468880"/>
          </a:xfrm>
          <a:prstGeom prst="roundRect">
            <a:avLst>
              <a:gd name="adj" fmla="val 6140"/>
            </a:avLst>
          </a:prstGeom>
          <a:solidFill>
            <a:srgbClr val="B85042"/>
          </a:solidFill>
          <a:ln w="31750">
            <a:solidFill>
              <a:srgbClr val="D9A4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34747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78624" y="416052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&amp;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78624" y="53492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We are here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00032" y="3246120"/>
            <a:ext cx="2084832" cy="2468880"/>
          </a:xfrm>
          <a:prstGeom prst="roundRect">
            <a:avLst>
              <a:gd name="adj" fmla="val 6140"/>
            </a:avLst>
          </a:prstGeom>
          <a:solidFill>
            <a:srgbClr val="ECE6D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49840" y="3474720"/>
            <a:ext cx="585216" cy="5852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10149840" y="3474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491472" y="416052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&amp;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'Existence'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partial (fragmented) view of the world to a comprehensive, connected understanding of existence.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160020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8288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1801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Four Orders of Nature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24231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Material, Bio, Animal, and Human orders and how each participates in existence.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0690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041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Interconnectedness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Appreciate existence as a self-organised, mutually fulfilling system — not a random collection of parts.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97880" y="384048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40690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041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 to Real Life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12648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everyday example (a tree) to see all four orders working together in harmony.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Widening the Circle of Understanding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understanding grows outward — from knowing the Self, to the family, to society, and finally to the whole of Nature and Existence.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jump —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natural extension.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Right Understanding you apply to yourself, you now apply to all of Nature.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ECE6D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the outermost circle — Nature and Existence as a whole.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4754880" cy="4754880"/>
          </a:xfrm>
          <a:prstGeom prst="ellipse">
            <a:avLst/>
          </a:prstGeom>
          <a:solidFill>
            <a:srgbClr val="4A2C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9480" y="1965960"/>
            <a:ext cx="3566160" cy="3566160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560320"/>
            <a:ext cx="2377440" cy="2377440"/>
          </a:xfrm>
          <a:prstGeom prst="ellipse">
            <a:avLst/>
          </a:prstGeom>
          <a:solidFill>
            <a:srgbClr val="6B8F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85632" y="3182112"/>
            <a:ext cx="1133856" cy="1133856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/ EXISTENCE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We Mean by 'Existence'?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everything that is — all material things, all living beings, and the space in which they exist, all functioning together as one interrelated whole.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166360" cy="3749040"/>
          </a:xfrm>
          <a:prstGeom prst="roundRect">
            <a:avLst>
              <a:gd name="adj" fmla="val 2439"/>
            </a:avLst>
          </a:prstGeom>
          <a:solidFill>
            <a:srgbClr val="F6E4E1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nature as separate objects — rocks, trees, animals, humans — unrelated to each other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81304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8130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humans as separate from / superior to nature, free to exploit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56285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5628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each thing in isolation (a tree, a river, a mineral) without seeing the relationship between them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31266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3126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fragmented, short-term decisions — pollution, deforestation, resource depletion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377440"/>
            <a:ext cx="5166360" cy="3749040"/>
          </a:xfrm>
          <a:prstGeom prst="roundRect">
            <a:avLst>
              <a:gd name="adj" fmla="val 2439"/>
            </a:avLst>
          </a:prstGeom>
          <a:solidFill>
            <a:srgbClr val="E4EDE6"/>
          </a:solidFill>
          <a:ln w="19050">
            <a:solidFill>
              <a:srgbClr val="6B8F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377440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6B8F71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3774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COMPREHENSIVE 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9048" y="3063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nature as one interconnected, self-organised whole — every part related to every other part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9048" y="381304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38130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human being as an integral part of nature, participating in it — not standing outside 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9048" y="4562856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5628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four distinct orders (Material, Bio, Animal, Human), each with its own role, working together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99048" y="5312664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53126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harmony, sustainability, and right participation — the basis for a value-based life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Orders of Nature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existence can be comprehensively understood in terms of four orders, each nested within and building upon the one before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14600" cy="37490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8740" y="256032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3487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(Padarth Avastha)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16002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without self-organisation in growth — soil, water, minerals, air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72968" y="2286000"/>
            <a:ext cx="2514600" cy="37490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A85A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4508" y="2560320"/>
            <a:ext cx="731520" cy="731520"/>
          </a:xfrm>
          <a:prstGeom prst="ellipse">
            <a:avLst/>
          </a:prstGeom>
          <a:solidFill>
            <a:srgbClr val="A85A3F"/>
          </a:solidFill>
          <a:ln/>
        </p:spPr>
      </p:sp>
      <p:sp>
        <p:nvSpPr>
          <p:cNvPr id="15" name="Text 13"/>
          <p:cNvSpPr/>
          <p:nvPr/>
        </p:nvSpPr>
        <p:spPr>
          <a:xfrm>
            <a:off x="4064508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10128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Order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(Prana Avastha)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30168" y="4251960"/>
            <a:ext cx="1600200" cy="0"/>
          </a:xfrm>
          <a:prstGeom prst="line">
            <a:avLst/>
          </a:prstGeom>
          <a:noFill/>
          <a:ln w="12700">
            <a:solidFill>
              <a:srgbClr val="A85A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4389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 — plants; capable of growing and reproducing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88736" y="2286000"/>
            <a:ext cx="2514600" cy="37490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0276" y="2560320"/>
            <a:ext cx="731520" cy="73152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2" name="Text 20"/>
          <p:cNvSpPr/>
          <p:nvPr/>
        </p:nvSpPr>
        <p:spPr>
          <a:xfrm>
            <a:off x="6780276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25896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25896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(Jeevan Avastha)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45936" y="4251960"/>
            <a:ext cx="1600200" cy="0"/>
          </a:xfrm>
          <a:prstGeom prst="line">
            <a:avLst/>
          </a:prstGeom>
          <a:noFill/>
          <a:ln w="12700">
            <a:solidFill>
              <a:srgbClr val="6B8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4389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 + self-preservation — animals with sense, instinct, mobility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04504" y="2286000"/>
            <a:ext cx="2514600" cy="37490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96044" y="2560320"/>
            <a:ext cx="731520" cy="7315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>
          <a:xfrm>
            <a:off x="9496044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741664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Order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41664" y="3822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(Jeeva Avastha)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61704" y="4251960"/>
            <a:ext cx="160020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87384" y="438912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growth, self-preservation + self-evolution — humans with reasoning and choice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172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higher order includes the properties of the ones below it, and adds one capability of its own.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1 &amp;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 &amp; Bio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92808"/>
            <a:ext cx="5166360" cy="3931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19293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Padarth Avastha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that exists but does not grow or self-organise on its own.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· Water · Air · Minerals · Rocks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79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on which all other orders depend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90118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Obeys physical and chemical laws only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522976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49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capacity for self-organisation or growth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150876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A85A3F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15087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A85A3F"/>
          </a:solidFill>
          <a:ln/>
        </p:spPr>
      </p:sp>
      <p:sp>
        <p:nvSpPr>
          <p:cNvPr id="23" name="Shape 21"/>
          <p:cNvSpPr/>
          <p:nvPr/>
        </p:nvSpPr>
        <p:spPr>
          <a:xfrm>
            <a:off x="5897880" y="1892808"/>
            <a:ext cx="5166360" cy="393192"/>
          </a:xfrm>
          <a:prstGeom prst="rect">
            <a:avLst/>
          </a:prstGeom>
          <a:solidFill>
            <a:srgbClr val="A85A3F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15819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Order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12280" y="19293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 Avastha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24688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697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 — the defining capability of plants.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72200" y="34290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5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Crops · Flowers · Algae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279392"/>
            <a:ext cx="82296" cy="82296"/>
          </a:xfrm>
          <a:prstGeom prst="ellipse">
            <a:avLst/>
          </a:prstGeom>
          <a:solidFill>
            <a:srgbClr val="A85A3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material order elements (soil, water, air) to grow itself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4901184"/>
            <a:ext cx="82296" cy="82296"/>
          </a:xfrm>
          <a:prstGeom prst="ellipse">
            <a:avLst/>
          </a:prstGeom>
          <a:solidFill>
            <a:srgbClr val="A85A3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828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and sustains itself, but cannot move or sense the way animals do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5522976"/>
            <a:ext cx="82296" cy="82296"/>
          </a:xfrm>
          <a:prstGeom prst="ellipse">
            <a:avLst/>
          </a:prstGeom>
          <a:solidFill>
            <a:srgbClr val="A85A3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449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sustains the Animal and Human orders above it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3 &amp;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 &amp; Human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6B8F71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6B8F7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92808"/>
            <a:ext cx="5166360" cy="393192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19293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Avastha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 + self-organisation in self-preservation.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 · Birds · Fish · Insects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279392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instinct, sense-perception, and mobility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901184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28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to preserve itself — seeking food, avoiding danger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522976"/>
            <a:ext cx="82296" cy="82296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49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instinct; behaviour is largely fixed by nature, not choice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1508760"/>
            <a:ext cx="51663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1508760"/>
            <a:ext cx="5166360" cy="777240"/>
          </a:xfrm>
          <a:prstGeom prst="roundRect">
            <a:avLst>
              <a:gd name="adj" fmla="val 11765"/>
            </a:avLst>
          </a:prstGeom>
          <a:solidFill>
            <a:srgbClr val="D9A441"/>
          </a:solidFill>
          <a:ln/>
        </p:spPr>
      </p:sp>
      <p:sp>
        <p:nvSpPr>
          <p:cNvPr id="23" name="Shape 21"/>
          <p:cNvSpPr/>
          <p:nvPr/>
        </p:nvSpPr>
        <p:spPr>
          <a:xfrm>
            <a:off x="5897880" y="1892808"/>
            <a:ext cx="5166360" cy="3931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15819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Order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12280" y="19293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 Avastha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24688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697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Self-organisation in growth, self-preservation, AND self-evolution.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72200" y="34290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6576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your family, your community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4279392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06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reasoning, imagination, and the ability to choose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4901184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828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of self-evolution — improving understanding and conduct over a lifetime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5522976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54498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order that can consciously understand and choose to live in harmony with the rest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 Is Self-Organised and Interconnected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orders are not four separate worlds. Each order exists in space, needs the order(s) below it, and contributes to the order(s) above it — together forming one self-organised, mutually fulfilling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29000" y="274320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A85A3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6B8F7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006840" y="274320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27432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basis for 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4526280"/>
            <a:ext cx="836676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" y="4617720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order can understand this whole and choose to nurture it — right participation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ECE6D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existence stands alone. Soil enables the tree, the tree sustains animals and humans, and the human being — with the unique capacity for self-evolution — is the only one who can consciously choose to keep this system in harmony.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View vs Comprehensive View — Real Consequences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0607040" cy="457200"/>
          </a:xfrm>
          <a:prstGeom prst="rect">
            <a:avLst/>
          </a:prstGeom>
          <a:solidFill>
            <a:srgbClr val="4A2C2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3794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VIEW LEADS 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69480" y="1554480"/>
            <a:ext cx="37947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VIEW LEADS 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0607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3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30175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for short-term profit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seen only as timber/land value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69480" y="201168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seen as sustaining soil, water cycle, animal life, and climate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10607040" cy="960120"/>
          </a:xfrm>
          <a:prstGeom prst="rect">
            <a:avLst/>
          </a:prstGeom>
          <a:solidFill>
            <a:srgbClr val="ECE6D8"/>
          </a:solidFill>
          <a:ln w="6350">
            <a:solidFill>
              <a:srgbClr val="DDD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30175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pollution by industry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seen only as a waste disposal channel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69480" y="297180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seen as part of a living system supporting agriculture, drinking water, and biodiversity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06070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3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30175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Overuse of chemical fertilisers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93192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seen only as a medium for higher yield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69480" y="393192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seen as a living order needing long-term care for future generations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0607040" cy="960120"/>
          </a:xfrm>
          <a:prstGeom prst="rect">
            <a:avLst/>
          </a:prstGeom>
          <a:solidFill>
            <a:srgbClr val="ECE6D8"/>
          </a:solidFill>
          <a:ln w="6350">
            <a:solidFill>
              <a:srgbClr val="DDD3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92040"/>
            <a:ext cx="301752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extinction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89204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species' loss seen as unrelated to us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69480" y="4892040"/>
            <a:ext cx="37947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order's loss disturbs the interconnected balance humans also depend 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Tree, Four Orders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D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any tree outside your hostel or classroom — all four orders of nature are visibly at work in it, at the same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25603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water, minerals, and air the tree draws on to exist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A85A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0228" y="2560320"/>
            <a:ext cx="640080" cy="640080"/>
          </a:xfrm>
          <a:prstGeom prst="ellipse">
            <a:avLst/>
          </a:prstGeom>
          <a:solidFill>
            <a:srgbClr val="A85A3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022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10128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 Order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37947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itself — growing, photosynthesising, reproducing via seeds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88736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6B8F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5996" y="2560320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8" name="Text 16"/>
          <p:cNvSpPr/>
          <p:nvPr/>
        </p:nvSpPr>
        <p:spPr>
          <a:xfrm>
            <a:off x="682599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02589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71616" y="37947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nesting in it, insects pollinating it, squirrels feeding on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04504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5C3527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41764" y="256032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954176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74166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Order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87384" y="37947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D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resting in its shade, studying its biology, deciding whether to protect or cut it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806440"/>
            <a:ext cx="10607040" cy="594360"/>
          </a:xfrm>
          <a:prstGeom prst="roundRect">
            <a:avLst>
              <a:gd name="adj" fmla="val 15385"/>
            </a:avLst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8064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view sees only 'a tree'. A comprehensive view sees an entire self-organised system in harmony.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Close — Think About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9280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737360"/>
            <a:ext cx="9281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thing you use or consume daily (food, paper, water). Can you trace it back through all four orders of nature?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31012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9281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 recent local news item about environmental damage. Was the decision behind it based on a partial view or a comprehensive view?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CE6D8"/>
            </a:solidFill>
            <a:prstDash val="solid"/>
          </a:ln>
          <a:effectLst>
            <a:outerShdw sx="100000" sy="100000" kx="0" ky="0" algn="bl" rotWithShape="0" blurRad="76200" dist="25400" dir="5400000">
              <a:srgbClr val="3A2B2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4727448"/>
            <a:ext cx="640080" cy="64008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27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572000"/>
            <a:ext cx="9281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human being — the only order capable of self-evolution — what is one small choice you could make today that reflects a comprehensive understanding of existence?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 |  Module 4  |  Understanding Nature and Existence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5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2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5C352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2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Recap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= everything that is, functioning as one interrelated, self-organised whole — not a set of separate objects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orders of nature: Material → Bio → Animal → Human, each building on the one before 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20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Human order can understand this whole and self-evolve to live in conscious harmony with 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97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view of nature causes real-world harm; a comprehensive view is the basis for sustainable, value-based living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0" y="196596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952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and Process of Inner Evolution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0" y="35204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Self-exploration → Self-awareness → Self-evaluation — awakening to the activities of the Self within this comprehensive understanding of existence.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2026-09-01T02:39:13Z</dcterms:created>
  <dcterms:modified xsi:type="dcterms:W3CDTF">2026-09-01T02:39:13Z</dcterms:modified>
</cp:coreProperties>
</file>