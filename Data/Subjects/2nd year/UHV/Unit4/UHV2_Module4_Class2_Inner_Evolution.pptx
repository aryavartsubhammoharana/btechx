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14400"/>
            <a:ext cx="4572000" cy="4572000"/>
          </a:xfrm>
          <a:prstGeom prst="ellipse">
            <a:avLst/>
          </a:prstGeom>
          <a:solidFill>
            <a:srgbClr val="5C3527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1645920"/>
            <a:ext cx="3108960" cy="3108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2286000"/>
            <a:ext cx="1828800" cy="18288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283464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0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CLASS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and Process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Inner Evolution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Self-Exploration  →  Self-Awareness  →  Self-Evaluation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892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Universal Human Values-II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Humanities and Social Sciences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Comprehensive Understanding to Inner 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1, we built a comprehensive understanding of existence — the four orders of nature (Material, Bio, Animal, Human) and how they form one interconnected, self-organised whole.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question: understanding this is not enough — how does a human being actually come to live in harmony with it?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A7BEAE"/>
          </a:solidFill>
          <a:ln/>
        </p:spPr>
      </p:sp>
      <p:sp>
        <p:nvSpPr>
          <p:cNvPr id="8" name="Shape 6"/>
          <p:cNvSpPr/>
          <p:nvPr/>
        </p:nvSpPr>
        <p:spPr>
          <a:xfrm>
            <a:off x="1559052" y="34747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59052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394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2461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B85042"/>
          </a:solidFill>
          <a:ln w="31750">
            <a:solidFill>
              <a:srgbClr val="D9A4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7972" y="34747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972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41605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&amp; Process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Inner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5394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 are 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ECE6D8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6892" y="3474720"/>
            <a:ext cx="585216" cy="5852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6892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41605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of the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Self: Realization,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3246120"/>
            <a:ext cx="2606040" cy="2514600"/>
          </a:xfrm>
          <a:prstGeom prst="roundRect">
            <a:avLst>
              <a:gd name="adj" fmla="val 5091"/>
            </a:avLst>
          </a:prstGeom>
          <a:solidFill>
            <a:srgbClr val="ECE6D8"/>
          </a:solidFill>
          <a:ln/>
        </p:spPr>
      </p:sp>
      <p:sp>
        <p:nvSpPr>
          <p:cNvPr id="22" name="Shape 20"/>
          <p:cNvSpPr/>
          <p:nvPr/>
        </p:nvSpPr>
        <p:spPr>
          <a:xfrm>
            <a:off x="9925812" y="3474720"/>
            <a:ext cx="585216" cy="5852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9925812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06840" y="41605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Co-Existence,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 &amp;</a:t>
            </a:r>
            <a:endParaRPr lang="en-US" sz="1200" dirty="0"/>
          </a:p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01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Need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knowing the truth intellectually is not enough — why inner evolution is required to actually live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160020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1801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Three-Step Process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2648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Self-Exploration, Self-Awareness, and Self-Evaluation as the process of inner evolution.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041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Distinguish From Assumption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self-exploration differs from blindly accepting beliefs, sentiments, or others' opinions.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97880" y="384048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40690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041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Process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12648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the three steps on a real, everyday decision or dilemma.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Isn't Knowing Enough?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us already know, in principle, that honesty is good or that nature should be respected. Yet our actual living often doesn't match what we know. Why?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E4EDE6"/>
          </a:solidFill>
          <a:ln w="19050">
            <a:solidFill>
              <a:srgbClr val="6B8F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(Conceptually)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should be honest."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should respect nature."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should value relationships over things."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6E4E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OFTEN LIVE (Actually)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3063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copy in exams under pressure.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litter or waste water casually.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chase possessions over people.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3657600"/>
            <a:ext cx="91440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507492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4A2C2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23036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exists because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not the same as realization.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may have heard or read the right thing, but we haven't explored and verified it within ourselves — so it stays as borrowed information, not our own understanding. That verification is what inner evolution provides.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Inner Evolution?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ECE6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evolution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by which a human being moves from borrowed beliefs and assumptions to a self-verified, natural understanding of what is right — and then naturally lives accordingly.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49300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29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natural, not forced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physical growth, understanding can naturally deepen — it isn't imposed from outside.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329184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48" y="349300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429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happens through exploration, not instruction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38404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verify things for yourself through your own natural acceptance, not because someone told you 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513892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universal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54864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process of exploration is available to and works for every human being, regardless of background.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493776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513892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leads to consistent living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26480" y="54864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self-verified, right understanding naturally shows up in your choices — no gap between knowing and living.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of Inner 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evolution unfolds through three connected steps — each building on the one before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5C3527"/>
          </a:solidFill>
          <a:ln w="3175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260604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Self-Exploration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219456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29768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within yourself — questioning and examining what you assume to be true, using your own natural acceptance as the check.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840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5C3527"/>
          </a:solidFill>
          <a:ln w="31750">
            <a:solidFill>
              <a:srgbClr val="6B8F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606040"/>
            <a:ext cx="822960" cy="82296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Self-Awareness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983480" y="4114800"/>
            <a:ext cx="2194560" cy="0"/>
          </a:xfrm>
          <a:prstGeom prst="line">
            <a:avLst/>
          </a:prstGeom>
          <a:noFill/>
          <a:ln w="12700">
            <a:solidFill>
              <a:srgbClr val="6B8F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29768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clearly aware of the difference between what you truly are (the Self) and the physical body — and how each has different needs.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3840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046720" y="23317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5C3527"/>
          </a:solidFill>
          <a:ln w="31750">
            <a:solidFill>
              <a:srgbClr val="D9A4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60604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Self-Evaluation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595360" y="4114800"/>
            <a:ext cx="21945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29768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assessing your own thoughts, feelings, and actions against what you have now understood — and correcting the gap.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continuous, deepening cycle — not a one-time event.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Self-Exploration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dialogue within yourself — examining beliefs, values, and assumptions you have accepted from parents, teachers, media, or society, and checking whether they are naturally acceptable to you.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34056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4203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 "why" about something you believe, instead of accepting it automatically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92424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against your natural acceptance — what feels right on reflection, not just what is convenient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58768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050792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587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difference between 'I was told this' and 'I have verified this for myself'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517136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0916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1713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dialogue ongoing — self-exploration is continuous, not a one-time check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248656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CE6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5838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5586984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taught 'more money means more happiness.' Self-exploration means pausing to ask: has more money actually made the wealthiest people I know happier — or is something else at play?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Self-Awareness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6B8F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clearly aware that 'I' (the conscious Self) am different from 'my body' — and that each has distinct needs, which is why we sometimes feel a conflict between what we want and what we 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34056"/>
            <a:ext cx="182880" cy="1828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4203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the Self wants to be happy and prosperous; the body wants comfort and physical facility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92424"/>
            <a:ext cx="182880" cy="1828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moments where the two pull in different directions — e.g. wanting to help a friend but feeling lazy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58768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050792"/>
            <a:ext cx="182880" cy="1828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587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Self as the 'seer, feeler, and doer' — the one who is aware — distinct from the body it uses as an instrument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517136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09160"/>
            <a:ext cx="182880" cy="1828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1713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awareness helps you identify whose need you are actually fulfilling in a given choice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248656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CE6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5838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5586984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skip studying to watch one more video, telling yourself 'I'll feel good.' Self-awareness asks: is this fulfilling my Self (real, lasting satisfaction) or only my body's momentary comfort?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checking your own thoughts, feelings, and actions against your now-verified understanding — and consciously working to close any gap you find.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34056"/>
            <a:ext cx="182880" cy="1828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4203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a day or a decision, ask: did my behaviour match what I now understand to be right?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92424"/>
            <a:ext cx="182880" cy="1828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rather than self-defensive — evaluation only works if you don't rationalise the gap away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58768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050792"/>
            <a:ext cx="182880" cy="1828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587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specific, small correction to make — not a vague resolution to 'be better'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517136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09160"/>
            <a:ext cx="182880" cy="1828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1713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this regularly — self-evaluation is what keeps the whole process from staying only theoretical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248656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CE6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5838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5586984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said you value honesty, but exaggerated a story to impress friends. Self-evaluation means noticing this gap honestly, and choosing the next opportunity to speak more truthfully.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Continuous, Deepening 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steps are not a one-time checklist — they feed into each other, again and again, deepening your understanding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77640" y="2560320"/>
            <a:ext cx="3749040" cy="3749040"/>
          </a:xfrm>
          <a:prstGeom prst="ellipse">
            <a:avLst/>
          </a:prstGeom>
          <a:ln w="25400">
            <a:solidFill>
              <a:srgbClr val="ECE6D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120640" y="2194560"/>
            <a:ext cx="1463040" cy="1463040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2194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27264" y="4457700"/>
            <a:ext cx="1463040" cy="1463040"/>
          </a:xfrm>
          <a:prstGeom prst="ellipse">
            <a:avLst/>
          </a:prstGeom>
          <a:solidFill>
            <a:srgbClr val="6B8F7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7264" y="44577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14016" y="4457700"/>
            <a:ext cx="1463040" cy="1463040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4016" y="44577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559595"/>
            <a:ext cx="575104" cy="996110"/>
          </a:xfrm>
          <a:prstGeom prst="line">
            <a:avLst/>
          </a:prstGeom>
          <a:noFill/>
          <a:ln w="25400">
            <a:solidFill>
              <a:srgbClr val="70594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5277056" y="5189220"/>
            <a:ext cx="1150209" cy="0"/>
          </a:xfrm>
          <a:prstGeom prst="line">
            <a:avLst/>
          </a:prstGeom>
          <a:noFill/>
          <a:ln w="25400">
            <a:solidFill>
              <a:srgbClr val="70594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4911296" y="3559595"/>
            <a:ext cx="575104" cy="996110"/>
          </a:xfrm>
          <a:prstGeom prst="line">
            <a:avLst/>
          </a:prstGeom>
          <a:noFill/>
          <a:ln w="25400">
            <a:solidFill>
              <a:srgbClr val="70594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260604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ECE6D8"/>
          </a:solidFill>
          <a:ln/>
        </p:spPr>
      </p:sp>
      <p:sp>
        <p:nvSpPr>
          <p:cNvPr id="17" name="Text 15"/>
          <p:cNvSpPr/>
          <p:nvPr/>
        </p:nvSpPr>
        <p:spPr>
          <a:xfrm>
            <a:off x="8823960" y="2788920"/>
            <a:ext cx="2651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 belief (Exploration) sharpens your sense of Self vs body (Awareness). That clarity gives you a standard to check your actions against (Evaluation). What you discover in evaluation raises new questions — sending you back to explore further.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Process: A Group Project Dilemma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hasn't contributed to your group project, but agrees to let you write their name anyway. What do you do?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291840" cy="3611880"/>
          </a:xfrm>
          <a:prstGeom prst="roundRect">
            <a:avLst>
              <a:gd name="adj" fmla="val 3333"/>
            </a:avLst>
          </a:prstGeom>
          <a:solidFill>
            <a:srgbClr val="5C3527"/>
          </a:solidFill>
          <a:ln w="3175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2496312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496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Self-Exploration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371600" y="3840480"/>
            <a:ext cx="219456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233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assumed submitting on time matters more than fairness. Is that actually true, or just convenient for me right now?"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7719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434840" y="2240280"/>
            <a:ext cx="3291840" cy="3611880"/>
          </a:xfrm>
          <a:prstGeom prst="roundRect">
            <a:avLst>
              <a:gd name="adj" fmla="val 3333"/>
            </a:avLst>
          </a:prstGeom>
          <a:solidFill>
            <a:srgbClr val="5C3527"/>
          </a:solidFill>
          <a:ln w="31750">
            <a:solidFill>
              <a:srgbClr val="6B8F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2496312"/>
            <a:ext cx="731520" cy="73152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2496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Self-Awareness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983480" y="3840480"/>
            <a:ext cx="2194560" cy="0"/>
          </a:xfrm>
          <a:prstGeom prst="line">
            <a:avLst/>
          </a:prstGeom>
          <a:noFill/>
          <a:ln w="12700">
            <a:solidFill>
              <a:srgbClr val="6B8F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0233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"Going along keeps my body comfortable (avoids conflict). But it doesn't sit right with my Self — I know it's not fair to the rest of the team."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37719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046720" y="2240280"/>
            <a:ext cx="3291840" cy="3611880"/>
          </a:xfrm>
          <a:prstGeom prst="roundRect">
            <a:avLst>
              <a:gd name="adj" fmla="val 3333"/>
            </a:avLst>
          </a:prstGeom>
          <a:solidFill>
            <a:srgbClr val="5C3527"/>
          </a:solidFill>
          <a:ln w="31750">
            <a:solidFill>
              <a:srgbClr val="D9A4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2496312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496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Self-Evaluation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595360" y="3840480"/>
            <a:ext cx="21945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0233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action (staying silent) doesn't match what I now see as right. Next step: talk to the teammate honestly before submission, not after."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Self-Exploration Is Not the Same As...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16636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600200"/>
            <a:ext cx="5166360" cy="45720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6002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6E4E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Blindly accepting what elders, teachers, or media say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214884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E4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14884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it and checking against your own natural acceptance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6E4E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everything just to be different or rebellious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315468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E4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315468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examining ideas — some will be verified as true, some won't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6E4E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6052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only what feels good in the moment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416052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E4EDE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16052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what brings lasting, real satisfaction — a Self-level, not body-level, check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F6E4E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6636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decision made once and never revisited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5166360"/>
            <a:ext cx="5166360" cy="896112"/>
          </a:xfrm>
          <a:prstGeom prst="roundRect">
            <a:avLst>
              <a:gd name="adj" fmla="val 8163"/>
            </a:avLst>
          </a:prstGeom>
          <a:solidFill>
            <a:srgbClr val="E4EDE6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166360"/>
            <a:ext cx="4617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ongoing dialogue you return to as you grow and encounter new situations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Close — Try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9280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9372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belief you've always held (about success, relationships, or happiness). Where did it come from — did you verify it, or did you inherit it?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31012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154680"/>
            <a:ext cx="9372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 recent moment when your body wanted one thing and something in you quietly wanted another. Which one did you follow — and how did it feel afterward?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72744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27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572000"/>
            <a:ext cx="9372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action from today. Evaluate it honestly: did it match what you understand to be right? What's one small correction for tomorrow?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The Need and Process of Inner Evolution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5C352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5C352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Recap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something intellectually doesn't guarantee living it — that gap is what inner evolution closes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432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evolution proceeds through three steps: Self-Exploration → Self-Awareness → Self-Evaluation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20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form a continuous cycle, not a one-time exercise — each round deepens the next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97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Self-exploration means verifying for yourself, not blindly accepting or blindly rejecting what you're told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0" y="196596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560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 of the Self: Realization, Understanding, Contemplation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89520" y="36576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deeper into what self-exploration actually awakens within the Self — Realization of Co-Existence, Understanding of Harmony in Nature, and Contemplation of our participation in 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2026-09-01T02:45:41Z</dcterms:created>
  <dcterms:modified xsi:type="dcterms:W3CDTF">2026-09-01T02:45:41Z</dcterms:modified>
</cp:coreProperties>
</file>