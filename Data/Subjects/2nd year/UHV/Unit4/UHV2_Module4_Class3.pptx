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8C3C3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743200" cy="2743200"/>
          </a:xfrm>
          <a:prstGeom prst="ellipse">
            <a:avLst/>
          </a:prstGeom>
          <a:solidFill>
            <a:srgbClr val="7C9A8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E7E8D1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CLASS 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Realization, Understanding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Contemplation in the Self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F4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Harmony in Nature — the Four Orders of Existence and the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F4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Being's Participation in Co-existence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4846320"/>
            <a:ext cx="1280160" cy="54864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Human Values-II (HS201)  |  Department of Humanities and Social Sciences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— Where We Left Off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into Module 4: Understanding Nature and Existence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4533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1 — Existence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8424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is comprehensive — everything that is, has ever been, and can be verified. Nature/Existence is one interconnected whole, not a random collection of isolated things.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540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2 — Inner Evolution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9300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evolution happens through Self-exploration: Self-awareness, Self-exploration and Self-evaluation — becoming aware of what is naturally acceptable to us, and validating it through living.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E7E8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Question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19379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 have explored and understood something about myself and existence — what do I do with that understanding? That is the work of Realization and Contemplation.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you should be able to explain each of these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00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Understanding, Realization and Contemplation as three activities of the Self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7C9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77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Existence as Co-existence, with real examples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546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Orders of Nature and how they differ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7C9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319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mutual fulfilment among the four orders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91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Human Order's unique responsibility and participation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502920" cy="502920"/>
          </a:xfrm>
          <a:prstGeom prst="ellipse">
            <a:avLst/>
          </a:prstGeom>
          <a:solidFill>
            <a:srgbClr val="7C9A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4864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these ideas to real-world illustrations from your reference readings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Activities in the Self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understanding does not stay in the head — it moves through three stages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E7E8D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4812" y="1965960"/>
            <a:ext cx="768096" cy="7680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24812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in the intellect about 'what is true' — a conceptual, verbal grasp. You can explain it in words.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E7E8D1"/>
          </a:solidFill>
          <a:ln w="19050">
            <a:solidFill>
              <a:srgbClr val="7C9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5292" y="1965960"/>
            <a:ext cx="768096" cy="768096"/>
          </a:xfrm>
          <a:prstGeom prst="ellipse">
            <a:avLst/>
          </a:prstGeom>
          <a:solidFill>
            <a:srgbClr val="7C9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5292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9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Realization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truth becomes your own direct experience/feeling — beyond words, felt within the Self.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E7E8D1"/>
          </a:solidFill>
          <a:ln w="19050">
            <a:solidFill>
              <a:srgbClr val="8C3C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5772" y="1965960"/>
            <a:ext cx="768096" cy="768096"/>
          </a:xfrm>
          <a:prstGeom prst="ellipse">
            <a:avLst/>
          </a:prstGeom>
          <a:solidFill>
            <a:srgbClr val="8C3C3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5772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3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Contemplation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reflection connecting what is understood and realized to your own living and participation.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Understanding + Realization + Contemplation → a comprehensive, livable knowledge of existence.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vs Realization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'knowing about' something is not the same as 'knowing' it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9377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88152" y="1965960"/>
            <a:ext cx="49377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5875">
            <a:solidFill>
              <a:srgbClr val="7C9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that sugar is sweet. You can define 'sweetness', describe its chemistry, quote what others have said — entirely in words and concepts.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Happens in the intellect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9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269748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tasting sugar. The sweetness becomes your own direct experience — no words required, and no one can argue you out of it once tasted.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62472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7C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Happens in the Self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58968" y="1399032"/>
            <a:ext cx="640080" cy="640080"/>
          </a:xfrm>
          <a:prstGeom prst="ellipse">
            <a:avLst/>
          </a:prstGeom>
          <a:solidFill>
            <a:srgbClr val="8C3C3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58968" y="1399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example: A student can 'understand' honesty is important and score full marks explaining why — yet still copy in an exam. Realization is when honesty is felt as one's own value.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Contemplation — Bringing It Into Living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activity: reflecting on how realized understanding applies to my own participation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Contemplation is sustained, deliberate reflection — asking: 'Given what I understand and have realized, what does this mean for how I act and participate?'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1071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a force of mutual attraction between masses — you can state Newton's law.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3566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89120" y="2788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7E8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41071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your own weight, feel a fall, feel the pull — it is no longer just a formula.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27848" y="3566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0" y="2788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Contemplate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41071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reflect: secure loose objects at height, design stairs with railings, walk carefully near edges.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A7BEAE">
              <a:alpha val="7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66944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Value-education parallel: Understanding 'trust matters' + Realizing what betrayal feels like + Contemplating how I show up for friends and family — this shapes actual conduct.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Realization of Co-Existence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4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is not a pile of separate, unrelated things. It is a web of units that exist only in relationship with each other.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39112"/>
            <a:ext cx="274320" cy="27432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in existence — from an atom to a human being — is connected to, and depends on, other units.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274320" cy="27432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788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'Co-existence' means: I exist along with, and in relationship with, everything else — not in isolation.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685032"/>
            <a:ext cx="274320" cy="27432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611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merely an intellectual idea — it can be directly realized by observing my own life closely.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this now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0292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everything that had to exist for you to be sitting in this classroom right now — the air you breathe, the food you ate, the people who built this room, your parents. Notice: not one of these is truly separate from you.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Co-Existence in Everyday Life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scales at which the same principle shows up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39112"/>
            <a:ext cx="621792" cy="6217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81051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scale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19456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cannot exist without soil, water, sunlight and air — and in turn releases the oxygen that sustains animal and human life.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502152"/>
            <a:ext cx="621792" cy="6217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5021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2735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/ social scale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6576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 exists only in relationship — as someone's child, sibling, friend, student. Remove all relationships, and 'who I am' becomes unclear.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65192"/>
            <a:ext cx="621792" cy="6217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9651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73659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Societal scale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1206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farmer, a teacher, a doctor, an engineer — none is self-sufficient. Society exists because each person's competence fulfils a need for everyone else.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pattern: at every scale, existence works because units are mutually fulfilling — not competing to survive alone.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Harmony in Nature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Nature/Existence can be understood as four orders, each with a distinct characteristic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'order' here means a class of units sharing a common characteristic activity. Understanding these four orders is the basis for understanding harmony in Nature as a whole.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8A8A6E"/>
          </a:solidFill>
          <a:ln/>
        </p:spPr>
      </p:sp>
      <p:sp>
        <p:nvSpPr>
          <p:cNvPr id="6" name="Shape 4"/>
          <p:cNvSpPr/>
          <p:nvPr/>
        </p:nvSpPr>
        <p:spPr>
          <a:xfrm>
            <a:off x="1513332" y="2724912"/>
            <a:ext cx="676656" cy="67665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13332" y="27249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Order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062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existence only — no growth or self-repair (rocks, water, metals, air).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55848" y="24688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6E8A5B"/>
          </a:solidFill>
          <a:ln/>
        </p:spPr>
      </p:sp>
      <p:sp>
        <p:nvSpPr>
          <p:cNvPr id="11" name="Shape 9"/>
          <p:cNvSpPr/>
          <p:nvPr/>
        </p:nvSpPr>
        <p:spPr>
          <a:xfrm>
            <a:off x="4320540" y="2724912"/>
            <a:ext cx="676656" cy="67665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0540" y="27249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 / Plant Order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42062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self-repair, reproduction, but no free movement of the whole body (trees, crops).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7C9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7127748" y="2724912"/>
            <a:ext cx="676656" cy="67665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27748" y="27249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9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Order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42062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mobility, instinct and sensation — moving, sensing, reacting (animals, birds, insects).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70264" y="24688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B85042"/>
          </a:solidFill>
          <a:ln/>
        </p:spPr>
      </p:sp>
      <p:sp>
        <p:nvSpPr>
          <p:cNvPr id="21" name="Shape 19"/>
          <p:cNvSpPr/>
          <p:nvPr/>
        </p:nvSpPr>
        <p:spPr>
          <a:xfrm>
            <a:off x="9934956" y="2724912"/>
            <a:ext cx="676656" cy="67665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34956" y="27249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107424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Order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53144" y="42062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self-awareness — the capacity to understand, evaluate, and choose one's conduct.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Orders — A Closer Look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includes the capacities of the ones before it, and adds something new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160520"/>
        </p:xfrm>
        <a:graphic>
          <a:graphicData uri="http://schemas.openxmlformats.org/drawingml/2006/table">
            <a:tbl>
              <a:tblPr/>
              <a:tblGrid>
                <a:gridCol w="1920240"/>
                <a:gridCol w="3246120"/>
                <a:gridCol w="3520440"/>
                <a:gridCol w="2377440"/>
              </a:tblGrid>
              <a:tr h="832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7E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Order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7E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Core Characteristic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7E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What It Adds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7E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Existence (Astitva) as physical matter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physical presence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Stone, water, iron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/ Plant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Growth, self-organization, reproduction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to grow, repair, and multiply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 tree, paddy crop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Mobility, instinct, sensation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Movement, sensing, reacting to surroundings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Cow, sparrow, 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Self-awareness, understanding, choice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to know, evaluate, and choose conduct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You, and every human being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7044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each higher order includes the lower ones — a human being still has a material body and biological processes, plus self-awareness.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Fulfilment Among the Orders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 in Nature = each order is fulfilling for the others, in a continuous cycle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" y="208483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(Material)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724912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minerals &amp; water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81528" y="254203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7C9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93008" y="208483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(Bio)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724912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using soil, air, sunlight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254203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81928" y="208483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/ Human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2724912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plants; breathe oxygen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59368" y="254203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961120" y="19202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7C9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70848" y="208483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&amp; remains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9070848" y="2724912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nutrients to soil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931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continues — nothing is wasted, nothing stands alone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E7E8D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773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idea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'Harmony' does not mean sameness. It means each distinct order plays its part in a way that supports and completes the others. Disturb one order significantly (e.g. destroy soil health or forests), and the fulfilment of every other order — including the human order — is affected.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Order's Unique Responsibility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F4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being = Self (Jeevan / the conscious 'I') + Body (Sharir / the material-biological unit)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1965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human order can ask 'why?'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 grows and an animal reacts by disposition — but only the human being can question, evaluate, and choose whether an action is right.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64408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3924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brings responsibility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alone can understand harmony, we alone are responsible for preserving or disturbing it — other orders participate automatically; we participate consciously.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37176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9651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 of Human Conduct &amp; Professional Ethics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675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decision — engineer, teacher, doctor — is a choice about sustaining or disrupting this harmony (previewed further in Module 5).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Contemplation on Participation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idea inward: what is my part in this harmony?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understood the four orders and mutual fulfilment, and having realized co-existence in our own life, the third step is contemplation — reflecting honestly on our own participation.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328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my daily choices (what I consume, waste, use) support or strain the harmony between the four orders?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30352" cy="530352"/>
          </a:xfrm>
          <a:prstGeom prst="ellipse">
            <a:avLst/>
          </a:prstGeom>
          <a:solidFill>
            <a:srgbClr val="7C9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520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72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family and friendships, am I acting as a fulfilling part of the whole, or only for my own gain?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434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616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future professional, will my work add to harmony (sustainable, ethical, useful) or disturb it?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A7BEAE">
              <a:alpha val="8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55955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Contemplation is not guilt — it is clarity. It asks us to see our participation as it is, so we can choose it consciously rather than by default.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Fragments to a Whole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Realization + Understanding + Contemplation add up to comprehensive knowledge of existence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937760" cy="3794760"/>
          </a:xfrm>
          <a:prstGeom prst="roundRect">
            <a:avLst>
              <a:gd name="adj" fmla="val 2410"/>
            </a:avLst>
          </a:prstGeom>
          <a:solidFill>
            <a:srgbClr val="F2EDE6"/>
          </a:solidFill>
          <a:ln w="12700">
            <a:solidFill>
              <a:srgbClr val="C9BE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67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View (before)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Nature is a resource to use up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'Me' vs 'the environment' as separate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Success = my gain, regardless of cost to others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Ethics is an external rule imposed on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88152" y="1965960"/>
            <a:ext cx="4937760" cy="3794760"/>
          </a:xfrm>
          <a:prstGeom prst="roundRect">
            <a:avLst>
              <a:gd name="adj" fmla="val 2410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62472" y="2167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Holistic View (after)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62472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Nature is a web I am already part of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62472" y="3429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'Me' and 'existence' are in continuous co-existence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62472" y="4114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Success includes the fulfilment of the whole I'm part of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62472" y="4800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Ethics arises naturally from realized understanding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58968" y="1399032"/>
            <a:ext cx="640080" cy="640080"/>
          </a:xfrm>
          <a:prstGeom prst="ellipse">
            <a:avLst/>
          </a:prstGeom>
          <a:solidFill>
            <a:srgbClr val="7C9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58968" y="1399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in the Real World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are not just theory — your reference readings illustrate them directly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444752"/>
          </a:xfrm>
          <a:prstGeom prst="roundRect">
            <a:avLst>
              <a:gd name="adj" fmla="val 6329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 F. Schumacher — Small Is Beautiful (1973)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57984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that economics built on ever-larger scale and unlimited resource use loses sight of human-scale, sustainable living — ignoring mutual fulfilment with the material/bio orders.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18688"/>
            <a:ext cx="11064240" cy="1444752"/>
          </a:xfrm>
          <a:prstGeom prst="roundRect">
            <a:avLst>
              <a:gd name="adj" fmla="val 6329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3375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Ivan Illich — Energy &amp; Equity (1974)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3075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how, past a point, more energy consumption creates inequity rather than progress — a caution about over-drawing on the material order without balance.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791456"/>
            <a:ext cx="11064240" cy="1444752"/>
          </a:xfrm>
          <a:prstGeom prst="roundRect">
            <a:avLst>
              <a:gd name="adj" fmla="val 6329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9103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Sussan George — How the Other Half Dies (1976)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03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how food scarcity is often not about nature's limits but unequal, non-fulfilling participation among human beings — harmony broken within the human order.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Reflection Exercise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complete this on your own — write in your notebook (10 minutes)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25880" y="1463040"/>
            <a:ext cx="102870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55448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5 things you used, ate, or consumed today. For each, trace which order it came from, and one way to use it more in harmony with that order.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108960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108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25880" y="2926080"/>
            <a:ext cx="102870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30175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lines on one relationship (family/friend) where you can identify 'mutual fulfilment' — what do you give, and what do you receive?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572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25880" y="4389120"/>
            <a:ext cx="102870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4480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3–4 sentences, describe one professional decision (in your intended field) where choosing harmony over short-term gain would matter.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 — reflect quietly and note your own answers; we will discuss a few responses briefly before moving on.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07592"/>
            <a:ext cx="237744" cy="237744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070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→ Realization → Contemplation are three connected activities, not one event.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7744" cy="237744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4825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is Co-existence: every unit exists only in relationship with others.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237744" cy="237744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889504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has four orders — Material, Bio/Plant, Animal, Human — each including the capacities of those before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237744" cy="237744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73075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 in Nature = mutual fulfilment among the four orders in a continuous, self-sustaining cycle.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672584"/>
            <a:ext cx="237744" cy="237744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572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Order alone can understand this harmony, and therefore alone carries responsibility for 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513832"/>
            <a:ext cx="237744" cy="237744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41324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Contemplating our own participation turns abstract understanding into a livable, holistic knowledge of existence.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Up Next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69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continues — then into Module 5: Human Conduct &amp; Professional Ethics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Class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6654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Module 4 — comprehensive knowledge about existence, and how it sets up the transition to Module 5.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Books (from course syllabus)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Ivan Illich (1974). Energy &amp; Equity. The Trinity Press / Harper Collins.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8678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E. F. Schumacher (1973). Small Is Beautiful. Blond &amp; Briggs.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0740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Sussan George (1976). How the Other Half Dies. Penguin Press.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280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A. Nagraj (1998). Jeevan Vidya Ek Parichay. Divya Path Sansthan, Amarkantak.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4865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P. L. Dhar &amp; R. R. Gaur (1990). Science and Humanism. Commonwealth Publishers.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A. N. Tripathy (2003). Human Values. New Age International Publishers.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•  Class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2026-09-07T01:30:01Z</dcterms:created>
  <dcterms:modified xsi:type="dcterms:W3CDTF">2026-09-07T01:30:01Z</dcterms:modified>
</cp:coreProperties>
</file>